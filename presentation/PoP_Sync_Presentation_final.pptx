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Lst>
  <p:sldSz cx="9906000" cy="6858000" type="A4"/>
  <p:notesSz cx="6858000" cy="9906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FAFD"/>
    <a:srgbClr val="E8ED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56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024821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안녕하십니까. 오늘 발표를 맡은 발표자입니다. 오늘 소개할 시스템은 제로 트러스트 고가용성 분산 인가 게이트웨이인 PoP-Sync입니다. 현대 마이크로서비스 및 분산 아키텍처에서 게이트웨이는 시스템의 최전방 방어선입니다. 평상시에는 초당 수천 건의 mTLS 토큰과 암호 서명을 검증하지만, 메인 Policy DB가 멈추고 중앙 Redis가 마비되며 네트워크가 끊어지는 장애 상황에 직면하면 많은 시스템이 연쇄 장애를 일으키며 요청을 유실합니다. PoP-Sync는 이러한 극한의 장애 환경에서도 모든 요청이 어느 경로로 처리되었는지 수학적으로 추적하고 분류 오차 0건을 입증하는 카오스 복원력 아키텍처입니다. 0.85ms의 초저지연 인가 오버헤드, 6단계 심층 방어, Envoy ext_authz 공식 연동까지 구현된 아키텍처 여정을 지금부터 설명해 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PoP-Sync는 단발성 프로젝트가 아니라 하나의 분산 보안 아키텍처를 4단계에 걸쳐 진화시킨 결과물입니다. 1단계 FIDO2 PoP에서는 토큰 탈취 공격을 막기 위해 비대칭 암호 기반의 하드웨어 키 서명 검증 관문을 구축했습니다. 2단계 PoP-Mesh에서는 암호 검증으로 인한 지연 시간을 줄이기 위해 L1 로컬 캐시와 L2 Redis를 연동해 1ms대 응답을 달성했습니다. 그런데 실제 운영 환경에서는 세 가지 치명적인 한계가 드러났습니다. 첫째, 토큰이 탈취되면 리플레이 공격에 노출되고 암호 연산으로 CPU가 고갈됩니다. 둘째, 캐시가 만료되는 순간 동일 키 수천 건이 몰려 DB 커넥션 풀이 고갈되는 캐시 스탬피드가 발생합니다. 셋째, 네트워크가 끊기면 노드가 낡은 로컬 캐시로 오승인을 내리는 스플릿 브레인에 빠집니다. 이 3대 취약점을 해결하기 위해 설계된 것이 3단계 PoP-Sync이며, 연동 디버깅을 위해 4단계 PoP Diagnoser 독립 프로젝트까지 완성했습니다.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 슬라이드는 기존 취약 인가 아키텍처와 PoP-Sync의 카오스 복원 아키텍처를 1대1로 직접 비교한 다이어그램입니다. 좌측의 기존 시스템은 모든 요청이 중앙 DB와 Redis 단일 인프라에 의존하여, 장애 발생 시 연쇄 붕괴가 일어납니다. 반면 우측의 PoP-Sync는 3계층 방어 체계를 갖추고 있습니다. 첫째, L1 로컬 캐시와 L2 Redis, Single-Flight를 통해 DB 부하를 98% 절감하며, DB가 죽어도 서킷 브레이커로 즉시 격리합니다. 둘째, Nonce 원자적 소각을 암호 연산보다 앞단에 배치하여 CPU 고갈 공격을 에지에서 차단합니다. 셋째, 네트워크가 끊기면 낡은 캐시를 참조하지 못하도록 503 Fail-Closed로 즉시 격리하고, 통신 복구 즉시 Redis Streams 3단계 완독으로 정합성을 100% 회복합니다.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 슬라이드는 PoP-Sync의 제로 트러스트 6단계 인가 파이프라인과 이를 수학적으로 감시하는 2대 불변식을 나타냅니다. 파이프라인 설계에서 가장 중요한 원칙은 '비용의 선후 관계'입니다. 비대칭 암호 연산이나 데이터베이스 조회는 CPU와 I/O 자원을 많이 소모합니다. 따라서 0.05ms의 mTLS 인증과 0.3ms의 Redis Lua Nonce 소각, O(1) 유량 제어를 앞단에 배치하여 악의적인 공격 패킷이 암호 연산이나 DB 단계까지 진입하지 못하도록 사전에 차단했습니다. 각 단계 하단에는 장애 시의 Fail-Closed 제어와 Invariant 관측 카운터를 명시했습니다. 하단의 2대 수학적 불변식 방정식은 게이트웨이로 유입된 모든 요청이 오차 없이 100% 추적되며, DB 폴백 요청이 안전하게 해소됨을 증명하는 PoP-Sync 복원력의 핵심입니다.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캐시가 만료되는 순간 동일 키로 수백, 수천 건의 요청이 몰리는 현상을 캐시 스탬피드라고 부릅니다. 좌측의 깔때기 다이어그램처럼 PoP-Sync는 로컬 Single-Flight 코디네이터를 통해 선두 1건(Leader)만 DB 조회를 실행하고, 나머지 999건의 후속 요청은 in_flight 맵의 Future를 공유받아 결과를 함께 수신합니다. 단일 노드 실측에서 동일 키 50건 중 49건이 병합되어 DB 부하가 98% 절감되었으며, 1,000건 폭주 시 99.9% 절감 효과를 달성했습니다. 하단의 제2 불변식을 통해 DB 폴백에 진입한 모든 요청이 단 1건의 누락도 없이 수학적으로 완벽히 해소됨을 입증합니다.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단일 노드 내에서의 Future 병합을 넘어, 3개 게이트웨이 노드가 분산 동작하는 클러스터 환경에서는 Redis 분산 락(SET NX)을 결합했습니다. 좌측 시퀀스처럼 Node-A가 락을 선점해 DB를 조회하는 동안 Node-B와 C는 25ms 주기로 L2 캐시를 폴링하여 결과를 공유받습니다. 노드별 3회 발생하던 DB 조회가 클러스터 전역 단 1회로 압축되어 66.7%의 DB 조회가 절감되었습니다. 우측 막대그래프에서 보듯, 1,000건 동시 폭주 시 Single-Flight가 없으면 세마포어 큐 대기로 p95 지연이 4,065.1ms까지 치솟지만, Single-Flight 적용 시 27.3ms로 무려 148.9배 가속되며 지연시간의 99.3%가 제거됩니다.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파이프라인 2단계와 3단계는 고비용 암호 연산과 DB I/O가 시작되기 전 에지에서 부하를 걸러내는 핵심 수문장입니다. 좌측 상태 전이 다이어그램에서 실선은 정상 경로, 점선은 차단 및 폴백 경로입니다. Nonce 검증은 Redis Lua를 통해 원자적으로 소각되어 1,500건의 재전송 공격을 전건 401로 에지 차단했습니다. 또한 슬라이딩 윈도우 유량 제어는 Check-Before-Increment 알고리즘을 적용하여, 고정 윈도우에서 발생하는 경계 시점 2배 트래픽 누수(100건 통과)를 0건으로 완벽히 통제했습니다. Redis 마비 시에도 Nonce 검증은 503 Fail-Closed로 닫아 미인가 통과를 원천 봉쇄합니다.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서킷 브레이커는 Policy DB 장애 시 요청을 즉시 차단하여 게이트웨이 스레드 풀이 고갈되는 것을 막아줍니다. 특히 가장 위험한 순간은 복구 직후입니다. 복구 시점에 이전 지연 요청들이 타임아웃 에러를 뒤늦게 쏟아내면 서킷이 열렸다 닫혔다 요동치는 플래핑이 발생합니다. PoP-Sync는 2.0초 디바운스와 단일 프로브 세마포어로 플래핑을 완벽히 방어했습니다. 또한 서킷이 열린 상태에서도 일반 정책은 degraded_allow로 살리되, PoP 공개키 조회는 503 Fail-Closed로 차단하여 미인가 통과를 원천 봉쇄했습니다. 하단의 수식처럼 서킷 차단 건수도 2대 불변식에 정확히 합산되어 오차 0건을 검증합니다.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분산 캐시 무효화에서 가장 흔한 실수는 단순 Pub/Sub을 사용하는 것입니다. Pub/Sub은 네트워크가 끊긴 동안 발행된 메시지를 보관하지 않고 날려버려, 복구 후 노드가 과거 정책으로 오승인을 내리는 스플릿 브레인을 유발합니다. PoP-Sync는 Redis Streams를 도입했습니다. 좌측 타임라인처럼 노드가 고립되면 낡은 캐시를 보지 못하게 503으로 즉시 격리하고, 통신이 복구되면 PEL 완독, XAUTOCLAIM 60초 방치 메시지 회수, 신규 스트림 소비의 3단계를 거쳐 누락된 이벤트를 100% 복구합니다. 복구 결과는 last_catchup 지표를 통해 실시간으로 검증되며, 클러스터 전체 정합성 오차 0건을 유지합니다.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중앙 통제실인 Redis가 마비되었을 때, 모든 것을 무조건 열어주면 보안 사고로 이어지고 무조건 닫아버리면 서비스가 전면 중단됩니다. PoP-Sync는 요청의 성격에 따라 가용성과 보안을 분리 대응하는 이원화 의사결정 트리를 설계했습니다. 트래픽 유량 제어는 서비스 유지가 중요하므로, 중앙 Redis가 죽으면 각 게이트웨이의 로컬 메모리 LRU로 전환하고 한도를 노드당 15건으로 축소해 초과분을 노드 안에서 즉시 429로 차단했습니다. 반면 Nonce 검증은 Redis의 원자적 검증 없이 문을 열면 재전송 공격에 뚫릴 수 있으므로, 503 Fail-Closed로 즉시 닫아버립니다. 20건 동시 장애 테스트에서 5건은 로컬 429로 흡수하고 15건은 503으로 차단하며 가용성과 보안을 완벽히 분리 검증했습니다.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분산 클러스터에서는 특정 노드만 통신이 끊어지는 네트워크 파티션이 일어날 수 있습니다. 통신이 끊긴 노드가 낡은 캐시를 보고 승인을 내리면 보안 사고로 이어지는데, 이를 스플릿 브레인이라고 부릅니다. PoP-Sync는 3단계 시간축으로 이를 방어합니다. 10초 시점에 단절이 발생하면 유입되는 모든 요청을 즉시 503으로 격리하여 낡은 캐시 응답을 원천 차단하고, 헬스체크를 통해 트래픽을 Standby 노드로 우회시킵니다. 40초 시점에 통신망이 복구되면 Redis Streams의 PEL 완독, XAUTOCLAIM 회수, 신규 이벤트 완독의 3단계를 거쳐 밀린 무효화 메시지를 전량 반영합니다. last_catchup 지표를 통해 복구 건수와 정합성을 실시간 확인하며, 오차 0건으로 정상 상태에 복귀합니다.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 슬라이드는 카오스 장애 환경에서 PoP-Sync가 방어한 4대 핵심 장애 시나리오의 실측 결과 요약 매트릭스입니다. 첫째, Policy DB 장애에서는 서킷 브레이커와 2.0s 디바운스로 스레드 풀 고갈과 플래핑을 막고, 일반 정책은 degraded_allow, PoP 공개키는 503으로 안전하게 격리했습니다. 둘째, 중앙 Redis 마비 시에는 Nonce 503 Fail-Closed와 유량 제어 로컬 LRU 429로 이원화 분리 대응하여 20건 테스트를 완벽히 통제했습니다. 셋째, 네트워크 단절 시에는 고립 즉시 503으로 격리하여 스플릿 브레인을 방지하고, 복구 후 Redis Streams 3단계 완독으로 정합성 100%를 회복했습니다. 넷째, 동일 키 폭주와 경계 공격에서는 Single-Flight로 DB 부하를 98% 절감하고 경계 누수 0건을 달성했습니다. 우측 배지처럼 모든 시나리오에서 2대 수학적 불변식 전 구간 오차 0.00% PASS를 기록했습니다.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7차 작업에서는 PoP-Sync를 실제 엔터프라이즈 환경에 적용하기 위해 글로벌 표준 L7 프록시인 Envoy v3 ext_authz 및 Nginx auth_request 연동 명세를 구현했습니다. 상단 아키텍처처럼 Envoy가 최외곽 PEP 역할을 맡아 mTLS 인증서의 SAN URI를 추출하고 게이트웨이의 X-SPIFFE-ID에 강제 덮어씁니다. 이를 통해 클라이언트가 헤더를 조작하여 신원을 위조하는 공격을 프록시 레벨에서 원천 봉쇄했습니다. 하단의 3계층 벤치마크 하네스 측정 결과, L1 캐시 히트 시 Envoy 프록시 홉 0.42ms를 포함해 총 1.62ms(PoP-Sync 순수 인가 지연 0.85ms)라는 초저지연을 달성했습니다. 또한 Nonce 리플레이와 유량 초과 공격 3,000건을 백엔드에 도달하기 전 에지에서 100% 차단하여 백엔드 CPU 자원을 안전하게 보호했습니다.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총 7차례에 걸쳐 동시성, 보안, 고가용성 리팩토링을 수행했습니다. 초기 서킷 플래핑 디바운스부터 시작해, Single-Flight 코루틴 취소 누수 방지, Check-Before-Increment 유량제어, PoP 서명 검증, 그리고 6차에서는 PEP 프록시 모드와 Redis Sentinel 고가용성, 7차에서는 Envoy ext_authz 연동 가이드와 3계층 하네스를 구축했습니다. 외부 인프라 없이 독립 실행되는 93개의 단위 테스트를 4.2초 만에 통과하며, 우측 하단의 GET /chaos/audit 제어평면 API를 통해 3개 노드의 요청 정합성 오차 0건을 실시간으로 수학적 검증할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PoP-Sync는 보안과 속도, 복원력, 그리고 운영 진단 도구까지 아우르는 완성형 분산 인가 아키텍처입니다. 첫째, 다단계 캐시를 통해 0.85ms라는 초저지연 인가 오버헤드를 확보했습니다. 둘째, Single-Flight 동시성 병합으로 1,000건 폭주 시 p95 지연시간을 4,065ms에서 27.3ms로 148배 단축하고 DB 부하를 99.9% 절감했습니다. 셋째, DB·Redis 마비 및 네트워크 파티션의 복합 재난 상황에서도 2대 수학적 불변식을 통해 요청 정합성 오차 0.00%를 입증했습니다. 넷째, 글로벌 표준 Envoy ext_authz 연동과 독립 프로젝트 PoP Diagnoser까지 결합하여, 실제 엔터프라이즈 환경에 즉시 투입 가능한 프로덕션 인가 표준을 확립했습니다. 경청해 주셔서 감사합니다. 질문을 받겠습니다.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ko-KR" altLang="en-US"/>
              <a:t>마스터 제목 스타일 편집</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7202387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8906238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ko-KR" altLang="en-US"/>
              <a:t>마스터 제목 스타일 편집</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C764DE79-268F-4C1A-8933-263129D2AF90}" type="datetimeFigureOut">
              <a:rPr lang="en-US" dirty="0"/>
              <a:t>10/29/2026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82274712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10/29/2026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8143756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682329" y="2505075"/>
            <a:ext cx="4190702"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5014913" y="2505075"/>
            <a:ext cx="4211340"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10/29/2026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77562067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10/29/2026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7222985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10/29/2026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13859764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ko-KR" altLang="en-US"/>
              <a:t>마스터 제목 스타일 편집</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C764DE79-268F-4C1A-8933-263129D2AF90}" type="datetimeFigureOut">
              <a:rPr lang="en-US" dirty="0"/>
              <a:t>10/29/2026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76222431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C764DE79-268F-4C1A-8933-263129D2AF90}" type="datetimeFigureOut">
              <a:rPr lang="en-US" dirty="0"/>
              <a:t>10/29/2026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28570719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7492047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4352224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5776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10/29/2026</a:t>
            </a:fld>
            <a:endParaRPr lang="en-US" dirty="0"/>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86455973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9FAFD"/>
        </a:solidFill>
        <a:effectLst/>
      </p:bgPr>
    </p:bg>
    <p:spTree>
      <p:nvGrpSpPr>
        <p:cNvPr id="1" name=""/>
        <p:cNvGrpSpPr/>
        <p:nvPr/>
      </p:nvGrpSpPr>
      <p:grpSpPr>
        <a:xfrm>
          <a:off x="0" y="0"/>
          <a:ext cx="0" cy="0"/>
          <a:chOff x="0" y="0"/>
          <a:chExt cx="0" cy="0"/>
        </a:xfrm>
      </p:grpSpPr>
      <p:sp>
        <p:nvSpPr>
          <p:cNvPr id="2" name="Rounded Rectangle 1"/>
          <p:cNvSpPr/>
          <p:nvPr/>
        </p:nvSpPr>
        <p:spPr>
          <a:xfrm>
            <a:off x="356760" y="292680"/>
            <a:ext cx="9198720" cy="493920"/>
          </a:xfrm>
          <a:prstGeom prst="roundRect">
            <a:avLst/>
          </a:prstGeom>
          <a:solidFill>
            <a:srgbClr val="0E306D"/>
          </a:solidFill>
          <a:ln w="12700">
            <a:solidFill>
              <a:srgbClr val="0E30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80"/>
            <a:ext cx="8778240" cy="493920"/>
          </a:xfrm>
          <a:prstGeom prst="rect">
            <a:avLst/>
          </a:prstGeom>
          <a:noFill/>
        </p:spPr>
        <p:txBody>
          <a:bodyPr wrap="square" lIns="0" tIns="0" rIns="0" bIns="0" anchor="ctr">
            <a:spAutoFit/>
          </a:bodyPr>
          <a:lstStyle/>
          <a:p>
            <a:pPr>
              <a:defRPr sz="2000" b="1">
                <a:solidFill>
                  <a:srgbClr val="FFFFFF"/>
                </a:solidFill>
                <a:latin typeface="KoPub돋움체 Bold"/>
              </a:defRPr>
            </a:pPr>
            <a:r>
              <a:rPr dirty="0" err="1">
                <a:latin typeface="KoPub돋움체 Bold"/>
              </a:rPr>
              <a:t>PoP</a:t>
            </a:r>
            <a:r>
              <a:rPr dirty="0">
                <a:latin typeface="KoPub돋움체 Bold"/>
              </a:rPr>
              <a:t>-Sync: </a:t>
            </a:r>
            <a:r>
              <a:rPr dirty="0" err="1">
                <a:latin typeface="KoPub돋움체 Bold"/>
              </a:rPr>
              <a:t>제로</a:t>
            </a:r>
            <a:r>
              <a:rPr dirty="0">
                <a:latin typeface="KoPub돋움체 Bold"/>
              </a:rPr>
              <a:t> </a:t>
            </a:r>
            <a:r>
              <a:rPr dirty="0" err="1">
                <a:latin typeface="KoPub돋움체 Bold"/>
              </a:rPr>
              <a:t>트러스트</a:t>
            </a:r>
            <a:r>
              <a:rPr dirty="0">
                <a:latin typeface="KoPub돋움체 Bold"/>
              </a:rPr>
              <a:t> </a:t>
            </a:r>
            <a:r>
              <a:rPr dirty="0" err="1">
                <a:latin typeface="KoPub돋움체 Bold"/>
              </a:rPr>
              <a:t>고가용성</a:t>
            </a:r>
            <a:r>
              <a:rPr dirty="0">
                <a:latin typeface="KoPub돋움체 Bold"/>
              </a:rPr>
              <a:t> </a:t>
            </a:r>
            <a:r>
              <a:rPr dirty="0" err="1">
                <a:latin typeface="KoPub돋움체 Bold"/>
              </a:rPr>
              <a:t>인가</a:t>
            </a:r>
            <a:r>
              <a:rPr dirty="0">
                <a:latin typeface="KoPub돋움체 Bold"/>
              </a:rPr>
              <a:t> </a:t>
            </a:r>
            <a:r>
              <a:rPr dirty="0" err="1">
                <a:latin typeface="KoPub돋움체 Bold"/>
              </a:rPr>
              <a:t>게이트웨이</a:t>
            </a:r>
            <a:endParaRPr dirty="0">
              <a:latin typeface="KoPub돋움체 Bold"/>
            </a:endParaRPr>
          </a:p>
        </p:txBody>
      </p:sp>
      <p:sp>
        <p:nvSpPr>
          <p:cNvPr id="4" name="Rounded Rectangle 3"/>
          <p:cNvSpPr/>
          <p:nvPr/>
        </p:nvSpPr>
        <p:spPr>
          <a:xfrm>
            <a:off x="356760" y="914400"/>
            <a:ext cx="9198720" cy="347400"/>
          </a:xfrm>
          <a:prstGeom prst="roundRect">
            <a:avLst/>
          </a:prstGeom>
          <a:solidFill>
            <a:srgbClr val="F1F1F1"/>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011156"/>
            <a:ext cx="9052560" cy="153888"/>
          </a:xfrm>
          <a:prstGeom prst="rect">
            <a:avLst/>
          </a:prstGeom>
          <a:noFill/>
        </p:spPr>
        <p:txBody>
          <a:bodyPr wrap="square" lIns="0" tIns="0" rIns="0" bIns="0" anchor="ctr">
            <a:spAutoFit/>
          </a:bodyPr>
          <a:lstStyle/>
          <a:p>
            <a:pPr>
              <a:defRPr sz="1050" b="1">
                <a:solidFill>
                  <a:srgbClr val="0E306D"/>
                </a:solidFill>
                <a:latin typeface="KoPub돋움체 Bold"/>
              </a:defRPr>
            </a:pPr>
            <a:r>
              <a:rPr sz="1000" dirty="0">
                <a:latin typeface="KoPub돋움체 Bold"/>
              </a:rPr>
              <a:t>High-Availability Policy Decision Point with Chaos Resilience &amp; Mathematical Invariants</a:t>
            </a:r>
          </a:p>
        </p:txBody>
      </p:sp>
      <p:sp>
        <p:nvSpPr>
          <p:cNvPr id="6" name="Rounded Rectangle 5"/>
          <p:cNvSpPr/>
          <p:nvPr/>
        </p:nvSpPr>
        <p:spPr>
          <a:xfrm>
            <a:off x="356760" y="1417320"/>
            <a:ext cx="2926080" cy="3348000"/>
          </a:xfrm>
          <a:prstGeom prst="roundRect">
            <a:avLst>
              <a:gd name="adj" fmla="val 1693"/>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75560" y="1527120"/>
            <a:ext cx="2688480" cy="324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200" b="1">
                <a:solidFill>
                  <a:srgbClr val="0E306D"/>
                </a:solidFill>
                <a:latin typeface="KoPub돋움체 Bold"/>
              </a:defRPr>
            </a:pPr>
            <a:r>
              <a:rPr dirty="0">
                <a:latin typeface="KoPub돋움체 Bold"/>
              </a:rPr>
              <a:t>01. </a:t>
            </a:r>
            <a:r>
              <a:rPr dirty="0" err="1">
                <a:latin typeface="KoPub돋움체 Bold"/>
              </a:rPr>
              <a:t>저지연</a:t>
            </a:r>
            <a:r>
              <a:rPr dirty="0">
                <a:latin typeface="KoPub돋움체 Bold"/>
              </a:rPr>
              <a:t> </a:t>
            </a:r>
            <a:r>
              <a:rPr dirty="0" err="1">
                <a:latin typeface="KoPub돋움체 Bold"/>
              </a:rPr>
              <a:t>다단계</a:t>
            </a:r>
            <a:r>
              <a:rPr dirty="0">
                <a:latin typeface="KoPub돋움체 Bold"/>
              </a:rPr>
              <a:t> </a:t>
            </a:r>
            <a:r>
              <a:rPr dirty="0" err="1">
                <a:latin typeface="KoPub돋움체 Bold"/>
              </a:rPr>
              <a:t>캐싱</a:t>
            </a:r>
            <a:endParaRPr dirty="0">
              <a:latin typeface="KoPub돋움체 Bold"/>
            </a:endParaRPr>
          </a:p>
        </p:txBody>
      </p:sp>
      <p:sp>
        <p:nvSpPr>
          <p:cNvPr id="8" name="TextBox 7"/>
          <p:cNvSpPr txBox="1"/>
          <p:nvPr/>
        </p:nvSpPr>
        <p:spPr>
          <a:xfrm>
            <a:off x="585360" y="1885320"/>
            <a:ext cx="2468880" cy="504000"/>
          </a:xfrm>
          <a:prstGeom prst="rect">
            <a:avLst/>
          </a:prstGeom>
          <a:noFill/>
        </p:spPr>
        <p:txBody>
          <a:bodyPr wrap="none" lIns="0" tIns="0" rIns="0" bIns="0">
            <a:spAutoFit/>
          </a:bodyPr>
          <a:lstStyle/>
          <a:p>
            <a:pPr algn="ctr"/>
            <a:r>
              <a:rPr sz="3600" b="1">
                <a:solidFill>
                  <a:srgbClr val="0E306D"/>
                </a:solidFill>
                <a:latin typeface="KoPub돋움체 Bold"/>
              </a:rPr>
              <a:t>0.85</a:t>
            </a:r>
            <a:r>
              <a:rPr sz="2200" b="1">
                <a:solidFill>
                  <a:srgbClr val="0E306D"/>
                </a:solidFill>
                <a:latin typeface="KoPub돋움체 Bold"/>
              </a:rPr>
              <a:t> ms</a:t>
            </a:r>
          </a:p>
        </p:txBody>
      </p:sp>
      <p:sp>
        <p:nvSpPr>
          <p:cNvPr id="9" name="TextBox 8"/>
          <p:cNvSpPr txBox="1"/>
          <p:nvPr/>
        </p:nvSpPr>
        <p:spPr>
          <a:xfrm>
            <a:off x="585360" y="2407320"/>
            <a:ext cx="2468880" cy="216000"/>
          </a:xfrm>
          <a:prstGeom prst="rect">
            <a:avLst/>
          </a:prstGeom>
          <a:noFill/>
        </p:spPr>
        <p:txBody>
          <a:bodyPr wrap="none" lIns="0" tIns="0" rIns="0" bIns="0">
            <a:spAutoFit/>
          </a:bodyPr>
          <a:lstStyle/>
          <a:p>
            <a:pPr algn="ctr">
              <a:defRPr sz="1100" b="1">
                <a:solidFill>
                  <a:srgbClr val="0E306D"/>
                </a:solidFill>
                <a:latin typeface="KoPub돋움체 Medium"/>
              </a:defRPr>
            </a:pPr>
            <a:r>
              <a:rPr>
                <a:latin typeface="KoPub돋움체 Medium"/>
              </a:rPr>
              <a:t>L1 캐시 히트 (총 p50 1.62ms)</a:t>
            </a:r>
          </a:p>
        </p:txBody>
      </p:sp>
      <p:sp>
        <p:nvSpPr>
          <p:cNvPr id="10" name="Rounded Rectangle 9"/>
          <p:cNvSpPr/>
          <p:nvPr/>
        </p:nvSpPr>
        <p:spPr>
          <a:xfrm>
            <a:off x="475560" y="2677320"/>
            <a:ext cx="2688480" cy="1620000"/>
          </a:xfrm>
          <a:prstGeom prst="roundRect">
            <a:avLst>
              <a:gd name="adj" fmla="val 6737"/>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54760" y="2767320"/>
            <a:ext cx="2530080" cy="331200"/>
          </a:xfrm>
          <a:prstGeom prst="roundRect">
            <a:avLst/>
          </a:prstGeom>
          <a:solidFill>
            <a:srgbClr val="009A93"/>
          </a:solidFill>
          <a:ln>
            <a:solidFill>
              <a:srgbClr val="009A93"/>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KoPub돋움체 Bold"/>
              </a:defRPr>
            </a:pPr>
            <a:r>
              <a:rPr>
                <a:latin typeface="KoPub돋움체 Bold"/>
              </a:rPr>
              <a:t>L1 로컬 LRU 캐시 : 0.85ms 초고속 응답</a:t>
            </a:r>
          </a:p>
        </p:txBody>
      </p:sp>
      <p:sp>
        <p:nvSpPr>
          <p:cNvPr id="12" name="TextBox 11"/>
          <p:cNvSpPr txBox="1"/>
          <p:nvPr/>
        </p:nvSpPr>
        <p:spPr>
          <a:xfrm>
            <a:off x="554760" y="3144455"/>
            <a:ext cx="2530080" cy="162000"/>
          </a:xfrm>
          <a:prstGeom prst="rect">
            <a:avLst/>
          </a:prstGeom>
          <a:noFill/>
        </p:spPr>
        <p:txBody>
          <a:bodyPr wrap="none" lIns="0" tIns="0" rIns="0" bIns="0">
            <a:spAutoFit/>
          </a:bodyPr>
          <a:lstStyle/>
          <a:p>
            <a:pPr algn="ctr">
              <a:defRPr sz="750" b="1">
                <a:solidFill>
                  <a:srgbClr val="6B7280"/>
                </a:solidFill>
                <a:latin typeface="KoPub돋움체 Bold"/>
              </a:defRPr>
            </a:pPr>
            <a:r>
              <a:rPr>
                <a:latin typeface="KoPub돋움체 Bold"/>
              </a:rPr>
              <a:t>▼  캐시 미스 시 클러스터 조회</a:t>
            </a:r>
          </a:p>
        </p:txBody>
      </p:sp>
      <p:sp>
        <p:nvSpPr>
          <p:cNvPr id="13" name="Rounded Rectangle 12"/>
          <p:cNvSpPr/>
          <p:nvPr/>
        </p:nvSpPr>
        <p:spPr>
          <a:xfrm>
            <a:off x="554760" y="3296721"/>
            <a:ext cx="2530080" cy="331200"/>
          </a:xfrm>
          <a:prstGeom prst="roundRect">
            <a:avLst/>
          </a:prstGeom>
          <a:solidFill>
            <a:srgbClr val="0E306D"/>
          </a:solidFill>
          <a:ln>
            <a:solidFill>
              <a:srgbClr val="0E306D"/>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KoPub돋움체 Bold"/>
              </a:defRPr>
            </a:pPr>
            <a:r>
              <a:rPr dirty="0">
                <a:latin typeface="KoPub돋움체 Bold"/>
              </a:rPr>
              <a:t>L2 </a:t>
            </a:r>
            <a:r>
              <a:rPr dirty="0" err="1">
                <a:latin typeface="KoPub돋움체 Bold"/>
              </a:rPr>
              <a:t>중앙</a:t>
            </a:r>
            <a:r>
              <a:rPr dirty="0">
                <a:latin typeface="KoPub돋움체 Bold"/>
              </a:rPr>
              <a:t> Redis : </a:t>
            </a:r>
            <a:r>
              <a:rPr dirty="0" err="1">
                <a:latin typeface="KoPub돋움체 Bold"/>
              </a:rPr>
              <a:t>클러스터</a:t>
            </a:r>
            <a:r>
              <a:rPr dirty="0">
                <a:latin typeface="KoPub돋움체 Bold"/>
              </a:rPr>
              <a:t> </a:t>
            </a:r>
            <a:r>
              <a:rPr dirty="0" err="1">
                <a:latin typeface="KoPub돋움체 Bold"/>
              </a:rPr>
              <a:t>동기화</a:t>
            </a:r>
            <a:r>
              <a:rPr dirty="0">
                <a:latin typeface="KoPub돋움체 Bold"/>
              </a:rPr>
              <a:t> &amp; </a:t>
            </a:r>
            <a:r>
              <a:rPr dirty="0" err="1">
                <a:latin typeface="KoPub돋움체 Bold"/>
              </a:rPr>
              <a:t>분산</a:t>
            </a:r>
            <a:r>
              <a:rPr dirty="0">
                <a:latin typeface="KoPub돋움체 Bold"/>
              </a:rPr>
              <a:t> 락</a:t>
            </a:r>
          </a:p>
        </p:txBody>
      </p:sp>
      <p:sp>
        <p:nvSpPr>
          <p:cNvPr id="14" name="TextBox 13"/>
          <p:cNvSpPr txBox="1"/>
          <p:nvPr/>
        </p:nvSpPr>
        <p:spPr>
          <a:xfrm>
            <a:off x="554760" y="3665389"/>
            <a:ext cx="2530080" cy="162000"/>
          </a:xfrm>
          <a:prstGeom prst="rect">
            <a:avLst/>
          </a:prstGeom>
          <a:noFill/>
        </p:spPr>
        <p:txBody>
          <a:bodyPr wrap="none" lIns="0" tIns="0" rIns="0" bIns="0">
            <a:spAutoFit/>
          </a:bodyPr>
          <a:lstStyle/>
          <a:p>
            <a:pPr algn="ctr">
              <a:defRPr sz="750" b="1">
                <a:solidFill>
                  <a:srgbClr val="6B7280"/>
                </a:solidFill>
                <a:latin typeface="KoPub돋움체 Bold"/>
              </a:defRPr>
            </a:pPr>
            <a:r>
              <a:rPr dirty="0">
                <a:latin typeface="KoPub돋움체 Bold"/>
              </a:rPr>
              <a:t>▼  Single-Flight </a:t>
            </a:r>
            <a:r>
              <a:rPr dirty="0" err="1">
                <a:latin typeface="KoPub돋움체 Bold"/>
              </a:rPr>
              <a:t>병합</a:t>
            </a:r>
            <a:r>
              <a:rPr dirty="0">
                <a:latin typeface="KoPub돋움체 Bold"/>
              </a:rPr>
              <a:t> (1,000건 → 1건, 99.9% </a:t>
            </a:r>
            <a:r>
              <a:rPr dirty="0" err="1">
                <a:latin typeface="KoPub돋움체 Bold"/>
              </a:rPr>
              <a:t>절감</a:t>
            </a:r>
            <a:r>
              <a:rPr dirty="0">
                <a:latin typeface="KoPub돋움체 Bold"/>
              </a:rPr>
              <a:t>)</a:t>
            </a:r>
          </a:p>
        </p:txBody>
      </p:sp>
      <p:sp>
        <p:nvSpPr>
          <p:cNvPr id="15" name="Rounded Rectangle 14"/>
          <p:cNvSpPr/>
          <p:nvPr/>
        </p:nvSpPr>
        <p:spPr>
          <a:xfrm>
            <a:off x="554760" y="3800721"/>
            <a:ext cx="2530080" cy="331200"/>
          </a:xfrm>
          <a:prstGeom prst="roundRect">
            <a:avLst/>
          </a:prstGeom>
          <a:solidFill>
            <a:srgbClr val="EEF2F6"/>
          </a:solidFill>
          <a:ln>
            <a:solidFill>
              <a:srgbClr val="CBD5E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0E306D"/>
                </a:solidFill>
                <a:latin typeface="KoPub돋움체 Bold"/>
              </a:defRPr>
            </a:pPr>
            <a:r>
              <a:rPr>
                <a:latin typeface="KoPub돋움체 Bold"/>
              </a:rPr>
              <a:t>Policy DB : 영속 정책 원본 (커넥션 고갈 원천 차단)</a:t>
            </a:r>
          </a:p>
        </p:txBody>
      </p:sp>
      <p:sp>
        <p:nvSpPr>
          <p:cNvPr id="16" name="Rounded Rectangle 15"/>
          <p:cNvSpPr/>
          <p:nvPr/>
        </p:nvSpPr>
        <p:spPr>
          <a:xfrm>
            <a:off x="585360" y="4387320"/>
            <a:ext cx="2468880" cy="270000"/>
          </a:xfrm>
          <a:prstGeom prst="roundRect">
            <a:avLst/>
          </a:prstGeom>
          <a:solidFill>
            <a:srgbClr val="F1F1F1"/>
          </a:solidFill>
          <a:ln>
            <a:solidFill>
              <a:srgbClr val="F1F1F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50" b="1">
                <a:solidFill>
                  <a:srgbClr val="0E306D"/>
                </a:solidFill>
                <a:latin typeface="KoPub돋움체 Bold"/>
              </a:defRPr>
            </a:pPr>
            <a:r>
              <a:rPr>
                <a:latin typeface="KoPub돋움체 Bold"/>
              </a:rPr>
              <a:t>Single-Flight 병합으로 DB 부하 99.9% 차단</a:t>
            </a:r>
          </a:p>
        </p:txBody>
      </p:sp>
      <p:sp>
        <p:nvSpPr>
          <p:cNvPr id="17" name="Rounded Rectangle 16"/>
          <p:cNvSpPr/>
          <p:nvPr/>
        </p:nvSpPr>
        <p:spPr>
          <a:xfrm>
            <a:off x="3483720" y="1417320"/>
            <a:ext cx="2926080" cy="3348000"/>
          </a:xfrm>
          <a:prstGeom prst="roundRect">
            <a:avLst>
              <a:gd name="adj" fmla="val 1368"/>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3602520" y="1527120"/>
            <a:ext cx="2688480" cy="324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200" b="1">
                <a:solidFill>
                  <a:srgbClr val="0E306D"/>
                </a:solidFill>
                <a:latin typeface="KoPub돋움체 Bold"/>
              </a:defRPr>
            </a:pPr>
            <a:r>
              <a:rPr>
                <a:latin typeface="KoPub돋움체 Bold"/>
              </a:rPr>
              <a:t>02. 6단계 심층 방어 관문</a:t>
            </a:r>
          </a:p>
        </p:txBody>
      </p:sp>
      <p:sp>
        <p:nvSpPr>
          <p:cNvPr id="19" name="TextBox 18"/>
          <p:cNvSpPr txBox="1"/>
          <p:nvPr/>
        </p:nvSpPr>
        <p:spPr>
          <a:xfrm>
            <a:off x="3712320" y="1885320"/>
            <a:ext cx="2468880" cy="504000"/>
          </a:xfrm>
          <a:prstGeom prst="rect">
            <a:avLst/>
          </a:prstGeom>
          <a:noFill/>
        </p:spPr>
        <p:txBody>
          <a:bodyPr wrap="none" lIns="0" tIns="0" rIns="0" bIns="0">
            <a:spAutoFit/>
          </a:bodyPr>
          <a:lstStyle/>
          <a:p>
            <a:pPr algn="ctr"/>
            <a:r>
              <a:rPr sz="3600" b="1">
                <a:solidFill>
                  <a:srgbClr val="0E306D"/>
                </a:solidFill>
                <a:latin typeface="KoPub돋움체 Bold"/>
              </a:rPr>
              <a:t>6</a:t>
            </a:r>
            <a:r>
              <a:rPr sz="2200" b="1">
                <a:solidFill>
                  <a:srgbClr val="0E306D"/>
                </a:solidFill>
                <a:latin typeface="KoPub돋움체 Bold"/>
              </a:rPr>
              <a:t> 단계</a:t>
            </a:r>
          </a:p>
        </p:txBody>
      </p:sp>
      <p:sp>
        <p:nvSpPr>
          <p:cNvPr id="20" name="TextBox 19"/>
          <p:cNvSpPr txBox="1"/>
          <p:nvPr/>
        </p:nvSpPr>
        <p:spPr>
          <a:xfrm>
            <a:off x="3712320" y="2407320"/>
            <a:ext cx="2468880" cy="216000"/>
          </a:xfrm>
          <a:prstGeom prst="rect">
            <a:avLst/>
          </a:prstGeom>
          <a:noFill/>
        </p:spPr>
        <p:txBody>
          <a:bodyPr wrap="none" lIns="0" tIns="0" rIns="0" bIns="0">
            <a:spAutoFit/>
          </a:bodyPr>
          <a:lstStyle/>
          <a:p>
            <a:pPr algn="ctr">
              <a:defRPr sz="1100" b="1">
                <a:solidFill>
                  <a:srgbClr val="0E306D"/>
                </a:solidFill>
                <a:latin typeface="KoPub돋움체 Medium"/>
              </a:defRPr>
            </a:pPr>
            <a:r>
              <a:rPr>
                <a:latin typeface="KoPub돋움체 Medium"/>
              </a:rPr>
              <a:t>저비용 선행 차단 &amp; CPU 보호</a:t>
            </a:r>
          </a:p>
        </p:txBody>
      </p:sp>
      <p:sp>
        <p:nvSpPr>
          <p:cNvPr id="21" name="Rounded Rectangle 20"/>
          <p:cNvSpPr/>
          <p:nvPr/>
        </p:nvSpPr>
        <p:spPr>
          <a:xfrm>
            <a:off x="3602520" y="2677320"/>
            <a:ext cx="2688480" cy="1620000"/>
          </a:xfrm>
          <a:prstGeom prst="roundRect">
            <a:avLst>
              <a:gd name="adj" fmla="val 6214"/>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3645720" y="2767320"/>
            <a:ext cx="2602080" cy="518040"/>
          </a:xfrm>
          <a:prstGeom prst="roundRect">
            <a:avLst/>
          </a:prstGeom>
          <a:solidFill>
            <a:srgbClr val="EEF5FF"/>
          </a:solidFill>
          <a:ln>
            <a:solidFill>
              <a:srgbClr val="C7DBFE"/>
            </a:solidFill>
          </a:ln>
        </p:spPr>
        <p:style>
          <a:lnRef idx="1">
            <a:schemeClr val="accent1"/>
          </a:lnRef>
          <a:fillRef idx="3">
            <a:schemeClr val="accent1"/>
          </a:fillRef>
          <a:effectRef idx="2">
            <a:schemeClr val="accent1"/>
          </a:effectRef>
          <a:fontRef idx="minor">
            <a:schemeClr val="lt1"/>
          </a:fontRef>
        </p:style>
        <p:txBody>
          <a:bodyPr wrap="square" lIns="90000" tIns="54000" rIns="90000" rtlCol="0" anchor="ctr"/>
          <a:lstStyle/>
          <a:p>
            <a:pPr algn="ctr">
              <a:defRPr sz="800" b="1">
                <a:solidFill>
                  <a:srgbClr val="0E306D"/>
                </a:solidFill>
                <a:latin typeface="KoPub돋움체 Bold"/>
              </a:defRPr>
            </a:pPr>
            <a:r>
              <a:rPr>
                <a:latin typeface="KoPub돋움체 Bold"/>
              </a:rPr>
              <a:t>[선행 저비용 검증]  CPU 소모 0% 필터 (0.3ms)</a:t>
            </a:r>
          </a:p>
          <a:p>
            <a:pPr>
              <a:defRPr sz="800" b="1">
                <a:solidFill>
                  <a:srgbClr val="1D4ED8"/>
                </a:solidFill>
                <a:latin typeface="KoPub돋움체 Bold"/>
              </a:defRPr>
            </a:pPr>
            <a:r>
              <a:rPr>
                <a:latin typeface="KoPub돋움체 Bold"/>
              </a:rPr>
              <a:t>1. mTLS/SPIFFE  →  2. 유량 제어  →  3. Nonce 소각</a:t>
            </a:r>
          </a:p>
        </p:txBody>
      </p:sp>
      <p:sp>
        <p:nvSpPr>
          <p:cNvPr id="23" name="TextBox 22"/>
          <p:cNvSpPr txBox="1"/>
          <p:nvPr/>
        </p:nvSpPr>
        <p:spPr>
          <a:xfrm>
            <a:off x="3645720" y="3361320"/>
            <a:ext cx="2602080" cy="144000"/>
          </a:xfrm>
          <a:prstGeom prst="rect">
            <a:avLst/>
          </a:prstGeom>
          <a:noFill/>
        </p:spPr>
        <p:txBody>
          <a:bodyPr wrap="none" lIns="0" tIns="0" rIns="0" bIns="0">
            <a:spAutoFit/>
          </a:bodyPr>
          <a:lstStyle/>
          <a:p>
            <a:pPr algn="ctr">
              <a:defRPr sz="750" b="1">
                <a:solidFill>
                  <a:srgbClr val="6B7280"/>
                </a:solidFill>
                <a:latin typeface="KoPub돋움체 Bold"/>
              </a:defRPr>
            </a:pPr>
            <a:r>
              <a:rPr>
                <a:latin typeface="KoPub돋움체 Bold"/>
              </a:rPr>
              <a:t>▼  정상 패킷만 고비용 암호 서명 검증 진입</a:t>
            </a:r>
          </a:p>
        </p:txBody>
      </p:sp>
      <p:sp>
        <p:nvSpPr>
          <p:cNvPr id="24" name="Rounded Rectangle 23"/>
          <p:cNvSpPr/>
          <p:nvPr/>
        </p:nvSpPr>
        <p:spPr>
          <a:xfrm>
            <a:off x="3645720" y="3573360"/>
            <a:ext cx="2602080" cy="615960"/>
          </a:xfrm>
          <a:prstGeom prst="roundRect">
            <a:avLst/>
          </a:prstGeom>
          <a:solidFill>
            <a:srgbClr val="E3F3F2"/>
          </a:solidFill>
          <a:ln>
            <a:solidFill>
              <a:srgbClr val="A7F3D0"/>
            </a:solidFill>
          </a:ln>
        </p:spPr>
        <p:style>
          <a:lnRef idx="1">
            <a:schemeClr val="accent1"/>
          </a:lnRef>
          <a:fillRef idx="3">
            <a:schemeClr val="accent1"/>
          </a:fillRef>
          <a:effectRef idx="2">
            <a:schemeClr val="accent1"/>
          </a:effectRef>
          <a:fontRef idx="minor">
            <a:schemeClr val="lt1"/>
          </a:fontRef>
        </p:style>
        <p:txBody>
          <a:bodyPr wrap="square" lIns="90000" tIns="54000" rIns="90000" rtlCol="0" anchor="ctr"/>
          <a:lstStyle/>
          <a:p>
            <a:pPr algn="ctr">
              <a:defRPr sz="800" b="1">
                <a:solidFill>
                  <a:srgbClr val="009A93"/>
                </a:solidFill>
                <a:latin typeface="KoPub돋움체 Bold"/>
              </a:defRPr>
            </a:pPr>
            <a:r>
              <a:rPr dirty="0">
                <a:latin typeface="KoPub돋움체 Bold"/>
              </a:rPr>
              <a:t>[</a:t>
            </a:r>
            <a:r>
              <a:rPr dirty="0" err="1">
                <a:latin typeface="KoPub돋움체 Bold"/>
              </a:rPr>
              <a:t>비대칭</a:t>
            </a:r>
            <a:r>
              <a:rPr dirty="0">
                <a:latin typeface="KoPub돋움체 Bold"/>
              </a:rPr>
              <a:t> </a:t>
            </a:r>
            <a:r>
              <a:rPr dirty="0" err="1">
                <a:latin typeface="KoPub돋움체 Bold"/>
              </a:rPr>
              <a:t>검증</a:t>
            </a:r>
            <a:r>
              <a:rPr dirty="0">
                <a:latin typeface="KoPub돋움체 Bold"/>
              </a:rPr>
              <a:t> &amp; </a:t>
            </a:r>
            <a:r>
              <a:rPr dirty="0" err="1">
                <a:latin typeface="KoPub돋움체 Bold"/>
              </a:rPr>
              <a:t>캐시</a:t>
            </a:r>
            <a:r>
              <a:rPr dirty="0">
                <a:latin typeface="KoPub돋움체 Bold"/>
              </a:rPr>
              <a:t>]  </a:t>
            </a:r>
            <a:r>
              <a:rPr dirty="0" err="1">
                <a:latin typeface="KoPub돋움체 Bold"/>
              </a:rPr>
              <a:t>엄격</a:t>
            </a:r>
            <a:r>
              <a:rPr dirty="0">
                <a:latin typeface="KoPub돋움체 Bold"/>
              </a:rPr>
              <a:t> </a:t>
            </a:r>
            <a:r>
              <a:rPr dirty="0" err="1">
                <a:latin typeface="KoPub돋움체 Bold"/>
              </a:rPr>
              <a:t>인가</a:t>
            </a:r>
            <a:r>
              <a:rPr dirty="0">
                <a:latin typeface="KoPub돋움체 Bold"/>
              </a:rPr>
              <a:t> 및 </a:t>
            </a:r>
            <a:r>
              <a:rPr dirty="0" err="1">
                <a:latin typeface="KoPub돋움체 Bold"/>
              </a:rPr>
              <a:t>안전</a:t>
            </a:r>
            <a:r>
              <a:rPr dirty="0">
                <a:latin typeface="KoPub돋움체 Bold"/>
              </a:rPr>
              <a:t> </a:t>
            </a:r>
            <a:r>
              <a:rPr dirty="0" err="1">
                <a:latin typeface="KoPub돋움체 Bold"/>
              </a:rPr>
              <a:t>격리</a:t>
            </a:r>
            <a:endParaRPr dirty="0">
              <a:latin typeface="KoPub돋움체 Bold"/>
            </a:endParaRPr>
          </a:p>
          <a:p>
            <a:pPr>
              <a:defRPr sz="780" b="1">
                <a:solidFill>
                  <a:srgbClr val="0E306D"/>
                </a:solidFill>
                <a:latin typeface="KoPub돋움체 Bold"/>
              </a:defRPr>
            </a:pPr>
            <a:r>
              <a:rPr dirty="0">
                <a:latin typeface="KoPub돋움체 Bold"/>
              </a:rPr>
              <a:t>4. ECDSA </a:t>
            </a:r>
            <a:r>
              <a:rPr dirty="0" err="1">
                <a:latin typeface="KoPub돋움체 Bold"/>
              </a:rPr>
              <a:t>서명</a:t>
            </a:r>
            <a:r>
              <a:rPr dirty="0">
                <a:latin typeface="KoPub돋움체 Bold"/>
              </a:rPr>
              <a:t> </a:t>
            </a:r>
            <a:r>
              <a:rPr dirty="0" err="1">
                <a:latin typeface="KoPub돋움체 Bold"/>
              </a:rPr>
              <a:t>검증</a:t>
            </a:r>
            <a:r>
              <a:rPr dirty="0">
                <a:latin typeface="KoPub돋움체 Bold"/>
              </a:rPr>
              <a:t>  →  5. </a:t>
            </a:r>
            <a:r>
              <a:rPr dirty="0" err="1">
                <a:latin typeface="KoPub돋움체 Bold"/>
              </a:rPr>
              <a:t>캐시</a:t>
            </a:r>
            <a:r>
              <a:rPr dirty="0">
                <a:latin typeface="KoPub돋움체 Bold"/>
              </a:rPr>
              <a:t> </a:t>
            </a:r>
            <a:r>
              <a:rPr dirty="0" err="1">
                <a:latin typeface="KoPub돋움체 Bold"/>
              </a:rPr>
              <a:t>조회</a:t>
            </a:r>
            <a:r>
              <a:rPr dirty="0">
                <a:latin typeface="KoPub돋움체 Bold"/>
              </a:rPr>
              <a:t>  →  6. Fail-Closed</a:t>
            </a:r>
          </a:p>
        </p:txBody>
      </p:sp>
      <p:sp>
        <p:nvSpPr>
          <p:cNvPr id="25" name="Rounded Rectangle 24"/>
          <p:cNvSpPr/>
          <p:nvPr/>
        </p:nvSpPr>
        <p:spPr>
          <a:xfrm>
            <a:off x="3712320" y="4387320"/>
            <a:ext cx="2468880" cy="270000"/>
          </a:xfrm>
          <a:prstGeom prst="roundRect">
            <a:avLst/>
          </a:prstGeom>
          <a:solidFill>
            <a:srgbClr val="F1F1F1"/>
          </a:solidFill>
          <a:ln>
            <a:solidFill>
              <a:srgbClr val="F1F1F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50" b="1">
                <a:solidFill>
                  <a:srgbClr val="0E306D"/>
                </a:solidFill>
                <a:latin typeface="KoPub돋움체 Bold"/>
              </a:defRPr>
            </a:pPr>
            <a:r>
              <a:rPr>
                <a:latin typeface="KoPub돋움체 Bold"/>
              </a:rPr>
              <a:t>공격 유입 시 백엔드 CPU 변동률 0%</a:t>
            </a:r>
          </a:p>
        </p:txBody>
      </p:sp>
      <p:sp>
        <p:nvSpPr>
          <p:cNvPr id="26" name="Rounded Rectangle 25"/>
          <p:cNvSpPr/>
          <p:nvPr/>
        </p:nvSpPr>
        <p:spPr>
          <a:xfrm>
            <a:off x="6611039" y="1417320"/>
            <a:ext cx="2926080" cy="3348000"/>
          </a:xfrm>
          <a:prstGeom prst="roundRect">
            <a:avLst>
              <a:gd name="adj" fmla="val 2019"/>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6729839" y="1527120"/>
            <a:ext cx="2688480" cy="324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200" b="1">
                <a:solidFill>
                  <a:srgbClr val="0E306D"/>
                </a:solidFill>
                <a:latin typeface="KoPub돋움체 Bold"/>
              </a:defRPr>
            </a:pPr>
            <a:r>
              <a:rPr>
                <a:latin typeface="KoPub돋움체 Bold"/>
              </a:rPr>
              <a:t>03. 카오스 복원 &amp; 수학적 감사</a:t>
            </a:r>
          </a:p>
        </p:txBody>
      </p:sp>
      <p:sp>
        <p:nvSpPr>
          <p:cNvPr id="28" name="TextBox 27"/>
          <p:cNvSpPr txBox="1"/>
          <p:nvPr/>
        </p:nvSpPr>
        <p:spPr>
          <a:xfrm>
            <a:off x="6839639" y="1885320"/>
            <a:ext cx="2468880" cy="504000"/>
          </a:xfrm>
          <a:prstGeom prst="rect">
            <a:avLst/>
          </a:prstGeom>
          <a:noFill/>
        </p:spPr>
        <p:txBody>
          <a:bodyPr wrap="none" lIns="0" tIns="0" rIns="0" bIns="0">
            <a:spAutoFit/>
          </a:bodyPr>
          <a:lstStyle/>
          <a:p>
            <a:pPr algn="ctr"/>
            <a:r>
              <a:rPr sz="3600" b="1">
                <a:solidFill>
                  <a:srgbClr val="009A93"/>
                </a:solidFill>
                <a:latin typeface="KoPub돋움체 Bold"/>
              </a:rPr>
              <a:t>0</a:t>
            </a:r>
            <a:r>
              <a:rPr sz="2200" b="1">
                <a:solidFill>
                  <a:srgbClr val="009A93"/>
                </a:solidFill>
                <a:latin typeface="KoPub돋움체 Bold"/>
              </a:rPr>
              <a:t> 건</a:t>
            </a:r>
          </a:p>
        </p:txBody>
      </p:sp>
      <p:sp>
        <p:nvSpPr>
          <p:cNvPr id="29" name="TextBox 28"/>
          <p:cNvSpPr txBox="1"/>
          <p:nvPr/>
        </p:nvSpPr>
        <p:spPr>
          <a:xfrm>
            <a:off x="6839639" y="2407320"/>
            <a:ext cx="2468880" cy="216000"/>
          </a:xfrm>
          <a:prstGeom prst="rect">
            <a:avLst/>
          </a:prstGeom>
          <a:noFill/>
        </p:spPr>
        <p:txBody>
          <a:bodyPr wrap="none" lIns="0" tIns="0" rIns="0" bIns="0">
            <a:spAutoFit/>
          </a:bodyPr>
          <a:lstStyle/>
          <a:p>
            <a:pPr algn="ctr">
              <a:defRPr sz="1100" b="1">
                <a:solidFill>
                  <a:srgbClr val="0E306D"/>
                </a:solidFill>
                <a:latin typeface="KoPub돋움체 Medium"/>
              </a:defRPr>
            </a:pPr>
            <a:r>
              <a:rPr>
                <a:latin typeface="KoPub돋움체 Medium"/>
              </a:rPr>
              <a:t>요청 분류 누락 및 오차 0건</a:t>
            </a:r>
          </a:p>
        </p:txBody>
      </p:sp>
      <p:sp>
        <p:nvSpPr>
          <p:cNvPr id="30" name="Rounded Rectangle 29"/>
          <p:cNvSpPr/>
          <p:nvPr/>
        </p:nvSpPr>
        <p:spPr>
          <a:xfrm>
            <a:off x="6729839" y="2677320"/>
            <a:ext cx="2688480" cy="1620000"/>
          </a:xfrm>
          <a:prstGeom prst="roundRect">
            <a:avLst>
              <a:gd name="adj" fmla="val 6214"/>
            </a:avLst>
          </a:prstGeom>
          <a:solidFill>
            <a:srgbClr val="0E306D"/>
          </a:solidFill>
          <a:ln w="12700">
            <a:solidFill>
              <a:srgbClr val="0E30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27039" y="2749320"/>
            <a:ext cx="2494080" cy="216000"/>
          </a:xfrm>
          <a:prstGeom prst="rect">
            <a:avLst/>
          </a:prstGeom>
          <a:noFill/>
        </p:spPr>
        <p:txBody>
          <a:bodyPr wrap="none" lIns="0" tIns="0" rIns="0" bIns="0">
            <a:spAutoFit/>
          </a:bodyPr>
          <a:lstStyle/>
          <a:p>
            <a:pPr>
              <a:defRPr sz="950">
                <a:solidFill>
                  <a:srgbClr val="C3D3E4"/>
                </a:solidFill>
                <a:latin typeface="Consolas"/>
              </a:defRPr>
            </a:pPr>
            <a:r>
              <a:rPr dirty="0">
                <a:latin typeface="Consolas"/>
              </a:rPr>
              <a:t>/chaos/audit</a:t>
            </a:r>
          </a:p>
        </p:txBody>
      </p:sp>
      <p:sp>
        <p:nvSpPr>
          <p:cNvPr id="32" name="TextBox 31"/>
          <p:cNvSpPr txBox="1"/>
          <p:nvPr/>
        </p:nvSpPr>
        <p:spPr>
          <a:xfrm>
            <a:off x="6827039" y="3001320"/>
            <a:ext cx="2186496" cy="667747"/>
          </a:xfrm>
          <a:prstGeom prst="rect">
            <a:avLst/>
          </a:prstGeom>
          <a:noFill/>
        </p:spPr>
        <p:txBody>
          <a:bodyPr wrap="none" lIns="0" tIns="0" rIns="0" bIns="0">
            <a:spAutoFit/>
          </a:bodyPr>
          <a:lstStyle/>
          <a:p>
            <a:pPr>
              <a:lnSpc>
                <a:spcPct val="150000"/>
              </a:lnSpc>
            </a:pPr>
            <a:r>
              <a:rPr sz="1000" dirty="0">
                <a:solidFill>
                  <a:srgbClr val="FFFFFF"/>
                </a:solidFill>
                <a:latin typeface="Consolas"/>
              </a:rPr>
              <a:t>"</a:t>
            </a:r>
            <a:r>
              <a:rPr sz="1000" dirty="0" err="1">
                <a:solidFill>
                  <a:srgbClr val="FFFFFF"/>
                </a:solidFill>
                <a:latin typeface="Consolas"/>
              </a:rPr>
              <a:t>invariant_pass</a:t>
            </a:r>
            <a:r>
              <a:rPr sz="1000" dirty="0">
                <a:solidFill>
                  <a:srgbClr val="FFFFFF"/>
                </a:solidFill>
                <a:latin typeface="Consolas"/>
              </a:rPr>
              <a:t>": </a:t>
            </a:r>
            <a:r>
              <a:rPr sz="1000" b="1" dirty="0">
                <a:solidFill>
                  <a:srgbClr val="FBBC05"/>
                </a:solidFill>
                <a:latin typeface="Consolas"/>
              </a:rPr>
              <a:t>true</a:t>
            </a:r>
          </a:p>
          <a:p>
            <a:pPr>
              <a:lnSpc>
                <a:spcPct val="150000"/>
              </a:lnSpc>
            </a:pPr>
            <a:r>
              <a:rPr sz="1000" dirty="0">
                <a:solidFill>
                  <a:srgbClr val="FFFFFF"/>
                </a:solidFill>
                <a:latin typeface="Consolas"/>
              </a:rPr>
              <a:t>"</a:t>
            </a:r>
            <a:r>
              <a:rPr sz="1000" dirty="0" err="1">
                <a:solidFill>
                  <a:srgbClr val="FFFFFF"/>
                </a:solidFill>
                <a:latin typeface="Consolas"/>
              </a:rPr>
              <a:t>db_redis_outage</a:t>
            </a:r>
            <a:r>
              <a:rPr sz="1000" dirty="0">
                <a:solidFill>
                  <a:srgbClr val="FFFFFF"/>
                </a:solidFill>
                <a:latin typeface="Consolas"/>
              </a:rPr>
              <a:t>": </a:t>
            </a:r>
            <a:r>
              <a:rPr sz="1000" b="1" dirty="0">
                <a:solidFill>
                  <a:srgbClr val="FBBC05"/>
                </a:solidFill>
                <a:latin typeface="Consolas"/>
              </a:rPr>
              <a:t>100% Tracked</a:t>
            </a:r>
          </a:p>
          <a:p>
            <a:pPr>
              <a:lnSpc>
                <a:spcPct val="150000"/>
              </a:lnSpc>
            </a:pPr>
            <a:r>
              <a:rPr sz="1000" dirty="0">
                <a:solidFill>
                  <a:srgbClr val="FFFFFF"/>
                </a:solidFill>
                <a:latin typeface="Consolas"/>
              </a:rPr>
              <a:t>"</a:t>
            </a:r>
            <a:r>
              <a:rPr sz="1000" dirty="0" err="1">
                <a:solidFill>
                  <a:srgbClr val="FFFFFF"/>
                </a:solidFill>
                <a:latin typeface="Consolas"/>
              </a:rPr>
              <a:t>split_brain_leak</a:t>
            </a:r>
            <a:r>
              <a:rPr sz="1000" dirty="0">
                <a:solidFill>
                  <a:srgbClr val="FFFFFF"/>
                </a:solidFill>
                <a:latin typeface="Consolas"/>
              </a:rPr>
              <a:t>": </a:t>
            </a:r>
            <a:r>
              <a:rPr sz="1000" b="1" dirty="0">
                <a:solidFill>
                  <a:srgbClr val="FBBC05"/>
                </a:solidFill>
                <a:latin typeface="Consolas"/>
              </a:rPr>
              <a:t>0</a:t>
            </a:r>
          </a:p>
        </p:txBody>
      </p:sp>
      <p:sp>
        <p:nvSpPr>
          <p:cNvPr id="33" name="Rounded Rectangle 32"/>
          <p:cNvSpPr/>
          <p:nvPr/>
        </p:nvSpPr>
        <p:spPr>
          <a:xfrm>
            <a:off x="6827039" y="3901320"/>
            <a:ext cx="2494080" cy="288000"/>
          </a:xfrm>
          <a:prstGeom prst="roundRect">
            <a:avLst/>
          </a:prstGeom>
          <a:solidFill>
            <a:srgbClr val="009A93"/>
          </a:solidFill>
          <a:ln>
            <a:solidFill>
              <a:srgbClr val="009A93"/>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50" b="1">
                <a:solidFill>
                  <a:srgbClr val="FFFFFF"/>
                </a:solidFill>
                <a:latin typeface="KoPub돋움체 Bold"/>
              </a:defRPr>
            </a:pPr>
            <a:r>
              <a:rPr dirty="0">
                <a:latin typeface="KoPub돋움체 Bold"/>
              </a:rPr>
              <a:t>PASS · 2대 </a:t>
            </a:r>
            <a:r>
              <a:rPr dirty="0" err="1">
                <a:latin typeface="KoPub돋움체 Bold"/>
              </a:rPr>
              <a:t>수학적</a:t>
            </a:r>
            <a:r>
              <a:rPr dirty="0">
                <a:latin typeface="KoPub돋움체 Bold"/>
              </a:rPr>
              <a:t> </a:t>
            </a:r>
            <a:r>
              <a:rPr dirty="0" err="1">
                <a:latin typeface="KoPub돋움체 Bold"/>
              </a:rPr>
              <a:t>불변식</a:t>
            </a:r>
            <a:r>
              <a:rPr dirty="0">
                <a:latin typeface="KoPub돋움체 Bold"/>
              </a:rPr>
              <a:t> </a:t>
            </a:r>
            <a:r>
              <a:rPr dirty="0" err="1">
                <a:latin typeface="KoPub돋움체 Bold"/>
              </a:rPr>
              <a:t>전수</a:t>
            </a:r>
            <a:r>
              <a:rPr dirty="0">
                <a:latin typeface="KoPub돋움체 Bold"/>
              </a:rPr>
              <a:t> </a:t>
            </a:r>
            <a:r>
              <a:rPr dirty="0" err="1">
                <a:latin typeface="KoPub돋움체 Bold"/>
              </a:rPr>
              <a:t>통과</a:t>
            </a:r>
            <a:endParaRPr dirty="0">
              <a:latin typeface="KoPub돋움체 Bold"/>
            </a:endParaRPr>
          </a:p>
        </p:txBody>
      </p:sp>
      <p:sp>
        <p:nvSpPr>
          <p:cNvPr id="34" name="Rounded Rectangle 33"/>
          <p:cNvSpPr/>
          <p:nvPr/>
        </p:nvSpPr>
        <p:spPr>
          <a:xfrm>
            <a:off x="6839639" y="4387320"/>
            <a:ext cx="2468880" cy="270000"/>
          </a:xfrm>
          <a:prstGeom prst="roundRect">
            <a:avLst/>
          </a:prstGeom>
          <a:solidFill>
            <a:srgbClr val="F1F1F1"/>
          </a:solidFill>
          <a:ln>
            <a:solidFill>
              <a:srgbClr val="F1F1F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50" b="1">
                <a:solidFill>
                  <a:srgbClr val="0E306D"/>
                </a:solidFill>
                <a:latin typeface="KoPub돋움체 Bold"/>
              </a:defRPr>
            </a:pPr>
            <a:r>
              <a:rPr>
                <a:latin typeface="KoPub돋움체 Bold"/>
              </a:rPr>
              <a:t>3중 장애 시에도 미인가 통과 0% 보장</a:t>
            </a:r>
          </a:p>
        </p:txBody>
      </p:sp>
      <p:sp>
        <p:nvSpPr>
          <p:cNvPr id="35" name="Rounded Rectangle 34"/>
          <p:cNvSpPr/>
          <p:nvPr/>
        </p:nvSpPr>
        <p:spPr>
          <a:xfrm>
            <a:off x="356760" y="4878000"/>
            <a:ext cx="2188800" cy="1188000"/>
          </a:xfrm>
          <a:prstGeom prst="roundRect">
            <a:avLst>
              <a:gd name="adj" fmla="val 7848"/>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446760" y="4968000"/>
            <a:ext cx="2008800" cy="216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0E306D"/>
                </a:solidFill>
                <a:latin typeface="KoPub돋움체 Bold"/>
              </a:defRPr>
            </a:pPr>
            <a:r>
              <a:rPr>
                <a:latin typeface="KoPub돋움체 Bold"/>
              </a:rPr>
              <a:t>AUTH OVERHEAD</a:t>
            </a:r>
          </a:p>
        </p:txBody>
      </p:sp>
      <p:sp>
        <p:nvSpPr>
          <p:cNvPr id="37" name="TextBox 36"/>
          <p:cNvSpPr txBox="1"/>
          <p:nvPr/>
        </p:nvSpPr>
        <p:spPr>
          <a:xfrm>
            <a:off x="446760" y="5244335"/>
            <a:ext cx="2008800" cy="324000"/>
          </a:xfrm>
          <a:prstGeom prst="rect">
            <a:avLst/>
          </a:prstGeom>
          <a:noFill/>
        </p:spPr>
        <p:txBody>
          <a:bodyPr wrap="none" lIns="0" tIns="0" rIns="0" bIns="0">
            <a:spAutoFit/>
          </a:bodyPr>
          <a:lstStyle/>
          <a:p>
            <a:pPr algn="ctr">
              <a:defRPr sz="1500" b="1">
                <a:solidFill>
                  <a:srgbClr val="0E306D"/>
                </a:solidFill>
                <a:latin typeface="KoPub돋움체 Bold"/>
              </a:defRPr>
            </a:pPr>
            <a:r>
              <a:rPr dirty="0">
                <a:latin typeface="KoPub돋움체 Bold"/>
              </a:rPr>
              <a:t>0.85 </a:t>
            </a:r>
            <a:r>
              <a:rPr dirty="0" err="1">
                <a:latin typeface="KoPub돋움체 Bold"/>
              </a:rPr>
              <a:t>ms</a:t>
            </a:r>
            <a:endParaRPr dirty="0">
              <a:latin typeface="KoPub돋움체 Bold"/>
            </a:endParaRPr>
          </a:p>
        </p:txBody>
      </p:sp>
      <p:sp>
        <p:nvSpPr>
          <p:cNvPr id="38" name="TextBox 37"/>
          <p:cNvSpPr txBox="1"/>
          <p:nvPr/>
        </p:nvSpPr>
        <p:spPr>
          <a:xfrm>
            <a:off x="732213" y="5544000"/>
            <a:ext cx="1437894" cy="246221"/>
          </a:xfrm>
          <a:prstGeom prst="rect">
            <a:avLst/>
          </a:prstGeom>
          <a:noFill/>
        </p:spPr>
        <p:txBody>
          <a:bodyPr wrap="none" lIns="0" tIns="0" rIns="0" bIns="0">
            <a:spAutoFit/>
          </a:bodyPr>
          <a:lstStyle/>
          <a:p>
            <a:pPr algn="ctr">
              <a:defRPr sz="850" b="1">
                <a:solidFill>
                  <a:srgbClr val="0E306D"/>
                </a:solidFill>
                <a:latin typeface="KoPub돋움체 Bold"/>
              </a:defRPr>
            </a:pPr>
            <a:r>
              <a:rPr dirty="0">
                <a:latin typeface="KoPub돋움체 Bold"/>
              </a:rPr>
              <a:t>L1 Cache Hit (총 p50 1.62ms)</a:t>
            </a:r>
          </a:p>
          <a:p>
            <a:pPr algn="ctr">
              <a:defRPr sz="750">
                <a:solidFill>
                  <a:srgbClr val="6B7280"/>
                </a:solidFill>
                <a:latin typeface="KoPub돋움체 Medium"/>
              </a:defRPr>
            </a:pPr>
            <a:r>
              <a:rPr dirty="0">
                <a:latin typeface="KoPub돋움체 Medium"/>
              </a:rPr>
              <a:t>Envoy L7 홉 0.42ms </a:t>
            </a:r>
            <a:r>
              <a:rPr dirty="0" err="1">
                <a:latin typeface="KoPub돋움체 Medium"/>
              </a:rPr>
              <a:t>포함</a:t>
            </a:r>
            <a:r>
              <a:rPr dirty="0">
                <a:latin typeface="KoPub돋움체 Medium"/>
              </a:rPr>
              <a:t> </a:t>
            </a:r>
            <a:r>
              <a:rPr dirty="0" err="1">
                <a:latin typeface="KoPub돋움체 Medium"/>
              </a:rPr>
              <a:t>저지연</a:t>
            </a:r>
            <a:endParaRPr dirty="0">
              <a:latin typeface="KoPub돋움체 Medium"/>
            </a:endParaRPr>
          </a:p>
        </p:txBody>
      </p:sp>
      <p:sp>
        <p:nvSpPr>
          <p:cNvPr id="39" name="Rounded Rectangle 38"/>
          <p:cNvSpPr/>
          <p:nvPr/>
        </p:nvSpPr>
        <p:spPr>
          <a:xfrm>
            <a:off x="2693160" y="4878000"/>
            <a:ext cx="2188800" cy="1188000"/>
          </a:xfrm>
          <a:prstGeom prst="roundRect">
            <a:avLst>
              <a:gd name="adj" fmla="val 7848"/>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2783160" y="4968000"/>
            <a:ext cx="2008800" cy="216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0E306D"/>
                </a:solidFill>
                <a:latin typeface="KoPub돋움체 Bold"/>
              </a:defRPr>
            </a:pPr>
            <a:r>
              <a:rPr>
                <a:latin typeface="KoPub돋움체 Bold"/>
              </a:rPr>
              <a:t>DEFENSE DEPTH</a:t>
            </a:r>
          </a:p>
        </p:txBody>
      </p:sp>
      <p:sp>
        <p:nvSpPr>
          <p:cNvPr id="41" name="TextBox 40"/>
          <p:cNvSpPr txBox="1"/>
          <p:nvPr/>
        </p:nvSpPr>
        <p:spPr>
          <a:xfrm>
            <a:off x="2783160" y="5269734"/>
            <a:ext cx="2008800" cy="324000"/>
          </a:xfrm>
          <a:prstGeom prst="rect">
            <a:avLst/>
          </a:prstGeom>
          <a:noFill/>
        </p:spPr>
        <p:txBody>
          <a:bodyPr wrap="none" lIns="0" tIns="0" rIns="0" bIns="0">
            <a:spAutoFit/>
          </a:bodyPr>
          <a:lstStyle/>
          <a:p>
            <a:pPr algn="ctr">
              <a:defRPr sz="1500" b="1">
                <a:solidFill>
                  <a:srgbClr val="0E306D"/>
                </a:solidFill>
                <a:latin typeface="KoPub돋움체 Bold"/>
              </a:defRPr>
            </a:pPr>
            <a:r>
              <a:rPr>
                <a:latin typeface="KoPub돋움체 Bold"/>
              </a:rPr>
              <a:t>6 단계</a:t>
            </a:r>
          </a:p>
        </p:txBody>
      </p:sp>
      <p:sp>
        <p:nvSpPr>
          <p:cNvPr id="42" name="TextBox 41"/>
          <p:cNvSpPr txBox="1"/>
          <p:nvPr/>
        </p:nvSpPr>
        <p:spPr>
          <a:xfrm>
            <a:off x="2783160" y="5544000"/>
            <a:ext cx="2008800" cy="450000"/>
          </a:xfrm>
          <a:prstGeom prst="rect">
            <a:avLst/>
          </a:prstGeom>
          <a:noFill/>
        </p:spPr>
        <p:txBody>
          <a:bodyPr wrap="none" lIns="0" tIns="0" rIns="0" bIns="0">
            <a:spAutoFit/>
          </a:bodyPr>
          <a:lstStyle/>
          <a:p>
            <a:pPr algn="ctr">
              <a:defRPr sz="850" b="1">
                <a:solidFill>
                  <a:srgbClr val="0E306D"/>
                </a:solidFill>
                <a:latin typeface="KoPub돋움체 Bold"/>
              </a:defRPr>
            </a:pPr>
            <a:r>
              <a:rPr>
                <a:latin typeface="KoPub돋움체 Bold"/>
              </a:rPr>
              <a:t>저비용 선행 파이프라인</a:t>
            </a:r>
          </a:p>
          <a:p>
            <a:pPr algn="ctr">
              <a:defRPr sz="750">
                <a:solidFill>
                  <a:srgbClr val="6B7280"/>
                </a:solidFill>
                <a:latin typeface="KoPub돋움체 Medium"/>
              </a:defRPr>
            </a:pPr>
            <a:r>
              <a:rPr>
                <a:latin typeface="KoPub돋움체 Medium"/>
              </a:rPr>
              <a:t>RL → Nonce → PoP → Cache → DB</a:t>
            </a:r>
          </a:p>
        </p:txBody>
      </p:sp>
      <p:sp>
        <p:nvSpPr>
          <p:cNvPr id="43" name="Rounded Rectangle 42"/>
          <p:cNvSpPr/>
          <p:nvPr/>
        </p:nvSpPr>
        <p:spPr>
          <a:xfrm>
            <a:off x="5029560" y="4878000"/>
            <a:ext cx="2188800" cy="1188000"/>
          </a:xfrm>
          <a:prstGeom prst="roundRect">
            <a:avLst>
              <a:gd name="adj" fmla="val 7848"/>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5119560" y="4968000"/>
            <a:ext cx="2008800" cy="216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0E306D"/>
                </a:solidFill>
                <a:latin typeface="KoPub돋움체 Bold"/>
              </a:defRPr>
            </a:pPr>
            <a:r>
              <a:rPr>
                <a:latin typeface="KoPub돋움체 Bold"/>
              </a:rPr>
              <a:t>RESILIENCE AUDIT</a:t>
            </a:r>
          </a:p>
        </p:txBody>
      </p:sp>
      <p:sp>
        <p:nvSpPr>
          <p:cNvPr id="45" name="TextBox 44"/>
          <p:cNvSpPr txBox="1"/>
          <p:nvPr/>
        </p:nvSpPr>
        <p:spPr>
          <a:xfrm>
            <a:off x="5119560" y="5269734"/>
            <a:ext cx="2008800" cy="324000"/>
          </a:xfrm>
          <a:prstGeom prst="rect">
            <a:avLst/>
          </a:prstGeom>
          <a:noFill/>
        </p:spPr>
        <p:txBody>
          <a:bodyPr wrap="none" lIns="0" tIns="0" rIns="0" bIns="0">
            <a:spAutoFit/>
          </a:bodyPr>
          <a:lstStyle/>
          <a:p>
            <a:pPr algn="ctr">
              <a:defRPr sz="1500" b="1">
                <a:solidFill>
                  <a:srgbClr val="009A93"/>
                </a:solidFill>
                <a:latin typeface="KoPub돋움체 Bold"/>
              </a:defRPr>
            </a:pPr>
            <a:r>
              <a:rPr>
                <a:latin typeface="KoPub돋움체 Bold"/>
              </a:rPr>
              <a:t>오차 0 건</a:t>
            </a:r>
          </a:p>
        </p:txBody>
      </p:sp>
      <p:sp>
        <p:nvSpPr>
          <p:cNvPr id="46" name="TextBox 45"/>
          <p:cNvSpPr txBox="1"/>
          <p:nvPr/>
        </p:nvSpPr>
        <p:spPr>
          <a:xfrm>
            <a:off x="5119560" y="5544000"/>
            <a:ext cx="2008800" cy="450000"/>
          </a:xfrm>
          <a:prstGeom prst="rect">
            <a:avLst/>
          </a:prstGeom>
          <a:noFill/>
        </p:spPr>
        <p:txBody>
          <a:bodyPr wrap="none" lIns="0" tIns="0" rIns="0" bIns="0">
            <a:spAutoFit/>
          </a:bodyPr>
          <a:lstStyle/>
          <a:p>
            <a:pPr algn="ctr">
              <a:defRPr sz="850" b="1">
                <a:solidFill>
                  <a:srgbClr val="0E306D"/>
                </a:solidFill>
                <a:latin typeface="KoPub돋움체 Bold"/>
              </a:defRPr>
            </a:pPr>
            <a:r>
              <a:rPr>
                <a:latin typeface="KoPub돋움체 Bold"/>
              </a:rPr>
              <a:t>2대 수학적 불변식 검증</a:t>
            </a:r>
          </a:p>
          <a:p>
            <a:pPr algn="ctr">
              <a:defRPr sz="750">
                <a:solidFill>
                  <a:srgbClr val="6B7280"/>
                </a:solidFill>
                <a:latin typeface="KoPub돋움체 Medium"/>
              </a:defRPr>
            </a:pPr>
            <a:r>
              <a:rPr>
                <a:latin typeface="KoPub돋움체 Medium"/>
              </a:rPr>
              <a:t>DB·Redis 다운 시 100% 분류 추적</a:t>
            </a:r>
          </a:p>
        </p:txBody>
      </p:sp>
      <p:sp>
        <p:nvSpPr>
          <p:cNvPr id="47" name="Rounded Rectangle 46"/>
          <p:cNvSpPr/>
          <p:nvPr/>
        </p:nvSpPr>
        <p:spPr>
          <a:xfrm>
            <a:off x="7365960" y="4878000"/>
            <a:ext cx="2188800" cy="1188000"/>
          </a:xfrm>
          <a:prstGeom prst="roundRect">
            <a:avLst>
              <a:gd name="adj" fmla="val 7848"/>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7455960" y="4968000"/>
            <a:ext cx="2008800" cy="216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0E306D"/>
                </a:solidFill>
                <a:latin typeface="KoPub돋움체 Bold"/>
              </a:defRPr>
            </a:pPr>
            <a:r>
              <a:rPr>
                <a:latin typeface="KoPub돋움체 Bold"/>
              </a:rPr>
              <a:t>ECOSYSTEM</a:t>
            </a:r>
          </a:p>
        </p:txBody>
      </p:sp>
      <p:sp>
        <p:nvSpPr>
          <p:cNvPr id="49" name="TextBox 48"/>
          <p:cNvSpPr txBox="1"/>
          <p:nvPr/>
        </p:nvSpPr>
        <p:spPr>
          <a:xfrm>
            <a:off x="7455960" y="5278200"/>
            <a:ext cx="2008800" cy="324000"/>
          </a:xfrm>
          <a:prstGeom prst="rect">
            <a:avLst/>
          </a:prstGeom>
          <a:noFill/>
        </p:spPr>
        <p:txBody>
          <a:bodyPr wrap="none" lIns="0" tIns="0" rIns="0" bIns="0">
            <a:spAutoFit/>
          </a:bodyPr>
          <a:lstStyle/>
          <a:p>
            <a:pPr algn="ctr">
              <a:defRPr sz="1500" b="1">
                <a:solidFill>
                  <a:srgbClr val="0E306D"/>
                </a:solidFill>
                <a:latin typeface="KoPub돋움체 Bold"/>
              </a:defRPr>
            </a:pPr>
            <a:r>
              <a:rPr>
                <a:latin typeface="KoPub돋움체 Bold"/>
              </a:rPr>
              <a:t>Envoy / Nginx</a:t>
            </a:r>
          </a:p>
        </p:txBody>
      </p:sp>
      <p:sp>
        <p:nvSpPr>
          <p:cNvPr id="50" name="TextBox 49"/>
          <p:cNvSpPr txBox="1"/>
          <p:nvPr/>
        </p:nvSpPr>
        <p:spPr>
          <a:xfrm>
            <a:off x="7455960" y="5544000"/>
            <a:ext cx="2008800" cy="450000"/>
          </a:xfrm>
          <a:prstGeom prst="rect">
            <a:avLst/>
          </a:prstGeom>
          <a:noFill/>
        </p:spPr>
        <p:txBody>
          <a:bodyPr wrap="none" lIns="0" tIns="0" rIns="0" bIns="0">
            <a:spAutoFit/>
          </a:bodyPr>
          <a:lstStyle/>
          <a:p>
            <a:pPr algn="ctr">
              <a:defRPr sz="850" b="1">
                <a:solidFill>
                  <a:srgbClr val="0E306D"/>
                </a:solidFill>
                <a:latin typeface="KoPub돋움체 Bold"/>
              </a:defRPr>
            </a:pPr>
            <a:r>
              <a:rPr>
                <a:latin typeface="KoPub돋움체 Bold"/>
              </a:rPr>
              <a:t>v3 ext_authz 연동 지원</a:t>
            </a:r>
          </a:p>
          <a:p>
            <a:pPr algn="ctr">
              <a:defRPr sz="750">
                <a:solidFill>
                  <a:srgbClr val="6B7280"/>
                </a:solidFill>
                <a:latin typeface="KoPub돋움체 Medium"/>
              </a:defRPr>
            </a:pPr>
            <a:r>
              <a:rPr>
                <a:latin typeface="KoPub돋움체 Medium"/>
              </a:rPr>
              <a:t>3계층 벤치마크 및 에지 공격 차단</a:t>
            </a:r>
          </a:p>
        </p:txBody>
      </p:sp>
      <p:sp>
        <p:nvSpPr>
          <p:cNvPr id="51" name="Rounded Rectangle 50"/>
          <p:cNvSpPr/>
          <p:nvPr/>
        </p:nvSpPr>
        <p:spPr>
          <a:xfrm>
            <a:off x="356760" y="6199560"/>
            <a:ext cx="9198720" cy="292680"/>
          </a:xfrm>
          <a:prstGeom prst="roundRect">
            <a:avLst/>
          </a:prstGeom>
          <a:solidFill>
            <a:srgbClr val="F1F1F1"/>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32000" y="6199560"/>
            <a:ext cx="9036000" cy="292680"/>
          </a:xfrm>
          <a:prstGeom prst="rect">
            <a:avLst/>
          </a:prstGeom>
          <a:noFill/>
        </p:spPr>
        <p:txBody>
          <a:bodyPr wrap="none" lIns="0" tIns="0" rIns="0" bIns="0" anchor="ctr">
            <a:spAutoFit/>
          </a:bodyPr>
          <a:lstStyle/>
          <a:p>
            <a:pPr algn="ctr">
              <a:defRPr sz="950" b="1">
                <a:solidFill>
                  <a:srgbClr val="0E306D"/>
                </a:solidFill>
                <a:latin typeface="KoPub돋움체 Bold"/>
              </a:defRPr>
            </a:pPr>
            <a:r>
              <a:rPr>
                <a:latin typeface="KoPub돋움체 Bold"/>
              </a:rPr>
              <a:t>PoP-Sync v1.3.0  |  Zero-Trust Policy Decision Point (PDP)  |  Architecture Technical Review</a:t>
            </a:r>
          </a:p>
        </p:txBody>
      </p:sp>
      <p:sp>
        <p:nvSpPr>
          <p:cNvPr id="53" name="TextBox 52"/>
          <p:cNvSpPr txBox="1"/>
          <p:nvPr/>
        </p:nvSpPr>
        <p:spPr>
          <a:xfrm>
            <a:off x="8723520" y="6537960"/>
            <a:ext cx="831960" cy="246960"/>
          </a:xfrm>
          <a:prstGeom prst="rect">
            <a:avLst/>
          </a:prstGeom>
          <a:noFill/>
        </p:spPr>
        <p:txBody>
          <a:bodyPr wrap="none" lIns="0" tIns="0" rIns="0" bIns="0">
            <a:spAutoFit/>
          </a:bodyPr>
          <a:lstStyle/>
          <a:p>
            <a:pPr algn="r">
              <a:defRPr sz="1000" b="1">
                <a:solidFill>
                  <a:srgbClr val="6B7280"/>
                </a:solidFill>
                <a:latin typeface="KoPub돋움체 Bold"/>
              </a:defRPr>
            </a:pPr>
            <a:r>
              <a:rPr>
                <a:latin typeface="KoPub돋움체 Bold"/>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AFD"/>
        </a:solidFill>
        <a:effectLst/>
      </p:bgPr>
    </p:bg>
    <p:spTree>
      <p:nvGrpSpPr>
        <p:cNvPr id="1" name=""/>
        <p:cNvGrpSpPr/>
        <p:nvPr/>
      </p:nvGrpSpPr>
      <p:grpSpPr>
        <a:xfrm>
          <a:off x="0" y="0"/>
          <a:ext cx="0" cy="0"/>
          <a:chOff x="0" y="0"/>
          <a:chExt cx="0" cy="0"/>
        </a:xfrm>
      </p:grpSpPr>
      <p:sp>
        <p:nvSpPr>
          <p:cNvPr id="2" name="Rounded Rectangle 1"/>
          <p:cNvSpPr/>
          <p:nvPr/>
        </p:nvSpPr>
        <p:spPr>
          <a:xfrm>
            <a:off x="356760" y="292680"/>
            <a:ext cx="9198720" cy="493920"/>
          </a:xfrm>
          <a:prstGeom prst="roundRect">
            <a:avLst/>
          </a:prstGeom>
          <a:solidFill>
            <a:srgbClr val="0E306D"/>
          </a:solidFill>
          <a:ln w="12700">
            <a:solidFill>
              <a:srgbClr val="0E30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80"/>
            <a:ext cx="8778240" cy="493920"/>
          </a:xfrm>
          <a:prstGeom prst="rect">
            <a:avLst/>
          </a:prstGeom>
          <a:noFill/>
        </p:spPr>
        <p:txBody>
          <a:bodyPr wrap="square" lIns="0" tIns="0" rIns="0" bIns="0" anchor="ctr">
            <a:spAutoFit/>
          </a:bodyPr>
          <a:lstStyle/>
          <a:p>
            <a:pPr>
              <a:defRPr sz="2000" b="1">
                <a:solidFill>
                  <a:srgbClr val="FFFFFF"/>
                </a:solidFill>
                <a:latin typeface="KoPub돋움체 Bold"/>
              </a:defRPr>
            </a:pPr>
            <a:r>
              <a:rPr dirty="0">
                <a:latin typeface="KoPub돋움체 Bold"/>
              </a:rPr>
              <a:t>01. </a:t>
            </a:r>
            <a:r>
              <a:rPr dirty="0" err="1">
                <a:latin typeface="KoPub돋움체 Bold"/>
              </a:rPr>
              <a:t>분산</a:t>
            </a:r>
            <a:r>
              <a:rPr dirty="0">
                <a:latin typeface="KoPub돋움체 Bold"/>
              </a:rPr>
              <a:t> </a:t>
            </a:r>
            <a:r>
              <a:rPr dirty="0" err="1">
                <a:latin typeface="KoPub돋움체 Bold"/>
              </a:rPr>
              <a:t>인가</a:t>
            </a:r>
            <a:r>
              <a:rPr dirty="0">
                <a:latin typeface="KoPub돋움체 Bold"/>
              </a:rPr>
              <a:t> </a:t>
            </a:r>
            <a:r>
              <a:rPr dirty="0" err="1">
                <a:latin typeface="KoPub돋움체 Bold"/>
              </a:rPr>
              <a:t>시스템의</a:t>
            </a:r>
            <a:r>
              <a:rPr dirty="0">
                <a:latin typeface="KoPub돋움체 Bold"/>
              </a:rPr>
              <a:t> </a:t>
            </a:r>
            <a:r>
              <a:rPr dirty="0" err="1">
                <a:latin typeface="KoPub돋움체 Bold"/>
              </a:rPr>
              <a:t>진화</a:t>
            </a:r>
            <a:r>
              <a:rPr dirty="0">
                <a:latin typeface="KoPub돋움체 Bold"/>
              </a:rPr>
              <a:t> </a:t>
            </a:r>
            <a:r>
              <a:rPr dirty="0" err="1">
                <a:latin typeface="KoPub돋움체 Bold"/>
              </a:rPr>
              <a:t>여정과</a:t>
            </a:r>
            <a:r>
              <a:rPr dirty="0">
                <a:latin typeface="KoPub돋움체 Bold"/>
              </a:rPr>
              <a:t> 3대 </a:t>
            </a:r>
            <a:r>
              <a:rPr dirty="0" err="1">
                <a:latin typeface="KoPub돋움체 Bold"/>
              </a:rPr>
              <a:t>구조적</a:t>
            </a:r>
            <a:r>
              <a:rPr dirty="0">
                <a:latin typeface="KoPub돋움체 Bold"/>
              </a:rPr>
              <a:t> </a:t>
            </a:r>
            <a:r>
              <a:rPr dirty="0" err="1">
                <a:latin typeface="KoPub돋움체 Bold"/>
              </a:rPr>
              <a:t>붕괴</a:t>
            </a:r>
            <a:r>
              <a:rPr dirty="0">
                <a:latin typeface="KoPub돋움체 Bold"/>
              </a:rPr>
              <a:t> </a:t>
            </a:r>
            <a:r>
              <a:rPr dirty="0" err="1">
                <a:latin typeface="KoPub돋움체 Bold"/>
              </a:rPr>
              <a:t>취약점</a:t>
            </a:r>
            <a:endParaRPr dirty="0">
              <a:latin typeface="KoPub돋움체 Bold"/>
            </a:endParaRPr>
          </a:p>
        </p:txBody>
      </p:sp>
      <p:sp>
        <p:nvSpPr>
          <p:cNvPr id="4" name="Rounded Rectangle 3"/>
          <p:cNvSpPr/>
          <p:nvPr/>
        </p:nvSpPr>
        <p:spPr>
          <a:xfrm>
            <a:off x="356760" y="914400"/>
            <a:ext cx="9198720" cy="347400"/>
          </a:xfrm>
          <a:prstGeom prst="roundRect">
            <a:avLst/>
          </a:prstGeom>
          <a:solidFill>
            <a:srgbClr val="F1F1F1"/>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011156"/>
            <a:ext cx="9052560" cy="153888"/>
          </a:xfrm>
          <a:prstGeom prst="rect">
            <a:avLst/>
          </a:prstGeom>
          <a:noFill/>
        </p:spPr>
        <p:txBody>
          <a:bodyPr wrap="square" lIns="0" tIns="0" rIns="0" bIns="0" anchor="ctr">
            <a:spAutoFit/>
          </a:bodyPr>
          <a:lstStyle/>
          <a:p>
            <a:pPr>
              <a:defRPr sz="1050" b="1">
                <a:solidFill>
                  <a:srgbClr val="0E306D"/>
                </a:solidFill>
                <a:latin typeface="KoPub돋움체 Bold"/>
              </a:defRPr>
            </a:pPr>
            <a:r>
              <a:rPr sz="1000" dirty="0" err="1">
                <a:latin typeface="KoPub돋움체 Bold"/>
              </a:rPr>
              <a:t>보안</a:t>
            </a:r>
            <a:r>
              <a:rPr sz="1000" dirty="0">
                <a:latin typeface="KoPub돋움체 Bold"/>
              </a:rPr>
              <a:t>(FIDO2 </a:t>
            </a:r>
            <a:r>
              <a:rPr sz="1000" dirty="0" err="1">
                <a:latin typeface="KoPub돋움체 Bold"/>
              </a:rPr>
              <a:t>PoP</a:t>
            </a:r>
            <a:r>
              <a:rPr sz="1000" dirty="0">
                <a:latin typeface="KoPub돋움체 Bold"/>
              </a:rPr>
              <a:t>)과 </a:t>
            </a:r>
            <a:r>
              <a:rPr sz="1000" dirty="0" err="1">
                <a:latin typeface="KoPub돋움체 Bold"/>
              </a:rPr>
              <a:t>캐시</a:t>
            </a:r>
            <a:r>
              <a:rPr sz="1000" dirty="0">
                <a:latin typeface="KoPub돋움체 Bold"/>
              </a:rPr>
              <a:t> </a:t>
            </a:r>
            <a:r>
              <a:rPr sz="1000" dirty="0" err="1">
                <a:latin typeface="KoPub돋움체 Bold"/>
              </a:rPr>
              <a:t>속도</a:t>
            </a:r>
            <a:r>
              <a:rPr sz="1000" dirty="0">
                <a:latin typeface="KoPub돋움체 Bold"/>
              </a:rPr>
              <a:t>(</a:t>
            </a:r>
            <a:r>
              <a:rPr sz="1000" dirty="0" err="1">
                <a:latin typeface="KoPub돋움체 Bold"/>
              </a:rPr>
              <a:t>PoP</a:t>
            </a:r>
            <a:r>
              <a:rPr sz="1000" dirty="0">
                <a:latin typeface="KoPub돋움체 Bold"/>
              </a:rPr>
              <a:t>-Mesh) </a:t>
            </a:r>
            <a:r>
              <a:rPr sz="1000" dirty="0" err="1">
                <a:latin typeface="KoPub돋움체 Bold"/>
              </a:rPr>
              <a:t>달성</a:t>
            </a:r>
            <a:r>
              <a:rPr sz="1000" dirty="0">
                <a:latin typeface="KoPub돋움체 Bold"/>
              </a:rPr>
              <a:t> 후, </a:t>
            </a:r>
            <a:r>
              <a:rPr sz="1000" dirty="0" err="1">
                <a:latin typeface="KoPub돋움체 Bold"/>
              </a:rPr>
              <a:t>복합</a:t>
            </a:r>
            <a:r>
              <a:rPr sz="1000" dirty="0">
                <a:latin typeface="KoPub돋움체 Bold"/>
              </a:rPr>
              <a:t> </a:t>
            </a:r>
            <a:r>
              <a:rPr sz="1000" dirty="0" err="1">
                <a:latin typeface="KoPub돋움체 Bold"/>
              </a:rPr>
              <a:t>인프라</a:t>
            </a:r>
            <a:r>
              <a:rPr sz="1000" dirty="0">
                <a:latin typeface="KoPub돋움체 Bold"/>
              </a:rPr>
              <a:t> </a:t>
            </a:r>
            <a:r>
              <a:rPr sz="1000" dirty="0" err="1">
                <a:latin typeface="KoPub돋움체 Bold"/>
              </a:rPr>
              <a:t>장애</a:t>
            </a:r>
            <a:r>
              <a:rPr sz="1000" dirty="0">
                <a:latin typeface="KoPub돋움체 Bold"/>
              </a:rPr>
              <a:t> 시 </a:t>
            </a:r>
            <a:r>
              <a:rPr sz="1000" dirty="0" err="1">
                <a:latin typeface="KoPub돋움체 Bold"/>
              </a:rPr>
              <a:t>마주하는</a:t>
            </a:r>
            <a:r>
              <a:rPr sz="1000" dirty="0">
                <a:latin typeface="KoPub돋움체 Bold"/>
              </a:rPr>
              <a:t> </a:t>
            </a:r>
            <a:r>
              <a:rPr sz="1000" dirty="0" err="1">
                <a:latin typeface="KoPub돋움체 Bold"/>
              </a:rPr>
              <a:t>연쇄</a:t>
            </a:r>
            <a:r>
              <a:rPr sz="1000" dirty="0">
                <a:latin typeface="KoPub돋움체 Bold"/>
              </a:rPr>
              <a:t> </a:t>
            </a:r>
            <a:r>
              <a:rPr sz="1000" dirty="0" err="1">
                <a:latin typeface="KoPub돋움체 Bold"/>
              </a:rPr>
              <a:t>붕괴</a:t>
            </a:r>
            <a:r>
              <a:rPr sz="1000" dirty="0">
                <a:latin typeface="KoPub돋움체 Bold"/>
              </a:rPr>
              <a:t> </a:t>
            </a:r>
            <a:r>
              <a:rPr sz="1000" dirty="0" err="1">
                <a:latin typeface="KoPub돋움체 Bold"/>
              </a:rPr>
              <a:t>한계점</a:t>
            </a:r>
            <a:r>
              <a:rPr sz="1000" dirty="0">
                <a:latin typeface="KoPub돋움체 Bold"/>
              </a:rPr>
              <a:t> </a:t>
            </a:r>
            <a:r>
              <a:rPr sz="1000" dirty="0" err="1">
                <a:latin typeface="KoPub돋움체 Bold"/>
              </a:rPr>
              <a:t>도출</a:t>
            </a:r>
            <a:endParaRPr sz="1000" dirty="0">
              <a:latin typeface="KoPub돋움체 Bold"/>
            </a:endParaRPr>
          </a:p>
        </p:txBody>
      </p:sp>
      <p:sp>
        <p:nvSpPr>
          <p:cNvPr id="6" name="Rounded Rectangle 5"/>
          <p:cNvSpPr/>
          <p:nvPr/>
        </p:nvSpPr>
        <p:spPr>
          <a:xfrm>
            <a:off x="356760" y="1350000"/>
            <a:ext cx="2088000" cy="864000"/>
          </a:xfrm>
          <a:prstGeom prst="roundRect">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21385" y="1471449"/>
            <a:ext cx="1530868" cy="615553"/>
          </a:xfrm>
          <a:prstGeom prst="rect">
            <a:avLst/>
          </a:prstGeom>
          <a:noFill/>
        </p:spPr>
        <p:txBody>
          <a:bodyPr wrap="none" lIns="0" tIns="0" rIns="0" bIns="0">
            <a:spAutoFit/>
          </a:bodyPr>
          <a:lstStyle/>
          <a:p>
            <a:pPr>
              <a:defRPr sz="850" b="1">
                <a:solidFill>
                  <a:srgbClr val="009A93"/>
                </a:solidFill>
                <a:latin typeface="KoPub돋움체 Bold"/>
              </a:defRPr>
            </a:pPr>
            <a:r>
              <a:rPr sz="1000" dirty="0">
                <a:latin typeface="KoPub돋움체 Bold"/>
              </a:rPr>
              <a:t>Phase 1: FIDO2 </a:t>
            </a:r>
            <a:r>
              <a:rPr sz="1000" dirty="0" err="1">
                <a:latin typeface="KoPub돋움체 Bold"/>
              </a:rPr>
              <a:t>PoP</a:t>
            </a:r>
            <a:endParaRPr sz="1000" dirty="0">
              <a:latin typeface="KoPub돋움체 Bold"/>
            </a:endParaRPr>
          </a:p>
          <a:p>
            <a:pPr>
              <a:defRPr sz="1000" b="1">
                <a:solidFill>
                  <a:srgbClr val="0E306D"/>
                </a:solidFill>
                <a:latin typeface="KoPub돋움체 Bold"/>
              </a:defRPr>
            </a:pPr>
            <a:r>
              <a:rPr sz="1000" dirty="0" err="1">
                <a:latin typeface="KoPub돋움체 Bold"/>
              </a:rPr>
              <a:t>하드웨어</a:t>
            </a:r>
            <a:r>
              <a:rPr sz="1000" dirty="0">
                <a:latin typeface="KoPub돋움체 Bold"/>
              </a:rPr>
              <a:t> </a:t>
            </a:r>
            <a:r>
              <a:rPr sz="1000" dirty="0" err="1">
                <a:latin typeface="KoPub돋움체 Bold"/>
              </a:rPr>
              <a:t>보안</a:t>
            </a:r>
            <a:r>
              <a:rPr sz="1000" dirty="0">
                <a:latin typeface="KoPub돋움체 Bold"/>
              </a:rPr>
              <a:t> </a:t>
            </a:r>
            <a:r>
              <a:rPr sz="1000" dirty="0" err="1">
                <a:latin typeface="KoPub돋움체 Bold"/>
              </a:rPr>
              <a:t>관문</a:t>
            </a:r>
            <a:endParaRPr sz="1000" dirty="0">
              <a:latin typeface="KoPub돋움체 Bold"/>
            </a:endParaRPr>
          </a:p>
          <a:p>
            <a:pPr>
              <a:defRPr sz="750">
                <a:solidFill>
                  <a:srgbClr val="6B7280"/>
                </a:solidFill>
                <a:latin typeface="KoPub돋움체 Medium"/>
              </a:defRPr>
            </a:pPr>
            <a:r>
              <a:rPr sz="1000" dirty="0" err="1">
                <a:latin typeface="KoPub돋움체 Medium"/>
              </a:rPr>
              <a:t>정적</a:t>
            </a:r>
            <a:r>
              <a:rPr sz="1000" dirty="0">
                <a:latin typeface="KoPub돋움체 Medium"/>
              </a:rPr>
              <a:t> Bearer </a:t>
            </a:r>
            <a:r>
              <a:rPr sz="1000" dirty="0" err="1">
                <a:latin typeface="KoPub돋움체 Medium"/>
              </a:rPr>
              <a:t>토큰</a:t>
            </a:r>
            <a:r>
              <a:rPr sz="1000" dirty="0">
                <a:latin typeface="KoPub돋움체 Medium"/>
              </a:rPr>
              <a:t> </a:t>
            </a:r>
            <a:r>
              <a:rPr sz="1000" dirty="0" err="1">
                <a:latin typeface="KoPub돋움체 Medium"/>
              </a:rPr>
              <a:t>탈취</a:t>
            </a:r>
            <a:r>
              <a:rPr sz="1000" dirty="0">
                <a:latin typeface="KoPub돋움체 Medium"/>
              </a:rPr>
              <a:t> </a:t>
            </a:r>
            <a:r>
              <a:rPr sz="1000" dirty="0" err="1">
                <a:latin typeface="KoPub돋움체 Medium"/>
              </a:rPr>
              <a:t>방지</a:t>
            </a:r>
            <a:br>
              <a:rPr sz="1000" dirty="0"/>
            </a:br>
            <a:r>
              <a:rPr sz="1000" dirty="0" err="1">
                <a:latin typeface="KoPub돋움체 Medium"/>
              </a:rPr>
              <a:t>비대칭</a:t>
            </a:r>
            <a:r>
              <a:rPr sz="1000" dirty="0">
                <a:latin typeface="KoPub돋움체 Medium"/>
              </a:rPr>
              <a:t> 키 </a:t>
            </a:r>
            <a:r>
              <a:rPr sz="1000" dirty="0" err="1">
                <a:latin typeface="KoPub돋움체 Medium"/>
              </a:rPr>
              <a:t>서명</a:t>
            </a:r>
            <a:r>
              <a:rPr sz="1000" dirty="0">
                <a:latin typeface="KoPub돋움체 Medium"/>
              </a:rPr>
              <a:t> </a:t>
            </a:r>
            <a:r>
              <a:rPr sz="1000" dirty="0" err="1">
                <a:latin typeface="KoPub돋움체 Medium"/>
              </a:rPr>
              <a:t>검증</a:t>
            </a:r>
            <a:r>
              <a:rPr sz="1000" dirty="0">
                <a:latin typeface="KoPub돋움체 Medium"/>
              </a:rPr>
              <a:t> </a:t>
            </a:r>
            <a:r>
              <a:rPr sz="1000" dirty="0" err="1">
                <a:latin typeface="KoPub돋움체 Medium"/>
              </a:rPr>
              <a:t>관문</a:t>
            </a:r>
            <a:r>
              <a:rPr sz="1000" dirty="0">
                <a:latin typeface="KoPub돋움체 Medium"/>
              </a:rPr>
              <a:t> </a:t>
            </a:r>
            <a:r>
              <a:rPr sz="1000" dirty="0" err="1">
                <a:latin typeface="KoPub돋움체 Medium"/>
              </a:rPr>
              <a:t>구축</a:t>
            </a:r>
            <a:endParaRPr sz="1000" dirty="0">
              <a:latin typeface="KoPub돋움체 Medium"/>
            </a:endParaRPr>
          </a:p>
        </p:txBody>
      </p:sp>
      <p:sp>
        <p:nvSpPr>
          <p:cNvPr id="8" name="Right Arrow 7"/>
          <p:cNvSpPr/>
          <p:nvPr/>
        </p:nvSpPr>
        <p:spPr>
          <a:xfrm>
            <a:off x="2498760" y="1656000"/>
            <a:ext cx="174240" cy="252000"/>
          </a:xfrm>
          <a:prstGeom prst="rightArrow">
            <a:avLst/>
          </a:prstGeom>
          <a:solidFill>
            <a:srgbClr val="CBD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727000" y="1350000"/>
            <a:ext cx="2088000" cy="864000"/>
          </a:xfrm>
          <a:prstGeom prst="roundRect">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850196" y="1452671"/>
            <a:ext cx="1627048" cy="615553"/>
          </a:xfrm>
          <a:prstGeom prst="rect">
            <a:avLst/>
          </a:prstGeom>
          <a:noFill/>
        </p:spPr>
        <p:txBody>
          <a:bodyPr wrap="none" lIns="0" tIns="0" rIns="0" bIns="0">
            <a:spAutoFit/>
          </a:bodyPr>
          <a:lstStyle/>
          <a:p>
            <a:pPr>
              <a:defRPr sz="850" b="1">
                <a:solidFill>
                  <a:srgbClr val="009A93"/>
                </a:solidFill>
                <a:latin typeface="KoPub돋움체 Bold"/>
              </a:defRPr>
            </a:pPr>
            <a:r>
              <a:rPr sz="1000" dirty="0">
                <a:latin typeface="KoPub돋움체 Bold"/>
              </a:rPr>
              <a:t>Phase 2: </a:t>
            </a:r>
            <a:r>
              <a:rPr sz="1000" dirty="0" err="1">
                <a:latin typeface="KoPub돋움체 Bold"/>
              </a:rPr>
              <a:t>PoP</a:t>
            </a:r>
            <a:r>
              <a:rPr sz="1000" dirty="0">
                <a:latin typeface="KoPub돋움체 Bold"/>
              </a:rPr>
              <a:t>-Mesh</a:t>
            </a:r>
          </a:p>
          <a:p>
            <a:pPr>
              <a:defRPr sz="1000" b="1">
                <a:solidFill>
                  <a:srgbClr val="0E306D"/>
                </a:solidFill>
                <a:latin typeface="KoPub돋움체 Bold"/>
              </a:defRPr>
            </a:pPr>
            <a:r>
              <a:rPr sz="1000" dirty="0" err="1">
                <a:latin typeface="KoPub돋움체 Bold"/>
              </a:rPr>
              <a:t>고속</a:t>
            </a:r>
            <a:r>
              <a:rPr sz="1000" dirty="0">
                <a:latin typeface="KoPub돋움체 Bold"/>
              </a:rPr>
              <a:t> </a:t>
            </a:r>
            <a:r>
              <a:rPr sz="1000" dirty="0" err="1">
                <a:latin typeface="KoPub돋움체 Bold"/>
              </a:rPr>
              <a:t>인가</a:t>
            </a:r>
            <a:r>
              <a:rPr sz="1000" dirty="0">
                <a:latin typeface="KoPub돋움체 Bold"/>
              </a:rPr>
              <a:t> </a:t>
            </a:r>
            <a:r>
              <a:rPr sz="1000" dirty="0" err="1">
                <a:latin typeface="KoPub돋움체 Bold"/>
              </a:rPr>
              <a:t>캐싱</a:t>
            </a:r>
            <a:endParaRPr sz="1000" dirty="0">
              <a:latin typeface="KoPub돋움체 Bold"/>
            </a:endParaRPr>
          </a:p>
          <a:p>
            <a:pPr>
              <a:defRPr sz="750">
                <a:solidFill>
                  <a:srgbClr val="6B7280"/>
                </a:solidFill>
                <a:latin typeface="KoPub돋움체 Medium"/>
              </a:defRPr>
            </a:pPr>
            <a:r>
              <a:rPr sz="1000" dirty="0" err="1">
                <a:latin typeface="KoPub돋움체 Medium"/>
              </a:rPr>
              <a:t>암호</a:t>
            </a:r>
            <a:r>
              <a:rPr sz="1000" dirty="0">
                <a:latin typeface="KoPub돋움체 Medium"/>
              </a:rPr>
              <a:t> </a:t>
            </a:r>
            <a:r>
              <a:rPr sz="1000" dirty="0" err="1">
                <a:latin typeface="KoPub돋움체 Medium"/>
              </a:rPr>
              <a:t>연산</a:t>
            </a:r>
            <a:r>
              <a:rPr sz="1000" dirty="0">
                <a:latin typeface="KoPub돋움체 Medium"/>
              </a:rPr>
              <a:t> </a:t>
            </a:r>
            <a:r>
              <a:rPr sz="1000" dirty="0" err="1">
                <a:latin typeface="KoPub돋움체 Medium"/>
              </a:rPr>
              <a:t>오버헤드</a:t>
            </a:r>
            <a:r>
              <a:rPr sz="1000" dirty="0">
                <a:latin typeface="KoPub돋움체 Medium"/>
              </a:rPr>
              <a:t> </a:t>
            </a:r>
            <a:r>
              <a:rPr sz="1000" dirty="0" err="1">
                <a:latin typeface="KoPub돋움체 Medium"/>
              </a:rPr>
              <a:t>극복</a:t>
            </a:r>
            <a:br>
              <a:rPr sz="1000" dirty="0"/>
            </a:br>
            <a:r>
              <a:rPr sz="1000" dirty="0">
                <a:latin typeface="KoPub돋움체 Medium"/>
              </a:rPr>
              <a:t>L1 LRU + L2 Redis 1ms </a:t>
            </a:r>
            <a:r>
              <a:rPr sz="1000" dirty="0" err="1">
                <a:latin typeface="KoPub돋움체 Medium"/>
              </a:rPr>
              <a:t>응답</a:t>
            </a:r>
            <a:endParaRPr sz="1000" dirty="0">
              <a:latin typeface="KoPub돋움체 Medium"/>
            </a:endParaRPr>
          </a:p>
        </p:txBody>
      </p:sp>
      <p:sp>
        <p:nvSpPr>
          <p:cNvPr id="11" name="Right Arrow 10"/>
          <p:cNvSpPr/>
          <p:nvPr/>
        </p:nvSpPr>
        <p:spPr>
          <a:xfrm>
            <a:off x="4869000" y="1656000"/>
            <a:ext cx="174240" cy="252000"/>
          </a:xfrm>
          <a:prstGeom prst="rightArrow">
            <a:avLst/>
          </a:prstGeom>
          <a:solidFill>
            <a:srgbClr val="CBD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097240" y="1350000"/>
            <a:ext cx="2088000" cy="864000"/>
          </a:xfrm>
          <a:prstGeom prst="roundRect">
            <a:avLst/>
          </a:prstGeom>
          <a:solidFill>
            <a:srgbClr val="0E306D"/>
          </a:solidFill>
          <a:ln w="12700">
            <a:solidFill>
              <a:srgbClr val="0E30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205240" y="1442874"/>
            <a:ext cx="1922001" cy="615553"/>
          </a:xfrm>
          <a:prstGeom prst="rect">
            <a:avLst/>
          </a:prstGeom>
          <a:noFill/>
        </p:spPr>
        <p:txBody>
          <a:bodyPr wrap="none" lIns="0" tIns="0" rIns="0" bIns="0">
            <a:spAutoFit/>
          </a:bodyPr>
          <a:lstStyle/>
          <a:p>
            <a:pPr>
              <a:defRPr sz="850" b="1">
                <a:solidFill>
                  <a:srgbClr val="FBBC05"/>
                </a:solidFill>
                <a:latin typeface="KoPub돋움체 Bold"/>
              </a:defRPr>
            </a:pPr>
            <a:r>
              <a:rPr sz="1000" dirty="0">
                <a:latin typeface="KoPub돋움체 Bold"/>
              </a:rPr>
              <a:t>Phase 3: </a:t>
            </a:r>
            <a:r>
              <a:rPr sz="1000" dirty="0" err="1">
                <a:latin typeface="KoPub돋움체 Bold"/>
              </a:rPr>
              <a:t>PoP</a:t>
            </a:r>
            <a:r>
              <a:rPr sz="1000" dirty="0">
                <a:latin typeface="KoPub돋움체 Bold"/>
              </a:rPr>
              <a:t>-Sync</a:t>
            </a:r>
          </a:p>
          <a:p>
            <a:pPr>
              <a:defRPr sz="1000" b="1">
                <a:solidFill>
                  <a:srgbClr val="FFFFFF"/>
                </a:solidFill>
                <a:latin typeface="KoPub돋움체 Bold"/>
              </a:defRPr>
            </a:pPr>
            <a:r>
              <a:rPr sz="1000" dirty="0" err="1">
                <a:latin typeface="KoPub돋움체 Bold"/>
              </a:rPr>
              <a:t>카오스</a:t>
            </a:r>
            <a:r>
              <a:rPr sz="1000" dirty="0">
                <a:latin typeface="KoPub돋움체 Bold"/>
              </a:rPr>
              <a:t> </a:t>
            </a:r>
            <a:r>
              <a:rPr sz="1000" dirty="0" err="1">
                <a:latin typeface="KoPub돋움체 Bold"/>
              </a:rPr>
              <a:t>복원력</a:t>
            </a:r>
            <a:r>
              <a:rPr sz="1000" dirty="0">
                <a:latin typeface="KoPub돋움체 Bold"/>
              </a:rPr>
              <a:t> (</a:t>
            </a:r>
            <a:r>
              <a:rPr sz="1000" dirty="0" err="1">
                <a:latin typeface="KoPub돋움체 Bold"/>
              </a:rPr>
              <a:t>핵심</a:t>
            </a:r>
            <a:r>
              <a:rPr sz="1000" dirty="0">
                <a:latin typeface="KoPub돋움체 Bold"/>
              </a:rPr>
              <a:t>)</a:t>
            </a:r>
          </a:p>
          <a:p>
            <a:pPr>
              <a:defRPr sz="750">
                <a:solidFill>
                  <a:srgbClr val="DFE6EE"/>
                </a:solidFill>
                <a:latin typeface="KoPub돋움체 Medium"/>
              </a:defRPr>
            </a:pPr>
            <a:r>
              <a:rPr sz="1000" dirty="0">
                <a:latin typeface="KoPub돋움체 Medium"/>
              </a:rPr>
              <a:t>3중 </a:t>
            </a:r>
            <a:r>
              <a:rPr sz="1000" dirty="0" err="1">
                <a:latin typeface="KoPub돋움체 Medium"/>
              </a:rPr>
              <a:t>장애</a:t>
            </a:r>
            <a:r>
              <a:rPr sz="1000" dirty="0">
                <a:latin typeface="KoPub돋움체 Medium"/>
              </a:rPr>
              <a:t> </a:t>
            </a:r>
            <a:r>
              <a:rPr sz="1000" dirty="0" err="1">
                <a:latin typeface="KoPub돋움체 Medium"/>
              </a:rPr>
              <a:t>복원</a:t>
            </a:r>
            <a:r>
              <a:rPr sz="1000" dirty="0">
                <a:latin typeface="KoPub돋움체 Medium"/>
              </a:rPr>
              <a:t> · 2대 </a:t>
            </a:r>
            <a:r>
              <a:rPr sz="1000" dirty="0" err="1">
                <a:latin typeface="KoPub돋움체 Medium"/>
              </a:rPr>
              <a:t>불변식</a:t>
            </a:r>
            <a:r>
              <a:rPr sz="1000" dirty="0">
                <a:latin typeface="KoPub돋움체 Medium"/>
              </a:rPr>
              <a:t> </a:t>
            </a:r>
            <a:r>
              <a:rPr sz="1000" dirty="0" err="1">
                <a:latin typeface="KoPub돋움체 Medium"/>
              </a:rPr>
              <a:t>감사</a:t>
            </a:r>
            <a:br>
              <a:rPr sz="1000" dirty="0"/>
            </a:br>
            <a:r>
              <a:rPr sz="1000" dirty="0">
                <a:latin typeface="KoPub돋움체 Medium"/>
              </a:rPr>
              <a:t>L7 Envoy PEP-PDP · Sentinel HA</a:t>
            </a:r>
          </a:p>
        </p:txBody>
      </p:sp>
      <p:sp>
        <p:nvSpPr>
          <p:cNvPr id="14" name="Right Arrow 13"/>
          <p:cNvSpPr/>
          <p:nvPr/>
        </p:nvSpPr>
        <p:spPr>
          <a:xfrm>
            <a:off x="7239240" y="1656000"/>
            <a:ext cx="174240" cy="252000"/>
          </a:xfrm>
          <a:prstGeom prst="rightArrow">
            <a:avLst/>
          </a:prstGeom>
          <a:solidFill>
            <a:srgbClr val="CBD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467480" y="1350000"/>
            <a:ext cx="2088000" cy="864000"/>
          </a:xfrm>
          <a:prstGeom prst="roundRect">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29471" y="1442469"/>
            <a:ext cx="1510029" cy="615553"/>
          </a:xfrm>
          <a:prstGeom prst="rect">
            <a:avLst/>
          </a:prstGeom>
          <a:noFill/>
        </p:spPr>
        <p:txBody>
          <a:bodyPr wrap="none" lIns="0" tIns="0" rIns="0" bIns="0">
            <a:spAutoFit/>
          </a:bodyPr>
          <a:lstStyle/>
          <a:p>
            <a:pPr>
              <a:defRPr sz="850" b="1">
                <a:solidFill>
                  <a:srgbClr val="009A93"/>
                </a:solidFill>
                <a:latin typeface="KoPub돋움체 Bold"/>
              </a:defRPr>
            </a:pPr>
            <a:r>
              <a:rPr sz="1000" dirty="0">
                <a:latin typeface="KoPub돋움체 Bold"/>
              </a:rPr>
              <a:t>Phase 4: </a:t>
            </a:r>
            <a:r>
              <a:rPr sz="1000" dirty="0" err="1">
                <a:latin typeface="KoPub돋움체 Bold"/>
              </a:rPr>
              <a:t>Diagnoser</a:t>
            </a:r>
            <a:endParaRPr sz="1000" dirty="0">
              <a:latin typeface="KoPub돋움체 Bold"/>
            </a:endParaRPr>
          </a:p>
          <a:p>
            <a:pPr>
              <a:defRPr sz="1000" b="1">
                <a:solidFill>
                  <a:srgbClr val="0E306D"/>
                </a:solidFill>
                <a:latin typeface="KoPub돋움체 Bold"/>
              </a:defRPr>
            </a:pPr>
            <a:r>
              <a:rPr sz="1000" dirty="0" err="1">
                <a:latin typeface="KoPub돋움체 Bold"/>
              </a:rPr>
              <a:t>독립</a:t>
            </a:r>
            <a:r>
              <a:rPr sz="1000" dirty="0">
                <a:latin typeface="KoPub돋움체 Bold"/>
              </a:rPr>
              <a:t> </a:t>
            </a:r>
            <a:r>
              <a:rPr sz="1000" dirty="0" err="1">
                <a:latin typeface="KoPub돋움체 Bold"/>
              </a:rPr>
              <a:t>시각화</a:t>
            </a:r>
            <a:r>
              <a:rPr sz="1000" dirty="0">
                <a:latin typeface="KoPub돋움체 Bold"/>
              </a:rPr>
              <a:t> </a:t>
            </a:r>
            <a:r>
              <a:rPr sz="1000" dirty="0" err="1">
                <a:latin typeface="KoPub돋움체 Bold"/>
              </a:rPr>
              <a:t>도구</a:t>
            </a:r>
            <a:endParaRPr sz="1000" dirty="0">
              <a:latin typeface="KoPub돋움체 Bold"/>
            </a:endParaRPr>
          </a:p>
          <a:p>
            <a:pPr>
              <a:defRPr sz="750">
                <a:solidFill>
                  <a:srgbClr val="6B7280"/>
                </a:solidFill>
                <a:latin typeface="KoPub돋움체 Medium"/>
              </a:defRPr>
            </a:pPr>
            <a:r>
              <a:rPr sz="1000" dirty="0">
                <a:latin typeface="KoPub돋움체 Medium"/>
              </a:rPr>
              <a:t>14개 </a:t>
            </a:r>
            <a:r>
              <a:rPr sz="1000" dirty="0" err="1">
                <a:latin typeface="KoPub돋움체 Medium"/>
              </a:rPr>
              <a:t>가설</a:t>
            </a:r>
            <a:r>
              <a:rPr sz="1000" dirty="0">
                <a:latin typeface="KoPub돋움체 Medium"/>
              </a:rPr>
              <a:t> </a:t>
            </a:r>
            <a:r>
              <a:rPr sz="1000" dirty="0" err="1">
                <a:latin typeface="KoPub돋움체 Medium"/>
              </a:rPr>
              <a:t>브라우저</a:t>
            </a:r>
            <a:r>
              <a:rPr sz="1000" dirty="0">
                <a:latin typeface="KoPub돋움체 Medium"/>
              </a:rPr>
              <a:t> Diff </a:t>
            </a:r>
            <a:r>
              <a:rPr sz="1000" dirty="0" err="1">
                <a:latin typeface="KoPub돋움체 Medium"/>
              </a:rPr>
              <a:t>도구</a:t>
            </a:r>
            <a:br>
              <a:rPr sz="1000" dirty="0"/>
            </a:br>
            <a:r>
              <a:rPr sz="1000" dirty="0" err="1">
                <a:latin typeface="KoPub돋움체 Medium"/>
              </a:rPr>
              <a:t>암호</a:t>
            </a:r>
            <a:r>
              <a:rPr sz="1000" dirty="0">
                <a:latin typeface="KoPub돋움체 Medium"/>
              </a:rPr>
              <a:t> </a:t>
            </a:r>
            <a:r>
              <a:rPr sz="1000" dirty="0" err="1">
                <a:latin typeface="KoPub돋움체 Medium"/>
              </a:rPr>
              <a:t>불일치</a:t>
            </a:r>
            <a:r>
              <a:rPr sz="1000" dirty="0">
                <a:latin typeface="KoPub돋움체 Medium"/>
              </a:rPr>
              <a:t> </a:t>
            </a:r>
            <a:r>
              <a:rPr sz="1000" dirty="0" err="1">
                <a:latin typeface="KoPub돋움체 Medium"/>
              </a:rPr>
              <a:t>원인</a:t>
            </a:r>
            <a:r>
              <a:rPr sz="1000" dirty="0">
                <a:latin typeface="KoPub돋움체 Medium"/>
              </a:rPr>
              <a:t> 1초 내 </a:t>
            </a:r>
            <a:r>
              <a:rPr sz="1000" dirty="0" err="1">
                <a:latin typeface="KoPub돋움체 Medium"/>
              </a:rPr>
              <a:t>판독</a:t>
            </a:r>
            <a:endParaRPr sz="1000" dirty="0">
              <a:latin typeface="KoPub돋움체 Medium"/>
            </a:endParaRPr>
          </a:p>
        </p:txBody>
      </p:sp>
      <p:sp>
        <p:nvSpPr>
          <p:cNvPr id="17" name="Rounded Rectangle 16"/>
          <p:cNvSpPr/>
          <p:nvPr/>
        </p:nvSpPr>
        <p:spPr>
          <a:xfrm>
            <a:off x="356760" y="2304000"/>
            <a:ext cx="2926080" cy="3731512"/>
          </a:xfrm>
          <a:prstGeom prst="roundRect">
            <a:avLst>
              <a:gd name="adj" fmla="val 4297"/>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75560" y="2412000"/>
            <a:ext cx="2688480" cy="288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0E306D"/>
                </a:solidFill>
                <a:latin typeface="KoPub돋움체 Bold"/>
              </a:defRPr>
            </a:pPr>
            <a:r>
              <a:rPr>
                <a:latin typeface="KoPub돋움체 Bold"/>
              </a:rPr>
              <a:t>01. 토큰 탈취 &amp; 암호 연산 DoS</a:t>
            </a:r>
          </a:p>
        </p:txBody>
      </p:sp>
      <p:sp>
        <p:nvSpPr>
          <p:cNvPr id="19" name="Rounded Rectangle 18"/>
          <p:cNvSpPr/>
          <p:nvPr/>
        </p:nvSpPr>
        <p:spPr>
          <a:xfrm>
            <a:off x="475560" y="2772000"/>
            <a:ext cx="2688480" cy="1063162"/>
          </a:xfrm>
          <a:prstGeom prst="roundRect">
            <a:avLst>
              <a:gd name="adj" fmla="val 6244"/>
            </a:avLst>
          </a:prstGeom>
          <a:solidFill>
            <a:srgbClr val="FEF2F2"/>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536760" y="2851200"/>
            <a:ext cx="1584000" cy="208800"/>
          </a:xfrm>
          <a:prstGeom prst="roundRect">
            <a:avLst/>
          </a:prstGeom>
          <a:solidFill>
            <a:srgbClr val="FEE2E2"/>
          </a:solidFill>
          <a:ln>
            <a:solidFill>
              <a:srgbClr val="FCA5A5"/>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750" b="1">
                <a:solidFill>
                  <a:srgbClr val="B91C1C"/>
                </a:solidFill>
                <a:latin typeface="KoPub돋움체 Bold"/>
              </a:defRPr>
            </a:pPr>
            <a:r>
              <a:rPr sz="1000" dirty="0" err="1">
                <a:latin typeface="KoPub돋움체 Bold"/>
              </a:rPr>
              <a:t>기존</a:t>
            </a:r>
            <a:r>
              <a:rPr sz="1000" dirty="0">
                <a:latin typeface="KoPub돋움체 Bold"/>
              </a:rPr>
              <a:t> </a:t>
            </a:r>
            <a:r>
              <a:rPr sz="1000" dirty="0" err="1">
                <a:latin typeface="KoPub돋움체 Bold"/>
              </a:rPr>
              <a:t>한계점</a:t>
            </a:r>
            <a:r>
              <a:rPr sz="1000" dirty="0">
                <a:latin typeface="KoPub돋움체 Bold"/>
              </a:rPr>
              <a:t> (Vulnerability)</a:t>
            </a:r>
          </a:p>
        </p:txBody>
      </p:sp>
      <p:sp>
        <p:nvSpPr>
          <p:cNvPr id="21" name="TextBox 20"/>
          <p:cNvSpPr txBox="1"/>
          <p:nvPr/>
        </p:nvSpPr>
        <p:spPr>
          <a:xfrm>
            <a:off x="536760" y="3060000"/>
            <a:ext cx="2566080" cy="746679"/>
          </a:xfrm>
          <a:prstGeom prst="rect">
            <a:avLst/>
          </a:prstGeom>
          <a:noFill/>
        </p:spPr>
        <p:txBody>
          <a:bodyPr wrap="square" lIns="0" tIns="0" rIns="0" bIns="0">
            <a:spAutoFit/>
          </a:bodyPr>
          <a:lstStyle/>
          <a:p>
            <a:pPr>
              <a:lnSpc>
                <a:spcPct val="150000"/>
              </a:lnSpc>
              <a:defRPr sz="780">
                <a:solidFill>
                  <a:srgbClr val="475569"/>
                </a:solidFill>
                <a:latin typeface="KoPub돋움체 Medium"/>
              </a:defRPr>
            </a:pPr>
            <a:r>
              <a:rPr sz="1000" dirty="0">
                <a:latin typeface="KoPub돋움체 Medium"/>
              </a:rPr>
              <a:t>•  Bearer </a:t>
            </a:r>
            <a:r>
              <a:rPr sz="1000" dirty="0" err="1">
                <a:latin typeface="KoPub돋움체 Medium"/>
              </a:rPr>
              <a:t>토큰</a:t>
            </a:r>
            <a:r>
              <a:rPr sz="1000" dirty="0">
                <a:latin typeface="KoPub돋움체 Medium"/>
              </a:rPr>
              <a:t> </a:t>
            </a:r>
            <a:r>
              <a:rPr sz="1000" dirty="0" err="1">
                <a:latin typeface="KoPub돋움체 Medium"/>
              </a:rPr>
              <a:t>탈취</a:t>
            </a:r>
            <a:r>
              <a:rPr sz="1000" dirty="0">
                <a:latin typeface="KoPub돋움체 Medium"/>
              </a:rPr>
              <a:t> 시 </a:t>
            </a:r>
            <a:r>
              <a:rPr sz="1000" dirty="0" err="1">
                <a:latin typeface="KoPub돋움체 Medium"/>
              </a:rPr>
              <a:t>무제한</a:t>
            </a:r>
            <a:r>
              <a:rPr sz="1000" dirty="0">
                <a:latin typeface="KoPub돋움체 Medium"/>
              </a:rPr>
              <a:t> </a:t>
            </a:r>
            <a:r>
              <a:rPr sz="1000" dirty="0" err="1">
                <a:latin typeface="KoPub돋움체 Medium"/>
              </a:rPr>
              <a:t>도용</a:t>
            </a:r>
            <a:r>
              <a:rPr sz="1000" dirty="0">
                <a:latin typeface="KoPub돋움체 Medium"/>
              </a:rPr>
              <a:t> </a:t>
            </a:r>
            <a:r>
              <a:rPr sz="1000" dirty="0" err="1">
                <a:latin typeface="KoPub돋움체 Medium"/>
              </a:rPr>
              <a:t>위험</a:t>
            </a:r>
            <a:endParaRPr sz="1000" dirty="0">
              <a:latin typeface="KoPub돋움체 Medium"/>
            </a:endParaRPr>
          </a:p>
          <a:p>
            <a:pPr>
              <a:lnSpc>
                <a:spcPct val="150000"/>
              </a:lnSpc>
              <a:spcBef>
                <a:spcPts val="300"/>
              </a:spcBef>
              <a:defRPr sz="780">
                <a:solidFill>
                  <a:srgbClr val="475569"/>
                </a:solidFill>
                <a:latin typeface="KoPub돋움체 Medium"/>
              </a:defRPr>
            </a:pPr>
            <a:r>
              <a:rPr sz="1000" dirty="0">
                <a:latin typeface="KoPub돋움체 Medium"/>
              </a:rPr>
              <a:t>•  </a:t>
            </a:r>
            <a:r>
              <a:rPr sz="1000" dirty="0" err="1">
                <a:latin typeface="KoPub돋움체 Medium"/>
              </a:rPr>
              <a:t>고비용</a:t>
            </a:r>
            <a:r>
              <a:rPr sz="1000" dirty="0">
                <a:latin typeface="KoPub돋움체 Medium"/>
              </a:rPr>
              <a:t> </a:t>
            </a:r>
            <a:r>
              <a:rPr sz="1000" dirty="0" err="1">
                <a:latin typeface="KoPub돋움체 Medium"/>
              </a:rPr>
              <a:t>비대칭</a:t>
            </a:r>
            <a:r>
              <a:rPr sz="1000" dirty="0">
                <a:latin typeface="KoPub돋움체 Medium"/>
              </a:rPr>
              <a:t> </a:t>
            </a:r>
            <a:r>
              <a:rPr sz="1000" dirty="0" err="1">
                <a:latin typeface="KoPub돋움체 Medium"/>
              </a:rPr>
              <a:t>서명</a:t>
            </a:r>
            <a:r>
              <a:rPr sz="1000" dirty="0">
                <a:latin typeface="KoPub돋움체 Medium"/>
              </a:rPr>
              <a:t> </a:t>
            </a:r>
            <a:r>
              <a:rPr sz="1000" dirty="0" err="1">
                <a:latin typeface="KoPub돋움체 Medium"/>
              </a:rPr>
              <a:t>선행</a:t>
            </a:r>
            <a:r>
              <a:rPr sz="1000" dirty="0">
                <a:latin typeface="KoPub돋움체 Medium"/>
              </a:rPr>
              <a:t> </a:t>
            </a:r>
            <a:r>
              <a:rPr sz="1000" dirty="0" err="1">
                <a:latin typeface="KoPub돋움체 Medium"/>
              </a:rPr>
              <a:t>검증으로</a:t>
            </a:r>
            <a:r>
              <a:rPr sz="1000" dirty="0">
                <a:latin typeface="KoPub돋움체 Medium"/>
              </a:rPr>
              <a:t> </a:t>
            </a:r>
            <a:endParaRPr lang="en-US" sz="1000" dirty="0">
              <a:latin typeface="KoPub돋움체 Medium"/>
            </a:endParaRPr>
          </a:p>
          <a:p>
            <a:pPr>
              <a:lnSpc>
                <a:spcPct val="150000"/>
              </a:lnSpc>
              <a:spcBef>
                <a:spcPts val="300"/>
              </a:spcBef>
              <a:defRPr sz="780">
                <a:solidFill>
                  <a:srgbClr val="475569"/>
                </a:solidFill>
                <a:latin typeface="KoPub돋움체 Medium"/>
              </a:defRPr>
            </a:pPr>
            <a:r>
              <a:rPr lang="en-US" sz="1000" dirty="0">
                <a:latin typeface="KoPub돋움체 Medium"/>
              </a:rPr>
              <a:t>    </a:t>
            </a:r>
            <a:r>
              <a:rPr sz="1000" dirty="0">
                <a:latin typeface="KoPub돋움체 Medium"/>
              </a:rPr>
              <a:t>CPU </a:t>
            </a:r>
            <a:r>
              <a:rPr sz="1000" dirty="0" err="1">
                <a:latin typeface="KoPub돋움체 Medium"/>
              </a:rPr>
              <a:t>고갈</a:t>
            </a:r>
            <a:r>
              <a:rPr sz="1000" dirty="0">
                <a:latin typeface="KoPub돋움체 Medium"/>
              </a:rPr>
              <a:t> </a:t>
            </a:r>
            <a:r>
              <a:rPr sz="1000" dirty="0" err="1">
                <a:latin typeface="KoPub돋움체 Medium"/>
              </a:rPr>
              <a:t>DoS에</a:t>
            </a:r>
            <a:r>
              <a:rPr sz="1000" dirty="0">
                <a:latin typeface="KoPub돋움체 Medium"/>
              </a:rPr>
              <a:t> </a:t>
            </a:r>
            <a:r>
              <a:rPr sz="1000" dirty="0" err="1">
                <a:latin typeface="KoPub돋움체 Medium"/>
              </a:rPr>
              <a:t>취약</a:t>
            </a:r>
            <a:endParaRPr sz="1000" dirty="0">
              <a:latin typeface="KoPub돋움체 Medium"/>
            </a:endParaRPr>
          </a:p>
        </p:txBody>
      </p:sp>
      <p:sp>
        <p:nvSpPr>
          <p:cNvPr id="22" name="Rounded Rectangle 21"/>
          <p:cNvSpPr/>
          <p:nvPr/>
        </p:nvSpPr>
        <p:spPr>
          <a:xfrm>
            <a:off x="475560" y="3950334"/>
            <a:ext cx="2688480" cy="1993266"/>
          </a:xfrm>
          <a:prstGeom prst="roundRect">
            <a:avLst>
              <a:gd name="adj" fmla="val 4914"/>
            </a:avLst>
          </a:prstGeom>
          <a:solidFill>
            <a:srgbClr val="E3F3F2"/>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558901" y="4087980"/>
            <a:ext cx="1962000" cy="172800"/>
          </a:xfrm>
          <a:prstGeom prst="roundRect">
            <a:avLst/>
          </a:prstGeom>
          <a:solidFill>
            <a:srgbClr val="CCFBF1"/>
          </a:solidFill>
          <a:ln>
            <a:solidFill>
              <a:srgbClr val="5EEAD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750" b="1">
                <a:solidFill>
                  <a:srgbClr val="009A93"/>
                </a:solidFill>
                <a:latin typeface="KoPub돋움체 Bold"/>
              </a:defRPr>
            </a:pPr>
            <a:r>
              <a:rPr sz="1000" dirty="0" err="1">
                <a:latin typeface="KoPub돋움체 Bold"/>
              </a:rPr>
              <a:t>PoP</a:t>
            </a:r>
            <a:r>
              <a:rPr sz="1000" dirty="0">
                <a:latin typeface="KoPub돋움체 Bold"/>
              </a:rPr>
              <a:t>-Sync </a:t>
            </a:r>
            <a:r>
              <a:rPr sz="1000" dirty="0" err="1">
                <a:latin typeface="KoPub돋움체 Bold"/>
              </a:rPr>
              <a:t>복원</a:t>
            </a:r>
            <a:r>
              <a:rPr sz="1000" dirty="0">
                <a:latin typeface="KoPub돋움체 Bold"/>
              </a:rPr>
              <a:t> </a:t>
            </a:r>
            <a:r>
              <a:rPr sz="1000" dirty="0" err="1">
                <a:latin typeface="KoPub돋움체 Bold"/>
              </a:rPr>
              <a:t>아키텍처</a:t>
            </a:r>
            <a:r>
              <a:rPr sz="1000" dirty="0">
                <a:latin typeface="KoPub돋움체 Bold"/>
              </a:rPr>
              <a:t> (Defense)</a:t>
            </a:r>
          </a:p>
        </p:txBody>
      </p:sp>
      <p:sp>
        <p:nvSpPr>
          <p:cNvPr id="24" name="TextBox 23"/>
          <p:cNvSpPr txBox="1"/>
          <p:nvPr/>
        </p:nvSpPr>
        <p:spPr>
          <a:xfrm>
            <a:off x="523920" y="4349465"/>
            <a:ext cx="2566080" cy="1487267"/>
          </a:xfrm>
          <a:prstGeom prst="rect">
            <a:avLst/>
          </a:prstGeom>
          <a:noFill/>
        </p:spPr>
        <p:txBody>
          <a:bodyPr wrap="square" lIns="0" tIns="0" rIns="0" bIns="0">
            <a:spAutoFit/>
          </a:bodyPr>
          <a:lstStyle/>
          <a:p>
            <a:pPr>
              <a:lnSpc>
                <a:spcPct val="125000"/>
              </a:lnSpc>
            </a:pPr>
            <a:r>
              <a:rPr sz="1000" dirty="0">
                <a:solidFill>
                  <a:srgbClr val="009A93"/>
                </a:solidFill>
                <a:latin typeface="KoPub돋움체 Bold"/>
              </a:rPr>
              <a:t>•  </a:t>
            </a:r>
            <a:r>
              <a:rPr sz="1000" b="1" dirty="0">
                <a:solidFill>
                  <a:srgbClr val="0E306D"/>
                </a:solidFill>
                <a:latin typeface="KoPub돋움체 Bold"/>
              </a:rPr>
              <a:t>[</a:t>
            </a:r>
            <a:r>
              <a:rPr sz="1000" b="1" dirty="0" err="1">
                <a:solidFill>
                  <a:srgbClr val="0E306D"/>
                </a:solidFill>
                <a:latin typeface="KoPub돋움체 Bold"/>
              </a:rPr>
              <a:t>선행</a:t>
            </a:r>
            <a:r>
              <a:rPr sz="1000" b="1" dirty="0">
                <a:solidFill>
                  <a:srgbClr val="0E306D"/>
                </a:solidFill>
                <a:latin typeface="KoPub돋움체 Bold"/>
              </a:rPr>
              <a:t> </a:t>
            </a:r>
            <a:r>
              <a:rPr sz="1000" b="1" dirty="0" err="1">
                <a:solidFill>
                  <a:srgbClr val="0E306D"/>
                </a:solidFill>
                <a:latin typeface="KoPub돋움체 Bold"/>
              </a:rPr>
              <a:t>필터</a:t>
            </a:r>
            <a:r>
              <a:rPr sz="1000" b="1" dirty="0">
                <a:solidFill>
                  <a:srgbClr val="0E306D"/>
                </a:solidFill>
                <a:latin typeface="KoPub돋움체 Bold"/>
              </a:rPr>
              <a:t>]</a:t>
            </a:r>
            <a:r>
              <a:rPr sz="1000" dirty="0">
                <a:solidFill>
                  <a:srgbClr val="0E306D"/>
                </a:solidFill>
                <a:latin typeface="KoPub돋움체 Medium"/>
              </a:rPr>
              <a:t> </a:t>
            </a:r>
            <a:endParaRPr lang="en-US" sz="1000" dirty="0">
              <a:solidFill>
                <a:srgbClr val="0E306D"/>
              </a:solidFill>
              <a:latin typeface="KoPub돋움체 Medium"/>
            </a:endParaRPr>
          </a:p>
          <a:p>
            <a:pPr>
              <a:lnSpc>
                <a:spcPct val="125000"/>
              </a:lnSpc>
            </a:pPr>
            <a:r>
              <a:rPr lang="en-US" sz="1000" dirty="0">
                <a:solidFill>
                  <a:srgbClr val="0E306D"/>
                </a:solidFill>
                <a:latin typeface="KoPub돋움체 Medium"/>
              </a:rPr>
              <a:t>    </a:t>
            </a:r>
            <a:r>
              <a:rPr sz="1000" dirty="0">
                <a:solidFill>
                  <a:srgbClr val="0E306D"/>
                </a:solidFill>
                <a:latin typeface="KoPub돋움체 Medium"/>
              </a:rPr>
              <a:t>O(1) </a:t>
            </a:r>
            <a:r>
              <a:rPr sz="1000" dirty="0" err="1">
                <a:solidFill>
                  <a:srgbClr val="0E306D"/>
                </a:solidFill>
                <a:latin typeface="KoPub돋움체 Medium"/>
              </a:rPr>
              <a:t>유량</a:t>
            </a:r>
            <a:r>
              <a:rPr sz="1000" dirty="0">
                <a:solidFill>
                  <a:srgbClr val="0E306D"/>
                </a:solidFill>
                <a:latin typeface="KoPub돋움체 Medium"/>
              </a:rPr>
              <a:t> </a:t>
            </a:r>
            <a:r>
              <a:rPr sz="1000" dirty="0" err="1">
                <a:solidFill>
                  <a:srgbClr val="0E306D"/>
                </a:solidFill>
                <a:latin typeface="KoPub돋움체 Medium"/>
              </a:rPr>
              <a:t>제어</a:t>
            </a:r>
            <a:r>
              <a:rPr sz="1000" dirty="0">
                <a:solidFill>
                  <a:srgbClr val="0E306D"/>
                </a:solidFill>
                <a:latin typeface="KoPub돋움체 Medium"/>
              </a:rPr>
              <a:t> </a:t>
            </a:r>
            <a:r>
              <a:rPr sz="1000" dirty="0" err="1">
                <a:solidFill>
                  <a:srgbClr val="0E306D"/>
                </a:solidFill>
                <a:latin typeface="KoPub돋움체 Medium"/>
              </a:rPr>
              <a:t>선행</a:t>
            </a:r>
            <a:r>
              <a:rPr sz="1000" dirty="0">
                <a:solidFill>
                  <a:srgbClr val="0E306D"/>
                </a:solidFill>
                <a:latin typeface="KoPub돋움체 Medium"/>
              </a:rPr>
              <a:t> </a:t>
            </a:r>
            <a:r>
              <a:rPr sz="1000" dirty="0" err="1">
                <a:solidFill>
                  <a:srgbClr val="0E306D"/>
                </a:solidFill>
                <a:latin typeface="KoPub돋움체 Medium"/>
              </a:rPr>
              <a:t>차단</a:t>
            </a:r>
            <a:r>
              <a:rPr sz="1000" dirty="0">
                <a:solidFill>
                  <a:srgbClr val="0E306D"/>
                </a:solidFill>
                <a:latin typeface="KoPub돋움체 Medium"/>
              </a:rPr>
              <a:t> 및 </a:t>
            </a:r>
            <a:endParaRPr lang="en-US" sz="1000" dirty="0">
              <a:solidFill>
                <a:srgbClr val="0E306D"/>
              </a:solidFill>
              <a:latin typeface="KoPub돋움체 Medium"/>
            </a:endParaRPr>
          </a:p>
          <a:p>
            <a:pPr>
              <a:lnSpc>
                <a:spcPct val="125000"/>
              </a:lnSpc>
            </a:pPr>
            <a:r>
              <a:rPr lang="en-US" sz="1000" dirty="0">
                <a:solidFill>
                  <a:srgbClr val="0E306D"/>
                </a:solidFill>
                <a:latin typeface="KoPub돋움체 Medium"/>
              </a:rPr>
              <a:t>    </a:t>
            </a:r>
            <a:r>
              <a:rPr sz="1000" dirty="0">
                <a:solidFill>
                  <a:srgbClr val="0E306D"/>
                </a:solidFill>
                <a:latin typeface="KoPub돋움체 Medium"/>
              </a:rPr>
              <a:t>Redis Lua Nonce </a:t>
            </a:r>
            <a:r>
              <a:rPr sz="1000" dirty="0" err="1">
                <a:solidFill>
                  <a:srgbClr val="0E306D"/>
                </a:solidFill>
                <a:latin typeface="KoPub돋움체 Medium"/>
              </a:rPr>
              <a:t>소각</a:t>
            </a:r>
            <a:endParaRPr sz="1000" dirty="0">
              <a:solidFill>
                <a:srgbClr val="0E306D"/>
              </a:solidFill>
              <a:latin typeface="KoPub돋움체 Medium"/>
            </a:endParaRPr>
          </a:p>
          <a:p>
            <a:pPr>
              <a:lnSpc>
                <a:spcPct val="125000"/>
              </a:lnSpc>
              <a:spcBef>
                <a:spcPts val="250"/>
              </a:spcBef>
            </a:pPr>
            <a:r>
              <a:rPr sz="1000" dirty="0">
                <a:solidFill>
                  <a:srgbClr val="009A93"/>
                </a:solidFill>
                <a:latin typeface="KoPub돋움체 Bold"/>
              </a:rPr>
              <a:t>•  </a:t>
            </a:r>
            <a:r>
              <a:rPr sz="1000" b="1" dirty="0">
                <a:solidFill>
                  <a:srgbClr val="0E306D"/>
                </a:solidFill>
                <a:latin typeface="KoPub돋움체 Bold"/>
              </a:rPr>
              <a:t>[</a:t>
            </a:r>
            <a:r>
              <a:rPr sz="1000" b="1" dirty="0" err="1">
                <a:solidFill>
                  <a:srgbClr val="0E306D"/>
                </a:solidFill>
                <a:latin typeface="KoPub돋움체 Bold"/>
              </a:rPr>
              <a:t>조기</a:t>
            </a:r>
            <a:r>
              <a:rPr sz="1000" b="1" dirty="0">
                <a:solidFill>
                  <a:srgbClr val="0E306D"/>
                </a:solidFill>
                <a:latin typeface="KoPub돋움체 Bold"/>
              </a:rPr>
              <a:t> </a:t>
            </a:r>
            <a:r>
              <a:rPr sz="1000" b="1" dirty="0" err="1">
                <a:solidFill>
                  <a:srgbClr val="0E306D"/>
                </a:solidFill>
                <a:latin typeface="KoPub돋움체 Bold"/>
              </a:rPr>
              <a:t>차단</a:t>
            </a:r>
            <a:r>
              <a:rPr sz="1000" b="1" dirty="0">
                <a:solidFill>
                  <a:srgbClr val="0E306D"/>
                </a:solidFill>
                <a:latin typeface="KoPub돋움체 Bold"/>
              </a:rPr>
              <a:t>]</a:t>
            </a:r>
            <a:r>
              <a:rPr sz="1000" dirty="0">
                <a:solidFill>
                  <a:srgbClr val="0E306D"/>
                </a:solidFill>
                <a:latin typeface="KoPub돋움체 Medium"/>
              </a:rPr>
              <a:t> </a:t>
            </a:r>
            <a:endParaRPr lang="en-US" sz="1000" dirty="0">
              <a:solidFill>
                <a:srgbClr val="0E306D"/>
              </a:solidFill>
              <a:latin typeface="KoPub돋움체 Medium"/>
            </a:endParaRPr>
          </a:p>
          <a:p>
            <a:pPr>
              <a:lnSpc>
                <a:spcPct val="125000"/>
              </a:lnSpc>
              <a:spcBef>
                <a:spcPts val="250"/>
              </a:spcBef>
            </a:pPr>
            <a:r>
              <a:rPr lang="en-US" sz="1000" dirty="0">
                <a:solidFill>
                  <a:srgbClr val="0E306D"/>
                </a:solidFill>
                <a:latin typeface="KoPub돋움체 Medium"/>
              </a:rPr>
              <a:t>   </a:t>
            </a:r>
            <a:r>
              <a:rPr sz="1000" dirty="0" err="1">
                <a:solidFill>
                  <a:srgbClr val="0E306D"/>
                </a:solidFill>
                <a:latin typeface="KoPub돋움체 Medium"/>
              </a:rPr>
              <a:t>암호</a:t>
            </a:r>
            <a:r>
              <a:rPr sz="1000" dirty="0">
                <a:solidFill>
                  <a:srgbClr val="0E306D"/>
                </a:solidFill>
                <a:latin typeface="KoPub돋움체 Medium"/>
              </a:rPr>
              <a:t> </a:t>
            </a:r>
            <a:r>
              <a:rPr sz="1000" dirty="0" err="1">
                <a:solidFill>
                  <a:srgbClr val="0E306D"/>
                </a:solidFill>
                <a:latin typeface="KoPub돋움체 Medium"/>
              </a:rPr>
              <a:t>검증</a:t>
            </a:r>
            <a:r>
              <a:rPr sz="1000" dirty="0">
                <a:solidFill>
                  <a:srgbClr val="0E306D"/>
                </a:solidFill>
                <a:latin typeface="KoPub돋움체 Medium"/>
              </a:rPr>
              <a:t> </a:t>
            </a:r>
            <a:r>
              <a:rPr sz="1000" dirty="0" err="1">
                <a:solidFill>
                  <a:srgbClr val="0E306D"/>
                </a:solidFill>
                <a:latin typeface="KoPub돋움체 Medium"/>
              </a:rPr>
              <a:t>진입</a:t>
            </a:r>
            <a:r>
              <a:rPr sz="1000" dirty="0">
                <a:solidFill>
                  <a:srgbClr val="0E306D"/>
                </a:solidFill>
                <a:latin typeface="KoPub돋움체 Medium"/>
              </a:rPr>
              <a:t> 전 </a:t>
            </a:r>
            <a:r>
              <a:rPr sz="1000" dirty="0" err="1">
                <a:solidFill>
                  <a:srgbClr val="0E306D"/>
                </a:solidFill>
                <a:latin typeface="KoPub돋움체 Medium"/>
              </a:rPr>
              <a:t>재사용</a:t>
            </a:r>
            <a:r>
              <a:rPr sz="1000" dirty="0">
                <a:solidFill>
                  <a:srgbClr val="0E306D"/>
                </a:solidFill>
                <a:latin typeface="KoPub돋움체 Medium"/>
              </a:rPr>
              <a:t> Nonce 401 </a:t>
            </a:r>
            <a:r>
              <a:rPr sz="1000" dirty="0" err="1">
                <a:solidFill>
                  <a:srgbClr val="0E306D"/>
                </a:solidFill>
                <a:latin typeface="KoPub돋움체 Medium"/>
              </a:rPr>
              <a:t>차단</a:t>
            </a:r>
            <a:endParaRPr sz="1000" dirty="0">
              <a:solidFill>
                <a:srgbClr val="0E306D"/>
              </a:solidFill>
              <a:latin typeface="KoPub돋움체 Medium"/>
            </a:endParaRPr>
          </a:p>
          <a:p>
            <a:pPr>
              <a:lnSpc>
                <a:spcPct val="125000"/>
              </a:lnSpc>
              <a:spcBef>
                <a:spcPts val="250"/>
              </a:spcBef>
            </a:pPr>
            <a:r>
              <a:rPr sz="1000" dirty="0">
                <a:solidFill>
                  <a:srgbClr val="009A93"/>
                </a:solidFill>
                <a:latin typeface="KoPub돋움체 Bold"/>
              </a:rPr>
              <a:t>•  </a:t>
            </a:r>
            <a:r>
              <a:rPr sz="1000" b="1" dirty="0">
                <a:solidFill>
                  <a:srgbClr val="0E306D"/>
                </a:solidFill>
                <a:latin typeface="KoPub돋움체 Bold"/>
              </a:rPr>
              <a:t>[CPU </a:t>
            </a:r>
            <a:r>
              <a:rPr sz="1000" b="1" dirty="0" err="1">
                <a:solidFill>
                  <a:srgbClr val="0E306D"/>
                </a:solidFill>
                <a:latin typeface="KoPub돋움체 Bold"/>
              </a:rPr>
              <a:t>보호</a:t>
            </a:r>
            <a:r>
              <a:rPr sz="1000" b="1" dirty="0">
                <a:solidFill>
                  <a:srgbClr val="0E306D"/>
                </a:solidFill>
                <a:latin typeface="KoPub돋움체 Bold"/>
              </a:rPr>
              <a:t>]</a:t>
            </a:r>
            <a:r>
              <a:rPr sz="1000" dirty="0">
                <a:solidFill>
                  <a:srgbClr val="0E306D"/>
                </a:solidFill>
                <a:latin typeface="KoPub돋움체 Medium"/>
              </a:rPr>
              <a:t> </a:t>
            </a:r>
            <a:endParaRPr lang="en-US" sz="1000" dirty="0">
              <a:solidFill>
                <a:srgbClr val="0E306D"/>
              </a:solidFill>
              <a:latin typeface="KoPub돋움체 Medium"/>
            </a:endParaRPr>
          </a:p>
          <a:p>
            <a:pPr>
              <a:lnSpc>
                <a:spcPct val="125000"/>
              </a:lnSpc>
              <a:spcBef>
                <a:spcPts val="250"/>
              </a:spcBef>
            </a:pPr>
            <a:r>
              <a:rPr lang="en-US" sz="1000" dirty="0">
                <a:solidFill>
                  <a:srgbClr val="0E306D"/>
                </a:solidFill>
                <a:latin typeface="KoPub돋움체 Medium"/>
              </a:rPr>
              <a:t>   </a:t>
            </a:r>
            <a:r>
              <a:rPr sz="1000" dirty="0" err="1">
                <a:solidFill>
                  <a:srgbClr val="0E306D"/>
                </a:solidFill>
                <a:latin typeface="KoPub돋움체 Medium"/>
              </a:rPr>
              <a:t>공격</a:t>
            </a:r>
            <a:r>
              <a:rPr sz="1000" dirty="0">
                <a:solidFill>
                  <a:srgbClr val="0E306D"/>
                </a:solidFill>
                <a:latin typeface="KoPub돋움체 Medium"/>
              </a:rPr>
              <a:t> </a:t>
            </a:r>
            <a:r>
              <a:rPr sz="1000" dirty="0" err="1">
                <a:solidFill>
                  <a:srgbClr val="0E306D"/>
                </a:solidFill>
                <a:latin typeface="KoPub돋움체 Medium"/>
              </a:rPr>
              <a:t>유입</a:t>
            </a:r>
            <a:r>
              <a:rPr sz="1000" dirty="0">
                <a:solidFill>
                  <a:srgbClr val="0E306D"/>
                </a:solidFill>
                <a:latin typeface="KoPub돋움체 Medium"/>
              </a:rPr>
              <a:t> </a:t>
            </a:r>
            <a:r>
              <a:rPr sz="1000" dirty="0" err="1">
                <a:solidFill>
                  <a:srgbClr val="0E306D"/>
                </a:solidFill>
                <a:latin typeface="KoPub돋움체 Medium"/>
              </a:rPr>
              <a:t>즉시</a:t>
            </a:r>
            <a:r>
              <a:rPr sz="1000" dirty="0">
                <a:solidFill>
                  <a:srgbClr val="0E306D"/>
                </a:solidFill>
                <a:latin typeface="KoPub돋움체 Medium"/>
              </a:rPr>
              <a:t> </a:t>
            </a:r>
            <a:r>
              <a:rPr sz="1000" dirty="0" err="1">
                <a:solidFill>
                  <a:srgbClr val="0E306D"/>
                </a:solidFill>
                <a:latin typeface="KoPub돋움체 Medium"/>
              </a:rPr>
              <a:t>소각하여</a:t>
            </a:r>
            <a:r>
              <a:rPr sz="1000" dirty="0">
                <a:solidFill>
                  <a:srgbClr val="0E306D"/>
                </a:solidFill>
                <a:latin typeface="KoPub돋움체 Medium"/>
              </a:rPr>
              <a:t> </a:t>
            </a:r>
            <a:r>
              <a:rPr sz="1000" dirty="0" err="1">
                <a:solidFill>
                  <a:srgbClr val="0E306D"/>
                </a:solidFill>
                <a:latin typeface="KoPub돋움체 Medium"/>
              </a:rPr>
              <a:t>백엔드</a:t>
            </a:r>
            <a:r>
              <a:rPr sz="1000" dirty="0">
                <a:solidFill>
                  <a:srgbClr val="0E306D"/>
                </a:solidFill>
                <a:latin typeface="KoPub돋움체 Medium"/>
              </a:rPr>
              <a:t> CPU </a:t>
            </a:r>
            <a:r>
              <a:rPr sz="1000" dirty="0" err="1">
                <a:solidFill>
                  <a:srgbClr val="0E306D"/>
                </a:solidFill>
                <a:latin typeface="KoPub돋움체 Medium"/>
              </a:rPr>
              <a:t>영향</a:t>
            </a:r>
            <a:r>
              <a:rPr sz="1000" dirty="0">
                <a:solidFill>
                  <a:srgbClr val="0E306D"/>
                </a:solidFill>
                <a:latin typeface="KoPub돋움체 Medium"/>
              </a:rPr>
              <a:t> 0%</a:t>
            </a:r>
          </a:p>
        </p:txBody>
      </p:sp>
      <p:sp>
        <p:nvSpPr>
          <p:cNvPr id="27" name="Rounded Rectangle 26"/>
          <p:cNvSpPr/>
          <p:nvPr/>
        </p:nvSpPr>
        <p:spPr>
          <a:xfrm>
            <a:off x="3483720" y="2304000"/>
            <a:ext cx="2926080" cy="3731512"/>
          </a:xfrm>
          <a:prstGeom prst="roundRect">
            <a:avLst>
              <a:gd name="adj" fmla="val 4297"/>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3602520" y="2412000"/>
            <a:ext cx="2688480" cy="288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0E306D"/>
                </a:solidFill>
                <a:latin typeface="KoPub돋움체 Bold"/>
              </a:defRPr>
            </a:pPr>
            <a:r>
              <a:rPr>
                <a:latin typeface="KoPub돋움체 Bold"/>
              </a:rPr>
              <a:t>02. 동일 키 폭주 &amp; 캐시 스탬피드</a:t>
            </a:r>
          </a:p>
        </p:txBody>
      </p:sp>
      <p:sp>
        <p:nvSpPr>
          <p:cNvPr id="29" name="Rounded Rectangle 28"/>
          <p:cNvSpPr/>
          <p:nvPr/>
        </p:nvSpPr>
        <p:spPr>
          <a:xfrm>
            <a:off x="3602520" y="2772000"/>
            <a:ext cx="2688480" cy="1063162"/>
          </a:xfrm>
          <a:prstGeom prst="roundRect">
            <a:avLst>
              <a:gd name="adj" fmla="val 8649"/>
            </a:avLst>
          </a:prstGeom>
          <a:solidFill>
            <a:srgbClr val="FEF2F2"/>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3663719" y="2851200"/>
            <a:ext cx="1688039" cy="208800"/>
          </a:xfrm>
          <a:prstGeom prst="roundRect">
            <a:avLst/>
          </a:prstGeom>
          <a:solidFill>
            <a:srgbClr val="FEE2E2"/>
          </a:solidFill>
          <a:ln>
            <a:solidFill>
              <a:srgbClr val="FCA5A5"/>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750" b="1">
                <a:solidFill>
                  <a:srgbClr val="B91C1C"/>
                </a:solidFill>
                <a:latin typeface="KoPub돋움체 Bold"/>
              </a:defRPr>
            </a:pPr>
            <a:r>
              <a:rPr sz="1000" dirty="0" err="1">
                <a:latin typeface="KoPub돋움체 Bold"/>
              </a:rPr>
              <a:t>기존</a:t>
            </a:r>
            <a:r>
              <a:rPr sz="1000" dirty="0">
                <a:latin typeface="KoPub돋움체 Bold"/>
              </a:rPr>
              <a:t> </a:t>
            </a:r>
            <a:r>
              <a:rPr sz="1000" dirty="0" err="1">
                <a:latin typeface="KoPub돋움체 Bold"/>
              </a:rPr>
              <a:t>한계점</a:t>
            </a:r>
            <a:r>
              <a:rPr sz="1000" dirty="0">
                <a:latin typeface="KoPub돋움체 Bold"/>
              </a:rPr>
              <a:t> (Vulnerability)</a:t>
            </a:r>
          </a:p>
        </p:txBody>
      </p:sp>
      <p:sp>
        <p:nvSpPr>
          <p:cNvPr id="31" name="TextBox 30"/>
          <p:cNvSpPr txBox="1"/>
          <p:nvPr/>
        </p:nvSpPr>
        <p:spPr>
          <a:xfrm>
            <a:off x="3663720" y="3060000"/>
            <a:ext cx="2566080" cy="746679"/>
          </a:xfrm>
          <a:prstGeom prst="rect">
            <a:avLst/>
          </a:prstGeom>
          <a:noFill/>
        </p:spPr>
        <p:txBody>
          <a:bodyPr wrap="square" lIns="0" tIns="0" rIns="0" bIns="0">
            <a:spAutoFit/>
          </a:bodyPr>
          <a:lstStyle/>
          <a:p>
            <a:pPr>
              <a:lnSpc>
                <a:spcPct val="150000"/>
              </a:lnSpc>
              <a:defRPr sz="780">
                <a:solidFill>
                  <a:srgbClr val="475569"/>
                </a:solidFill>
                <a:latin typeface="KoPub돋움체 Medium"/>
              </a:defRPr>
            </a:pPr>
            <a:r>
              <a:rPr sz="1000" dirty="0">
                <a:latin typeface="KoPub돋움체 Medium"/>
              </a:rPr>
              <a:t>•  </a:t>
            </a:r>
            <a:r>
              <a:rPr sz="1000" dirty="0" err="1">
                <a:latin typeface="KoPub돋움체 Medium"/>
              </a:rPr>
              <a:t>캐시</a:t>
            </a:r>
            <a:r>
              <a:rPr sz="1000" dirty="0">
                <a:latin typeface="KoPub돋움체 Medium"/>
              </a:rPr>
              <a:t> </a:t>
            </a:r>
            <a:r>
              <a:rPr sz="1000" dirty="0" err="1">
                <a:latin typeface="KoPub돋움체 Medium"/>
              </a:rPr>
              <a:t>만료</a:t>
            </a:r>
            <a:r>
              <a:rPr sz="1000" dirty="0">
                <a:latin typeface="KoPub돋움체 Medium"/>
              </a:rPr>
              <a:t> 시 </a:t>
            </a:r>
            <a:r>
              <a:rPr sz="1000" dirty="0" err="1">
                <a:latin typeface="KoPub돋움체 Medium"/>
              </a:rPr>
              <a:t>동일</a:t>
            </a:r>
            <a:r>
              <a:rPr sz="1000" dirty="0">
                <a:latin typeface="KoPub돋움체 Medium"/>
              </a:rPr>
              <a:t> 키 </a:t>
            </a:r>
            <a:r>
              <a:rPr sz="1000" dirty="0" err="1">
                <a:latin typeface="KoPub돋움체 Medium"/>
              </a:rPr>
              <a:t>수천</a:t>
            </a:r>
            <a:r>
              <a:rPr sz="1000" dirty="0">
                <a:latin typeface="KoPub돋움체 Medium"/>
              </a:rPr>
              <a:t> 건 </a:t>
            </a:r>
            <a:r>
              <a:rPr sz="1000" dirty="0" err="1">
                <a:latin typeface="KoPub돋움체 Medium"/>
              </a:rPr>
              <a:t>동시</a:t>
            </a:r>
            <a:r>
              <a:rPr sz="1000" dirty="0">
                <a:latin typeface="KoPub돋움체 Medium"/>
              </a:rPr>
              <a:t> </a:t>
            </a:r>
            <a:r>
              <a:rPr sz="1000" dirty="0" err="1">
                <a:latin typeface="KoPub돋움체 Medium"/>
              </a:rPr>
              <a:t>유입</a:t>
            </a:r>
            <a:endParaRPr sz="1000" dirty="0">
              <a:latin typeface="KoPub돋움체 Medium"/>
            </a:endParaRPr>
          </a:p>
          <a:p>
            <a:pPr>
              <a:lnSpc>
                <a:spcPct val="150000"/>
              </a:lnSpc>
              <a:spcBef>
                <a:spcPts val="300"/>
              </a:spcBef>
              <a:defRPr sz="780">
                <a:solidFill>
                  <a:srgbClr val="475569"/>
                </a:solidFill>
                <a:latin typeface="KoPub돋움체 Medium"/>
              </a:defRPr>
            </a:pPr>
            <a:r>
              <a:rPr sz="1000" dirty="0">
                <a:latin typeface="KoPub돋움체 Medium"/>
              </a:rPr>
              <a:t>•  DB </a:t>
            </a:r>
            <a:r>
              <a:rPr sz="1000" dirty="0" err="1">
                <a:latin typeface="KoPub돋움체 Medium"/>
              </a:rPr>
              <a:t>커넥션</a:t>
            </a:r>
            <a:r>
              <a:rPr sz="1000" dirty="0">
                <a:latin typeface="KoPub돋움체 Medium"/>
              </a:rPr>
              <a:t> 풀 </a:t>
            </a:r>
            <a:r>
              <a:rPr sz="1000" dirty="0" err="1">
                <a:latin typeface="KoPub돋움체 Medium"/>
              </a:rPr>
              <a:t>고갈</a:t>
            </a:r>
            <a:r>
              <a:rPr sz="1000" dirty="0">
                <a:latin typeface="KoPub돋움체 Medium"/>
              </a:rPr>
              <a:t>(MAX=5) 및 </a:t>
            </a:r>
            <a:r>
              <a:rPr sz="1000" dirty="0" err="1">
                <a:latin typeface="KoPub돋움체 Medium"/>
              </a:rPr>
              <a:t>지연</a:t>
            </a:r>
            <a:r>
              <a:rPr sz="1000" dirty="0">
                <a:latin typeface="KoPub돋움체 Medium"/>
              </a:rPr>
              <a:t> </a:t>
            </a:r>
            <a:endParaRPr lang="en-US" sz="1000" dirty="0">
              <a:latin typeface="KoPub돋움체 Medium"/>
            </a:endParaRPr>
          </a:p>
          <a:p>
            <a:pPr>
              <a:lnSpc>
                <a:spcPct val="150000"/>
              </a:lnSpc>
              <a:spcBef>
                <a:spcPts val="300"/>
              </a:spcBef>
              <a:defRPr sz="780">
                <a:solidFill>
                  <a:srgbClr val="475569"/>
                </a:solidFill>
                <a:latin typeface="KoPub돋움체 Medium"/>
              </a:defRPr>
            </a:pPr>
            <a:r>
              <a:rPr lang="en-US" sz="1000" dirty="0">
                <a:latin typeface="KoPub돋움체 Medium"/>
              </a:rPr>
              <a:t>   </a:t>
            </a:r>
            <a:r>
              <a:rPr sz="1000" dirty="0">
                <a:latin typeface="KoPub돋움체 Medium"/>
              </a:rPr>
              <a:t>4,065ms </a:t>
            </a:r>
            <a:r>
              <a:rPr sz="1000" dirty="0" err="1">
                <a:latin typeface="KoPub돋움체 Medium"/>
              </a:rPr>
              <a:t>급증</a:t>
            </a:r>
            <a:r>
              <a:rPr sz="1000" dirty="0">
                <a:latin typeface="KoPub돋움체 Medium"/>
              </a:rPr>
              <a:t> </a:t>
            </a:r>
            <a:r>
              <a:rPr sz="1000" dirty="0" err="1">
                <a:latin typeface="KoPub돋움체 Medium"/>
              </a:rPr>
              <a:t>위험</a:t>
            </a:r>
            <a:endParaRPr sz="1000" dirty="0">
              <a:latin typeface="KoPub돋움체 Medium"/>
            </a:endParaRPr>
          </a:p>
        </p:txBody>
      </p:sp>
      <p:sp>
        <p:nvSpPr>
          <p:cNvPr id="32" name="Rounded Rectangle 31"/>
          <p:cNvSpPr/>
          <p:nvPr/>
        </p:nvSpPr>
        <p:spPr>
          <a:xfrm>
            <a:off x="3583626" y="3950334"/>
            <a:ext cx="2688480" cy="1993266"/>
          </a:xfrm>
          <a:prstGeom prst="roundRect">
            <a:avLst>
              <a:gd name="adj" fmla="val 8104"/>
            </a:avLst>
          </a:prstGeom>
          <a:solidFill>
            <a:srgbClr val="E3F3F2"/>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3695119" y="4083356"/>
            <a:ext cx="1983547" cy="172800"/>
          </a:xfrm>
          <a:prstGeom prst="roundRect">
            <a:avLst/>
          </a:prstGeom>
          <a:solidFill>
            <a:srgbClr val="CCFBF1"/>
          </a:solidFill>
          <a:ln>
            <a:solidFill>
              <a:srgbClr val="5EEAD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750" b="1">
                <a:solidFill>
                  <a:srgbClr val="009A93"/>
                </a:solidFill>
                <a:latin typeface="KoPub돋움체 Bold"/>
              </a:defRPr>
            </a:pPr>
            <a:r>
              <a:rPr sz="1000" dirty="0" err="1">
                <a:latin typeface="KoPub돋움체 Bold"/>
              </a:rPr>
              <a:t>PoP</a:t>
            </a:r>
            <a:r>
              <a:rPr sz="1000" dirty="0">
                <a:latin typeface="KoPub돋움체 Bold"/>
              </a:rPr>
              <a:t>-Sync </a:t>
            </a:r>
            <a:r>
              <a:rPr sz="1000" dirty="0" err="1">
                <a:latin typeface="KoPub돋움체 Bold"/>
              </a:rPr>
              <a:t>복원</a:t>
            </a:r>
            <a:r>
              <a:rPr sz="1000" dirty="0">
                <a:latin typeface="KoPub돋움체 Bold"/>
              </a:rPr>
              <a:t> </a:t>
            </a:r>
            <a:r>
              <a:rPr sz="1000" dirty="0" err="1">
                <a:latin typeface="KoPub돋움체 Bold"/>
              </a:rPr>
              <a:t>아키텍처</a:t>
            </a:r>
            <a:r>
              <a:rPr sz="1000" dirty="0">
                <a:latin typeface="KoPub돋움체 Bold"/>
              </a:rPr>
              <a:t> (Defense)</a:t>
            </a:r>
          </a:p>
        </p:txBody>
      </p:sp>
      <p:sp>
        <p:nvSpPr>
          <p:cNvPr id="34" name="TextBox 33"/>
          <p:cNvSpPr txBox="1"/>
          <p:nvPr/>
        </p:nvSpPr>
        <p:spPr>
          <a:xfrm>
            <a:off x="3681040" y="4365909"/>
            <a:ext cx="2566080" cy="1294906"/>
          </a:xfrm>
          <a:prstGeom prst="rect">
            <a:avLst/>
          </a:prstGeom>
          <a:noFill/>
        </p:spPr>
        <p:txBody>
          <a:bodyPr wrap="square" lIns="0" tIns="0" rIns="0" bIns="0">
            <a:spAutoFit/>
          </a:bodyPr>
          <a:lstStyle/>
          <a:p>
            <a:pPr>
              <a:lnSpc>
                <a:spcPct val="125000"/>
              </a:lnSpc>
            </a:pPr>
            <a:r>
              <a:rPr sz="1000" dirty="0">
                <a:solidFill>
                  <a:srgbClr val="009A93"/>
                </a:solidFill>
                <a:latin typeface="KoPub돋움체 Bold"/>
              </a:rPr>
              <a:t>•  </a:t>
            </a:r>
            <a:r>
              <a:rPr sz="1000" b="1" dirty="0">
                <a:solidFill>
                  <a:srgbClr val="0E306D"/>
                </a:solidFill>
                <a:latin typeface="KoPub돋움체 Bold"/>
              </a:rPr>
              <a:t>[</a:t>
            </a:r>
            <a:r>
              <a:rPr sz="1000" b="1" dirty="0" err="1">
                <a:solidFill>
                  <a:srgbClr val="0E306D"/>
                </a:solidFill>
                <a:latin typeface="KoPub돋움체 Bold"/>
              </a:rPr>
              <a:t>동시성</a:t>
            </a:r>
            <a:r>
              <a:rPr sz="1000" b="1" dirty="0">
                <a:solidFill>
                  <a:srgbClr val="0E306D"/>
                </a:solidFill>
                <a:latin typeface="KoPub돋움체 Bold"/>
              </a:rPr>
              <a:t> </a:t>
            </a:r>
            <a:r>
              <a:rPr sz="1000" b="1" dirty="0" err="1">
                <a:solidFill>
                  <a:srgbClr val="0E306D"/>
                </a:solidFill>
                <a:latin typeface="KoPub돋움체 Bold"/>
              </a:rPr>
              <a:t>병합</a:t>
            </a:r>
            <a:r>
              <a:rPr sz="1000" b="1" dirty="0">
                <a:solidFill>
                  <a:srgbClr val="0E306D"/>
                </a:solidFill>
                <a:latin typeface="KoPub돋움체 Bold"/>
              </a:rPr>
              <a:t>]</a:t>
            </a:r>
            <a:r>
              <a:rPr sz="1000" dirty="0">
                <a:solidFill>
                  <a:srgbClr val="0E306D"/>
                </a:solidFill>
                <a:latin typeface="KoPub돋움체 Medium"/>
              </a:rPr>
              <a:t> </a:t>
            </a:r>
            <a:endParaRPr lang="en-US" sz="1000" dirty="0">
              <a:solidFill>
                <a:srgbClr val="0E306D"/>
              </a:solidFill>
              <a:latin typeface="KoPub돋움체 Medium"/>
            </a:endParaRPr>
          </a:p>
          <a:p>
            <a:pPr>
              <a:lnSpc>
                <a:spcPct val="125000"/>
              </a:lnSpc>
            </a:pPr>
            <a:r>
              <a:rPr lang="en-US" sz="1000" dirty="0">
                <a:solidFill>
                  <a:srgbClr val="0E306D"/>
                </a:solidFill>
                <a:latin typeface="KoPub돋움체 Medium"/>
              </a:rPr>
              <a:t>   </a:t>
            </a:r>
            <a:r>
              <a:rPr sz="1000" dirty="0">
                <a:solidFill>
                  <a:srgbClr val="0E306D"/>
                </a:solidFill>
                <a:latin typeface="KoPub돋움체 Medium"/>
              </a:rPr>
              <a:t>Single-Flight </a:t>
            </a:r>
            <a:r>
              <a:rPr sz="1000" dirty="0" err="1">
                <a:solidFill>
                  <a:srgbClr val="0E306D"/>
                </a:solidFill>
                <a:latin typeface="KoPub돋움체 Medium"/>
              </a:rPr>
              <a:t>패턴</a:t>
            </a:r>
            <a:r>
              <a:rPr sz="1000" dirty="0">
                <a:solidFill>
                  <a:srgbClr val="0E306D"/>
                </a:solidFill>
                <a:latin typeface="KoPub돋움체 Medium"/>
              </a:rPr>
              <a:t> (</a:t>
            </a:r>
            <a:r>
              <a:rPr sz="1000" dirty="0" err="1">
                <a:solidFill>
                  <a:srgbClr val="0E306D"/>
                </a:solidFill>
                <a:latin typeface="KoPub돋움체 Medium"/>
              </a:rPr>
              <a:t>로컬</a:t>
            </a:r>
            <a:r>
              <a:rPr sz="1000" dirty="0">
                <a:solidFill>
                  <a:srgbClr val="0E306D"/>
                </a:solidFill>
                <a:latin typeface="KoPub돋움체 Medium"/>
              </a:rPr>
              <a:t> + </a:t>
            </a:r>
            <a:r>
              <a:rPr sz="1000" dirty="0" err="1">
                <a:solidFill>
                  <a:srgbClr val="0E306D"/>
                </a:solidFill>
                <a:latin typeface="KoPub돋움체 Medium"/>
              </a:rPr>
              <a:t>중앙</a:t>
            </a:r>
            <a:r>
              <a:rPr sz="1000" dirty="0">
                <a:solidFill>
                  <a:srgbClr val="0E306D"/>
                </a:solidFill>
                <a:latin typeface="KoPub돋움체 Medium"/>
              </a:rPr>
              <a:t> </a:t>
            </a:r>
            <a:r>
              <a:rPr sz="1000" dirty="0" err="1">
                <a:solidFill>
                  <a:srgbClr val="0E306D"/>
                </a:solidFill>
                <a:latin typeface="KoPub돋움체 Medium"/>
              </a:rPr>
              <a:t>분산</a:t>
            </a:r>
            <a:r>
              <a:rPr sz="1000" dirty="0">
                <a:solidFill>
                  <a:srgbClr val="0E306D"/>
                </a:solidFill>
                <a:latin typeface="KoPub돋움체 Medium"/>
              </a:rPr>
              <a:t> 락)</a:t>
            </a:r>
          </a:p>
          <a:p>
            <a:pPr>
              <a:lnSpc>
                <a:spcPct val="125000"/>
              </a:lnSpc>
              <a:spcBef>
                <a:spcPts val="250"/>
              </a:spcBef>
            </a:pPr>
            <a:r>
              <a:rPr sz="1000" dirty="0">
                <a:solidFill>
                  <a:srgbClr val="009A93"/>
                </a:solidFill>
                <a:latin typeface="KoPub돋움체 Bold"/>
              </a:rPr>
              <a:t>•  </a:t>
            </a:r>
            <a:r>
              <a:rPr sz="1000" b="1" dirty="0">
                <a:solidFill>
                  <a:srgbClr val="0E306D"/>
                </a:solidFill>
                <a:latin typeface="KoPub돋움체 Bold"/>
              </a:rPr>
              <a:t>[</a:t>
            </a:r>
            <a:r>
              <a:rPr sz="1000" b="1" dirty="0" err="1">
                <a:solidFill>
                  <a:srgbClr val="0E306D"/>
                </a:solidFill>
                <a:latin typeface="KoPub돋움체 Bold"/>
              </a:rPr>
              <a:t>부하</a:t>
            </a:r>
            <a:r>
              <a:rPr sz="1000" b="1" dirty="0">
                <a:solidFill>
                  <a:srgbClr val="0E306D"/>
                </a:solidFill>
                <a:latin typeface="KoPub돋움체 Bold"/>
              </a:rPr>
              <a:t> </a:t>
            </a:r>
            <a:r>
              <a:rPr sz="1000" b="1" dirty="0" err="1">
                <a:solidFill>
                  <a:srgbClr val="0E306D"/>
                </a:solidFill>
                <a:latin typeface="KoPub돋움체 Bold"/>
              </a:rPr>
              <a:t>절감</a:t>
            </a:r>
            <a:r>
              <a:rPr sz="1000" b="1" dirty="0">
                <a:solidFill>
                  <a:srgbClr val="0E306D"/>
                </a:solidFill>
                <a:latin typeface="KoPub돋움체 Bold"/>
              </a:rPr>
              <a:t>]</a:t>
            </a:r>
            <a:r>
              <a:rPr sz="1000" dirty="0">
                <a:solidFill>
                  <a:srgbClr val="0E306D"/>
                </a:solidFill>
                <a:latin typeface="KoPub돋움체 Medium"/>
              </a:rPr>
              <a:t> </a:t>
            </a:r>
            <a:endParaRPr lang="en-US" sz="1000" dirty="0">
              <a:solidFill>
                <a:srgbClr val="0E306D"/>
              </a:solidFill>
              <a:latin typeface="KoPub돋움체 Medium"/>
            </a:endParaRPr>
          </a:p>
          <a:p>
            <a:pPr>
              <a:lnSpc>
                <a:spcPct val="125000"/>
              </a:lnSpc>
              <a:spcBef>
                <a:spcPts val="250"/>
              </a:spcBef>
            </a:pPr>
            <a:r>
              <a:rPr lang="en-US" sz="1000" dirty="0">
                <a:solidFill>
                  <a:srgbClr val="0E306D"/>
                </a:solidFill>
                <a:latin typeface="KoPub돋움체 Medium"/>
              </a:rPr>
              <a:t>    </a:t>
            </a:r>
            <a:r>
              <a:rPr sz="1000" dirty="0" err="1">
                <a:solidFill>
                  <a:srgbClr val="0E306D"/>
                </a:solidFill>
                <a:latin typeface="KoPub돋움체 Medium"/>
              </a:rPr>
              <a:t>동일</a:t>
            </a:r>
            <a:r>
              <a:rPr sz="1000" dirty="0">
                <a:solidFill>
                  <a:srgbClr val="0E306D"/>
                </a:solidFill>
                <a:latin typeface="KoPub돋움체 Medium"/>
              </a:rPr>
              <a:t> 키 </a:t>
            </a:r>
            <a:r>
              <a:rPr sz="1000" dirty="0" err="1">
                <a:solidFill>
                  <a:srgbClr val="0E306D"/>
                </a:solidFill>
                <a:latin typeface="KoPub돋움체 Medium"/>
              </a:rPr>
              <a:t>폭주</a:t>
            </a:r>
            <a:r>
              <a:rPr sz="1000" dirty="0">
                <a:solidFill>
                  <a:srgbClr val="0E306D"/>
                </a:solidFill>
                <a:latin typeface="KoPub돋움체 Medium"/>
              </a:rPr>
              <a:t> 시 단 1건만 Policy DB </a:t>
            </a:r>
            <a:r>
              <a:rPr sz="1000" dirty="0" err="1">
                <a:solidFill>
                  <a:srgbClr val="0E306D"/>
                </a:solidFill>
                <a:latin typeface="KoPub돋움체 Medium"/>
              </a:rPr>
              <a:t>조회</a:t>
            </a:r>
            <a:endParaRPr sz="1000" dirty="0">
              <a:solidFill>
                <a:srgbClr val="0E306D"/>
              </a:solidFill>
              <a:latin typeface="KoPub돋움체 Medium"/>
            </a:endParaRPr>
          </a:p>
          <a:p>
            <a:pPr>
              <a:lnSpc>
                <a:spcPct val="125000"/>
              </a:lnSpc>
              <a:spcBef>
                <a:spcPts val="250"/>
              </a:spcBef>
            </a:pPr>
            <a:r>
              <a:rPr sz="1000" dirty="0">
                <a:solidFill>
                  <a:srgbClr val="009A93"/>
                </a:solidFill>
                <a:latin typeface="KoPub돋움체 Bold"/>
              </a:rPr>
              <a:t>•  </a:t>
            </a:r>
            <a:r>
              <a:rPr sz="1000" b="1" dirty="0">
                <a:solidFill>
                  <a:srgbClr val="0E306D"/>
                </a:solidFill>
                <a:latin typeface="KoPub돋움체 Bold"/>
              </a:rPr>
              <a:t>[</a:t>
            </a:r>
            <a:r>
              <a:rPr sz="1000" b="1" dirty="0" err="1">
                <a:solidFill>
                  <a:srgbClr val="0E306D"/>
                </a:solidFill>
                <a:latin typeface="KoPub돋움체 Bold"/>
              </a:rPr>
              <a:t>결과</a:t>
            </a:r>
            <a:r>
              <a:rPr sz="1000" b="1" dirty="0">
                <a:solidFill>
                  <a:srgbClr val="0E306D"/>
                </a:solidFill>
                <a:latin typeface="KoPub돋움체 Bold"/>
              </a:rPr>
              <a:t> </a:t>
            </a:r>
            <a:r>
              <a:rPr sz="1000" b="1" dirty="0" err="1">
                <a:solidFill>
                  <a:srgbClr val="0E306D"/>
                </a:solidFill>
                <a:latin typeface="KoPub돋움체 Bold"/>
              </a:rPr>
              <a:t>공유</a:t>
            </a:r>
            <a:r>
              <a:rPr sz="1000" b="1" dirty="0">
                <a:solidFill>
                  <a:srgbClr val="0E306D"/>
                </a:solidFill>
                <a:latin typeface="KoPub돋움체 Bold"/>
              </a:rPr>
              <a:t>]</a:t>
            </a:r>
            <a:r>
              <a:rPr sz="1000" dirty="0">
                <a:solidFill>
                  <a:srgbClr val="0E306D"/>
                </a:solidFill>
                <a:latin typeface="KoPub돋움체 Medium"/>
              </a:rPr>
              <a:t> </a:t>
            </a:r>
            <a:endParaRPr lang="en-US" sz="1000" dirty="0">
              <a:solidFill>
                <a:srgbClr val="0E306D"/>
              </a:solidFill>
              <a:latin typeface="KoPub돋움체 Medium"/>
            </a:endParaRPr>
          </a:p>
          <a:p>
            <a:pPr>
              <a:lnSpc>
                <a:spcPct val="125000"/>
              </a:lnSpc>
              <a:spcBef>
                <a:spcPts val="250"/>
              </a:spcBef>
            </a:pPr>
            <a:r>
              <a:rPr lang="en-US" sz="1000" dirty="0">
                <a:solidFill>
                  <a:srgbClr val="0E306D"/>
                </a:solidFill>
                <a:latin typeface="KoPub돋움체 Medium"/>
              </a:rPr>
              <a:t>   </a:t>
            </a:r>
            <a:r>
              <a:rPr sz="1000" dirty="0">
                <a:solidFill>
                  <a:srgbClr val="0E306D"/>
                </a:solidFill>
                <a:latin typeface="KoPub돋움체 Medium"/>
              </a:rPr>
              <a:t>Future </a:t>
            </a:r>
            <a:r>
              <a:rPr sz="1000" dirty="0" err="1">
                <a:solidFill>
                  <a:srgbClr val="0E306D"/>
                </a:solidFill>
                <a:latin typeface="KoPub돋움체 Medium"/>
              </a:rPr>
              <a:t>공유로</a:t>
            </a:r>
            <a:r>
              <a:rPr sz="1000" dirty="0">
                <a:solidFill>
                  <a:srgbClr val="0E306D"/>
                </a:solidFill>
                <a:latin typeface="KoPub돋움체 Medium"/>
              </a:rPr>
              <a:t> DB </a:t>
            </a:r>
            <a:r>
              <a:rPr sz="1000" dirty="0" err="1">
                <a:solidFill>
                  <a:srgbClr val="0E306D"/>
                </a:solidFill>
                <a:latin typeface="KoPub돋움체 Medium"/>
              </a:rPr>
              <a:t>부하</a:t>
            </a:r>
            <a:r>
              <a:rPr sz="1000" dirty="0">
                <a:solidFill>
                  <a:srgbClr val="0E306D"/>
                </a:solidFill>
                <a:latin typeface="KoPub돋움체 Medium"/>
              </a:rPr>
              <a:t> </a:t>
            </a:r>
            <a:r>
              <a:rPr sz="1000" dirty="0" err="1">
                <a:solidFill>
                  <a:srgbClr val="0E306D"/>
                </a:solidFill>
                <a:latin typeface="KoPub돋움체 Medium"/>
              </a:rPr>
              <a:t>절감</a:t>
            </a:r>
            <a:r>
              <a:rPr sz="1000" dirty="0">
                <a:solidFill>
                  <a:srgbClr val="0E306D"/>
                </a:solidFill>
                <a:latin typeface="KoPub돋움체 Medium"/>
              </a:rPr>
              <a:t> (p95 27.3ms)</a:t>
            </a:r>
          </a:p>
        </p:txBody>
      </p:sp>
      <p:sp>
        <p:nvSpPr>
          <p:cNvPr id="37" name="Rounded Rectangle 36"/>
          <p:cNvSpPr/>
          <p:nvPr/>
        </p:nvSpPr>
        <p:spPr>
          <a:xfrm>
            <a:off x="6611039" y="2304000"/>
            <a:ext cx="2926080" cy="3731512"/>
          </a:xfrm>
          <a:prstGeom prst="roundRect">
            <a:avLst>
              <a:gd name="adj" fmla="val 5274"/>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6729839" y="2412000"/>
            <a:ext cx="2688480" cy="288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0E306D"/>
                </a:solidFill>
                <a:latin typeface="KoPub돋움체 Bold"/>
              </a:defRPr>
            </a:pPr>
            <a:r>
              <a:rPr>
                <a:latin typeface="KoPub돋움체 Bold"/>
              </a:rPr>
              <a:t>03. 네트워크 단절 &amp; 스플릿 브레인</a:t>
            </a:r>
          </a:p>
        </p:txBody>
      </p:sp>
      <p:sp>
        <p:nvSpPr>
          <p:cNvPr id="39" name="Rounded Rectangle 38"/>
          <p:cNvSpPr/>
          <p:nvPr/>
        </p:nvSpPr>
        <p:spPr>
          <a:xfrm>
            <a:off x="6729839" y="2772000"/>
            <a:ext cx="2688480" cy="1063162"/>
          </a:xfrm>
          <a:prstGeom prst="roundRect">
            <a:avLst>
              <a:gd name="adj" fmla="val 8649"/>
            </a:avLst>
          </a:prstGeom>
          <a:solidFill>
            <a:srgbClr val="FEF2F2"/>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6791039" y="2851200"/>
            <a:ext cx="1828028" cy="208800"/>
          </a:xfrm>
          <a:prstGeom prst="roundRect">
            <a:avLst/>
          </a:prstGeom>
          <a:solidFill>
            <a:srgbClr val="FEE2E2"/>
          </a:solidFill>
          <a:ln>
            <a:solidFill>
              <a:srgbClr val="FCA5A5"/>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750" b="1">
                <a:solidFill>
                  <a:srgbClr val="B91C1C"/>
                </a:solidFill>
                <a:latin typeface="KoPub돋움체 Bold"/>
              </a:defRPr>
            </a:pPr>
            <a:r>
              <a:rPr sz="1000" dirty="0" err="1">
                <a:latin typeface="KoPub돋움체 Bold"/>
              </a:rPr>
              <a:t>기존</a:t>
            </a:r>
            <a:r>
              <a:rPr sz="1000" dirty="0">
                <a:latin typeface="KoPub돋움체 Bold"/>
              </a:rPr>
              <a:t> </a:t>
            </a:r>
            <a:r>
              <a:rPr sz="1000" dirty="0" err="1">
                <a:latin typeface="KoPub돋움체 Bold"/>
              </a:rPr>
              <a:t>한계점</a:t>
            </a:r>
            <a:r>
              <a:rPr sz="1000" dirty="0">
                <a:latin typeface="KoPub돋움체 Bold"/>
              </a:rPr>
              <a:t> (Vulnerability)</a:t>
            </a:r>
          </a:p>
        </p:txBody>
      </p:sp>
      <p:sp>
        <p:nvSpPr>
          <p:cNvPr id="41" name="TextBox 40"/>
          <p:cNvSpPr txBox="1"/>
          <p:nvPr/>
        </p:nvSpPr>
        <p:spPr>
          <a:xfrm>
            <a:off x="6791039" y="3060000"/>
            <a:ext cx="2566080" cy="746679"/>
          </a:xfrm>
          <a:prstGeom prst="rect">
            <a:avLst/>
          </a:prstGeom>
          <a:noFill/>
        </p:spPr>
        <p:txBody>
          <a:bodyPr wrap="square" lIns="0" tIns="0" rIns="0" bIns="0">
            <a:spAutoFit/>
          </a:bodyPr>
          <a:lstStyle/>
          <a:p>
            <a:pPr>
              <a:lnSpc>
                <a:spcPct val="150000"/>
              </a:lnSpc>
              <a:defRPr sz="780">
                <a:solidFill>
                  <a:srgbClr val="475569"/>
                </a:solidFill>
                <a:latin typeface="KoPub돋움체 Medium"/>
              </a:defRPr>
            </a:pPr>
            <a:r>
              <a:rPr sz="1000" dirty="0">
                <a:latin typeface="KoPub돋움체 Medium"/>
              </a:rPr>
              <a:t>•  </a:t>
            </a:r>
            <a:r>
              <a:rPr sz="1000" dirty="0" err="1">
                <a:latin typeface="KoPub돋움체 Medium"/>
              </a:rPr>
              <a:t>통신</a:t>
            </a:r>
            <a:r>
              <a:rPr sz="1000" dirty="0">
                <a:latin typeface="KoPub돋움체 Medium"/>
              </a:rPr>
              <a:t> </a:t>
            </a:r>
            <a:r>
              <a:rPr sz="1000" dirty="0" err="1">
                <a:latin typeface="KoPub돋움체 Medium"/>
              </a:rPr>
              <a:t>단절</a:t>
            </a:r>
            <a:r>
              <a:rPr sz="1000" dirty="0">
                <a:latin typeface="KoPub돋움체 Medium"/>
              </a:rPr>
              <a:t> </a:t>
            </a:r>
            <a:r>
              <a:rPr sz="1000" dirty="0" err="1">
                <a:latin typeface="KoPub돋움체 Medium"/>
              </a:rPr>
              <a:t>노드가</a:t>
            </a:r>
            <a:r>
              <a:rPr sz="1000" dirty="0">
                <a:latin typeface="KoPub돋움체 Medium"/>
              </a:rPr>
              <a:t> </a:t>
            </a:r>
            <a:r>
              <a:rPr sz="1000" dirty="0" err="1">
                <a:latin typeface="KoPub돋움체 Medium"/>
              </a:rPr>
              <a:t>과거</a:t>
            </a:r>
            <a:r>
              <a:rPr sz="1000" dirty="0">
                <a:latin typeface="KoPub돋움체 Medium"/>
              </a:rPr>
              <a:t> </a:t>
            </a:r>
            <a:r>
              <a:rPr sz="1000" dirty="0" err="1">
                <a:latin typeface="KoPub돋움체 Medium"/>
              </a:rPr>
              <a:t>낡은</a:t>
            </a:r>
            <a:r>
              <a:rPr sz="1000" dirty="0">
                <a:latin typeface="KoPub돋움체 Medium"/>
              </a:rPr>
              <a:t> </a:t>
            </a:r>
            <a:r>
              <a:rPr sz="1000" dirty="0" err="1">
                <a:latin typeface="KoPub돋움체 Medium"/>
              </a:rPr>
              <a:t>로컬</a:t>
            </a:r>
            <a:r>
              <a:rPr sz="1000" dirty="0">
                <a:latin typeface="KoPub돋움체 Medium"/>
              </a:rPr>
              <a:t> </a:t>
            </a:r>
            <a:r>
              <a:rPr sz="1000" dirty="0" err="1">
                <a:latin typeface="KoPub돋움체 Medium"/>
              </a:rPr>
              <a:t>캐시로</a:t>
            </a:r>
            <a:r>
              <a:rPr sz="1000" dirty="0">
                <a:latin typeface="KoPub돋움체 Medium"/>
              </a:rPr>
              <a:t> </a:t>
            </a:r>
            <a:r>
              <a:rPr sz="1000" dirty="0" err="1">
                <a:latin typeface="KoPub돋움체 Medium"/>
              </a:rPr>
              <a:t>오승인</a:t>
            </a:r>
            <a:endParaRPr sz="1000" dirty="0">
              <a:latin typeface="KoPub돋움체 Medium"/>
            </a:endParaRPr>
          </a:p>
          <a:p>
            <a:pPr>
              <a:lnSpc>
                <a:spcPct val="150000"/>
              </a:lnSpc>
              <a:spcBef>
                <a:spcPts val="300"/>
              </a:spcBef>
              <a:defRPr sz="780">
                <a:solidFill>
                  <a:srgbClr val="475569"/>
                </a:solidFill>
                <a:latin typeface="KoPub돋움체 Medium"/>
              </a:defRPr>
            </a:pPr>
            <a:r>
              <a:rPr sz="1000" dirty="0">
                <a:latin typeface="KoPub돋움체 Medium"/>
              </a:rPr>
              <a:t>•  Redis </a:t>
            </a:r>
            <a:r>
              <a:rPr sz="1000" dirty="0" err="1">
                <a:latin typeface="KoPub돋움체 Medium"/>
              </a:rPr>
              <a:t>마비</a:t>
            </a:r>
            <a:r>
              <a:rPr sz="1000" dirty="0">
                <a:latin typeface="KoPub돋움체 Medium"/>
              </a:rPr>
              <a:t> 시 </a:t>
            </a:r>
            <a:r>
              <a:rPr sz="1000" dirty="0" err="1">
                <a:latin typeface="KoPub돋움체 Medium"/>
              </a:rPr>
              <a:t>중앙</a:t>
            </a:r>
            <a:r>
              <a:rPr sz="1000" dirty="0">
                <a:latin typeface="KoPub돋움체 Medium"/>
              </a:rPr>
              <a:t> 락 </a:t>
            </a:r>
            <a:r>
              <a:rPr sz="1000" dirty="0" err="1">
                <a:latin typeface="KoPub돋움체 Medium"/>
              </a:rPr>
              <a:t>소실로</a:t>
            </a:r>
            <a:r>
              <a:rPr sz="1000" dirty="0">
                <a:latin typeface="KoPub돋움체 Medium"/>
              </a:rPr>
              <a:t> </a:t>
            </a:r>
            <a:r>
              <a:rPr sz="1000" dirty="0" err="1">
                <a:latin typeface="KoPub돋움체 Medium"/>
              </a:rPr>
              <a:t>일관성</a:t>
            </a:r>
            <a:r>
              <a:rPr sz="1000" dirty="0">
                <a:latin typeface="KoPub돋움체 Medium"/>
              </a:rPr>
              <a:t> </a:t>
            </a:r>
            <a:r>
              <a:rPr sz="1000" dirty="0" err="1">
                <a:latin typeface="KoPub돋움체 Medium"/>
              </a:rPr>
              <a:t>붕괴</a:t>
            </a:r>
            <a:r>
              <a:rPr sz="1000" dirty="0">
                <a:latin typeface="KoPub돋움체 Medium"/>
              </a:rPr>
              <a:t> 및 </a:t>
            </a:r>
            <a:endParaRPr lang="en-US" sz="1000" dirty="0">
              <a:latin typeface="KoPub돋움체 Medium"/>
            </a:endParaRPr>
          </a:p>
          <a:p>
            <a:pPr>
              <a:lnSpc>
                <a:spcPct val="150000"/>
              </a:lnSpc>
              <a:spcBef>
                <a:spcPts val="300"/>
              </a:spcBef>
              <a:defRPr sz="780">
                <a:solidFill>
                  <a:srgbClr val="475569"/>
                </a:solidFill>
                <a:latin typeface="KoPub돋움체 Medium"/>
              </a:defRPr>
            </a:pPr>
            <a:r>
              <a:rPr lang="en-US" sz="1000" dirty="0">
                <a:latin typeface="KoPub돋움체 Medium"/>
              </a:rPr>
              <a:t>   </a:t>
            </a:r>
            <a:r>
              <a:rPr sz="1000" dirty="0" err="1">
                <a:latin typeface="KoPub돋움체 Medium"/>
              </a:rPr>
              <a:t>무단</a:t>
            </a:r>
            <a:r>
              <a:rPr sz="1000" dirty="0">
                <a:latin typeface="KoPub돋움체 Medium"/>
              </a:rPr>
              <a:t> </a:t>
            </a:r>
            <a:r>
              <a:rPr sz="1000" dirty="0" err="1">
                <a:latin typeface="KoPub돋움체 Medium"/>
              </a:rPr>
              <a:t>통과</a:t>
            </a:r>
            <a:endParaRPr sz="1000" dirty="0">
              <a:latin typeface="KoPub돋움체 Medium"/>
            </a:endParaRPr>
          </a:p>
        </p:txBody>
      </p:sp>
      <p:sp>
        <p:nvSpPr>
          <p:cNvPr id="42" name="Rounded Rectangle 41"/>
          <p:cNvSpPr/>
          <p:nvPr/>
        </p:nvSpPr>
        <p:spPr>
          <a:xfrm>
            <a:off x="6729839" y="3950334"/>
            <a:ext cx="2688480" cy="1993266"/>
          </a:xfrm>
          <a:prstGeom prst="roundRect">
            <a:avLst>
              <a:gd name="adj" fmla="val 7303"/>
            </a:avLst>
          </a:prstGeom>
          <a:solidFill>
            <a:srgbClr val="E3F3F2"/>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6858772" y="4094679"/>
            <a:ext cx="1932481" cy="172800"/>
          </a:xfrm>
          <a:prstGeom prst="roundRect">
            <a:avLst/>
          </a:prstGeom>
          <a:solidFill>
            <a:srgbClr val="CCFBF1"/>
          </a:solidFill>
          <a:ln>
            <a:solidFill>
              <a:srgbClr val="5EEAD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750" b="1">
                <a:solidFill>
                  <a:srgbClr val="009A93"/>
                </a:solidFill>
                <a:latin typeface="KoPub돋움체 Bold"/>
              </a:defRPr>
            </a:pPr>
            <a:r>
              <a:rPr sz="1000" dirty="0" err="1">
                <a:latin typeface="KoPub돋움체 Bold"/>
              </a:rPr>
              <a:t>PoP</a:t>
            </a:r>
            <a:r>
              <a:rPr sz="1000" dirty="0">
                <a:latin typeface="KoPub돋움체 Bold"/>
              </a:rPr>
              <a:t>-Sync </a:t>
            </a:r>
            <a:r>
              <a:rPr sz="1000" dirty="0" err="1">
                <a:latin typeface="KoPub돋움체 Bold"/>
              </a:rPr>
              <a:t>복원</a:t>
            </a:r>
            <a:r>
              <a:rPr sz="1000" dirty="0">
                <a:latin typeface="KoPub돋움체 Bold"/>
              </a:rPr>
              <a:t> </a:t>
            </a:r>
            <a:r>
              <a:rPr sz="1000" dirty="0" err="1">
                <a:latin typeface="KoPub돋움체 Bold"/>
              </a:rPr>
              <a:t>아키텍처</a:t>
            </a:r>
            <a:r>
              <a:rPr sz="1000" dirty="0">
                <a:latin typeface="KoPub돋움체 Bold"/>
              </a:rPr>
              <a:t> (Defense)</a:t>
            </a:r>
          </a:p>
        </p:txBody>
      </p:sp>
      <p:sp>
        <p:nvSpPr>
          <p:cNvPr id="44" name="TextBox 43"/>
          <p:cNvSpPr txBox="1"/>
          <p:nvPr/>
        </p:nvSpPr>
        <p:spPr>
          <a:xfrm>
            <a:off x="6775479" y="4362109"/>
            <a:ext cx="2566080" cy="1294906"/>
          </a:xfrm>
          <a:prstGeom prst="rect">
            <a:avLst/>
          </a:prstGeom>
          <a:noFill/>
        </p:spPr>
        <p:txBody>
          <a:bodyPr wrap="square" lIns="0" tIns="0" rIns="0" bIns="0">
            <a:spAutoFit/>
          </a:bodyPr>
          <a:lstStyle/>
          <a:p>
            <a:pPr>
              <a:lnSpc>
                <a:spcPct val="125000"/>
              </a:lnSpc>
            </a:pPr>
            <a:r>
              <a:rPr sz="1000" dirty="0">
                <a:solidFill>
                  <a:srgbClr val="009A93"/>
                </a:solidFill>
                <a:latin typeface="KoPub돋움체 Bold"/>
              </a:rPr>
              <a:t>•  </a:t>
            </a:r>
            <a:r>
              <a:rPr sz="1000" b="1" dirty="0">
                <a:solidFill>
                  <a:srgbClr val="0E306D"/>
                </a:solidFill>
                <a:latin typeface="KoPub돋움체 Bold"/>
              </a:rPr>
              <a:t>[</a:t>
            </a:r>
            <a:r>
              <a:rPr sz="1000" b="1" dirty="0" err="1">
                <a:solidFill>
                  <a:srgbClr val="0E306D"/>
                </a:solidFill>
                <a:latin typeface="KoPub돋움체 Bold"/>
              </a:rPr>
              <a:t>안전</a:t>
            </a:r>
            <a:r>
              <a:rPr sz="1000" b="1" dirty="0">
                <a:solidFill>
                  <a:srgbClr val="0E306D"/>
                </a:solidFill>
                <a:latin typeface="KoPub돋움체 Bold"/>
              </a:rPr>
              <a:t> </a:t>
            </a:r>
            <a:r>
              <a:rPr sz="1000" b="1" dirty="0" err="1">
                <a:solidFill>
                  <a:srgbClr val="0E306D"/>
                </a:solidFill>
                <a:latin typeface="KoPub돋움체 Bold"/>
              </a:rPr>
              <a:t>격리</a:t>
            </a:r>
            <a:r>
              <a:rPr sz="1000" b="1" dirty="0">
                <a:solidFill>
                  <a:srgbClr val="0E306D"/>
                </a:solidFill>
                <a:latin typeface="KoPub돋움체 Bold"/>
              </a:rPr>
              <a:t>]</a:t>
            </a:r>
            <a:r>
              <a:rPr sz="1000" dirty="0">
                <a:solidFill>
                  <a:srgbClr val="0E306D"/>
                </a:solidFill>
                <a:latin typeface="KoPub돋움체 Medium"/>
              </a:rPr>
              <a:t> </a:t>
            </a:r>
            <a:endParaRPr lang="en-US" sz="1000" dirty="0">
              <a:solidFill>
                <a:srgbClr val="0E306D"/>
              </a:solidFill>
              <a:latin typeface="KoPub돋움체 Medium"/>
            </a:endParaRPr>
          </a:p>
          <a:p>
            <a:pPr>
              <a:lnSpc>
                <a:spcPct val="125000"/>
              </a:lnSpc>
            </a:pPr>
            <a:r>
              <a:rPr lang="en-US" sz="1000" dirty="0">
                <a:solidFill>
                  <a:srgbClr val="0E306D"/>
                </a:solidFill>
                <a:latin typeface="KoPub돋움체 Medium"/>
              </a:rPr>
              <a:t>   </a:t>
            </a:r>
            <a:r>
              <a:rPr sz="1000" dirty="0" err="1">
                <a:solidFill>
                  <a:srgbClr val="0E306D"/>
                </a:solidFill>
                <a:latin typeface="KoPub돋움체 Medium"/>
              </a:rPr>
              <a:t>고립</a:t>
            </a:r>
            <a:r>
              <a:rPr sz="1000" dirty="0">
                <a:solidFill>
                  <a:srgbClr val="0E306D"/>
                </a:solidFill>
                <a:latin typeface="KoPub돋움체 Medium"/>
              </a:rPr>
              <a:t> </a:t>
            </a:r>
            <a:r>
              <a:rPr sz="1000" dirty="0" err="1">
                <a:solidFill>
                  <a:srgbClr val="0E306D"/>
                </a:solidFill>
                <a:latin typeface="KoPub돋움체 Medium"/>
              </a:rPr>
              <a:t>노드</a:t>
            </a:r>
            <a:r>
              <a:rPr sz="1000" dirty="0">
                <a:solidFill>
                  <a:srgbClr val="0E306D"/>
                </a:solidFill>
                <a:latin typeface="KoPub돋움체 Medium"/>
              </a:rPr>
              <a:t> </a:t>
            </a:r>
            <a:r>
              <a:rPr sz="1000" dirty="0" err="1">
                <a:solidFill>
                  <a:srgbClr val="0E306D"/>
                </a:solidFill>
                <a:latin typeface="KoPub돋움체 Medium"/>
              </a:rPr>
              <a:t>감지시</a:t>
            </a:r>
            <a:r>
              <a:rPr lang="en-US" sz="1000" dirty="0">
                <a:solidFill>
                  <a:srgbClr val="0E306D"/>
                </a:solidFill>
                <a:latin typeface="KoPub돋움체 Medium"/>
              </a:rPr>
              <a:t>, </a:t>
            </a:r>
            <a:r>
              <a:rPr sz="1000" dirty="0">
                <a:solidFill>
                  <a:srgbClr val="0E306D"/>
                </a:solidFill>
                <a:latin typeface="KoPub돋움체 Medium"/>
              </a:rPr>
              <a:t>503 Fail-Closed </a:t>
            </a:r>
            <a:r>
              <a:rPr sz="1000" dirty="0" err="1">
                <a:solidFill>
                  <a:srgbClr val="0E306D"/>
                </a:solidFill>
                <a:latin typeface="KoPub돋움체 Medium"/>
              </a:rPr>
              <a:t>격리</a:t>
            </a:r>
            <a:endParaRPr sz="1000" dirty="0">
              <a:solidFill>
                <a:srgbClr val="0E306D"/>
              </a:solidFill>
              <a:latin typeface="KoPub돋움체 Medium"/>
            </a:endParaRPr>
          </a:p>
          <a:p>
            <a:pPr>
              <a:lnSpc>
                <a:spcPct val="125000"/>
              </a:lnSpc>
              <a:spcBef>
                <a:spcPts val="250"/>
              </a:spcBef>
            </a:pPr>
            <a:r>
              <a:rPr sz="1000" dirty="0">
                <a:solidFill>
                  <a:srgbClr val="009A93"/>
                </a:solidFill>
                <a:latin typeface="KoPub돋움체 Bold"/>
              </a:rPr>
              <a:t>•  </a:t>
            </a:r>
            <a:r>
              <a:rPr sz="1000" b="1" dirty="0">
                <a:solidFill>
                  <a:srgbClr val="0E306D"/>
                </a:solidFill>
                <a:latin typeface="KoPub돋움체 Bold"/>
              </a:rPr>
              <a:t>[</a:t>
            </a:r>
            <a:r>
              <a:rPr sz="1000" b="1" dirty="0" err="1">
                <a:solidFill>
                  <a:srgbClr val="0E306D"/>
                </a:solidFill>
                <a:latin typeface="KoPub돋움체 Bold"/>
              </a:rPr>
              <a:t>스트림</a:t>
            </a:r>
            <a:r>
              <a:rPr sz="1000" b="1" dirty="0">
                <a:solidFill>
                  <a:srgbClr val="0E306D"/>
                </a:solidFill>
                <a:latin typeface="KoPub돋움체 Bold"/>
              </a:rPr>
              <a:t> </a:t>
            </a:r>
            <a:r>
              <a:rPr sz="1000" b="1" dirty="0" err="1">
                <a:solidFill>
                  <a:srgbClr val="0E306D"/>
                </a:solidFill>
                <a:latin typeface="KoPub돋움체 Bold"/>
              </a:rPr>
              <a:t>동기화</a:t>
            </a:r>
            <a:r>
              <a:rPr sz="1000" b="1" dirty="0">
                <a:solidFill>
                  <a:srgbClr val="0E306D"/>
                </a:solidFill>
                <a:latin typeface="KoPub돋움체 Bold"/>
              </a:rPr>
              <a:t>]</a:t>
            </a:r>
            <a:r>
              <a:rPr sz="1000" dirty="0">
                <a:solidFill>
                  <a:srgbClr val="0E306D"/>
                </a:solidFill>
                <a:latin typeface="KoPub돋움체 Medium"/>
              </a:rPr>
              <a:t> </a:t>
            </a:r>
            <a:endParaRPr lang="en-US" sz="1000" dirty="0">
              <a:solidFill>
                <a:srgbClr val="0E306D"/>
              </a:solidFill>
              <a:latin typeface="KoPub돋움체 Medium"/>
            </a:endParaRPr>
          </a:p>
          <a:p>
            <a:pPr>
              <a:lnSpc>
                <a:spcPct val="125000"/>
              </a:lnSpc>
              <a:spcBef>
                <a:spcPts val="250"/>
              </a:spcBef>
            </a:pPr>
            <a:r>
              <a:rPr lang="en-US" sz="1000" dirty="0">
                <a:solidFill>
                  <a:srgbClr val="0E306D"/>
                </a:solidFill>
                <a:latin typeface="KoPub돋움체 Medium"/>
              </a:rPr>
              <a:t>    </a:t>
            </a:r>
            <a:r>
              <a:rPr sz="1000" dirty="0" err="1">
                <a:solidFill>
                  <a:srgbClr val="0E306D"/>
                </a:solidFill>
                <a:latin typeface="KoPub돋움체 Medium"/>
              </a:rPr>
              <a:t>복구</a:t>
            </a:r>
            <a:r>
              <a:rPr sz="1000" dirty="0">
                <a:solidFill>
                  <a:srgbClr val="0E306D"/>
                </a:solidFill>
                <a:latin typeface="KoPub돋움체 Medium"/>
              </a:rPr>
              <a:t> </a:t>
            </a:r>
            <a:r>
              <a:rPr sz="1000" dirty="0" err="1">
                <a:solidFill>
                  <a:srgbClr val="0E306D"/>
                </a:solidFill>
                <a:latin typeface="KoPub돋움체 Medium"/>
              </a:rPr>
              <a:t>즉시</a:t>
            </a:r>
            <a:r>
              <a:rPr sz="1000" dirty="0">
                <a:solidFill>
                  <a:srgbClr val="0E306D"/>
                </a:solidFill>
                <a:latin typeface="KoPub돋움체 Medium"/>
              </a:rPr>
              <a:t> Redis Streams 3단계(PEL) </a:t>
            </a:r>
            <a:r>
              <a:rPr sz="1000" dirty="0" err="1">
                <a:solidFill>
                  <a:srgbClr val="0E306D"/>
                </a:solidFill>
                <a:latin typeface="KoPub돋움체 Medium"/>
              </a:rPr>
              <a:t>완독</a:t>
            </a:r>
            <a:endParaRPr sz="1000" dirty="0">
              <a:solidFill>
                <a:srgbClr val="0E306D"/>
              </a:solidFill>
              <a:latin typeface="KoPub돋움체 Medium"/>
            </a:endParaRPr>
          </a:p>
          <a:p>
            <a:pPr>
              <a:lnSpc>
                <a:spcPct val="125000"/>
              </a:lnSpc>
              <a:spcBef>
                <a:spcPts val="250"/>
              </a:spcBef>
            </a:pPr>
            <a:r>
              <a:rPr sz="1000" dirty="0">
                <a:solidFill>
                  <a:srgbClr val="009A93"/>
                </a:solidFill>
                <a:latin typeface="KoPub돋움체 Bold"/>
              </a:rPr>
              <a:t>•  </a:t>
            </a:r>
            <a:r>
              <a:rPr sz="1000" b="1" dirty="0">
                <a:solidFill>
                  <a:srgbClr val="0E306D"/>
                </a:solidFill>
                <a:latin typeface="KoPub돋움체 Bold"/>
              </a:rPr>
              <a:t>[</a:t>
            </a:r>
            <a:r>
              <a:rPr sz="1000" b="1" dirty="0" err="1">
                <a:solidFill>
                  <a:srgbClr val="0E306D"/>
                </a:solidFill>
                <a:latin typeface="KoPub돋움체 Bold"/>
              </a:rPr>
              <a:t>미인가</a:t>
            </a:r>
            <a:r>
              <a:rPr sz="1000" b="1" dirty="0">
                <a:solidFill>
                  <a:srgbClr val="0E306D"/>
                </a:solidFill>
                <a:latin typeface="KoPub돋움체 Bold"/>
              </a:rPr>
              <a:t> </a:t>
            </a:r>
            <a:r>
              <a:rPr sz="1000" b="1" dirty="0" err="1">
                <a:solidFill>
                  <a:srgbClr val="0E306D"/>
                </a:solidFill>
                <a:latin typeface="KoPub돋움체 Bold"/>
              </a:rPr>
              <a:t>차단</a:t>
            </a:r>
            <a:r>
              <a:rPr sz="1000" b="1" dirty="0">
                <a:solidFill>
                  <a:srgbClr val="0E306D"/>
                </a:solidFill>
                <a:latin typeface="KoPub돋움체 Bold"/>
              </a:rPr>
              <a:t>]</a:t>
            </a:r>
            <a:r>
              <a:rPr sz="1000" dirty="0">
                <a:solidFill>
                  <a:srgbClr val="0E306D"/>
                </a:solidFill>
                <a:latin typeface="KoPub돋움체 Medium"/>
              </a:rPr>
              <a:t> </a:t>
            </a:r>
            <a:endParaRPr lang="en-US" sz="1000" dirty="0">
              <a:solidFill>
                <a:srgbClr val="0E306D"/>
              </a:solidFill>
              <a:latin typeface="KoPub돋움체 Medium"/>
            </a:endParaRPr>
          </a:p>
          <a:p>
            <a:pPr>
              <a:lnSpc>
                <a:spcPct val="125000"/>
              </a:lnSpc>
              <a:spcBef>
                <a:spcPts val="250"/>
              </a:spcBef>
            </a:pPr>
            <a:r>
              <a:rPr lang="en-US" sz="1000" dirty="0">
                <a:solidFill>
                  <a:srgbClr val="0E306D"/>
                </a:solidFill>
                <a:latin typeface="KoPub돋움체 Medium"/>
              </a:rPr>
              <a:t>    </a:t>
            </a:r>
            <a:r>
              <a:rPr sz="1000" dirty="0" err="1">
                <a:solidFill>
                  <a:srgbClr val="0E306D"/>
                </a:solidFill>
                <a:latin typeface="KoPub돋움체 Medium"/>
              </a:rPr>
              <a:t>서킷</a:t>
            </a:r>
            <a:r>
              <a:rPr sz="1000" dirty="0">
                <a:solidFill>
                  <a:srgbClr val="0E306D"/>
                </a:solidFill>
                <a:latin typeface="KoPub돋움체 Medium"/>
              </a:rPr>
              <a:t> </a:t>
            </a:r>
            <a:r>
              <a:rPr sz="1000" dirty="0" err="1">
                <a:solidFill>
                  <a:srgbClr val="0E306D"/>
                </a:solidFill>
                <a:latin typeface="KoPub돋움체 Medium"/>
              </a:rPr>
              <a:t>오픈</a:t>
            </a:r>
            <a:r>
              <a:rPr sz="1000" dirty="0">
                <a:solidFill>
                  <a:srgbClr val="0E306D"/>
                </a:solidFill>
                <a:latin typeface="KoPub돋움체 Medium"/>
              </a:rPr>
              <a:t> 시</a:t>
            </a:r>
            <a:r>
              <a:rPr lang="en-US" sz="1000" dirty="0">
                <a:solidFill>
                  <a:srgbClr val="0E306D"/>
                </a:solidFill>
                <a:latin typeface="KoPub돋움체 Medium"/>
              </a:rPr>
              <a:t>,</a:t>
            </a:r>
            <a:r>
              <a:rPr sz="1000" dirty="0">
                <a:solidFill>
                  <a:srgbClr val="0E306D"/>
                </a:solidFill>
                <a:latin typeface="KoPub돋움체 Medium"/>
              </a:rPr>
              <a:t> </a:t>
            </a:r>
            <a:r>
              <a:rPr sz="1000" dirty="0" err="1">
                <a:solidFill>
                  <a:srgbClr val="0E306D"/>
                </a:solidFill>
                <a:latin typeface="KoPub돋움체 Medium"/>
              </a:rPr>
              <a:t>공개키</a:t>
            </a:r>
            <a:r>
              <a:rPr sz="1000" dirty="0">
                <a:solidFill>
                  <a:srgbClr val="0E306D"/>
                </a:solidFill>
                <a:latin typeface="KoPub돋움체 Medium"/>
              </a:rPr>
              <a:t> 503 </a:t>
            </a:r>
            <a:r>
              <a:rPr sz="1000" dirty="0" err="1">
                <a:solidFill>
                  <a:srgbClr val="0E306D"/>
                </a:solidFill>
                <a:latin typeface="KoPub돋움체 Medium"/>
              </a:rPr>
              <a:t>차단</a:t>
            </a:r>
            <a:r>
              <a:rPr sz="1000" dirty="0">
                <a:solidFill>
                  <a:srgbClr val="0E306D"/>
                </a:solidFill>
                <a:latin typeface="KoPub돋움체 Medium"/>
              </a:rPr>
              <a:t> (</a:t>
            </a:r>
            <a:r>
              <a:rPr sz="1000" dirty="0" err="1">
                <a:solidFill>
                  <a:srgbClr val="0E306D"/>
                </a:solidFill>
                <a:latin typeface="KoPub돋움체 Medium"/>
              </a:rPr>
              <a:t>오승인</a:t>
            </a:r>
            <a:r>
              <a:rPr sz="1000" dirty="0">
                <a:solidFill>
                  <a:srgbClr val="0E306D"/>
                </a:solidFill>
                <a:latin typeface="KoPub돋움체 Medium"/>
              </a:rPr>
              <a:t> </a:t>
            </a:r>
            <a:r>
              <a:rPr sz="1000" dirty="0" err="1">
                <a:solidFill>
                  <a:srgbClr val="0E306D"/>
                </a:solidFill>
                <a:latin typeface="KoPub돋움체 Medium"/>
              </a:rPr>
              <a:t>방지</a:t>
            </a:r>
            <a:r>
              <a:rPr sz="1000" dirty="0">
                <a:solidFill>
                  <a:srgbClr val="0E306D"/>
                </a:solidFill>
                <a:latin typeface="KoPub돋움체 Medium"/>
              </a:rPr>
              <a:t>)</a:t>
            </a:r>
          </a:p>
        </p:txBody>
      </p:sp>
      <p:sp>
        <p:nvSpPr>
          <p:cNvPr id="47" name="Rounded Rectangle 46"/>
          <p:cNvSpPr/>
          <p:nvPr/>
        </p:nvSpPr>
        <p:spPr>
          <a:xfrm>
            <a:off x="356760" y="6107266"/>
            <a:ext cx="9198720" cy="342000"/>
          </a:xfrm>
          <a:prstGeom prst="roundRect">
            <a:avLst/>
          </a:prstGeom>
          <a:solidFill>
            <a:srgbClr val="F1F1F1"/>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401547" y="6209792"/>
            <a:ext cx="7102906" cy="153888"/>
          </a:xfrm>
          <a:prstGeom prst="rect">
            <a:avLst/>
          </a:prstGeom>
          <a:noFill/>
        </p:spPr>
        <p:txBody>
          <a:bodyPr wrap="none" lIns="0" tIns="0" rIns="0" bIns="0" anchor="ctr">
            <a:spAutoFit/>
          </a:bodyPr>
          <a:lstStyle/>
          <a:p>
            <a:pPr>
              <a:defRPr sz="900" b="1">
                <a:solidFill>
                  <a:srgbClr val="0F172A"/>
                </a:solidFill>
                <a:latin typeface="KoPub돋움체 Bold"/>
              </a:defRPr>
            </a:pPr>
            <a:r>
              <a:rPr sz="1000" dirty="0" err="1">
                <a:latin typeface="KoPub돋움체 Bold"/>
              </a:rPr>
              <a:t>단순</a:t>
            </a:r>
            <a:r>
              <a:rPr sz="1000" dirty="0">
                <a:latin typeface="KoPub돋움체 Bold"/>
              </a:rPr>
              <a:t> </a:t>
            </a:r>
            <a:r>
              <a:rPr sz="1000" dirty="0" err="1">
                <a:latin typeface="KoPub돋움체 Bold"/>
              </a:rPr>
              <a:t>캐싱과</a:t>
            </a:r>
            <a:r>
              <a:rPr sz="1000" dirty="0">
                <a:latin typeface="KoPub돋움체 Bold"/>
              </a:rPr>
              <a:t> Bearer </a:t>
            </a:r>
            <a:r>
              <a:rPr sz="1000" dirty="0" err="1">
                <a:latin typeface="KoPub돋움체 Bold"/>
              </a:rPr>
              <a:t>토큰</a:t>
            </a:r>
            <a:r>
              <a:rPr sz="1000" dirty="0">
                <a:latin typeface="KoPub돋움체 Bold"/>
              </a:rPr>
              <a:t> </a:t>
            </a:r>
            <a:r>
              <a:rPr sz="1000" dirty="0" err="1">
                <a:latin typeface="KoPub돋움체 Bold"/>
              </a:rPr>
              <a:t>구조는</a:t>
            </a:r>
            <a:r>
              <a:rPr sz="1000" dirty="0">
                <a:latin typeface="KoPub돋움체 Bold"/>
              </a:rPr>
              <a:t> </a:t>
            </a:r>
            <a:r>
              <a:rPr sz="1000" dirty="0" err="1">
                <a:latin typeface="KoPub돋움체 Bold"/>
              </a:rPr>
              <a:t>장애</a:t>
            </a:r>
            <a:r>
              <a:rPr sz="1000" dirty="0">
                <a:latin typeface="KoPub돋움체 Bold"/>
              </a:rPr>
              <a:t> 및 </a:t>
            </a:r>
            <a:r>
              <a:rPr sz="1000" dirty="0" err="1">
                <a:latin typeface="KoPub돋움체 Bold"/>
              </a:rPr>
              <a:t>트래픽</a:t>
            </a:r>
            <a:r>
              <a:rPr sz="1000" dirty="0">
                <a:latin typeface="KoPub돋움체 Bold"/>
              </a:rPr>
              <a:t> </a:t>
            </a:r>
            <a:r>
              <a:rPr sz="1000" dirty="0" err="1">
                <a:latin typeface="KoPub돋움체 Bold"/>
              </a:rPr>
              <a:t>폭주</a:t>
            </a:r>
            <a:r>
              <a:rPr sz="1000" dirty="0">
                <a:latin typeface="KoPub돋움체 Bold"/>
              </a:rPr>
              <a:t> 시 </a:t>
            </a:r>
            <a:r>
              <a:rPr sz="1000" dirty="0" err="1">
                <a:latin typeface="KoPub돋움체 Bold"/>
              </a:rPr>
              <a:t>보안</a:t>
            </a:r>
            <a:r>
              <a:rPr sz="1000" dirty="0">
                <a:latin typeface="KoPub돋움체 Bold"/>
              </a:rPr>
              <a:t> </a:t>
            </a:r>
            <a:r>
              <a:rPr sz="1000" dirty="0" err="1">
                <a:latin typeface="KoPub돋움체 Bold"/>
              </a:rPr>
              <a:t>우회와</a:t>
            </a:r>
            <a:r>
              <a:rPr sz="1000" dirty="0">
                <a:latin typeface="KoPub돋움체 Bold"/>
              </a:rPr>
              <a:t> </a:t>
            </a:r>
            <a:r>
              <a:rPr sz="1000" dirty="0" err="1">
                <a:latin typeface="KoPub돋움체 Bold"/>
              </a:rPr>
              <a:t>백엔드</a:t>
            </a:r>
            <a:r>
              <a:rPr sz="1000" dirty="0">
                <a:latin typeface="KoPub돋움체 Bold"/>
              </a:rPr>
              <a:t> </a:t>
            </a:r>
            <a:r>
              <a:rPr sz="1000" dirty="0" err="1">
                <a:latin typeface="KoPub돋움체 Bold"/>
              </a:rPr>
              <a:t>붕괴를</a:t>
            </a:r>
            <a:r>
              <a:rPr sz="1000" dirty="0">
                <a:latin typeface="KoPub돋움체 Bold"/>
              </a:rPr>
              <a:t> </a:t>
            </a:r>
            <a:r>
              <a:rPr sz="1000" dirty="0" err="1">
                <a:latin typeface="KoPub돋움체 Bold"/>
              </a:rPr>
              <a:t>초래하므로</a:t>
            </a:r>
            <a:r>
              <a:rPr sz="1000" dirty="0">
                <a:latin typeface="KoPub돋움체 Bold"/>
              </a:rPr>
              <a:t>, </a:t>
            </a:r>
            <a:r>
              <a:rPr sz="1000" dirty="0" err="1">
                <a:latin typeface="KoPub돋움체 Bold"/>
              </a:rPr>
              <a:t>원자적</a:t>
            </a:r>
            <a:r>
              <a:rPr sz="1000" dirty="0">
                <a:latin typeface="KoPub돋움체 Bold"/>
              </a:rPr>
              <a:t> </a:t>
            </a:r>
            <a:r>
              <a:rPr sz="1000" dirty="0" err="1">
                <a:latin typeface="KoPub돋움체 Bold"/>
              </a:rPr>
              <a:t>선행</a:t>
            </a:r>
            <a:r>
              <a:rPr sz="1000" dirty="0">
                <a:latin typeface="KoPub돋움체 Bold"/>
              </a:rPr>
              <a:t> </a:t>
            </a:r>
            <a:r>
              <a:rPr sz="1000" dirty="0" err="1">
                <a:latin typeface="KoPub돋움체 Bold"/>
              </a:rPr>
              <a:t>차단과</a:t>
            </a:r>
            <a:r>
              <a:rPr sz="1000" dirty="0">
                <a:latin typeface="KoPub돋움체 Bold"/>
              </a:rPr>
              <a:t> </a:t>
            </a:r>
            <a:r>
              <a:rPr sz="1000" dirty="0" err="1">
                <a:latin typeface="KoPub돋움체 Bold"/>
              </a:rPr>
              <a:t>동시성</a:t>
            </a:r>
            <a:r>
              <a:rPr sz="1000" dirty="0">
                <a:latin typeface="KoPub돋움체 Bold"/>
              </a:rPr>
              <a:t> </a:t>
            </a:r>
            <a:r>
              <a:rPr sz="1000" dirty="0" err="1">
                <a:latin typeface="KoPub돋움체 Bold"/>
              </a:rPr>
              <a:t>병합이</a:t>
            </a:r>
            <a:r>
              <a:rPr sz="1000" dirty="0">
                <a:latin typeface="KoPub돋움체 Bold"/>
              </a:rPr>
              <a:t> </a:t>
            </a:r>
            <a:r>
              <a:rPr sz="1000" dirty="0" err="1">
                <a:latin typeface="KoPub돋움체 Bold"/>
              </a:rPr>
              <a:t>필수적임</a:t>
            </a:r>
            <a:endParaRPr sz="1000" dirty="0">
              <a:latin typeface="KoPub돋움체 Bold"/>
            </a:endParaRPr>
          </a:p>
        </p:txBody>
      </p:sp>
      <p:sp>
        <p:nvSpPr>
          <p:cNvPr id="50" name="TextBox 49"/>
          <p:cNvSpPr txBox="1"/>
          <p:nvPr/>
        </p:nvSpPr>
        <p:spPr>
          <a:xfrm>
            <a:off x="8723520" y="6537960"/>
            <a:ext cx="831960" cy="246960"/>
          </a:xfrm>
          <a:prstGeom prst="rect">
            <a:avLst/>
          </a:prstGeom>
          <a:noFill/>
        </p:spPr>
        <p:txBody>
          <a:bodyPr wrap="none" lIns="0" tIns="0" rIns="0" bIns="0">
            <a:spAutoFit/>
          </a:bodyPr>
          <a:lstStyle/>
          <a:p>
            <a:pPr algn="r">
              <a:defRPr sz="1000" b="1">
                <a:solidFill>
                  <a:srgbClr val="6B7280"/>
                </a:solidFill>
                <a:latin typeface="KoPub돋움체 Bold"/>
              </a:defRPr>
            </a:pPr>
            <a:r>
              <a:rPr>
                <a:latin typeface="KoPub돋움체 Bold"/>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AFD"/>
        </a:solidFill>
        <a:effectLst/>
      </p:bgPr>
    </p:bg>
    <p:spTree>
      <p:nvGrpSpPr>
        <p:cNvPr id="1" name=""/>
        <p:cNvGrpSpPr/>
        <p:nvPr/>
      </p:nvGrpSpPr>
      <p:grpSpPr>
        <a:xfrm>
          <a:off x="0" y="0"/>
          <a:ext cx="0" cy="0"/>
          <a:chOff x="0" y="0"/>
          <a:chExt cx="0" cy="0"/>
        </a:xfrm>
      </p:grpSpPr>
      <p:sp>
        <p:nvSpPr>
          <p:cNvPr id="2" name="Rounded Rectangle 1"/>
          <p:cNvSpPr/>
          <p:nvPr/>
        </p:nvSpPr>
        <p:spPr>
          <a:xfrm>
            <a:off x="356760" y="292680"/>
            <a:ext cx="9198720" cy="493920"/>
          </a:xfrm>
          <a:prstGeom prst="roundRect">
            <a:avLst/>
          </a:prstGeom>
          <a:solidFill>
            <a:srgbClr val="0E306D"/>
          </a:solidFill>
          <a:ln w="12700">
            <a:solidFill>
              <a:srgbClr val="0E30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80"/>
            <a:ext cx="8778240" cy="493920"/>
          </a:xfrm>
          <a:prstGeom prst="rect">
            <a:avLst/>
          </a:prstGeom>
          <a:noFill/>
        </p:spPr>
        <p:txBody>
          <a:bodyPr wrap="square" lIns="0" tIns="0" rIns="0" bIns="0" anchor="ctr">
            <a:spAutoFit/>
          </a:bodyPr>
          <a:lstStyle/>
          <a:p>
            <a:pPr>
              <a:defRPr sz="2000" b="1">
                <a:solidFill>
                  <a:srgbClr val="FFFFFF"/>
                </a:solidFill>
                <a:latin typeface="KoPub돋움체 Bold"/>
              </a:defRPr>
            </a:pPr>
            <a:r>
              <a:rPr>
                <a:latin typeface="KoPub돋움체 Bold"/>
              </a:rPr>
              <a:t>01. 기존 인가 인프라의 연쇄 붕괴 vs PoP-Sync 다계층 복원 아키텍처</a:t>
            </a:r>
          </a:p>
        </p:txBody>
      </p:sp>
      <p:sp>
        <p:nvSpPr>
          <p:cNvPr id="4" name="Rounded Rectangle 3"/>
          <p:cNvSpPr/>
          <p:nvPr/>
        </p:nvSpPr>
        <p:spPr>
          <a:xfrm>
            <a:off x="356760" y="914400"/>
            <a:ext cx="9198720" cy="347400"/>
          </a:xfrm>
          <a:prstGeom prst="roundRect">
            <a:avLst/>
          </a:prstGeom>
          <a:solidFill>
            <a:srgbClr val="F1F1F1"/>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011156"/>
            <a:ext cx="9052560" cy="153888"/>
          </a:xfrm>
          <a:prstGeom prst="rect">
            <a:avLst/>
          </a:prstGeom>
          <a:noFill/>
        </p:spPr>
        <p:txBody>
          <a:bodyPr wrap="square" lIns="0" tIns="0" rIns="0" bIns="0" anchor="ctr">
            <a:spAutoFit/>
          </a:bodyPr>
          <a:lstStyle/>
          <a:p>
            <a:pPr>
              <a:defRPr sz="1050" b="1">
                <a:solidFill>
                  <a:srgbClr val="0E306D"/>
                </a:solidFill>
                <a:latin typeface="KoPub돋움체 Bold"/>
              </a:defRPr>
            </a:pPr>
            <a:r>
              <a:rPr sz="1000" dirty="0" err="1">
                <a:latin typeface="KoPub돋움체 Bold"/>
              </a:rPr>
              <a:t>단일</a:t>
            </a:r>
            <a:r>
              <a:rPr sz="1000" dirty="0">
                <a:latin typeface="KoPub돋움체 Bold"/>
              </a:rPr>
              <a:t> </a:t>
            </a:r>
            <a:r>
              <a:rPr sz="1000" dirty="0" err="1">
                <a:latin typeface="KoPub돋움체 Bold"/>
              </a:rPr>
              <a:t>실패점</a:t>
            </a:r>
            <a:r>
              <a:rPr sz="1000" dirty="0">
                <a:latin typeface="KoPub돋움체 Bold"/>
              </a:rPr>
              <a:t>(SPOF) </a:t>
            </a:r>
            <a:r>
              <a:rPr sz="1000" dirty="0" err="1">
                <a:latin typeface="KoPub돋움체 Bold"/>
              </a:rPr>
              <a:t>기반</a:t>
            </a:r>
            <a:r>
              <a:rPr sz="1000" dirty="0">
                <a:latin typeface="KoPub돋움체 Bold"/>
              </a:rPr>
              <a:t> </a:t>
            </a:r>
            <a:r>
              <a:rPr sz="1000" dirty="0" err="1">
                <a:latin typeface="KoPub돋움체 Bold"/>
              </a:rPr>
              <a:t>취약</a:t>
            </a:r>
            <a:r>
              <a:rPr sz="1000" dirty="0">
                <a:latin typeface="KoPub돋움체 Bold"/>
              </a:rPr>
              <a:t> </a:t>
            </a:r>
            <a:r>
              <a:rPr sz="1000" dirty="0" err="1">
                <a:latin typeface="KoPub돋움체 Bold"/>
              </a:rPr>
              <a:t>구조</a:t>
            </a:r>
            <a:r>
              <a:rPr sz="1000" dirty="0">
                <a:latin typeface="KoPub돋움체 Bold"/>
              </a:rPr>
              <a:t> </a:t>
            </a:r>
            <a:r>
              <a:rPr sz="1000" dirty="0" err="1">
                <a:latin typeface="KoPub돋움체 Bold"/>
              </a:rPr>
              <a:t>대비</a:t>
            </a:r>
            <a:r>
              <a:rPr sz="1000" dirty="0">
                <a:latin typeface="KoPub돋움체 Bold"/>
              </a:rPr>
              <a:t> </a:t>
            </a:r>
            <a:r>
              <a:rPr sz="1000" dirty="0" err="1">
                <a:latin typeface="KoPub돋움체 Bold"/>
              </a:rPr>
              <a:t>다단계</a:t>
            </a:r>
            <a:r>
              <a:rPr sz="1000" dirty="0">
                <a:latin typeface="KoPub돋움체 Bold"/>
              </a:rPr>
              <a:t> </a:t>
            </a:r>
            <a:r>
              <a:rPr sz="1000" dirty="0" err="1">
                <a:latin typeface="KoPub돋움체 Bold"/>
              </a:rPr>
              <a:t>캐시와</a:t>
            </a:r>
            <a:r>
              <a:rPr sz="1000" dirty="0">
                <a:latin typeface="KoPub돋움체 Bold"/>
              </a:rPr>
              <a:t> Fail-Closed </a:t>
            </a:r>
            <a:r>
              <a:rPr sz="1000" dirty="0" err="1">
                <a:latin typeface="KoPub돋움체 Bold"/>
              </a:rPr>
              <a:t>안전</a:t>
            </a:r>
            <a:r>
              <a:rPr sz="1000" dirty="0">
                <a:latin typeface="KoPub돋움체 Bold"/>
              </a:rPr>
              <a:t> </a:t>
            </a:r>
            <a:r>
              <a:rPr sz="1000" dirty="0" err="1">
                <a:latin typeface="KoPub돋움체 Bold"/>
              </a:rPr>
              <a:t>격리의</a:t>
            </a:r>
            <a:r>
              <a:rPr sz="1000" dirty="0">
                <a:latin typeface="KoPub돋움체 Bold"/>
              </a:rPr>
              <a:t> 1:1 </a:t>
            </a:r>
            <a:r>
              <a:rPr sz="1000" dirty="0" err="1">
                <a:latin typeface="KoPub돋움체 Bold"/>
              </a:rPr>
              <a:t>대칭</a:t>
            </a:r>
            <a:r>
              <a:rPr sz="1000" dirty="0">
                <a:latin typeface="KoPub돋움체 Bold"/>
              </a:rPr>
              <a:t> </a:t>
            </a:r>
            <a:r>
              <a:rPr sz="1000" dirty="0" err="1">
                <a:latin typeface="KoPub돋움체 Bold"/>
              </a:rPr>
              <a:t>시각화</a:t>
            </a:r>
            <a:endParaRPr sz="1000" dirty="0">
              <a:latin typeface="KoPub돋움체 Bold"/>
            </a:endParaRPr>
          </a:p>
        </p:txBody>
      </p:sp>
      <p:sp>
        <p:nvSpPr>
          <p:cNvPr id="6" name="Rounded Rectangle 5"/>
          <p:cNvSpPr/>
          <p:nvPr/>
        </p:nvSpPr>
        <p:spPr>
          <a:xfrm>
            <a:off x="356760" y="1368000"/>
            <a:ext cx="4500000" cy="4536000"/>
          </a:xfrm>
          <a:prstGeom prst="roundRect">
            <a:avLst>
              <a:gd name="adj" fmla="val 2180"/>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00760" y="1494000"/>
            <a:ext cx="4212000" cy="324000"/>
          </a:xfrm>
          <a:prstGeom prst="roundRect">
            <a:avLst/>
          </a:prstGeom>
          <a:solidFill>
            <a:srgbClr val="FEF2F2"/>
          </a:solidFill>
          <a:ln>
            <a:solidFill>
              <a:srgbClr val="FECDD3"/>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B91C1C"/>
                </a:solidFill>
                <a:latin typeface="KoPub돋움체 Bold"/>
              </a:defRPr>
            </a:pPr>
            <a:r>
              <a:rPr sz="1200" dirty="0" err="1">
                <a:latin typeface="KoPub돋움체 Bold"/>
              </a:rPr>
              <a:t>기존</a:t>
            </a:r>
            <a:r>
              <a:rPr sz="1200" dirty="0">
                <a:latin typeface="KoPub돋움체 Bold"/>
              </a:rPr>
              <a:t> </a:t>
            </a:r>
            <a:r>
              <a:rPr sz="1200" dirty="0" err="1">
                <a:latin typeface="KoPub돋움체 Bold"/>
              </a:rPr>
              <a:t>분산</a:t>
            </a:r>
            <a:r>
              <a:rPr sz="1200" dirty="0">
                <a:latin typeface="KoPub돋움체 Bold"/>
              </a:rPr>
              <a:t> </a:t>
            </a:r>
            <a:r>
              <a:rPr sz="1200" dirty="0" err="1">
                <a:latin typeface="KoPub돋움체 Bold"/>
              </a:rPr>
              <a:t>인가</a:t>
            </a:r>
            <a:r>
              <a:rPr sz="1200" dirty="0">
                <a:latin typeface="KoPub돋움체 Bold"/>
              </a:rPr>
              <a:t> </a:t>
            </a:r>
            <a:r>
              <a:rPr sz="1200" dirty="0" err="1">
                <a:latin typeface="KoPub돋움체 Bold"/>
              </a:rPr>
              <a:t>인프라의</a:t>
            </a:r>
            <a:r>
              <a:rPr sz="1200" dirty="0">
                <a:latin typeface="KoPub돋움체 Bold"/>
              </a:rPr>
              <a:t> </a:t>
            </a:r>
            <a:r>
              <a:rPr sz="1200" dirty="0" err="1">
                <a:latin typeface="KoPub돋움체 Bold"/>
              </a:rPr>
              <a:t>연쇄</a:t>
            </a:r>
            <a:r>
              <a:rPr sz="1200" dirty="0">
                <a:latin typeface="KoPub돋움체 Bold"/>
              </a:rPr>
              <a:t> </a:t>
            </a:r>
            <a:r>
              <a:rPr sz="1200" dirty="0" err="1">
                <a:latin typeface="KoPub돋움체 Bold"/>
              </a:rPr>
              <a:t>붕괴</a:t>
            </a:r>
            <a:r>
              <a:rPr sz="1200" dirty="0">
                <a:latin typeface="KoPub돋움체 Bold"/>
              </a:rPr>
              <a:t> (Fragile Architecture)</a:t>
            </a:r>
          </a:p>
        </p:txBody>
      </p:sp>
      <p:sp>
        <p:nvSpPr>
          <p:cNvPr id="8" name="Rounded Rectangle 7"/>
          <p:cNvSpPr/>
          <p:nvPr/>
        </p:nvSpPr>
        <p:spPr>
          <a:xfrm>
            <a:off x="500760" y="1944000"/>
            <a:ext cx="4212000" cy="954000"/>
          </a:xfrm>
          <a:prstGeom prst="roundRect">
            <a:avLst/>
          </a:prstGeom>
          <a:solidFill>
            <a:srgbClr val="FFF7F7"/>
          </a:solidFill>
          <a:ln w="12700">
            <a:solidFill>
              <a:srgbClr val="FE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0760" y="2034000"/>
            <a:ext cx="4032000" cy="708207"/>
          </a:xfrm>
          <a:prstGeom prst="rect">
            <a:avLst/>
          </a:prstGeom>
          <a:noFill/>
        </p:spPr>
        <p:txBody>
          <a:bodyPr wrap="square" lIns="0" tIns="0" rIns="0" bIns="0">
            <a:spAutoFit/>
          </a:bodyPr>
          <a:lstStyle/>
          <a:p>
            <a:pPr>
              <a:lnSpc>
                <a:spcPct val="150000"/>
              </a:lnSpc>
              <a:defRPr sz="900" b="1">
                <a:solidFill>
                  <a:srgbClr val="B91C1C"/>
                </a:solidFill>
                <a:latin typeface="KoPub돋움체 Bold"/>
              </a:defRPr>
            </a:pPr>
            <a:r>
              <a:rPr sz="1000" dirty="0">
                <a:latin typeface="KoPub돋움체 Bold"/>
              </a:rPr>
              <a:t>[</a:t>
            </a:r>
            <a:r>
              <a:rPr sz="1000" dirty="0" err="1">
                <a:latin typeface="KoPub돋움체 Bold"/>
              </a:rPr>
              <a:t>결함</a:t>
            </a:r>
            <a:r>
              <a:rPr sz="1000" dirty="0">
                <a:latin typeface="KoPub돋움체 Bold"/>
              </a:rPr>
              <a:t> 1]  </a:t>
            </a:r>
            <a:r>
              <a:rPr sz="1000" dirty="0" err="1">
                <a:latin typeface="KoPub돋움체 Bold"/>
              </a:rPr>
              <a:t>동기식</a:t>
            </a:r>
            <a:r>
              <a:rPr sz="1000" dirty="0">
                <a:latin typeface="KoPub돋움체 Bold"/>
              </a:rPr>
              <a:t> DB </a:t>
            </a:r>
            <a:r>
              <a:rPr sz="1000" dirty="0" err="1">
                <a:latin typeface="KoPub돋움체 Bold"/>
              </a:rPr>
              <a:t>직접</a:t>
            </a:r>
            <a:r>
              <a:rPr sz="1000" dirty="0">
                <a:latin typeface="KoPub돋움체 Bold"/>
              </a:rPr>
              <a:t> </a:t>
            </a:r>
            <a:r>
              <a:rPr sz="1000" dirty="0" err="1">
                <a:latin typeface="KoPub돋움체 Bold"/>
              </a:rPr>
              <a:t>호출</a:t>
            </a:r>
            <a:r>
              <a:rPr sz="1000" dirty="0">
                <a:latin typeface="KoPub돋움체 Bold"/>
              </a:rPr>
              <a:t> &amp; </a:t>
            </a:r>
            <a:r>
              <a:rPr sz="1000" dirty="0" err="1">
                <a:latin typeface="KoPub돋움체 Bold"/>
              </a:rPr>
              <a:t>단일</a:t>
            </a:r>
            <a:r>
              <a:rPr sz="1000" dirty="0">
                <a:latin typeface="KoPub돋움체 Bold"/>
              </a:rPr>
              <a:t> </a:t>
            </a:r>
            <a:r>
              <a:rPr sz="1000" dirty="0" err="1">
                <a:latin typeface="KoPub돋움체 Bold"/>
              </a:rPr>
              <a:t>장애점</a:t>
            </a:r>
            <a:r>
              <a:rPr sz="1000" dirty="0">
                <a:latin typeface="KoPub돋움체 Bold"/>
              </a:rPr>
              <a:t> (SPOF)</a:t>
            </a:r>
          </a:p>
          <a:p>
            <a:pPr>
              <a:lnSpc>
                <a:spcPct val="150000"/>
              </a:lnSpc>
              <a:spcBef>
                <a:spcPts val="250"/>
              </a:spcBef>
              <a:defRPr sz="800">
                <a:solidFill>
                  <a:srgbClr val="475569"/>
                </a:solidFill>
                <a:latin typeface="KoPub돋움체 Medium"/>
              </a:defRPr>
            </a:pPr>
            <a:r>
              <a:rPr sz="1000" dirty="0" err="1">
                <a:latin typeface="KoPub돋움체 Medium"/>
              </a:rPr>
              <a:t>캐시</a:t>
            </a:r>
            <a:r>
              <a:rPr sz="1000" dirty="0">
                <a:latin typeface="KoPub돋움체 Medium"/>
              </a:rPr>
              <a:t> </a:t>
            </a:r>
            <a:r>
              <a:rPr sz="1000" dirty="0" err="1">
                <a:latin typeface="KoPub돋움체 Medium"/>
              </a:rPr>
              <a:t>미스</a:t>
            </a:r>
            <a:r>
              <a:rPr sz="1000" dirty="0">
                <a:latin typeface="KoPub돋움체 Medium"/>
              </a:rPr>
              <a:t> 시 </a:t>
            </a:r>
            <a:r>
              <a:rPr sz="1000" dirty="0" err="1">
                <a:latin typeface="KoPub돋움체 Medium"/>
              </a:rPr>
              <a:t>모든</a:t>
            </a:r>
            <a:r>
              <a:rPr sz="1000" dirty="0">
                <a:latin typeface="KoPub돋움체 Medium"/>
              </a:rPr>
              <a:t> </a:t>
            </a:r>
            <a:r>
              <a:rPr sz="1000" dirty="0" err="1">
                <a:latin typeface="KoPub돋움체 Medium"/>
              </a:rPr>
              <a:t>요청이</a:t>
            </a:r>
            <a:r>
              <a:rPr sz="1000" dirty="0">
                <a:latin typeface="KoPub돋움체 Medium"/>
              </a:rPr>
              <a:t> Policy </a:t>
            </a:r>
            <a:r>
              <a:rPr sz="1000" dirty="0" err="1">
                <a:latin typeface="KoPub돋움체 Medium"/>
              </a:rPr>
              <a:t>DB로</a:t>
            </a:r>
            <a:r>
              <a:rPr sz="1000" dirty="0">
                <a:latin typeface="KoPub돋움체 Medium"/>
              </a:rPr>
              <a:t> </a:t>
            </a:r>
            <a:r>
              <a:rPr sz="1000" dirty="0" err="1">
                <a:latin typeface="KoPub돋움체 Medium"/>
              </a:rPr>
              <a:t>직행하여</a:t>
            </a:r>
            <a:r>
              <a:rPr sz="1000" dirty="0">
                <a:latin typeface="KoPub돋움체 Medium"/>
              </a:rPr>
              <a:t> </a:t>
            </a:r>
            <a:r>
              <a:rPr sz="1000" dirty="0" err="1">
                <a:latin typeface="KoPub돋움체 Medium"/>
              </a:rPr>
              <a:t>커넥션</a:t>
            </a:r>
            <a:r>
              <a:rPr sz="1000" dirty="0">
                <a:latin typeface="KoPub돋움체 Medium"/>
              </a:rPr>
              <a:t> 풀 </a:t>
            </a:r>
            <a:r>
              <a:rPr sz="1000" dirty="0" err="1">
                <a:latin typeface="KoPub돋움체 Medium"/>
              </a:rPr>
              <a:t>고갈</a:t>
            </a:r>
            <a:br>
              <a:rPr sz="1000" dirty="0"/>
            </a:br>
            <a:r>
              <a:rPr sz="1000" dirty="0">
                <a:latin typeface="KoPub돋움체 Medium"/>
              </a:rPr>
              <a:t>DB </a:t>
            </a:r>
            <a:r>
              <a:rPr sz="1000" dirty="0" err="1">
                <a:latin typeface="KoPub돋움체 Medium"/>
              </a:rPr>
              <a:t>지연</a:t>
            </a:r>
            <a:r>
              <a:rPr sz="1000" dirty="0">
                <a:latin typeface="KoPub돋움체 Medium"/>
              </a:rPr>
              <a:t> </a:t>
            </a:r>
            <a:r>
              <a:rPr sz="1000" dirty="0" err="1">
                <a:latin typeface="KoPub돋움체 Medium"/>
              </a:rPr>
              <a:t>또는</a:t>
            </a:r>
            <a:r>
              <a:rPr sz="1000" dirty="0">
                <a:latin typeface="KoPub돋움체 Medium"/>
              </a:rPr>
              <a:t> </a:t>
            </a:r>
            <a:r>
              <a:rPr sz="1000" dirty="0" err="1">
                <a:latin typeface="KoPub돋움체 Medium"/>
              </a:rPr>
              <a:t>마비</a:t>
            </a:r>
            <a:r>
              <a:rPr sz="1000" dirty="0">
                <a:latin typeface="KoPub돋움체 Medium"/>
              </a:rPr>
              <a:t> 시 </a:t>
            </a:r>
            <a:r>
              <a:rPr sz="1000" dirty="0" err="1">
                <a:latin typeface="KoPub돋움체 Medium"/>
              </a:rPr>
              <a:t>게이트웨이</a:t>
            </a:r>
            <a:r>
              <a:rPr sz="1000" dirty="0">
                <a:latin typeface="KoPub돋움체 Medium"/>
              </a:rPr>
              <a:t> </a:t>
            </a:r>
            <a:r>
              <a:rPr sz="1000" dirty="0" err="1">
                <a:latin typeface="KoPub돋움체 Medium"/>
              </a:rPr>
              <a:t>스레드</a:t>
            </a:r>
            <a:r>
              <a:rPr sz="1000" dirty="0">
                <a:latin typeface="KoPub돋움체 Medium"/>
              </a:rPr>
              <a:t> 풀 </a:t>
            </a:r>
            <a:r>
              <a:rPr sz="1000" dirty="0" err="1">
                <a:latin typeface="KoPub돋움체 Medium"/>
              </a:rPr>
              <a:t>고갈</a:t>
            </a:r>
            <a:r>
              <a:rPr sz="1000" dirty="0">
                <a:latin typeface="KoPub돋움체 Medium"/>
              </a:rPr>
              <a:t> 및 </a:t>
            </a:r>
            <a:r>
              <a:rPr sz="1000" dirty="0" err="1">
                <a:latin typeface="KoPub돋움체 Medium"/>
              </a:rPr>
              <a:t>전면</a:t>
            </a:r>
            <a:r>
              <a:rPr sz="1000" dirty="0">
                <a:latin typeface="KoPub돋움체 Medium"/>
              </a:rPr>
              <a:t> 500 </a:t>
            </a:r>
            <a:r>
              <a:rPr sz="1000" dirty="0" err="1">
                <a:latin typeface="KoPub돋움체 Medium"/>
              </a:rPr>
              <a:t>장애</a:t>
            </a:r>
            <a:r>
              <a:rPr sz="1000" dirty="0">
                <a:latin typeface="KoPub돋움체 Medium"/>
              </a:rPr>
              <a:t> </a:t>
            </a:r>
            <a:r>
              <a:rPr sz="1000" dirty="0" err="1">
                <a:latin typeface="KoPub돋움체 Medium"/>
              </a:rPr>
              <a:t>확산</a:t>
            </a:r>
            <a:endParaRPr sz="1000" dirty="0">
              <a:latin typeface="KoPub돋움체 Medium"/>
            </a:endParaRPr>
          </a:p>
        </p:txBody>
      </p:sp>
      <p:sp>
        <p:nvSpPr>
          <p:cNvPr id="10" name="Rounded Rectangle 9"/>
          <p:cNvSpPr/>
          <p:nvPr/>
        </p:nvSpPr>
        <p:spPr>
          <a:xfrm>
            <a:off x="500760" y="3024000"/>
            <a:ext cx="4212000" cy="954000"/>
          </a:xfrm>
          <a:prstGeom prst="roundRect">
            <a:avLst/>
          </a:prstGeom>
          <a:solidFill>
            <a:srgbClr val="FFF7F7"/>
          </a:solidFill>
          <a:ln w="12700">
            <a:solidFill>
              <a:srgbClr val="FE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0760" y="3114000"/>
            <a:ext cx="4032000" cy="708207"/>
          </a:xfrm>
          <a:prstGeom prst="rect">
            <a:avLst/>
          </a:prstGeom>
          <a:noFill/>
        </p:spPr>
        <p:txBody>
          <a:bodyPr wrap="square" lIns="0" tIns="0" rIns="0" bIns="0">
            <a:spAutoFit/>
          </a:bodyPr>
          <a:lstStyle/>
          <a:p>
            <a:pPr>
              <a:lnSpc>
                <a:spcPct val="150000"/>
              </a:lnSpc>
              <a:defRPr sz="900" b="1">
                <a:solidFill>
                  <a:srgbClr val="B91C1C"/>
                </a:solidFill>
                <a:latin typeface="KoPub돋움체 Bold"/>
              </a:defRPr>
            </a:pPr>
            <a:r>
              <a:rPr sz="1000" dirty="0">
                <a:latin typeface="KoPub돋움체 Bold"/>
              </a:rPr>
              <a:t>[</a:t>
            </a:r>
            <a:r>
              <a:rPr sz="1000" dirty="0" err="1">
                <a:latin typeface="KoPub돋움체 Bold"/>
              </a:rPr>
              <a:t>결함</a:t>
            </a:r>
            <a:r>
              <a:rPr sz="1000" dirty="0">
                <a:latin typeface="KoPub돋움체 Bold"/>
              </a:rPr>
              <a:t> 2]  </a:t>
            </a:r>
            <a:r>
              <a:rPr sz="1000" dirty="0" err="1">
                <a:latin typeface="KoPub돋움체 Bold"/>
              </a:rPr>
              <a:t>리플레이</a:t>
            </a:r>
            <a:r>
              <a:rPr sz="1000" dirty="0">
                <a:latin typeface="KoPub돋움체 Bold"/>
              </a:rPr>
              <a:t> </a:t>
            </a:r>
            <a:r>
              <a:rPr sz="1000" dirty="0" err="1">
                <a:latin typeface="KoPub돋움체 Bold"/>
              </a:rPr>
              <a:t>무방비</a:t>
            </a:r>
            <a:r>
              <a:rPr sz="1000" dirty="0">
                <a:latin typeface="KoPub돋움체 Bold"/>
              </a:rPr>
              <a:t> &amp; </a:t>
            </a:r>
            <a:r>
              <a:rPr sz="1000" dirty="0" err="1">
                <a:latin typeface="KoPub돋움체 Bold"/>
              </a:rPr>
              <a:t>암호</a:t>
            </a:r>
            <a:r>
              <a:rPr sz="1000" dirty="0">
                <a:latin typeface="KoPub돋움체 Bold"/>
              </a:rPr>
              <a:t> </a:t>
            </a:r>
            <a:r>
              <a:rPr sz="1000" dirty="0" err="1">
                <a:latin typeface="KoPub돋움체 Bold"/>
              </a:rPr>
              <a:t>연산</a:t>
            </a:r>
            <a:r>
              <a:rPr sz="1000" dirty="0">
                <a:latin typeface="KoPub돋움체 Bold"/>
              </a:rPr>
              <a:t> CPU </a:t>
            </a:r>
            <a:r>
              <a:rPr sz="1000" dirty="0" err="1">
                <a:latin typeface="KoPub돋움체 Bold"/>
              </a:rPr>
              <a:t>고갈</a:t>
            </a:r>
            <a:r>
              <a:rPr sz="1000" dirty="0">
                <a:latin typeface="KoPub돋움체 Bold"/>
              </a:rPr>
              <a:t> DoS</a:t>
            </a:r>
          </a:p>
          <a:p>
            <a:pPr>
              <a:lnSpc>
                <a:spcPct val="150000"/>
              </a:lnSpc>
              <a:spcBef>
                <a:spcPts val="250"/>
              </a:spcBef>
              <a:defRPr sz="800">
                <a:solidFill>
                  <a:srgbClr val="475569"/>
                </a:solidFill>
                <a:latin typeface="KoPub돋움체 Medium"/>
              </a:defRPr>
            </a:pPr>
            <a:r>
              <a:rPr sz="1000" dirty="0" err="1">
                <a:latin typeface="KoPub돋움체 Medium"/>
              </a:rPr>
              <a:t>일회용</a:t>
            </a:r>
            <a:r>
              <a:rPr sz="1000" dirty="0">
                <a:latin typeface="KoPub돋움체 Medium"/>
              </a:rPr>
              <a:t> Nonce </a:t>
            </a:r>
            <a:r>
              <a:rPr sz="1000" dirty="0" err="1">
                <a:latin typeface="KoPub돋움체 Medium"/>
              </a:rPr>
              <a:t>원자적</a:t>
            </a:r>
            <a:r>
              <a:rPr sz="1000" dirty="0">
                <a:latin typeface="KoPub돋움체 Medium"/>
              </a:rPr>
              <a:t> </a:t>
            </a:r>
            <a:r>
              <a:rPr sz="1000" dirty="0" err="1">
                <a:latin typeface="KoPub돋움체 Medium"/>
              </a:rPr>
              <a:t>소각</a:t>
            </a:r>
            <a:r>
              <a:rPr sz="1000" dirty="0">
                <a:latin typeface="KoPub돋움체 Medium"/>
              </a:rPr>
              <a:t> </a:t>
            </a:r>
            <a:r>
              <a:rPr sz="1000" dirty="0" err="1">
                <a:latin typeface="KoPub돋움체 Medium"/>
              </a:rPr>
              <a:t>부재로</a:t>
            </a:r>
            <a:r>
              <a:rPr sz="1000" dirty="0">
                <a:latin typeface="KoPub돋움체 Medium"/>
              </a:rPr>
              <a:t> </a:t>
            </a:r>
            <a:r>
              <a:rPr sz="1000" dirty="0" err="1">
                <a:latin typeface="KoPub돋움체 Medium"/>
              </a:rPr>
              <a:t>탈취된</a:t>
            </a:r>
            <a:r>
              <a:rPr sz="1000" dirty="0">
                <a:latin typeface="KoPub돋움체 Medium"/>
              </a:rPr>
              <a:t> </a:t>
            </a:r>
            <a:r>
              <a:rPr sz="1000" dirty="0" err="1">
                <a:latin typeface="KoPub돋움체 Medium"/>
              </a:rPr>
              <a:t>서명</a:t>
            </a:r>
            <a:r>
              <a:rPr sz="1000" dirty="0">
                <a:latin typeface="KoPub돋움체 Medium"/>
              </a:rPr>
              <a:t> </a:t>
            </a:r>
            <a:r>
              <a:rPr sz="1000" dirty="0" err="1">
                <a:latin typeface="KoPub돋움체 Medium"/>
              </a:rPr>
              <a:t>패킷</a:t>
            </a:r>
            <a:r>
              <a:rPr sz="1000" dirty="0">
                <a:latin typeface="KoPub돋움체 Medium"/>
              </a:rPr>
              <a:t> </a:t>
            </a:r>
            <a:r>
              <a:rPr sz="1000" dirty="0" err="1">
                <a:latin typeface="KoPub돋움체 Medium"/>
              </a:rPr>
              <a:t>무한</a:t>
            </a:r>
            <a:r>
              <a:rPr sz="1000" dirty="0">
                <a:latin typeface="KoPub돋움체 Medium"/>
              </a:rPr>
              <a:t> </a:t>
            </a:r>
            <a:r>
              <a:rPr sz="1000" dirty="0" err="1">
                <a:latin typeface="KoPub돋움체 Medium"/>
              </a:rPr>
              <a:t>재전송</a:t>
            </a:r>
            <a:r>
              <a:rPr sz="1000" dirty="0">
                <a:latin typeface="KoPub돋움체 Medium"/>
              </a:rPr>
              <a:t> </a:t>
            </a:r>
            <a:r>
              <a:rPr sz="1000" dirty="0" err="1">
                <a:latin typeface="KoPub돋움체 Medium"/>
              </a:rPr>
              <a:t>허용</a:t>
            </a:r>
            <a:br>
              <a:rPr sz="1000" dirty="0"/>
            </a:br>
            <a:r>
              <a:rPr sz="1000" dirty="0" err="1">
                <a:latin typeface="KoPub돋움체 Medium"/>
              </a:rPr>
              <a:t>고비용</a:t>
            </a:r>
            <a:r>
              <a:rPr sz="1000" dirty="0">
                <a:latin typeface="KoPub돋움체 Medium"/>
              </a:rPr>
              <a:t> </a:t>
            </a:r>
            <a:r>
              <a:rPr sz="1000" dirty="0" err="1">
                <a:latin typeface="KoPub돋움체 Medium"/>
              </a:rPr>
              <a:t>비대칭</a:t>
            </a:r>
            <a:r>
              <a:rPr sz="1000" dirty="0">
                <a:latin typeface="KoPub돋움체 Medium"/>
              </a:rPr>
              <a:t> </a:t>
            </a:r>
            <a:r>
              <a:rPr sz="1000" dirty="0" err="1">
                <a:latin typeface="KoPub돋움체 Medium"/>
              </a:rPr>
              <a:t>서명</a:t>
            </a:r>
            <a:r>
              <a:rPr sz="1000" dirty="0">
                <a:latin typeface="KoPub돋움체 Medium"/>
              </a:rPr>
              <a:t> </a:t>
            </a:r>
            <a:r>
              <a:rPr sz="1000" dirty="0" err="1">
                <a:latin typeface="KoPub돋움체 Medium"/>
              </a:rPr>
              <a:t>검증</a:t>
            </a:r>
            <a:r>
              <a:rPr sz="1000" dirty="0">
                <a:latin typeface="KoPub돋움체 Medium"/>
              </a:rPr>
              <a:t> </a:t>
            </a:r>
            <a:r>
              <a:rPr sz="1000" dirty="0" err="1">
                <a:latin typeface="KoPub돋움체 Medium"/>
              </a:rPr>
              <a:t>선행으로</a:t>
            </a:r>
            <a:r>
              <a:rPr sz="1000" dirty="0">
                <a:latin typeface="KoPub돋움체 Medium"/>
              </a:rPr>
              <a:t> </a:t>
            </a:r>
            <a:r>
              <a:rPr sz="1000" dirty="0" err="1">
                <a:latin typeface="KoPub돋움체 Medium"/>
              </a:rPr>
              <a:t>공격</a:t>
            </a:r>
            <a:r>
              <a:rPr sz="1000" dirty="0">
                <a:latin typeface="KoPub돋움체 Medium"/>
              </a:rPr>
              <a:t> 시 </a:t>
            </a:r>
            <a:r>
              <a:rPr sz="1000" dirty="0" err="1">
                <a:latin typeface="KoPub돋움체 Medium"/>
              </a:rPr>
              <a:t>게이트웨이</a:t>
            </a:r>
            <a:r>
              <a:rPr sz="1000" dirty="0">
                <a:latin typeface="KoPub돋움체 Medium"/>
              </a:rPr>
              <a:t> CPU 100% </a:t>
            </a:r>
            <a:r>
              <a:rPr sz="1000" dirty="0" err="1">
                <a:latin typeface="KoPub돋움체 Medium"/>
              </a:rPr>
              <a:t>마비</a:t>
            </a:r>
            <a:endParaRPr sz="1000" dirty="0">
              <a:latin typeface="KoPub돋움체 Medium"/>
            </a:endParaRPr>
          </a:p>
        </p:txBody>
      </p:sp>
      <p:sp>
        <p:nvSpPr>
          <p:cNvPr id="12" name="Rounded Rectangle 11"/>
          <p:cNvSpPr/>
          <p:nvPr/>
        </p:nvSpPr>
        <p:spPr>
          <a:xfrm>
            <a:off x="500760" y="4104000"/>
            <a:ext cx="4212000" cy="954000"/>
          </a:xfrm>
          <a:prstGeom prst="roundRect">
            <a:avLst/>
          </a:prstGeom>
          <a:solidFill>
            <a:srgbClr val="FFF7F7"/>
          </a:solidFill>
          <a:ln w="12700">
            <a:solidFill>
              <a:srgbClr val="FE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0760" y="4194000"/>
            <a:ext cx="4032000" cy="706668"/>
          </a:xfrm>
          <a:prstGeom prst="rect">
            <a:avLst/>
          </a:prstGeom>
          <a:noFill/>
        </p:spPr>
        <p:txBody>
          <a:bodyPr wrap="square" lIns="0" tIns="0" rIns="0" bIns="0">
            <a:spAutoFit/>
          </a:bodyPr>
          <a:lstStyle/>
          <a:p>
            <a:pPr>
              <a:lnSpc>
                <a:spcPct val="150000"/>
              </a:lnSpc>
              <a:defRPr sz="900" b="1">
                <a:solidFill>
                  <a:srgbClr val="B91C1C"/>
                </a:solidFill>
                <a:latin typeface="KoPub돋움체 Bold"/>
              </a:defRPr>
            </a:pPr>
            <a:r>
              <a:rPr lang="en-US" altLang="ko-KR" sz="1000" dirty="0">
                <a:latin typeface="KoPub돋움체 Bold"/>
              </a:rPr>
              <a:t>[</a:t>
            </a:r>
            <a:r>
              <a:rPr lang="ko-KR" altLang="en-US" sz="1000" dirty="0">
                <a:latin typeface="KoPub돋움체 Bold"/>
              </a:rPr>
              <a:t>결함 </a:t>
            </a:r>
            <a:r>
              <a:rPr lang="en-US" altLang="ko-KR" sz="1000" dirty="0">
                <a:latin typeface="KoPub돋움체 Bold"/>
              </a:rPr>
              <a:t>3]  </a:t>
            </a:r>
            <a:r>
              <a:rPr lang="ko-KR" altLang="en-US" sz="1000" dirty="0">
                <a:latin typeface="KoPub돋움체 Bold"/>
              </a:rPr>
              <a:t>네트워크 단절 시 스플릿 브레인 </a:t>
            </a:r>
            <a:r>
              <a:rPr lang="en-US" altLang="ko-KR" sz="1000" dirty="0">
                <a:latin typeface="KoPub돋움체 Bold"/>
              </a:rPr>
              <a:t>(</a:t>
            </a:r>
            <a:r>
              <a:rPr lang="ko-KR" altLang="en-US" sz="1000" dirty="0">
                <a:latin typeface="KoPub돋움체 Bold"/>
              </a:rPr>
              <a:t>오승인 위험</a:t>
            </a:r>
            <a:r>
              <a:rPr lang="en-US" altLang="ko-KR" sz="1000" dirty="0">
                <a:latin typeface="KoPub돋움체 Bold"/>
              </a:rPr>
              <a:t>)</a:t>
            </a:r>
          </a:p>
          <a:p>
            <a:pPr>
              <a:lnSpc>
                <a:spcPct val="150000"/>
              </a:lnSpc>
              <a:spcBef>
                <a:spcPts val="250"/>
              </a:spcBef>
              <a:defRPr sz="800">
                <a:solidFill>
                  <a:srgbClr val="475569"/>
                </a:solidFill>
                <a:latin typeface="KoPub돋움체 Medium"/>
              </a:defRPr>
            </a:pPr>
            <a:r>
              <a:rPr lang="ko-KR" altLang="en-US" sz="1000" dirty="0">
                <a:latin typeface="KoPub돋움체 Medium"/>
              </a:rPr>
              <a:t>노드 통신 단절 시 과거 낡은 </a:t>
            </a:r>
            <a:r>
              <a:rPr lang="en-US" altLang="ko-KR" sz="1000" dirty="0">
                <a:latin typeface="KoPub돋움체 Medium"/>
              </a:rPr>
              <a:t>L1 </a:t>
            </a:r>
            <a:r>
              <a:rPr lang="ko-KR" altLang="en-US" sz="1000" dirty="0">
                <a:latin typeface="KoPub돋움체 Medium"/>
              </a:rPr>
              <a:t>캐시 데이터로 유입 요청 무단 승인</a:t>
            </a:r>
            <a:br>
              <a:rPr lang="ko-KR" altLang="en-US" sz="1000" dirty="0"/>
            </a:br>
            <a:r>
              <a:rPr lang="ko-KR" altLang="en-US" sz="1000" dirty="0">
                <a:latin typeface="KoPub돋움체 Medium"/>
              </a:rPr>
              <a:t>무효화 이벤트 유실로 정책 변경 사항이 고립 노드에 영구 </a:t>
            </a:r>
            <a:r>
              <a:rPr lang="ko-KR" altLang="en-US" sz="1000" dirty="0" err="1">
                <a:latin typeface="KoPub돋움체 Medium"/>
              </a:rPr>
              <a:t>미반영</a:t>
            </a:r>
            <a:endParaRPr lang="ko-KR" altLang="en-US" sz="1000" dirty="0">
              <a:latin typeface="KoPub돋움체 Medium"/>
            </a:endParaRPr>
          </a:p>
        </p:txBody>
      </p:sp>
      <p:sp>
        <p:nvSpPr>
          <p:cNvPr id="14" name="Rounded Rectangle 13"/>
          <p:cNvSpPr/>
          <p:nvPr/>
        </p:nvSpPr>
        <p:spPr>
          <a:xfrm>
            <a:off x="500760" y="5328000"/>
            <a:ext cx="1332000" cy="396000"/>
          </a:xfrm>
          <a:prstGeom prst="roundRect">
            <a:avLst/>
          </a:prstGeom>
          <a:solidFill>
            <a:srgbClr val="FEF2F2"/>
          </a:solidFill>
          <a:ln>
            <a:solidFill>
              <a:srgbClr val="FECDD3"/>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B91C1C"/>
                </a:solidFill>
                <a:latin typeface="KoPub돋움체 Bold"/>
              </a:defRPr>
            </a:pPr>
            <a:r>
              <a:rPr sz="1000" dirty="0">
                <a:latin typeface="KoPub돋움체 Bold"/>
              </a:rPr>
              <a:t>DB </a:t>
            </a:r>
            <a:r>
              <a:rPr sz="1000" dirty="0" err="1">
                <a:latin typeface="KoPub돋움체 Bold"/>
              </a:rPr>
              <a:t>부하</a:t>
            </a:r>
            <a:r>
              <a:rPr sz="1000" dirty="0">
                <a:latin typeface="KoPub돋움체 Bold"/>
              </a:rPr>
              <a:t>: 100% </a:t>
            </a:r>
            <a:r>
              <a:rPr sz="1000" dirty="0" err="1">
                <a:latin typeface="KoPub돋움체 Bold"/>
              </a:rPr>
              <a:t>집중</a:t>
            </a:r>
            <a:endParaRPr sz="1000" dirty="0">
              <a:latin typeface="KoPub돋움체 Bold"/>
            </a:endParaRPr>
          </a:p>
        </p:txBody>
      </p:sp>
      <p:sp>
        <p:nvSpPr>
          <p:cNvPr id="15" name="Rounded Rectangle 14"/>
          <p:cNvSpPr/>
          <p:nvPr/>
        </p:nvSpPr>
        <p:spPr>
          <a:xfrm>
            <a:off x="1940760" y="5328000"/>
            <a:ext cx="1332000" cy="396000"/>
          </a:xfrm>
          <a:prstGeom prst="roundRect">
            <a:avLst/>
          </a:prstGeom>
          <a:solidFill>
            <a:srgbClr val="FEF2F2"/>
          </a:solidFill>
          <a:ln>
            <a:solidFill>
              <a:srgbClr val="FECDD3"/>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B91C1C"/>
                </a:solidFill>
                <a:latin typeface="KoPub돋움체 Bold"/>
              </a:defRPr>
            </a:pPr>
            <a:r>
              <a:rPr sz="1000" dirty="0" err="1">
                <a:latin typeface="KoPub돋움체 Bold"/>
              </a:rPr>
              <a:t>스탬피드</a:t>
            </a:r>
            <a:r>
              <a:rPr sz="1000" dirty="0">
                <a:latin typeface="KoPub돋움체 Bold"/>
              </a:rPr>
              <a:t> </a:t>
            </a:r>
            <a:r>
              <a:rPr sz="1000" dirty="0" err="1">
                <a:latin typeface="KoPub돋움체 Bold"/>
              </a:rPr>
              <a:t>지연</a:t>
            </a:r>
            <a:r>
              <a:rPr sz="1000" dirty="0">
                <a:latin typeface="KoPub돋움체 Bold"/>
              </a:rPr>
              <a:t>: 4,065ms</a:t>
            </a:r>
          </a:p>
        </p:txBody>
      </p:sp>
      <p:sp>
        <p:nvSpPr>
          <p:cNvPr id="16" name="Rounded Rectangle 15"/>
          <p:cNvSpPr/>
          <p:nvPr/>
        </p:nvSpPr>
        <p:spPr>
          <a:xfrm>
            <a:off x="3380760" y="5328000"/>
            <a:ext cx="1332000" cy="396000"/>
          </a:xfrm>
          <a:prstGeom prst="roundRect">
            <a:avLst/>
          </a:prstGeom>
          <a:solidFill>
            <a:srgbClr val="FEF2F2"/>
          </a:solidFill>
          <a:ln>
            <a:solidFill>
              <a:srgbClr val="FECDD3"/>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B91C1C"/>
                </a:solidFill>
                <a:latin typeface="KoPub돋움체 Bold"/>
              </a:defRPr>
            </a:pPr>
            <a:r>
              <a:rPr sz="1000" dirty="0" err="1">
                <a:latin typeface="KoPub돋움체 Bold"/>
              </a:rPr>
              <a:t>장애</a:t>
            </a:r>
            <a:r>
              <a:rPr sz="1000" dirty="0">
                <a:latin typeface="KoPub돋움체 Bold"/>
              </a:rPr>
              <a:t> </a:t>
            </a:r>
            <a:r>
              <a:rPr sz="1000" dirty="0" err="1">
                <a:latin typeface="KoPub돋움체 Bold"/>
              </a:rPr>
              <a:t>대응</a:t>
            </a:r>
            <a:r>
              <a:rPr sz="1000" dirty="0">
                <a:latin typeface="KoPub돋움체 Bold"/>
              </a:rPr>
              <a:t>: Fail-Open</a:t>
            </a:r>
          </a:p>
        </p:txBody>
      </p:sp>
      <p:sp>
        <p:nvSpPr>
          <p:cNvPr id="17" name="Rounded Rectangle 16"/>
          <p:cNvSpPr/>
          <p:nvPr/>
        </p:nvSpPr>
        <p:spPr>
          <a:xfrm>
            <a:off x="5055480" y="1368000"/>
            <a:ext cx="4500000" cy="4536000"/>
          </a:xfrm>
          <a:prstGeom prst="roundRect">
            <a:avLst>
              <a:gd name="adj" fmla="val 2180"/>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199480" y="1494000"/>
            <a:ext cx="4212000" cy="324000"/>
          </a:xfrm>
          <a:prstGeom prst="roundRect">
            <a:avLst/>
          </a:prstGeom>
          <a:solidFill>
            <a:srgbClr val="E3F3F2"/>
          </a:solidFill>
          <a:ln>
            <a:solidFill>
              <a:srgbClr val="A7F3D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009A93"/>
                </a:solidFill>
                <a:latin typeface="KoPub돋움체 Bold"/>
              </a:defRPr>
            </a:pPr>
            <a:r>
              <a:rPr sz="1200" dirty="0" err="1">
                <a:latin typeface="KoPub돋움체 Bold"/>
              </a:rPr>
              <a:t>PoP</a:t>
            </a:r>
            <a:r>
              <a:rPr sz="1200" dirty="0">
                <a:latin typeface="KoPub돋움체 Bold"/>
              </a:rPr>
              <a:t>-Sync </a:t>
            </a:r>
            <a:r>
              <a:rPr sz="1200" dirty="0" err="1">
                <a:latin typeface="KoPub돋움체 Bold"/>
              </a:rPr>
              <a:t>다계층</a:t>
            </a:r>
            <a:r>
              <a:rPr sz="1200" dirty="0">
                <a:latin typeface="KoPub돋움체 Bold"/>
              </a:rPr>
              <a:t> </a:t>
            </a:r>
            <a:r>
              <a:rPr sz="1200" dirty="0" err="1">
                <a:latin typeface="KoPub돋움체 Bold"/>
              </a:rPr>
              <a:t>카오스</a:t>
            </a:r>
            <a:r>
              <a:rPr sz="1200" dirty="0">
                <a:latin typeface="KoPub돋움체 Bold"/>
              </a:rPr>
              <a:t> </a:t>
            </a:r>
            <a:r>
              <a:rPr sz="1200" dirty="0" err="1">
                <a:latin typeface="KoPub돋움체 Bold"/>
              </a:rPr>
              <a:t>복원</a:t>
            </a:r>
            <a:r>
              <a:rPr sz="1200" dirty="0">
                <a:latin typeface="KoPub돋움체 Bold"/>
              </a:rPr>
              <a:t> </a:t>
            </a:r>
            <a:r>
              <a:rPr sz="1200" dirty="0" err="1">
                <a:latin typeface="KoPub돋움체 Bold"/>
              </a:rPr>
              <a:t>인프라</a:t>
            </a:r>
            <a:r>
              <a:rPr sz="1200" dirty="0">
                <a:latin typeface="KoPub돋움체 Bold"/>
              </a:rPr>
              <a:t> (Resilient Architecture)</a:t>
            </a:r>
          </a:p>
        </p:txBody>
      </p:sp>
      <p:sp>
        <p:nvSpPr>
          <p:cNvPr id="19" name="Rounded Rectangle 18"/>
          <p:cNvSpPr/>
          <p:nvPr/>
        </p:nvSpPr>
        <p:spPr>
          <a:xfrm>
            <a:off x="5199480" y="1944000"/>
            <a:ext cx="4212000" cy="954000"/>
          </a:xfrm>
          <a:prstGeom prst="roundRect">
            <a:avLst/>
          </a:prstGeom>
          <a:solidFill>
            <a:srgbClr val="F0FDFA"/>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289480" y="1949330"/>
            <a:ext cx="4032000" cy="939040"/>
          </a:xfrm>
          <a:prstGeom prst="rect">
            <a:avLst/>
          </a:prstGeom>
          <a:noFill/>
        </p:spPr>
        <p:txBody>
          <a:bodyPr wrap="square" lIns="0" tIns="0" rIns="0" bIns="0">
            <a:spAutoFit/>
          </a:bodyPr>
          <a:lstStyle/>
          <a:p>
            <a:pPr>
              <a:lnSpc>
                <a:spcPct val="150000"/>
              </a:lnSpc>
              <a:defRPr sz="900" b="1">
                <a:solidFill>
                  <a:srgbClr val="009A93"/>
                </a:solidFill>
                <a:latin typeface="KoPub돋움체 Bold"/>
              </a:defRPr>
            </a:pPr>
            <a:r>
              <a:rPr sz="1000" dirty="0">
                <a:latin typeface="KoPub돋움체 Bold"/>
              </a:rPr>
              <a:t>[</a:t>
            </a:r>
            <a:r>
              <a:rPr sz="1000" dirty="0" err="1">
                <a:latin typeface="KoPub돋움체 Bold"/>
              </a:rPr>
              <a:t>방어</a:t>
            </a:r>
            <a:r>
              <a:rPr sz="1000" dirty="0">
                <a:latin typeface="KoPub돋움체 Bold"/>
              </a:rPr>
              <a:t> 1]  </a:t>
            </a:r>
            <a:r>
              <a:rPr sz="1000" dirty="0" err="1">
                <a:latin typeface="KoPub돋움체 Bold"/>
              </a:rPr>
              <a:t>다단계</a:t>
            </a:r>
            <a:r>
              <a:rPr sz="1000" dirty="0">
                <a:latin typeface="KoPub돋움체 Bold"/>
              </a:rPr>
              <a:t> </a:t>
            </a:r>
            <a:r>
              <a:rPr sz="1000" dirty="0" err="1">
                <a:latin typeface="KoPub돋움체 Bold"/>
              </a:rPr>
              <a:t>캐시</a:t>
            </a:r>
            <a:r>
              <a:rPr sz="1000" dirty="0">
                <a:latin typeface="KoPub돋움체 Bold"/>
              </a:rPr>
              <a:t>(L1/L2) &amp; Single-Flight </a:t>
            </a:r>
            <a:r>
              <a:rPr sz="1000" dirty="0" err="1">
                <a:latin typeface="KoPub돋움체 Bold"/>
              </a:rPr>
              <a:t>동시성</a:t>
            </a:r>
            <a:r>
              <a:rPr sz="1000" dirty="0">
                <a:latin typeface="KoPub돋움체 Bold"/>
              </a:rPr>
              <a:t> </a:t>
            </a:r>
            <a:r>
              <a:rPr sz="1000" dirty="0" err="1">
                <a:latin typeface="KoPub돋움체 Bold"/>
              </a:rPr>
              <a:t>병합</a:t>
            </a:r>
            <a:endParaRPr sz="1000" dirty="0">
              <a:latin typeface="KoPub돋움체 Bold"/>
            </a:endParaRPr>
          </a:p>
          <a:p>
            <a:pPr>
              <a:lnSpc>
                <a:spcPct val="150000"/>
              </a:lnSpc>
              <a:spcBef>
                <a:spcPts val="250"/>
              </a:spcBef>
              <a:defRPr sz="800">
                <a:solidFill>
                  <a:srgbClr val="0E306D"/>
                </a:solidFill>
                <a:latin typeface="KoPub돋움체 Medium"/>
              </a:defRPr>
            </a:pPr>
            <a:r>
              <a:rPr sz="1000" dirty="0">
                <a:latin typeface="KoPub돋움체 Medium"/>
              </a:rPr>
              <a:t>L1 </a:t>
            </a:r>
            <a:r>
              <a:rPr sz="1000" dirty="0" err="1">
                <a:latin typeface="KoPub돋움체 Medium"/>
              </a:rPr>
              <a:t>로컬</a:t>
            </a:r>
            <a:r>
              <a:rPr sz="1000" dirty="0">
                <a:latin typeface="KoPub돋움체 Medium"/>
              </a:rPr>
              <a:t> LRU(0.85ms) + L2 </a:t>
            </a:r>
            <a:r>
              <a:rPr sz="1000" dirty="0" err="1">
                <a:latin typeface="KoPub돋움체 Medium"/>
              </a:rPr>
              <a:t>중앙</a:t>
            </a:r>
            <a:r>
              <a:rPr sz="1000" dirty="0">
                <a:latin typeface="KoPub돋움체 Medium"/>
              </a:rPr>
              <a:t> Redis </a:t>
            </a:r>
            <a:r>
              <a:rPr sz="1000" dirty="0" err="1">
                <a:latin typeface="KoPub돋움체 Medium"/>
              </a:rPr>
              <a:t>조회로</a:t>
            </a:r>
            <a:r>
              <a:rPr sz="1000" dirty="0">
                <a:latin typeface="KoPub돋움체 Medium"/>
              </a:rPr>
              <a:t> </a:t>
            </a:r>
            <a:r>
              <a:rPr sz="1000" dirty="0" err="1">
                <a:latin typeface="KoPub돋움체 Medium"/>
              </a:rPr>
              <a:t>저지연</a:t>
            </a:r>
            <a:r>
              <a:rPr sz="1000" dirty="0">
                <a:latin typeface="KoPub돋움체 Medium"/>
              </a:rPr>
              <a:t> </a:t>
            </a:r>
            <a:r>
              <a:rPr sz="1000" dirty="0" err="1">
                <a:latin typeface="KoPub돋움체 Medium"/>
              </a:rPr>
              <a:t>인가</a:t>
            </a:r>
            <a:r>
              <a:rPr sz="1000" dirty="0">
                <a:latin typeface="KoPub돋움체 Medium"/>
              </a:rPr>
              <a:t> </a:t>
            </a:r>
            <a:r>
              <a:rPr sz="1000" dirty="0" err="1">
                <a:latin typeface="KoPub돋움체 Medium"/>
              </a:rPr>
              <a:t>달성</a:t>
            </a:r>
            <a:br>
              <a:rPr sz="1000" dirty="0"/>
            </a:br>
            <a:r>
              <a:rPr sz="1000" dirty="0" err="1">
                <a:latin typeface="KoPub돋움체 Medium"/>
              </a:rPr>
              <a:t>동일</a:t>
            </a:r>
            <a:r>
              <a:rPr sz="1000" dirty="0">
                <a:latin typeface="KoPub돋움체 Medium"/>
              </a:rPr>
              <a:t> 키 1,000건 </a:t>
            </a:r>
            <a:r>
              <a:rPr sz="1000" dirty="0" err="1">
                <a:latin typeface="KoPub돋움체 Medium"/>
              </a:rPr>
              <a:t>폭주</a:t>
            </a:r>
            <a:r>
              <a:rPr sz="1000" dirty="0">
                <a:latin typeface="KoPub돋움체 Medium"/>
              </a:rPr>
              <a:t> 시 DB </a:t>
            </a:r>
            <a:r>
              <a:rPr sz="1000" dirty="0" err="1">
                <a:latin typeface="KoPub돋움체 Medium"/>
              </a:rPr>
              <a:t>쿼리</a:t>
            </a:r>
            <a:r>
              <a:rPr sz="1000" dirty="0">
                <a:latin typeface="KoPub돋움체 Medium"/>
              </a:rPr>
              <a:t> </a:t>
            </a:r>
            <a:r>
              <a:rPr lang="en-US" altLang="ko-KR" sz="1000" dirty="0">
                <a:latin typeface="KoPub돋움체 Medium"/>
              </a:rPr>
              <a:t>1</a:t>
            </a:r>
            <a:r>
              <a:rPr sz="1000" dirty="0">
                <a:latin typeface="KoPub돋움체 Medium"/>
              </a:rPr>
              <a:t>건으로 99.9% </a:t>
            </a:r>
            <a:r>
              <a:rPr sz="1000" dirty="0" err="1">
                <a:latin typeface="KoPub돋움체 Medium"/>
              </a:rPr>
              <a:t>절감</a:t>
            </a:r>
            <a:r>
              <a:rPr sz="1000" dirty="0">
                <a:latin typeface="KoPub돋움체 Medium"/>
              </a:rPr>
              <a:t> (p95 4,065ms → 27.3ms)</a:t>
            </a:r>
          </a:p>
        </p:txBody>
      </p:sp>
      <p:sp>
        <p:nvSpPr>
          <p:cNvPr id="21" name="Rounded Rectangle 20"/>
          <p:cNvSpPr/>
          <p:nvPr/>
        </p:nvSpPr>
        <p:spPr>
          <a:xfrm>
            <a:off x="5199480" y="3024000"/>
            <a:ext cx="4212000" cy="954000"/>
          </a:xfrm>
          <a:prstGeom prst="roundRect">
            <a:avLst/>
          </a:prstGeom>
          <a:solidFill>
            <a:srgbClr val="F0FDFA"/>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294880" y="3146896"/>
            <a:ext cx="4032000" cy="708207"/>
          </a:xfrm>
          <a:prstGeom prst="rect">
            <a:avLst/>
          </a:prstGeom>
          <a:noFill/>
        </p:spPr>
        <p:txBody>
          <a:bodyPr wrap="square" lIns="0" tIns="0" rIns="0" bIns="0">
            <a:spAutoFit/>
          </a:bodyPr>
          <a:lstStyle/>
          <a:p>
            <a:pPr>
              <a:lnSpc>
                <a:spcPct val="150000"/>
              </a:lnSpc>
              <a:defRPr sz="900" b="1">
                <a:solidFill>
                  <a:srgbClr val="009A93"/>
                </a:solidFill>
                <a:latin typeface="KoPub돋움체 Bold"/>
              </a:defRPr>
            </a:pPr>
            <a:r>
              <a:rPr sz="1000" dirty="0">
                <a:latin typeface="KoPub돋움체 Medium" panose="00000600000000000000" pitchFamily="2" charset="-127"/>
                <a:ea typeface="KoPub돋움체 Medium" panose="00000600000000000000" pitchFamily="2" charset="-127"/>
              </a:rPr>
              <a:t>[</a:t>
            </a:r>
            <a:r>
              <a:rPr sz="1000" dirty="0" err="1">
                <a:latin typeface="KoPub돋움체 Medium" panose="00000600000000000000" pitchFamily="2" charset="-127"/>
                <a:ea typeface="KoPub돋움체 Medium" panose="00000600000000000000" pitchFamily="2" charset="-127"/>
              </a:rPr>
              <a:t>방어</a:t>
            </a:r>
            <a:r>
              <a:rPr sz="1000" dirty="0">
                <a:latin typeface="KoPub돋움체 Medium" panose="00000600000000000000" pitchFamily="2" charset="-127"/>
                <a:ea typeface="KoPub돋움체 Medium" panose="00000600000000000000" pitchFamily="2" charset="-127"/>
              </a:rPr>
              <a:t> 2]  O(1) </a:t>
            </a:r>
            <a:r>
              <a:rPr sz="1000" dirty="0" err="1">
                <a:latin typeface="KoPub돋움체 Medium" panose="00000600000000000000" pitchFamily="2" charset="-127"/>
                <a:ea typeface="KoPub돋움체 Medium" panose="00000600000000000000" pitchFamily="2" charset="-127"/>
              </a:rPr>
              <a:t>유량</a:t>
            </a:r>
            <a:r>
              <a:rPr sz="1000" dirty="0">
                <a:latin typeface="KoPub돋움체 Medium" panose="00000600000000000000" pitchFamily="2" charset="-127"/>
                <a:ea typeface="KoPub돋움체 Medium" panose="00000600000000000000" pitchFamily="2" charset="-127"/>
              </a:rPr>
              <a:t> </a:t>
            </a:r>
            <a:r>
              <a:rPr sz="1000" dirty="0" err="1">
                <a:latin typeface="KoPub돋움체 Medium" panose="00000600000000000000" pitchFamily="2" charset="-127"/>
                <a:ea typeface="KoPub돋움체 Medium" panose="00000600000000000000" pitchFamily="2" charset="-127"/>
              </a:rPr>
              <a:t>제어</a:t>
            </a:r>
            <a:r>
              <a:rPr sz="1000" dirty="0">
                <a:latin typeface="KoPub돋움체 Medium" panose="00000600000000000000" pitchFamily="2" charset="-127"/>
                <a:ea typeface="KoPub돋움체 Medium" panose="00000600000000000000" pitchFamily="2" charset="-127"/>
              </a:rPr>
              <a:t> &amp; Nonce </a:t>
            </a:r>
            <a:r>
              <a:rPr sz="1000" dirty="0" err="1">
                <a:latin typeface="KoPub돋움체 Medium" panose="00000600000000000000" pitchFamily="2" charset="-127"/>
                <a:ea typeface="KoPub돋움체 Medium" panose="00000600000000000000" pitchFamily="2" charset="-127"/>
              </a:rPr>
              <a:t>원자적</a:t>
            </a:r>
            <a:r>
              <a:rPr sz="1000" dirty="0">
                <a:latin typeface="KoPub돋움체 Medium" panose="00000600000000000000" pitchFamily="2" charset="-127"/>
                <a:ea typeface="KoPub돋움체 Medium" panose="00000600000000000000" pitchFamily="2" charset="-127"/>
              </a:rPr>
              <a:t> </a:t>
            </a:r>
            <a:r>
              <a:rPr sz="1000" dirty="0" err="1">
                <a:latin typeface="KoPub돋움체 Medium" panose="00000600000000000000" pitchFamily="2" charset="-127"/>
                <a:ea typeface="KoPub돋움체 Medium" panose="00000600000000000000" pitchFamily="2" charset="-127"/>
              </a:rPr>
              <a:t>소각</a:t>
            </a:r>
            <a:r>
              <a:rPr sz="1000" dirty="0">
                <a:latin typeface="KoPub돋움체 Medium" panose="00000600000000000000" pitchFamily="2" charset="-127"/>
                <a:ea typeface="KoPub돋움체 Medium" panose="00000600000000000000" pitchFamily="2" charset="-127"/>
              </a:rPr>
              <a:t> (CPU </a:t>
            </a:r>
            <a:r>
              <a:rPr sz="1000" dirty="0" err="1">
                <a:latin typeface="KoPub돋움체 Medium" panose="00000600000000000000" pitchFamily="2" charset="-127"/>
                <a:ea typeface="KoPub돋움체 Medium" panose="00000600000000000000" pitchFamily="2" charset="-127"/>
              </a:rPr>
              <a:t>방어</a:t>
            </a:r>
            <a:r>
              <a:rPr sz="1000" dirty="0">
                <a:latin typeface="KoPub돋움체 Medium" panose="00000600000000000000" pitchFamily="2" charset="-127"/>
                <a:ea typeface="KoPub돋움체 Medium" panose="00000600000000000000" pitchFamily="2" charset="-127"/>
              </a:rPr>
              <a:t>)</a:t>
            </a:r>
          </a:p>
          <a:p>
            <a:pPr>
              <a:lnSpc>
                <a:spcPct val="150000"/>
              </a:lnSpc>
              <a:spcBef>
                <a:spcPts val="250"/>
              </a:spcBef>
              <a:defRPr sz="800">
                <a:solidFill>
                  <a:srgbClr val="0E306D"/>
                </a:solidFill>
                <a:latin typeface="KoPub돋움체 Medium"/>
              </a:defRPr>
            </a:pPr>
            <a:r>
              <a:rPr sz="1000" dirty="0">
                <a:latin typeface="KoPub돋움체 Medium" panose="00000600000000000000" pitchFamily="2" charset="-127"/>
                <a:ea typeface="KoPub돋움체 Medium" panose="00000600000000000000" pitchFamily="2" charset="-127"/>
              </a:rPr>
              <a:t>O(1) </a:t>
            </a:r>
            <a:r>
              <a:rPr sz="1000" dirty="0" err="1">
                <a:latin typeface="KoPub돋움체 Medium" panose="00000600000000000000" pitchFamily="2" charset="-127"/>
                <a:ea typeface="KoPub돋움체 Medium" panose="00000600000000000000" pitchFamily="2" charset="-127"/>
              </a:rPr>
              <a:t>가중</a:t>
            </a:r>
            <a:r>
              <a:rPr sz="1000" dirty="0">
                <a:latin typeface="KoPub돋움체 Medium" panose="00000600000000000000" pitchFamily="2" charset="-127"/>
                <a:ea typeface="KoPub돋움체 Medium" panose="00000600000000000000" pitchFamily="2" charset="-127"/>
              </a:rPr>
              <a:t> </a:t>
            </a:r>
            <a:r>
              <a:rPr sz="1000" dirty="0" err="1">
                <a:latin typeface="KoPub돋움체 Medium" panose="00000600000000000000" pitchFamily="2" charset="-127"/>
                <a:ea typeface="KoPub돋움체 Medium" panose="00000600000000000000" pitchFamily="2" charset="-127"/>
              </a:rPr>
              <a:t>슬라이딩으로</a:t>
            </a:r>
            <a:r>
              <a:rPr sz="1000" dirty="0">
                <a:latin typeface="KoPub돋움체 Medium" panose="00000600000000000000" pitchFamily="2" charset="-127"/>
                <a:ea typeface="KoPub돋움체 Medium" panose="00000600000000000000" pitchFamily="2" charset="-127"/>
              </a:rPr>
              <a:t> DDoS </a:t>
            </a:r>
            <a:r>
              <a:rPr sz="1000" dirty="0" err="1">
                <a:latin typeface="KoPub돋움체 Medium" panose="00000600000000000000" pitchFamily="2" charset="-127"/>
                <a:ea typeface="KoPub돋움체 Medium" panose="00000600000000000000" pitchFamily="2" charset="-127"/>
              </a:rPr>
              <a:t>선행</a:t>
            </a:r>
            <a:r>
              <a:rPr sz="1000" dirty="0">
                <a:latin typeface="KoPub돋움체 Medium" panose="00000600000000000000" pitchFamily="2" charset="-127"/>
                <a:ea typeface="KoPub돋움체 Medium" panose="00000600000000000000" pitchFamily="2" charset="-127"/>
              </a:rPr>
              <a:t> </a:t>
            </a:r>
            <a:r>
              <a:rPr sz="1000" dirty="0" err="1">
                <a:latin typeface="KoPub돋움체 Medium" panose="00000600000000000000" pitchFamily="2" charset="-127"/>
                <a:ea typeface="KoPub돋움체 Medium" panose="00000600000000000000" pitchFamily="2" charset="-127"/>
              </a:rPr>
              <a:t>차단</a:t>
            </a:r>
            <a:r>
              <a:rPr sz="1000" dirty="0">
                <a:latin typeface="KoPub돋움체 Medium" panose="00000600000000000000" pitchFamily="2" charset="-127"/>
                <a:ea typeface="KoPub돋움체 Medium" panose="00000600000000000000" pitchFamily="2" charset="-127"/>
              </a:rPr>
              <a:t> 및 Redis </a:t>
            </a:r>
            <a:r>
              <a:rPr sz="1000" dirty="0" err="1">
                <a:latin typeface="KoPub돋움체 Medium" panose="00000600000000000000" pitchFamily="2" charset="-127"/>
                <a:ea typeface="KoPub돋움체 Medium" panose="00000600000000000000" pitchFamily="2" charset="-127"/>
              </a:rPr>
              <a:t>Lua로</a:t>
            </a:r>
            <a:r>
              <a:rPr sz="1000" dirty="0">
                <a:latin typeface="KoPub돋움체 Medium" panose="00000600000000000000" pitchFamily="2" charset="-127"/>
                <a:ea typeface="KoPub돋움체 Medium" panose="00000600000000000000" pitchFamily="2" charset="-127"/>
              </a:rPr>
              <a:t> </a:t>
            </a:r>
            <a:r>
              <a:rPr sz="1000" dirty="0" err="1">
                <a:latin typeface="KoPub돋움체 Medium" panose="00000600000000000000" pitchFamily="2" charset="-127"/>
                <a:ea typeface="KoPub돋움체 Medium" panose="00000600000000000000" pitchFamily="2" charset="-127"/>
              </a:rPr>
              <a:t>리플레이</a:t>
            </a:r>
            <a:r>
              <a:rPr sz="1000" dirty="0">
                <a:latin typeface="KoPub돋움체 Medium" panose="00000600000000000000" pitchFamily="2" charset="-127"/>
                <a:ea typeface="KoPub돋움체 Medium" panose="00000600000000000000" pitchFamily="2" charset="-127"/>
              </a:rPr>
              <a:t> 401 </a:t>
            </a:r>
            <a:r>
              <a:rPr sz="1000" dirty="0" err="1">
                <a:latin typeface="KoPub돋움체 Medium" panose="00000600000000000000" pitchFamily="2" charset="-127"/>
                <a:ea typeface="KoPub돋움체 Medium" panose="00000600000000000000" pitchFamily="2" charset="-127"/>
              </a:rPr>
              <a:t>차단</a:t>
            </a:r>
            <a:br>
              <a:rPr sz="1000" dirty="0">
                <a:latin typeface="KoPub돋움체 Medium" panose="00000600000000000000" pitchFamily="2" charset="-127"/>
                <a:ea typeface="KoPub돋움체 Medium" panose="00000600000000000000" pitchFamily="2" charset="-127"/>
              </a:rPr>
            </a:br>
            <a:r>
              <a:rPr sz="1000" dirty="0" err="1">
                <a:latin typeface="KoPub돋움체 Medium" panose="00000600000000000000" pitchFamily="2" charset="-127"/>
                <a:ea typeface="KoPub돋움체 Medium" panose="00000600000000000000" pitchFamily="2" charset="-127"/>
              </a:rPr>
              <a:t>공격</a:t>
            </a:r>
            <a:r>
              <a:rPr sz="1000" dirty="0">
                <a:latin typeface="KoPub돋움체 Medium" panose="00000600000000000000" pitchFamily="2" charset="-127"/>
                <a:ea typeface="KoPub돋움체 Medium" panose="00000600000000000000" pitchFamily="2" charset="-127"/>
              </a:rPr>
              <a:t> </a:t>
            </a:r>
            <a:r>
              <a:rPr sz="1000" dirty="0" err="1">
                <a:latin typeface="KoPub돋움체 Medium" panose="00000600000000000000" pitchFamily="2" charset="-127"/>
                <a:ea typeface="KoPub돋움체 Medium" panose="00000600000000000000" pitchFamily="2" charset="-127"/>
              </a:rPr>
              <a:t>유입</a:t>
            </a:r>
            <a:r>
              <a:rPr lang="ko-KR" altLang="en-US" sz="1000" dirty="0">
                <a:latin typeface="KoPub돋움체 Medium" panose="00000600000000000000" pitchFamily="2" charset="-127"/>
                <a:ea typeface="KoPub돋움체 Medium" panose="00000600000000000000" pitchFamily="2" charset="-127"/>
              </a:rPr>
              <a:t>시 </a:t>
            </a:r>
            <a:r>
              <a:rPr sz="1000" dirty="0">
                <a:latin typeface="KoPub돋움체 Medium" panose="00000600000000000000" pitchFamily="2" charset="-127"/>
                <a:ea typeface="KoPub돋움체 Medium" panose="00000600000000000000" pitchFamily="2" charset="-127"/>
              </a:rPr>
              <a:t>Nonce </a:t>
            </a:r>
            <a:r>
              <a:rPr sz="1000" dirty="0" err="1">
                <a:latin typeface="KoPub돋움체 Medium" panose="00000600000000000000" pitchFamily="2" charset="-127"/>
                <a:ea typeface="KoPub돋움체 Medium" panose="00000600000000000000" pitchFamily="2" charset="-127"/>
              </a:rPr>
              <a:t>소각으로</a:t>
            </a:r>
            <a:r>
              <a:rPr sz="1000" dirty="0">
                <a:latin typeface="KoPub돋움체 Medium" panose="00000600000000000000" pitchFamily="2" charset="-127"/>
                <a:ea typeface="KoPub돋움체 Medium" panose="00000600000000000000" pitchFamily="2" charset="-127"/>
              </a:rPr>
              <a:t> </a:t>
            </a:r>
            <a:r>
              <a:rPr sz="1000" dirty="0" err="1">
                <a:latin typeface="KoPub돋움체 Medium" panose="00000600000000000000" pitchFamily="2" charset="-127"/>
                <a:ea typeface="KoPub돋움체 Medium" panose="00000600000000000000" pitchFamily="2" charset="-127"/>
              </a:rPr>
              <a:t>백엔드</a:t>
            </a:r>
            <a:r>
              <a:rPr sz="1000" dirty="0">
                <a:latin typeface="KoPub돋움체 Medium" panose="00000600000000000000" pitchFamily="2" charset="-127"/>
                <a:ea typeface="KoPub돋움체 Medium" panose="00000600000000000000" pitchFamily="2" charset="-127"/>
              </a:rPr>
              <a:t> CPU </a:t>
            </a:r>
            <a:r>
              <a:rPr sz="1000" dirty="0" err="1">
                <a:latin typeface="KoPub돋움체 Medium" panose="00000600000000000000" pitchFamily="2" charset="-127"/>
                <a:ea typeface="KoPub돋움체 Medium" panose="00000600000000000000" pitchFamily="2" charset="-127"/>
              </a:rPr>
              <a:t>변동률</a:t>
            </a:r>
            <a:r>
              <a:rPr sz="1000" dirty="0">
                <a:latin typeface="KoPub돋움체 Medium" panose="00000600000000000000" pitchFamily="2" charset="-127"/>
                <a:ea typeface="KoPub돋움체 Medium" panose="00000600000000000000" pitchFamily="2" charset="-127"/>
              </a:rPr>
              <a:t> 0% </a:t>
            </a:r>
            <a:r>
              <a:rPr sz="1000" dirty="0" err="1">
                <a:latin typeface="KoPub돋움체 Medium" panose="00000600000000000000" pitchFamily="2" charset="-127"/>
                <a:ea typeface="KoPub돋움체 Medium" panose="00000600000000000000" pitchFamily="2" charset="-127"/>
              </a:rPr>
              <a:t>유지</a:t>
            </a:r>
            <a:endParaRPr sz="1000" dirty="0">
              <a:latin typeface="KoPub돋움체 Medium" panose="00000600000000000000" pitchFamily="2" charset="-127"/>
              <a:ea typeface="KoPub돋움체 Medium" panose="00000600000000000000" pitchFamily="2" charset="-127"/>
            </a:endParaRPr>
          </a:p>
        </p:txBody>
      </p:sp>
      <p:sp>
        <p:nvSpPr>
          <p:cNvPr id="23" name="Rounded Rectangle 22"/>
          <p:cNvSpPr/>
          <p:nvPr/>
        </p:nvSpPr>
        <p:spPr>
          <a:xfrm>
            <a:off x="5199480" y="4104000"/>
            <a:ext cx="4212000" cy="954000"/>
          </a:xfrm>
          <a:prstGeom prst="roundRect">
            <a:avLst/>
          </a:prstGeom>
          <a:solidFill>
            <a:srgbClr val="F0FDFA"/>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289480" y="4194000"/>
            <a:ext cx="4032000" cy="708207"/>
          </a:xfrm>
          <a:prstGeom prst="rect">
            <a:avLst/>
          </a:prstGeom>
          <a:noFill/>
        </p:spPr>
        <p:txBody>
          <a:bodyPr wrap="square" lIns="0" tIns="0" rIns="0" bIns="0">
            <a:spAutoFit/>
          </a:bodyPr>
          <a:lstStyle/>
          <a:p>
            <a:pPr>
              <a:lnSpc>
                <a:spcPct val="150000"/>
              </a:lnSpc>
              <a:defRPr sz="900" b="1">
                <a:solidFill>
                  <a:srgbClr val="009A93"/>
                </a:solidFill>
                <a:latin typeface="KoPub돋움체 Bold"/>
              </a:defRPr>
            </a:pPr>
            <a:r>
              <a:rPr sz="1000" dirty="0">
                <a:latin typeface="KoPub돋움체 Bold"/>
              </a:rPr>
              <a:t>[</a:t>
            </a:r>
            <a:r>
              <a:rPr sz="1000" dirty="0" err="1">
                <a:latin typeface="KoPub돋움체 Bold"/>
              </a:rPr>
              <a:t>방어</a:t>
            </a:r>
            <a:r>
              <a:rPr sz="1000" dirty="0">
                <a:latin typeface="KoPub돋움체 Bold"/>
              </a:rPr>
              <a:t> 3]  </a:t>
            </a:r>
            <a:r>
              <a:rPr sz="1000" dirty="0" err="1">
                <a:latin typeface="KoPub돋움체 Bold"/>
              </a:rPr>
              <a:t>고립</a:t>
            </a:r>
            <a:r>
              <a:rPr sz="1000" dirty="0">
                <a:latin typeface="KoPub돋움체 Bold"/>
              </a:rPr>
              <a:t> </a:t>
            </a:r>
            <a:r>
              <a:rPr sz="1000" dirty="0" err="1">
                <a:latin typeface="KoPub돋움체 Bold"/>
              </a:rPr>
              <a:t>즉시</a:t>
            </a:r>
            <a:r>
              <a:rPr sz="1000" dirty="0">
                <a:latin typeface="KoPub돋움체 Bold"/>
              </a:rPr>
              <a:t> 503 Fail-Closed </a:t>
            </a:r>
            <a:r>
              <a:rPr sz="1000" dirty="0" err="1">
                <a:latin typeface="KoPub돋움체 Bold"/>
              </a:rPr>
              <a:t>격리</a:t>
            </a:r>
            <a:r>
              <a:rPr sz="1000" dirty="0">
                <a:latin typeface="KoPub돋움체 Bold"/>
              </a:rPr>
              <a:t> &amp; Streams 3단계 </a:t>
            </a:r>
            <a:r>
              <a:rPr sz="1000" dirty="0" err="1">
                <a:latin typeface="KoPub돋움체 Bold"/>
              </a:rPr>
              <a:t>완독</a:t>
            </a:r>
            <a:endParaRPr sz="1000" dirty="0">
              <a:latin typeface="KoPub돋움체 Bold"/>
            </a:endParaRPr>
          </a:p>
          <a:p>
            <a:pPr>
              <a:lnSpc>
                <a:spcPct val="150000"/>
              </a:lnSpc>
              <a:spcBef>
                <a:spcPts val="250"/>
              </a:spcBef>
              <a:defRPr sz="800">
                <a:solidFill>
                  <a:srgbClr val="0E306D"/>
                </a:solidFill>
                <a:latin typeface="KoPub돋움체 Medium"/>
              </a:defRPr>
            </a:pPr>
            <a:r>
              <a:rPr sz="1000" dirty="0" err="1">
                <a:latin typeface="KoPub돋움체 Medium"/>
              </a:rPr>
              <a:t>통신</a:t>
            </a:r>
            <a:r>
              <a:rPr sz="1000" dirty="0">
                <a:latin typeface="KoPub돋움체 Medium"/>
              </a:rPr>
              <a:t> </a:t>
            </a:r>
            <a:r>
              <a:rPr sz="1000" dirty="0" err="1">
                <a:latin typeface="KoPub돋움체 Medium"/>
              </a:rPr>
              <a:t>단절</a:t>
            </a:r>
            <a:r>
              <a:rPr sz="1000" dirty="0">
                <a:latin typeface="KoPub돋움체 Medium"/>
              </a:rPr>
              <a:t> </a:t>
            </a:r>
            <a:r>
              <a:rPr sz="1000" dirty="0" err="1">
                <a:latin typeface="KoPub돋움체 Medium"/>
              </a:rPr>
              <a:t>노드는</a:t>
            </a:r>
            <a:r>
              <a:rPr sz="1000" dirty="0">
                <a:latin typeface="KoPub돋움체 Medium"/>
              </a:rPr>
              <a:t> </a:t>
            </a:r>
            <a:r>
              <a:rPr sz="1000" dirty="0" err="1">
                <a:latin typeface="KoPub돋움체 Medium"/>
              </a:rPr>
              <a:t>낡은</a:t>
            </a:r>
            <a:r>
              <a:rPr sz="1000" dirty="0">
                <a:latin typeface="KoPub돋움체 Medium"/>
              </a:rPr>
              <a:t> </a:t>
            </a:r>
            <a:r>
              <a:rPr sz="1000" dirty="0" err="1">
                <a:latin typeface="KoPub돋움체 Medium"/>
              </a:rPr>
              <a:t>캐시</a:t>
            </a:r>
            <a:r>
              <a:rPr sz="1000" dirty="0">
                <a:latin typeface="KoPub돋움체 Medium"/>
              </a:rPr>
              <a:t> </a:t>
            </a:r>
            <a:r>
              <a:rPr sz="1000" dirty="0" err="1">
                <a:latin typeface="KoPub돋움체 Medium"/>
              </a:rPr>
              <a:t>참조를</a:t>
            </a:r>
            <a:r>
              <a:rPr sz="1000" dirty="0">
                <a:latin typeface="KoPub돋움체 Medium"/>
              </a:rPr>
              <a:t> </a:t>
            </a:r>
            <a:r>
              <a:rPr sz="1000" dirty="0" err="1">
                <a:latin typeface="KoPub돋움체 Medium"/>
              </a:rPr>
              <a:t>즉시</a:t>
            </a:r>
            <a:r>
              <a:rPr sz="1000" dirty="0">
                <a:latin typeface="KoPub돋움체 Medium"/>
              </a:rPr>
              <a:t> 503으로 </a:t>
            </a:r>
            <a:r>
              <a:rPr sz="1000" dirty="0" err="1">
                <a:latin typeface="KoPub돋움체 Medium"/>
              </a:rPr>
              <a:t>차단하여</a:t>
            </a:r>
            <a:r>
              <a:rPr sz="1000" dirty="0">
                <a:latin typeface="KoPub돋움체 Medium"/>
              </a:rPr>
              <a:t> </a:t>
            </a:r>
            <a:r>
              <a:rPr sz="1000" dirty="0" err="1">
                <a:latin typeface="KoPub돋움체 Medium"/>
              </a:rPr>
              <a:t>스플릿</a:t>
            </a:r>
            <a:r>
              <a:rPr sz="1000" dirty="0">
                <a:latin typeface="KoPub돋움체 Medium"/>
              </a:rPr>
              <a:t> </a:t>
            </a:r>
            <a:r>
              <a:rPr sz="1000" dirty="0" err="1">
                <a:latin typeface="KoPub돋움체 Medium"/>
              </a:rPr>
              <a:t>브레인</a:t>
            </a:r>
            <a:r>
              <a:rPr sz="1000" dirty="0">
                <a:latin typeface="KoPub돋움체 Medium"/>
              </a:rPr>
              <a:t> </a:t>
            </a:r>
            <a:r>
              <a:rPr sz="1000" dirty="0" err="1">
                <a:latin typeface="KoPub돋움체 Medium"/>
              </a:rPr>
              <a:t>방지</a:t>
            </a:r>
            <a:br>
              <a:rPr sz="1000" dirty="0"/>
            </a:br>
            <a:r>
              <a:rPr sz="1000" dirty="0" err="1">
                <a:latin typeface="KoPub돋움체 Medium"/>
              </a:rPr>
              <a:t>복구</a:t>
            </a:r>
            <a:r>
              <a:rPr sz="1000" dirty="0">
                <a:latin typeface="KoPub돋움체 Medium"/>
              </a:rPr>
              <a:t> </a:t>
            </a:r>
            <a:r>
              <a:rPr sz="1000" dirty="0" err="1">
                <a:latin typeface="KoPub돋움체 Medium"/>
              </a:rPr>
              <a:t>즉시</a:t>
            </a:r>
            <a:r>
              <a:rPr sz="1000" dirty="0">
                <a:latin typeface="KoPub돋움체 Medium"/>
              </a:rPr>
              <a:t> Redis Streams 3단계(</a:t>
            </a:r>
            <a:r>
              <a:rPr sz="1000" dirty="0" err="1">
                <a:latin typeface="KoPub돋움체 Medium"/>
              </a:rPr>
              <a:t>PEL+XAUTOCLAIM+신규</a:t>
            </a:r>
            <a:r>
              <a:rPr sz="1000" dirty="0">
                <a:latin typeface="KoPub돋움체 Medium"/>
              </a:rPr>
              <a:t>) </a:t>
            </a:r>
            <a:r>
              <a:rPr sz="1000" dirty="0" err="1">
                <a:latin typeface="KoPub돋움체 Medium"/>
              </a:rPr>
              <a:t>완독으로</a:t>
            </a:r>
            <a:r>
              <a:rPr sz="1000" dirty="0">
                <a:latin typeface="KoPub돋움체 Medium"/>
              </a:rPr>
              <a:t> </a:t>
            </a:r>
            <a:r>
              <a:rPr sz="1000" dirty="0" err="1">
                <a:latin typeface="KoPub돋움체 Medium"/>
              </a:rPr>
              <a:t>동기화</a:t>
            </a:r>
            <a:endParaRPr sz="1000" dirty="0">
              <a:latin typeface="KoPub돋움체 Medium"/>
            </a:endParaRPr>
          </a:p>
        </p:txBody>
      </p:sp>
      <p:sp>
        <p:nvSpPr>
          <p:cNvPr id="25" name="Rounded Rectangle 24"/>
          <p:cNvSpPr/>
          <p:nvPr/>
        </p:nvSpPr>
        <p:spPr>
          <a:xfrm>
            <a:off x="5199480" y="5328000"/>
            <a:ext cx="1332000" cy="396000"/>
          </a:xfrm>
          <a:prstGeom prst="roundRect">
            <a:avLst/>
          </a:prstGeom>
          <a:solidFill>
            <a:srgbClr val="E3F3F2"/>
          </a:solidFill>
          <a:ln>
            <a:solidFill>
              <a:srgbClr val="A7F3D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0E306D"/>
                </a:solidFill>
                <a:latin typeface="KoPub돋움체 Bold"/>
              </a:defRPr>
            </a:pPr>
            <a:r>
              <a:rPr sz="1000" dirty="0" err="1">
                <a:latin typeface="KoPub돋움체 Bold"/>
              </a:rPr>
              <a:t>인가</a:t>
            </a:r>
            <a:r>
              <a:rPr sz="1000" dirty="0">
                <a:latin typeface="KoPub돋움체 Bold"/>
              </a:rPr>
              <a:t> </a:t>
            </a:r>
            <a:r>
              <a:rPr sz="1000" dirty="0" err="1">
                <a:latin typeface="KoPub돋움체 Bold"/>
              </a:rPr>
              <a:t>오버헤드</a:t>
            </a:r>
            <a:r>
              <a:rPr sz="1000" dirty="0">
                <a:latin typeface="KoPub돋움체 Bold"/>
              </a:rPr>
              <a:t>: 0.85 </a:t>
            </a:r>
            <a:r>
              <a:rPr sz="1000" dirty="0" err="1">
                <a:latin typeface="KoPub돋움체 Bold"/>
              </a:rPr>
              <a:t>ms</a:t>
            </a:r>
            <a:endParaRPr sz="1000" dirty="0">
              <a:latin typeface="KoPub돋움체 Bold"/>
            </a:endParaRPr>
          </a:p>
        </p:txBody>
      </p:sp>
      <p:sp>
        <p:nvSpPr>
          <p:cNvPr id="26" name="Rounded Rectangle 25"/>
          <p:cNvSpPr/>
          <p:nvPr/>
        </p:nvSpPr>
        <p:spPr>
          <a:xfrm>
            <a:off x="6639480" y="5328000"/>
            <a:ext cx="1332000" cy="396000"/>
          </a:xfrm>
          <a:prstGeom prst="roundRect">
            <a:avLst/>
          </a:prstGeom>
          <a:solidFill>
            <a:srgbClr val="E3F3F2"/>
          </a:solidFill>
          <a:ln>
            <a:solidFill>
              <a:srgbClr val="A7F3D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009A93"/>
                </a:solidFill>
                <a:latin typeface="KoPub돋움체 Bold"/>
              </a:defRPr>
            </a:pPr>
            <a:r>
              <a:rPr sz="1000" dirty="0">
                <a:latin typeface="KoPub돋움체 Bold"/>
              </a:rPr>
              <a:t>DB </a:t>
            </a:r>
            <a:r>
              <a:rPr sz="1000" dirty="0" err="1">
                <a:latin typeface="KoPub돋움체 Bold"/>
              </a:rPr>
              <a:t>부하</a:t>
            </a:r>
            <a:r>
              <a:rPr sz="1000" dirty="0">
                <a:latin typeface="KoPub돋움체 Bold"/>
              </a:rPr>
              <a:t> </a:t>
            </a:r>
            <a:r>
              <a:rPr sz="1000" dirty="0" err="1">
                <a:latin typeface="KoPub돋움체 Bold"/>
              </a:rPr>
              <a:t>절감</a:t>
            </a:r>
            <a:r>
              <a:rPr sz="1000" dirty="0">
                <a:latin typeface="KoPub돋움체 Bold"/>
              </a:rPr>
              <a:t>: 99.9%</a:t>
            </a:r>
          </a:p>
        </p:txBody>
      </p:sp>
      <p:sp>
        <p:nvSpPr>
          <p:cNvPr id="27" name="Rounded Rectangle 26"/>
          <p:cNvSpPr/>
          <p:nvPr/>
        </p:nvSpPr>
        <p:spPr>
          <a:xfrm>
            <a:off x="8079480" y="5328000"/>
            <a:ext cx="1332000" cy="396000"/>
          </a:xfrm>
          <a:prstGeom prst="roundRect">
            <a:avLst/>
          </a:prstGeom>
          <a:solidFill>
            <a:srgbClr val="E3F3F2"/>
          </a:solidFill>
          <a:ln>
            <a:solidFill>
              <a:srgbClr val="A7F3D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009A93"/>
                </a:solidFill>
                <a:latin typeface="KoPub돋움체 Bold"/>
              </a:defRPr>
            </a:pPr>
            <a:r>
              <a:rPr sz="1000" dirty="0" err="1">
                <a:latin typeface="KoPub돋움체 Bold"/>
              </a:rPr>
              <a:t>요청</a:t>
            </a:r>
            <a:r>
              <a:rPr sz="1000" dirty="0">
                <a:latin typeface="KoPub돋움체 Bold"/>
              </a:rPr>
              <a:t> </a:t>
            </a:r>
            <a:r>
              <a:rPr sz="1000" dirty="0" err="1">
                <a:latin typeface="KoPub돋움체 Bold"/>
              </a:rPr>
              <a:t>분류</a:t>
            </a:r>
            <a:r>
              <a:rPr sz="1000" dirty="0">
                <a:latin typeface="KoPub돋움체 Bold"/>
              </a:rPr>
              <a:t> </a:t>
            </a:r>
            <a:r>
              <a:rPr sz="1000" dirty="0" err="1">
                <a:latin typeface="KoPub돋움체 Bold"/>
              </a:rPr>
              <a:t>오차</a:t>
            </a:r>
            <a:r>
              <a:rPr sz="1000" dirty="0">
                <a:latin typeface="KoPub돋움체 Bold"/>
              </a:rPr>
              <a:t>: 0건</a:t>
            </a:r>
          </a:p>
        </p:txBody>
      </p:sp>
      <p:sp>
        <p:nvSpPr>
          <p:cNvPr id="28" name="Rounded Rectangle 27"/>
          <p:cNvSpPr/>
          <p:nvPr/>
        </p:nvSpPr>
        <p:spPr>
          <a:xfrm>
            <a:off x="356760" y="6048000"/>
            <a:ext cx="9198720" cy="342000"/>
          </a:xfrm>
          <a:prstGeom prst="roundRect">
            <a:avLst/>
          </a:prstGeom>
          <a:solidFill>
            <a:srgbClr val="F1F1F1"/>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900081" y="6142056"/>
            <a:ext cx="6105839" cy="153888"/>
          </a:xfrm>
          <a:prstGeom prst="rect">
            <a:avLst/>
          </a:prstGeom>
          <a:noFill/>
        </p:spPr>
        <p:txBody>
          <a:bodyPr wrap="none" lIns="0" tIns="0" rIns="0" bIns="0" anchor="ctr">
            <a:spAutoFit/>
          </a:bodyPr>
          <a:lstStyle/>
          <a:p>
            <a:pPr>
              <a:defRPr sz="900" b="1">
                <a:solidFill>
                  <a:srgbClr val="0F172A"/>
                </a:solidFill>
                <a:latin typeface="KoPub돋움체 Bold"/>
              </a:defRPr>
            </a:pPr>
            <a:r>
              <a:rPr sz="1000" dirty="0" err="1">
                <a:latin typeface="KoPub돋움체 Bold"/>
              </a:rPr>
              <a:t>인프라</a:t>
            </a:r>
            <a:r>
              <a:rPr sz="1000" dirty="0">
                <a:latin typeface="KoPub돋움체 Bold"/>
              </a:rPr>
              <a:t> </a:t>
            </a:r>
            <a:r>
              <a:rPr sz="1000" dirty="0" err="1">
                <a:latin typeface="KoPub돋움체 Bold"/>
              </a:rPr>
              <a:t>장애</a:t>
            </a:r>
            <a:r>
              <a:rPr sz="1000" dirty="0">
                <a:latin typeface="KoPub돋움체 Bold"/>
              </a:rPr>
              <a:t>(DB </a:t>
            </a:r>
            <a:r>
              <a:rPr sz="1000" dirty="0" err="1">
                <a:latin typeface="KoPub돋움체 Bold"/>
              </a:rPr>
              <a:t>다운</a:t>
            </a:r>
            <a:r>
              <a:rPr sz="1000" dirty="0">
                <a:latin typeface="KoPub돋움체 Bold"/>
              </a:rPr>
              <a:t>, Redis </a:t>
            </a:r>
            <a:r>
              <a:rPr sz="1000" dirty="0" err="1">
                <a:latin typeface="KoPub돋움체 Bold"/>
              </a:rPr>
              <a:t>마비</a:t>
            </a:r>
            <a:r>
              <a:rPr sz="1000" dirty="0">
                <a:latin typeface="KoPub돋움체 Bold"/>
              </a:rPr>
              <a:t>, </a:t>
            </a:r>
            <a:r>
              <a:rPr sz="1000" dirty="0" err="1">
                <a:latin typeface="KoPub돋움체 Bold"/>
              </a:rPr>
              <a:t>네트워크</a:t>
            </a:r>
            <a:r>
              <a:rPr sz="1000" dirty="0">
                <a:latin typeface="KoPub돋움체 Bold"/>
              </a:rPr>
              <a:t> </a:t>
            </a:r>
            <a:r>
              <a:rPr sz="1000" dirty="0" err="1">
                <a:latin typeface="KoPub돋움체 Bold"/>
              </a:rPr>
              <a:t>단절</a:t>
            </a:r>
            <a:r>
              <a:rPr sz="1000" dirty="0">
                <a:latin typeface="KoPub돋움체 Bold"/>
              </a:rPr>
              <a:t>)가 </a:t>
            </a:r>
            <a:r>
              <a:rPr sz="1000" dirty="0" err="1">
                <a:latin typeface="KoPub돋움체 Bold"/>
              </a:rPr>
              <a:t>발생해도</a:t>
            </a:r>
            <a:r>
              <a:rPr sz="1000" dirty="0">
                <a:latin typeface="KoPub돋움체 Bold"/>
              </a:rPr>
              <a:t> </a:t>
            </a:r>
            <a:r>
              <a:rPr sz="1000" dirty="0" err="1">
                <a:latin typeface="KoPub돋움체 Bold"/>
              </a:rPr>
              <a:t>요청을</a:t>
            </a:r>
            <a:r>
              <a:rPr sz="1000" dirty="0">
                <a:latin typeface="KoPub돋움체 Bold"/>
              </a:rPr>
              <a:t> </a:t>
            </a:r>
            <a:r>
              <a:rPr sz="1000" dirty="0" err="1">
                <a:latin typeface="KoPub돋움체 Bold"/>
              </a:rPr>
              <a:t>분류·추적하며</a:t>
            </a:r>
            <a:r>
              <a:rPr sz="1000" dirty="0">
                <a:latin typeface="KoPub돋움체 Bold"/>
              </a:rPr>
              <a:t> </a:t>
            </a:r>
            <a:r>
              <a:rPr sz="1000" dirty="0" err="1">
                <a:latin typeface="KoPub돋움체 Bold"/>
              </a:rPr>
              <a:t>미인가</a:t>
            </a:r>
            <a:r>
              <a:rPr sz="1000" dirty="0">
                <a:latin typeface="KoPub돋움체 Bold"/>
              </a:rPr>
              <a:t> </a:t>
            </a:r>
            <a:r>
              <a:rPr sz="1000" dirty="0" err="1">
                <a:latin typeface="KoPub돋움체 Bold"/>
              </a:rPr>
              <a:t>접근을</a:t>
            </a:r>
            <a:r>
              <a:rPr sz="1000" dirty="0">
                <a:latin typeface="KoPub돋움체 Bold"/>
              </a:rPr>
              <a:t> Fail-</a:t>
            </a:r>
            <a:r>
              <a:rPr sz="1000" dirty="0" err="1">
                <a:latin typeface="KoPub돋움체 Bold"/>
              </a:rPr>
              <a:t>Closed로</a:t>
            </a:r>
            <a:r>
              <a:rPr sz="1000" dirty="0">
                <a:latin typeface="KoPub돋움체 Bold"/>
              </a:rPr>
              <a:t> </a:t>
            </a:r>
            <a:r>
              <a:rPr sz="1000" dirty="0" err="1">
                <a:latin typeface="KoPub돋움체 Bold"/>
              </a:rPr>
              <a:t>차단</a:t>
            </a:r>
            <a:endParaRPr sz="1000" dirty="0">
              <a:latin typeface="KoPub돋움체 Bold"/>
            </a:endParaRPr>
          </a:p>
        </p:txBody>
      </p:sp>
      <p:sp>
        <p:nvSpPr>
          <p:cNvPr id="31" name="TextBox 30"/>
          <p:cNvSpPr txBox="1"/>
          <p:nvPr/>
        </p:nvSpPr>
        <p:spPr>
          <a:xfrm>
            <a:off x="8723520" y="6537960"/>
            <a:ext cx="831960" cy="246960"/>
          </a:xfrm>
          <a:prstGeom prst="rect">
            <a:avLst/>
          </a:prstGeom>
          <a:noFill/>
        </p:spPr>
        <p:txBody>
          <a:bodyPr wrap="none" lIns="0" tIns="0" rIns="0" bIns="0">
            <a:spAutoFit/>
          </a:bodyPr>
          <a:lstStyle/>
          <a:p>
            <a:pPr algn="r">
              <a:defRPr sz="1000" b="1">
                <a:solidFill>
                  <a:srgbClr val="6B7280"/>
                </a:solidFill>
                <a:latin typeface="KoPub돋움체 Bold"/>
              </a:defRPr>
            </a:pPr>
            <a:r>
              <a:rPr>
                <a:latin typeface="KoPub돋움체 Bold"/>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9FAFD"/>
        </a:solidFill>
        <a:effectLst/>
      </p:bgPr>
    </p:bg>
    <p:spTree>
      <p:nvGrpSpPr>
        <p:cNvPr id="1" name=""/>
        <p:cNvGrpSpPr/>
        <p:nvPr/>
      </p:nvGrpSpPr>
      <p:grpSpPr>
        <a:xfrm>
          <a:off x="0" y="0"/>
          <a:ext cx="0" cy="0"/>
          <a:chOff x="0" y="0"/>
          <a:chExt cx="0" cy="0"/>
        </a:xfrm>
      </p:grpSpPr>
      <p:sp>
        <p:nvSpPr>
          <p:cNvPr id="2" name="Rounded Rectangle 1"/>
          <p:cNvSpPr/>
          <p:nvPr/>
        </p:nvSpPr>
        <p:spPr>
          <a:xfrm>
            <a:off x="356760" y="292680"/>
            <a:ext cx="9198720" cy="493920"/>
          </a:xfrm>
          <a:prstGeom prst="roundRect">
            <a:avLst/>
          </a:prstGeom>
          <a:solidFill>
            <a:srgbClr val="0E306D"/>
          </a:solidFill>
          <a:ln w="12700">
            <a:solidFill>
              <a:srgbClr val="0E30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80"/>
            <a:ext cx="8778240" cy="493920"/>
          </a:xfrm>
          <a:prstGeom prst="rect">
            <a:avLst/>
          </a:prstGeom>
          <a:noFill/>
        </p:spPr>
        <p:txBody>
          <a:bodyPr wrap="square" lIns="0" tIns="0" rIns="0" bIns="0" anchor="ctr">
            <a:spAutoFit/>
          </a:bodyPr>
          <a:lstStyle/>
          <a:p>
            <a:pPr>
              <a:defRPr sz="2000" b="1">
                <a:solidFill>
                  <a:srgbClr val="FFFFFF"/>
                </a:solidFill>
                <a:latin typeface="KoPub돋움체 Bold"/>
              </a:defRPr>
            </a:pPr>
            <a:r>
              <a:rPr dirty="0">
                <a:latin typeface="KoPub돋움체 Bold"/>
              </a:rPr>
              <a:t>02. </a:t>
            </a:r>
            <a:r>
              <a:rPr dirty="0" err="1">
                <a:latin typeface="KoPub돋움체 Bold"/>
              </a:rPr>
              <a:t>제로</a:t>
            </a:r>
            <a:r>
              <a:rPr dirty="0">
                <a:latin typeface="KoPub돋움체 Bold"/>
              </a:rPr>
              <a:t> </a:t>
            </a:r>
            <a:r>
              <a:rPr dirty="0" err="1">
                <a:latin typeface="KoPub돋움체 Bold"/>
              </a:rPr>
              <a:t>트러스트</a:t>
            </a:r>
            <a:r>
              <a:rPr dirty="0">
                <a:latin typeface="KoPub돋움체 Bold"/>
              </a:rPr>
              <a:t> 6단계 </a:t>
            </a:r>
            <a:r>
              <a:rPr dirty="0" err="1">
                <a:latin typeface="KoPub돋움체 Bold"/>
              </a:rPr>
              <a:t>인가</a:t>
            </a:r>
            <a:r>
              <a:rPr dirty="0">
                <a:latin typeface="KoPub돋움체 Bold"/>
              </a:rPr>
              <a:t> </a:t>
            </a:r>
            <a:r>
              <a:rPr dirty="0" err="1">
                <a:latin typeface="KoPub돋움체 Bold"/>
              </a:rPr>
              <a:t>파이프라인</a:t>
            </a:r>
            <a:r>
              <a:rPr dirty="0">
                <a:latin typeface="KoPub돋움체 Bold"/>
              </a:rPr>
              <a:t> </a:t>
            </a:r>
            <a:r>
              <a:rPr dirty="0" err="1">
                <a:latin typeface="KoPub돋움체 Bold"/>
              </a:rPr>
              <a:t>총괄</a:t>
            </a:r>
            <a:r>
              <a:rPr dirty="0">
                <a:latin typeface="KoPub돋움체 Bold"/>
              </a:rPr>
              <a:t> </a:t>
            </a:r>
            <a:r>
              <a:rPr dirty="0" err="1">
                <a:latin typeface="KoPub돋움체 Bold"/>
              </a:rPr>
              <a:t>매핑</a:t>
            </a:r>
            <a:endParaRPr dirty="0">
              <a:latin typeface="KoPub돋움체 Bold"/>
            </a:endParaRPr>
          </a:p>
        </p:txBody>
      </p:sp>
      <p:sp>
        <p:nvSpPr>
          <p:cNvPr id="4" name="Rounded Rectangle 3"/>
          <p:cNvSpPr/>
          <p:nvPr/>
        </p:nvSpPr>
        <p:spPr>
          <a:xfrm>
            <a:off x="356760" y="914400"/>
            <a:ext cx="9198720" cy="347400"/>
          </a:xfrm>
          <a:prstGeom prst="roundRect">
            <a:avLst/>
          </a:prstGeom>
          <a:solidFill>
            <a:srgbClr val="F1F1F1"/>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011156"/>
            <a:ext cx="9052560" cy="153888"/>
          </a:xfrm>
          <a:prstGeom prst="rect">
            <a:avLst/>
          </a:prstGeom>
          <a:noFill/>
        </p:spPr>
        <p:txBody>
          <a:bodyPr wrap="square" lIns="0" tIns="0" rIns="0" bIns="0" anchor="ctr">
            <a:spAutoFit/>
          </a:bodyPr>
          <a:lstStyle/>
          <a:p>
            <a:pPr>
              <a:defRPr sz="1050" b="1">
                <a:solidFill>
                  <a:srgbClr val="0E306D"/>
                </a:solidFill>
                <a:latin typeface="KoPub돋움체 Bold"/>
              </a:defRPr>
            </a:pPr>
            <a:r>
              <a:rPr sz="1000" dirty="0" err="1">
                <a:latin typeface="KoPub돋움체 Bold"/>
              </a:rPr>
              <a:t>저비용</a:t>
            </a:r>
            <a:r>
              <a:rPr sz="1000" dirty="0">
                <a:latin typeface="KoPub돋움체 Bold"/>
              </a:rPr>
              <a:t> </a:t>
            </a:r>
            <a:r>
              <a:rPr sz="1000" dirty="0" err="1">
                <a:latin typeface="KoPub돋움체 Bold"/>
              </a:rPr>
              <a:t>검증</a:t>
            </a:r>
            <a:r>
              <a:rPr sz="1000" dirty="0">
                <a:latin typeface="KoPub돋움체 Bold"/>
              </a:rPr>
              <a:t> </a:t>
            </a:r>
            <a:r>
              <a:rPr sz="1000" dirty="0" err="1">
                <a:latin typeface="KoPub돋움체 Bold"/>
              </a:rPr>
              <a:t>선행</a:t>
            </a:r>
            <a:r>
              <a:rPr sz="1000" dirty="0">
                <a:latin typeface="KoPub돋움체 Bold"/>
              </a:rPr>
              <a:t> </a:t>
            </a:r>
            <a:r>
              <a:rPr sz="1000" dirty="0" err="1">
                <a:latin typeface="KoPub돋움체 Bold"/>
              </a:rPr>
              <a:t>배치로</a:t>
            </a:r>
            <a:r>
              <a:rPr sz="1000" dirty="0">
                <a:latin typeface="KoPub돋움체 Bold"/>
              </a:rPr>
              <a:t> </a:t>
            </a:r>
            <a:r>
              <a:rPr sz="1000" dirty="0" err="1">
                <a:latin typeface="KoPub돋움체 Bold"/>
              </a:rPr>
              <a:t>서버</a:t>
            </a:r>
            <a:r>
              <a:rPr sz="1000" dirty="0">
                <a:latin typeface="KoPub돋움체 Bold"/>
              </a:rPr>
              <a:t> </a:t>
            </a:r>
            <a:r>
              <a:rPr sz="1000" dirty="0" err="1">
                <a:latin typeface="KoPub돋움체 Bold"/>
              </a:rPr>
              <a:t>CPU를</a:t>
            </a:r>
            <a:r>
              <a:rPr sz="1000" dirty="0">
                <a:latin typeface="KoPub돋움체 Bold"/>
              </a:rPr>
              <a:t> </a:t>
            </a:r>
            <a:r>
              <a:rPr sz="1000" dirty="0" err="1">
                <a:latin typeface="KoPub돋움체 Bold"/>
              </a:rPr>
              <a:t>방어하고</a:t>
            </a:r>
            <a:r>
              <a:rPr sz="1000" dirty="0">
                <a:latin typeface="KoPub돋움체 Bold"/>
              </a:rPr>
              <a:t>, </a:t>
            </a:r>
            <a:r>
              <a:rPr sz="1000" dirty="0" err="1">
                <a:latin typeface="KoPub돋움체 Bold"/>
              </a:rPr>
              <a:t>단계별</a:t>
            </a:r>
            <a:r>
              <a:rPr sz="1000" dirty="0">
                <a:latin typeface="KoPub돋움체 Bold"/>
              </a:rPr>
              <a:t> </a:t>
            </a:r>
            <a:r>
              <a:rPr sz="1000" dirty="0" err="1">
                <a:latin typeface="KoPub돋움체 Bold"/>
              </a:rPr>
              <a:t>명확한</a:t>
            </a:r>
            <a:r>
              <a:rPr sz="1000" dirty="0">
                <a:latin typeface="KoPub돋움체 Bold"/>
              </a:rPr>
              <a:t> Fail-Closed/Open </a:t>
            </a:r>
            <a:r>
              <a:rPr sz="1000" dirty="0" err="1">
                <a:latin typeface="KoPub돋움체 Bold"/>
              </a:rPr>
              <a:t>제어</a:t>
            </a:r>
            <a:r>
              <a:rPr sz="1000" dirty="0">
                <a:latin typeface="KoPub돋움체 Bold"/>
              </a:rPr>
              <a:t> 및 </a:t>
            </a:r>
            <a:r>
              <a:rPr sz="1000" dirty="0" err="1">
                <a:latin typeface="KoPub돋움체 Bold"/>
              </a:rPr>
              <a:t>관측</a:t>
            </a:r>
            <a:r>
              <a:rPr sz="1000" dirty="0">
                <a:latin typeface="KoPub돋움체 Bold"/>
              </a:rPr>
              <a:t> </a:t>
            </a:r>
            <a:r>
              <a:rPr sz="1000" dirty="0" err="1">
                <a:latin typeface="KoPub돋움체 Bold"/>
              </a:rPr>
              <a:t>불변식</a:t>
            </a:r>
            <a:r>
              <a:rPr sz="1000" dirty="0">
                <a:latin typeface="KoPub돋움체 Bold"/>
              </a:rPr>
              <a:t> </a:t>
            </a:r>
            <a:r>
              <a:rPr sz="1000" dirty="0" err="1">
                <a:latin typeface="KoPub돋움체 Bold"/>
              </a:rPr>
              <a:t>수립</a:t>
            </a:r>
            <a:endParaRPr sz="1000" dirty="0">
              <a:latin typeface="KoPub돋움체 Bold"/>
            </a:endParaRPr>
          </a:p>
        </p:txBody>
      </p:sp>
      <p:sp>
        <p:nvSpPr>
          <p:cNvPr id="6" name="Rounded Rectangle 5"/>
          <p:cNvSpPr/>
          <p:nvPr/>
        </p:nvSpPr>
        <p:spPr>
          <a:xfrm>
            <a:off x="356760" y="1349998"/>
            <a:ext cx="1458000" cy="4601245"/>
          </a:xfrm>
          <a:prstGeom prst="roundRect">
            <a:avLst>
              <a:gd name="adj" fmla="val 9699"/>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28760" y="1422000"/>
            <a:ext cx="1314000" cy="468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00" b="1">
                <a:solidFill>
                  <a:srgbClr val="009A93"/>
                </a:solidFill>
                <a:latin typeface="KoPub돋움체 Bold"/>
              </a:defRPr>
            </a:pPr>
            <a:r>
              <a:rPr sz="1000" dirty="0">
                <a:latin typeface="KoPub돋움체 Bold"/>
              </a:rPr>
              <a:t>Step 01</a:t>
            </a:r>
          </a:p>
          <a:p>
            <a:pPr algn="ctr">
              <a:defRPr sz="900" b="1">
                <a:solidFill>
                  <a:srgbClr val="0E306D"/>
                </a:solidFill>
                <a:latin typeface="KoPub돋움체 Bold"/>
              </a:defRPr>
            </a:pPr>
            <a:r>
              <a:rPr sz="1000" dirty="0" err="1">
                <a:latin typeface="KoPub돋움체 Bold"/>
              </a:rPr>
              <a:t>mTLS</a:t>
            </a:r>
            <a:r>
              <a:rPr sz="1000" dirty="0">
                <a:latin typeface="KoPub돋움체 Bold"/>
              </a:rPr>
              <a:t> / SPIFFE</a:t>
            </a:r>
          </a:p>
        </p:txBody>
      </p:sp>
      <p:sp>
        <p:nvSpPr>
          <p:cNvPr id="8" name="TextBox 7"/>
          <p:cNvSpPr txBox="1"/>
          <p:nvPr/>
        </p:nvSpPr>
        <p:spPr>
          <a:xfrm>
            <a:off x="753136" y="1908000"/>
            <a:ext cx="665247" cy="138499"/>
          </a:xfrm>
          <a:prstGeom prst="rect">
            <a:avLst/>
          </a:prstGeom>
          <a:noFill/>
        </p:spPr>
        <p:txBody>
          <a:bodyPr wrap="none" lIns="0" tIns="0" rIns="0" bIns="0">
            <a:spAutoFit/>
          </a:bodyPr>
          <a:lstStyle/>
          <a:p>
            <a:pPr algn="ctr">
              <a:defRPr sz="750" b="1">
                <a:solidFill>
                  <a:srgbClr val="6B7280"/>
                </a:solidFill>
                <a:latin typeface="KoPub돋움체 Bold"/>
              </a:defRPr>
            </a:pPr>
            <a:r>
              <a:rPr sz="900" dirty="0" err="1">
                <a:latin typeface="KoPub돋움체 Bold"/>
              </a:rPr>
              <a:t>지연</a:t>
            </a:r>
            <a:r>
              <a:rPr sz="900" dirty="0">
                <a:latin typeface="KoPub돋움체 Bold"/>
              </a:rPr>
              <a:t>: 0.05ms</a:t>
            </a:r>
          </a:p>
        </p:txBody>
      </p:sp>
      <p:sp>
        <p:nvSpPr>
          <p:cNvPr id="9" name="TextBox 8"/>
          <p:cNvSpPr txBox="1"/>
          <p:nvPr/>
        </p:nvSpPr>
        <p:spPr>
          <a:xfrm>
            <a:off x="446760" y="2106000"/>
            <a:ext cx="1278000" cy="3027367"/>
          </a:xfrm>
          <a:prstGeom prst="rect">
            <a:avLst/>
          </a:prstGeom>
          <a:noFill/>
        </p:spPr>
        <p:txBody>
          <a:bodyPr wrap="square" lIns="0" tIns="0" rIns="0" bIns="0">
            <a:spAutoFit/>
          </a:bodyPr>
          <a:lstStyle/>
          <a:p>
            <a:pPr>
              <a:lnSpc>
                <a:spcPct val="150000"/>
              </a:lnSpc>
              <a:defRPr sz="750" b="1">
                <a:solidFill>
                  <a:srgbClr val="0E306D"/>
                </a:solidFill>
                <a:latin typeface="KoPub돋움체 Bold"/>
              </a:defRPr>
            </a:pPr>
            <a:r>
              <a:rPr sz="1000" dirty="0">
                <a:latin typeface="KoPub돋움체 Bold"/>
              </a:rPr>
              <a:t>[</a:t>
            </a:r>
            <a:r>
              <a:rPr sz="1000" dirty="0" err="1">
                <a:latin typeface="KoPub돋움체 Bold"/>
              </a:rPr>
              <a:t>핵심</a:t>
            </a:r>
            <a:r>
              <a:rPr sz="1000" dirty="0">
                <a:latin typeface="KoPub돋움체 Bold"/>
              </a:rPr>
              <a:t> </a:t>
            </a:r>
            <a:r>
              <a:rPr sz="1000" dirty="0" err="1">
                <a:latin typeface="KoPub돋움체 Bold"/>
              </a:rPr>
              <a:t>메커니즘</a:t>
            </a:r>
            <a:r>
              <a:rPr sz="1000" dirty="0">
                <a:latin typeface="KoPub돋움체 Bold"/>
              </a:rPr>
              <a:t>]</a:t>
            </a:r>
          </a:p>
          <a:p>
            <a:pPr>
              <a:lnSpc>
                <a:spcPct val="150000"/>
              </a:lnSpc>
              <a:defRPr sz="700">
                <a:solidFill>
                  <a:srgbClr val="0F172A"/>
                </a:solidFill>
                <a:latin typeface="KoPub돋움체 Medium"/>
              </a:defRPr>
            </a:pPr>
            <a:r>
              <a:rPr sz="1000" dirty="0">
                <a:latin typeface="KoPub돋움체 Medium"/>
              </a:rPr>
              <a:t>• Downstream SAN URI </a:t>
            </a:r>
            <a:r>
              <a:rPr sz="1000" dirty="0" err="1">
                <a:latin typeface="KoPub돋움체 Medium"/>
              </a:rPr>
              <a:t>추출</a:t>
            </a:r>
            <a:br>
              <a:rPr sz="1000" dirty="0"/>
            </a:br>
            <a:r>
              <a:rPr sz="1000" dirty="0">
                <a:latin typeface="KoPub돋움체 Medium"/>
              </a:rPr>
              <a:t>• X-SPIFFE-ID </a:t>
            </a:r>
            <a:r>
              <a:rPr sz="1000" dirty="0" err="1">
                <a:latin typeface="KoPub돋움체 Medium"/>
              </a:rPr>
              <a:t>변조</a:t>
            </a:r>
            <a:r>
              <a:rPr sz="1000" dirty="0">
                <a:latin typeface="KoPub돋움체 Medium"/>
              </a:rPr>
              <a:t> </a:t>
            </a:r>
            <a:r>
              <a:rPr sz="1000" dirty="0" err="1">
                <a:latin typeface="KoPub돋움체 Medium"/>
              </a:rPr>
              <a:t>방지</a:t>
            </a:r>
            <a:endParaRPr lang="en-US" sz="1000" dirty="0">
              <a:latin typeface="KoPub돋움체 Medium"/>
            </a:endParaRPr>
          </a:p>
          <a:p>
            <a:pPr>
              <a:lnSpc>
                <a:spcPct val="150000"/>
              </a:lnSpc>
              <a:defRPr sz="700">
                <a:solidFill>
                  <a:srgbClr val="0F172A"/>
                </a:solidFill>
                <a:latin typeface="KoPub돋움체 Medium"/>
              </a:defRPr>
            </a:pPr>
            <a:endParaRPr sz="1000" dirty="0">
              <a:latin typeface="KoPub돋움체 Medium"/>
            </a:endParaRPr>
          </a:p>
          <a:p>
            <a:pPr>
              <a:lnSpc>
                <a:spcPct val="150000"/>
              </a:lnSpc>
              <a:spcBef>
                <a:spcPts val="200"/>
              </a:spcBef>
              <a:defRPr sz="750" b="1">
                <a:solidFill>
                  <a:srgbClr val="B91C1C"/>
                </a:solidFill>
                <a:latin typeface="KoPub돋움체 Bold"/>
              </a:defRPr>
            </a:pPr>
            <a:r>
              <a:rPr sz="1000" dirty="0">
                <a:latin typeface="KoPub돋움체 Bold"/>
              </a:rPr>
              <a:t>[</a:t>
            </a:r>
            <a:r>
              <a:rPr sz="1000" dirty="0" err="1">
                <a:latin typeface="KoPub돋움체 Bold"/>
              </a:rPr>
              <a:t>차단</a:t>
            </a:r>
            <a:r>
              <a:rPr sz="1000" dirty="0">
                <a:latin typeface="KoPub돋움체 Bold"/>
              </a:rPr>
              <a:t> 및 </a:t>
            </a:r>
            <a:r>
              <a:rPr sz="1000" dirty="0" err="1">
                <a:latin typeface="KoPub돋움체 Bold"/>
              </a:rPr>
              <a:t>제어</a:t>
            </a:r>
            <a:r>
              <a:rPr sz="1000" dirty="0">
                <a:latin typeface="KoPub돋움체 Bold"/>
              </a:rPr>
              <a:t>]</a:t>
            </a:r>
          </a:p>
          <a:p>
            <a:pPr>
              <a:lnSpc>
                <a:spcPct val="150000"/>
              </a:lnSpc>
              <a:defRPr sz="700">
                <a:solidFill>
                  <a:srgbClr val="0F172A"/>
                </a:solidFill>
                <a:latin typeface="KoPub돋움체 Medium"/>
              </a:defRPr>
            </a:pPr>
            <a:r>
              <a:rPr sz="1000" dirty="0">
                <a:latin typeface="KoPub돋움체 Medium"/>
              </a:rPr>
              <a:t>• </a:t>
            </a:r>
            <a:r>
              <a:rPr sz="1000" dirty="0" err="1">
                <a:latin typeface="KoPub돋움체 Medium"/>
              </a:rPr>
              <a:t>정상</a:t>
            </a:r>
            <a:r>
              <a:rPr sz="1000" dirty="0">
                <a:latin typeface="KoPub돋움체 Medium"/>
              </a:rPr>
              <a:t>: Step 2 </a:t>
            </a:r>
            <a:r>
              <a:rPr sz="1000" dirty="0" err="1">
                <a:latin typeface="KoPub돋움체 Medium"/>
              </a:rPr>
              <a:t>전달</a:t>
            </a:r>
            <a:br>
              <a:rPr sz="1000" dirty="0"/>
            </a:br>
            <a:r>
              <a:rPr sz="1000" dirty="0">
                <a:latin typeface="KoPub돋움체 Medium"/>
              </a:rPr>
              <a:t>• </a:t>
            </a:r>
            <a:r>
              <a:rPr sz="1000" dirty="0" err="1">
                <a:latin typeface="KoPub돋움체 Medium"/>
              </a:rPr>
              <a:t>차단</a:t>
            </a:r>
            <a:r>
              <a:rPr sz="1000" dirty="0">
                <a:latin typeface="KoPub돋움체 Medium"/>
              </a:rPr>
              <a:t>: 401 Unauthorized</a:t>
            </a:r>
            <a:endParaRPr lang="en-US" sz="1000" dirty="0">
              <a:latin typeface="KoPub돋움체 Medium"/>
            </a:endParaRPr>
          </a:p>
          <a:p>
            <a:pPr>
              <a:lnSpc>
                <a:spcPct val="150000"/>
              </a:lnSpc>
              <a:defRPr sz="700">
                <a:solidFill>
                  <a:srgbClr val="0F172A"/>
                </a:solidFill>
                <a:latin typeface="KoPub돋움체 Medium"/>
              </a:defRPr>
            </a:pPr>
            <a:endParaRPr sz="1000" dirty="0">
              <a:latin typeface="KoPub돋움체 Medium"/>
            </a:endParaRPr>
          </a:p>
          <a:p>
            <a:pPr>
              <a:lnSpc>
                <a:spcPct val="150000"/>
              </a:lnSpc>
              <a:spcBef>
                <a:spcPts val="200"/>
              </a:spcBef>
              <a:defRPr sz="700" b="1">
                <a:solidFill>
                  <a:srgbClr val="6B7280"/>
                </a:solidFill>
                <a:latin typeface="KoPub돋움체 Bold"/>
              </a:defRPr>
            </a:pPr>
            <a:r>
              <a:rPr sz="1000" dirty="0">
                <a:latin typeface="KoPub돋움체 Bold"/>
              </a:rPr>
              <a:t>[</a:t>
            </a:r>
            <a:r>
              <a:rPr sz="1000" dirty="0" err="1">
                <a:latin typeface="KoPub돋움체 Bold"/>
              </a:rPr>
              <a:t>관측</a:t>
            </a:r>
            <a:r>
              <a:rPr sz="1000" dirty="0">
                <a:latin typeface="KoPub돋움체 Bold"/>
              </a:rPr>
              <a:t> </a:t>
            </a:r>
            <a:r>
              <a:rPr sz="1000" dirty="0" err="1">
                <a:latin typeface="KoPub돋움체 Bold"/>
              </a:rPr>
              <a:t>카운터</a:t>
            </a:r>
            <a:r>
              <a:rPr sz="1000" dirty="0">
                <a:latin typeface="KoPub돋움체 Bold"/>
              </a:rPr>
              <a:t>]</a:t>
            </a:r>
          </a:p>
          <a:p>
            <a:pPr>
              <a:lnSpc>
                <a:spcPct val="150000"/>
              </a:lnSpc>
              <a:defRPr sz="650">
                <a:solidFill>
                  <a:srgbClr val="009A93"/>
                </a:solidFill>
                <a:latin typeface="Consolas"/>
              </a:defRPr>
            </a:pPr>
            <a:r>
              <a:rPr sz="1000" dirty="0">
                <a:latin typeface="Consolas"/>
              </a:rPr>
              <a:t>[</a:t>
            </a:r>
            <a:r>
              <a:rPr sz="1000" dirty="0" err="1">
                <a:latin typeface="Consolas"/>
              </a:rPr>
              <a:t>stats.requests</a:t>
            </a:r>
            <a:r>
              <a:rPr sz="1000" dirty="0">
                <a:latin typeface="Consolas"/>
              </a:rPr>
              <a:t>]</a:t>
            </a:r>
          </a:p>
        </p:txBody>
      </p:sp>
      <p:sp>
        <p:nvSpPr>
          <p:cNvPr id="10" name="Rounded Rectangle 9"/>
          <p:cNvSpPr/>
          <p:nvPr/>
        </p:nvSpPr>
        <p:spPr>
          <a:xfrm>
            <a:off x="1904760" y="1349998"/>
            <a:ext cx="1458000" cy="4601245"/>
          </a:xfrm>
          <a:prstGeom prst="roundRect">
            <a:avLst>
              <a:gd name="adj" fmla="val 8537"/>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976760" y="1422000"/>
            <a:ext cx="1314000" cy="468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00" b="1">
                <a:solidFill>
                  <a:srgbClr val="009A93"/>
                </a:solidFill>
                <a:latin typeface="KoPub돋움체 Bold"/>
              </a:defRPr>
            </a:pPr>
            <a:r>
              <a:rPr sz="1000" dirty="0">
                <a:latin typeface="KoPub돋움체 Bold"/>
              </a:rPr>
              <a:t>Step 02</a:t>
            </a:r>
          </a:p>
          <a:p>
            <a:pPr algn="ctr">
              <a:defRPr sz="900" b="1">
                <a:solidFill>
                  <a:srgbClr val="0E306D"/>
                </a:solidFill>
                <a:latin typeface="KoPub돋움체 Bold"/>
              </a:defRPr>
            </a:pPr>
            <a:r>
              <a:rPr sz="1000" dirty="0" err="1">
                <a:latin typeface="KoPub돋움체 Bold"/>
              </a:rPr>
              <a:t>유량</a:t>
            </a:r>
            <a:r>
              <a:rPr sz="1000" dirty="0">
                <a:latin typeface="KoPub돋움체 Bold"/>
              </a:rPr>
              <a:t> </a:t>
            </a:r>
            <a:r>
              <a:rPr sz="1000" dirty="0" err="1">
                <a:latin typeface="KoPub돋움체 Bold"/>
              </a:rPr>
              <a:t>제어</a:t>
            </a:r>
            <a:endParaRPr sz="1000" dirty="0">
              <a:latin typeface="KoPub돋움체 Bold"/>
            </a:endParaRPr>
          </a:p>
        </p:txBody>
      </p:sp>
      <p:sp>
        <p:nvSpPr>
          <p:cNvPr id="12" name="TextBox 11"/>
          <p:cNvSpPr txBox="1"/>
          <p:nvPr/>
        </p:nvSpPr>
        <p:spPr>
          <a:xfrm>
            <a:off x="2333998" y="1908000"/>
            <a:ext cx="599523" cy="138499"/>
          </a:xfrm>
          <a:prstGeom prst="rect">
            <a:avLst/>
          </a:prstGeom>
          <a:noFill/>
        </p:spPr>
        <p:txBody>
          <a:bodyPr wrap="none" lIns="0" tIns="0" rIns="0" bIns="0">
            <a:spAutoFit/>
          </a:bodyPr>
          <a:lstStyle/>
          <a:p>
            <a:pPr algn="ctr">
              <a:defRPr sz="750" b="1">
                <a:solidFill>
                  <a:srgbClr val="6B7280"/>
                </a:solidFill>
                <a:latin typeface="KoPub돋움체 Bold"/>
              </a:defRPr>
            </a:pPr>
            <a:r>
              <a:rPr sz="900" dirty="0" err="1">
                <a:latin typeface="KoPub돋움체 Bold"/>
              </a:rPr>
              <a:t>지연</a:t>
            </a:r>
            <a:r>
              <a:rPr sz="900" dirty="0">
                <a:latin typeface="KoPub돋움체 Bold"/>
              </a:rPr>
              <a:t>: 0.3ms</a:t>
            </a:r>
          </a:p>
        </p:txBody>
      </p:sp>
      <p:sp>
        <p:nvSpPr>
          <p:cNvPr id="13" name="TextBox 12"/>
          <p:cNvSpPr txBox="1"/>
          <p:nvPr/>
        </p:nvSpPr>
        <p:spPr>
          <a:xfrm>
            <a:off x="1994760" y="2106000"/>
            <a:ext cx="1278000" cy="3514680"/>
          </a:xfrm>
          <a:prstGeom prst="rect">
            <a:avLst/>
          </a:prstGeom>
          <a:noFill/>
        </p:spPr>
        <p:txBody>
          <a:bodyPr wrap="square" lIns="0" tIns="0" rIns="0" bIns="0">
            <a:spAutoFit/>
          </a:bodyPr>
          <a:lstStyle/>
          <a:p>
            <a:pPr>
              <a:lnSpc>
                <a:spcPct val="150000"/>
              </a:lnSpc>
              <a:defRPr sz="750" b="1">
                <a:solidFill>
                  <a:srgbClr val="0E306D"/>
                </a:solidFill>
                <a:latin typeface="KoPub돋움체 Bold"/>
              </a:defRPr>
            </a:pPr>
            <a:r>
              <a:rPr sz="1000" dirty="0">
                <a:latin typeface="KoPub돋움체 Bold"/>
              </a:rPr>
              <a:t>[</a:t>
            </a:r>
            <a:r>
              <a:rPr sz="1000" dirty="0" err="1">
                <a:latin typeface="KoPub돋움체 Bold"/>
              </a:rPr>
              <a:t>핵심</a:t>
            </a:r>
            <a:r>
              <a:rPr sz="1000" dirty="0">
                <a:latin typeface="KoPub돋움체 Bold"/>
              </a:rPr>
              <a:t> </a:t>
            </a:r>
            <a:r>
              <a:rPr sz="1000" dirty="0" err="1">
                <a:latin typeface="KoPub돋움체 Bold"/>
              </a:rPr>
              <a:t>메커니즘</a:t>
            </a:r>
            <a:r>
              <a:rPr sz="1000" dirty="0">
                <a:latin typeface="KoPub돋움체 Bold"/>
              </a:rPr>
              <a:t>]</a:t>
            </a:r>
          </a:p>
          <a:p>
            <a:pPr>
              <a:lnSpc>
                <a:spcPct val="150000"/>
              </a:lnSpc>
              <a:defRPr sz="700">
                <a:solidFill>
                  <a:srgbClr val="0F172A"/>
                </a:solidFill>
                <a:latin typeface="KoPub돋움체 Medium"/>
              </a:defRPr>
            </a:pPr>
            <a:r>
              <a:rPr sz="1000" dirty="0">
                <a:latin typeface="KoPub돋움체 Medium"/>
              </a:rPr>
              <a:t>• O(1) </a:t>
            </a:r>
            <a:r>
              <a:rPr sz="1000" dirty="0" err="1">
                <a:latin typeface="KoPub돋움체 Medium"/>
              </a:rPr>
              <a:t>가중</a:t>
            </a:r>
            <a:r>
              <a:rPr sz="1000" dirty="0">
                <a:latin typeface="KoPub돋움체 Medium"/>
              </a:rPr>
              <a:t> </a:t>
            </a:r>
            <a:r>
              <a:rPr sz="1000" dirty="0" err="1">
                <a:latin typeface="KoPub돋움체 Medium"/>
              </a:rPr>
              <a:t>합산</a:t>
            </a:r>
            <a:r>
              <a:rPr sz="1000" dirty="0">
                <a:latin typeface="KoPub돋움체 Medium"/>
              </a:rPr>
              <a:t> Lua Script</a:t>
            </a:r>
            <a:br>
              <a:rPr sz="1000" dirty="0"/>
            </a:br>
            <a:r>
              <a:rPr sz="1000" dirty="0">
                <a:latin typeface="KoPub돋움체 Medium"/>
              </a:rPr>
              <a:t>• Check-Before-Increment</a:t>
            </a:r>
            <a:endParaRPr lang="en-US" sz="1000" dirty="0">
              <a:latin typeface="KoPub돋움체 Medium"/>
            </a:endParaRPr>
          </a:p>
          <a:p>
            <a:pPr>
              <a:lnSpc>
                <a:spcPct val="150000"/>
              </a:lnSpc>
              <a:defRPr sz="700">
                <a:solidFill>
                  <a:srgbClr val="0F172A"/>
                </a:solidFill>
                <a:latin typeface="KoPub돋움체 Medium"/>
              </a:defRPr>
            </a:pPr>
            <a:endParaRPr sz="1000" dirty="0">
              <a:latin typeface="KoPub돋움체 Medium"/>
            </a:endParaRPr>
          </a:p>
          <a:p>
            <a:pPr>
              <a:lnSpc>
                <a:spcPct val="150000"/>
              </a:lnSpc>
              <a:spcBef>
                <a:spcPts val="200"/>
              </a:spcBef>
              <a:defRPr sz="750" b="1">
                <a:solidFill>
                  <a:srgbClr val="B91C1C"/>
                </a:solidFill>
                <a:latin typeface="KoPub돋움체 Bold"/>
              </a:defRPr>
            </a:pPr>
            <a:r>
              <a:rPr sz="1000" dirty="0">
                <a:latin typeface="KoPub돋움체 Bold"/>
              </a:rPr>
              <a:t>[</a:t>
            </a:r>
            <a:r>
              <a:rPr sz="1000" dirty="0" err="1">
                <a:latin typeface="KoPub돋움체 Bold"/>
              </a:rPr>
              <a:t>차단</a:t>
            </a:r>
            <a:r>
              <a:rPr sz="1000" dirty="0">
                <a:latin typeface="KoPub돋움체 Bold"/>
              </a:rPr>
              <a:t> 및 </a:t>
            </a:r>
            <a:r>
              <a:rPr sz="1000" dirty="0" err="1">
                <a:latin typeface="KoPub돋움체 Bold"/>
              </a:rPr>
              <a:t>제어</a:t>
            </a:r>
            <a:r>
              <a:rPr sz="1000" dirty="0">
                <a:latin typeface="KoPub돋움체 Bold"/>
              </a:rPr>
              <a:t>]</a:t>
            </a:r>
          </a:p>
          <a:p>
            <a:pPr>
              <a:lnSpc>
                <a:spcPct val="150000"/>
              </a:lnSpc>
              <a:defRPr sz="700">
                <a:solidFill>
                  <a:srgbClr val="0F172A"/>
                </a:solidFill>
                <a:latin typeface="KoPub돋움체 Medium"/>
              </a:defRPr>
            </a:pPr>
            <a:r>
              <a:rPr sz="1000" dirty="0">
                <a:latin typeface="KoPub돋움체 Medium"/>
              </a:rPr>
              <a:t>• </a:t>
            </a:r>
            <a:r>
              <a:rPr sz="1000" dirty="0" err="1">
                <a:latin typeface="KoPub돋움체 Medium"/>
              </a:rPr>
              <a:t>정상</a:t>
            </a:r>
            <a:r>
              <a:rPr sz="1000" dirty="0">
                <a:latin typeface="KoPub돋움체 Medium"/>
              </a:rPr>
              <a:t>: 50건 </a:t>
            </a:r>
            <a:r>
              <a:rPr sz="1000" dirty="0" err="1">
                <a:latin typeface="KoPub돋움체 Medium"/>
              </a:rPr>
              <a:t>한도</a:t>
            </a:r>
            <a:r>
              <a:rPr sz="1000" dirty="0">
                <a:latin typeface="KoPub돋움체 Medium"/>
              </a:rPr>
              <a:t> 내 </a:t>
            </a:r>
            <a:r>
              <a:rPr sz="1000" dirty="0" err="1">
                <a:latin typeface="KoPub돋움체 Medium"/>
              </a:rPr>
              <a:t>승인</a:t>
            </a:r>
            <a:br>
              <a:rPr sz="1000" dirty="0"/>
            </a:br>
            <a:r>
              <a:rPr sz="1000" dirty="0">
                <a:latin typeface="KoPub돋움체 Medium"/>
              </a:rPr>
              <a:t>• </a:t>
            </a:r>
            <a:r>
              <a:rPr sz="1000" dirty="0" err="1">
                <a:latin typeface="KoPub돋움체 Medium"/>
              </a:rPr>
              <a:t>차단</a:t>
            </a:r>
            <a:r>
              <a:rPr sz="1000" dirty="0">
                <a:latin typeface="KoPub돋움체 Medium"/>
              </a:rPr>
              <a:t>: 429 Too Many Req</a:t>
            </a:r>
            <a:br>
              <a:rPr sz="1000" dirty="0"/>
            </a:br>
            <a:r>
              <a:rPr sz="1000" dirty="0">
                <a:latin typeface="KoPub돋움체 Medium"/>
              </a:rPr>
              <a:t>• </a:t>
            </a:r>
            <a:r>
              <a:rPr sz="1000" dirty="0" err="1">
                <a:latin typeface="KoPub돋움체 Medium"/>
              </a:rPr>
              <a:t>장애</a:t>
            </a:r>
            <a:r>
              <a:rPr sz="1000" dirty="0">
                <a:latin typeface="KoPub돋움체 Medium"/>
              </a:rPr>
              <a:t>: </a:t>
            </a:r>
            <a:r>
              <a:rPr sz="1000" dirty="0" err="1">
                <a:latin typeface="KoPub돋움체 Medium"/>
              </a:rPr>
              <a:t>로컬</a:t>
            </a:r>
            <a:r>
              <a:rPr sz="1000" dirty="0">
                <a:latin typeface="KoPub돋움체 Medium"/>
              </a:rPr>
              <a:t> LRU (15건)</a:t>
            </a:r>
          </a:p>
          <a:p>
            <a:pPr>
              <a:lnSpc>
                <a:spcPct val="150000"/>
              </a:lnSpc>
              <a:spcBef>
                <a:spcPts val="200"/>
              </a:spcBef>
              <a:defRPr sz="700" b="1">
                <a:solidFill>
                  <a:srgbClr val="6B7280"/>
                </a:solidFill>
                <a:latin typeface="KoPub돋움체 Bold"/>
              </a:defRPr>
            </a:pPr>
            <a:endParaRPr lang="en-US" sz="1000" dirty="0">
              <a:latin typeface="KoPub돋움체 Bold"/>
            </a:endParaRPr>
          </a:p>
          <a:p>
            <a:pPr>
              <a:lnSpc>
                <a:spcPct val="150000"/>
              </a:lnSpc>
              <a:spcBef>
                <a:spcPts val="200"/>
              </a:spcBef>
              <a:defRPr sz="700" b="1">
                <a:solidFill>
                  <a:srgbClr val="6B7280"/>
                </a:solidFill>
                <a:latin typeface="KoPub돋움체 Bold"/>
              </a:defRPr>
            </a:pPr>
            <a:r>
              <a:rPr sz="1000" dirty="0">
                <a:latin typeface="KoPub돋움체 Bold"/>
              </a:rPr>
              <a:t>[</a:t>
            </a:r>
            <a:r>
              <a:rPr sz="1000" dirty="0" err="1">
                <a:latin typeface="KoPub돋움체 Bold"/>
              </a:rPr>
              <a:t>관측</a:t>
            </a:r>
            <a:r>
              <a:rPr sz="1000" dirty="0">
                <a:latin typeface="KoPub돋움체 Bold"/>
              </a:rPr>
              <a:t> </a:t>
            </a:r>
            <a:r>
              <a:rPr sz="1000" dirty="0" err="1">
                <a:latin typeface="KoPub돋움체 Bold"/>
              </a:rPr>
              <a:t>카운터</a:t>
            </a:r>
            <a:r>
              <a:rPr sz="1000" dirty="0">
                <a:latin typeface="KoPub돋움체 Bold"/>
              </a:rPr>
              <a:t>]</a:t>
            </a:r>
          </a:p>
          <a:p>
            <a:pPr>
              <a:lnSpc>
                <a:spcPct val="150000"/>
              </a:lnSpc>
              <a:defRPr sz="650">
                <a:solidFill>
                  <a:srgbClr val="009A93"/>
                </a:solidFill>
                <a:latin typeface="Consolas"/>
              </a:defRPr>
            </a:pPr>
            <a:r>
              <a:rPr sz="1000" dirty="0">
                <a:latin typeface="Consolas"/>
              </a:rPr>
              <a:t>[</a:t>
            </a:r>
            <a:r>
              <a:rPr sz="1000" dirty="0" err="1">
                <a:latin typeface="Consolas"/>
              </a:rPr>
              <a:t>rate_limited</a:t>
            </a:r>
            <a:r>
              <a:rPr sz="1000" dirty="0">
                <a:latin typeface="Consolas"/>
              </a:rPr>
              <a:t>]</a:t>
            </a:r>
          </a:p>
        </p:txBody>
      </p:sp>
      <p:sp>
        <p:nvSpPr>
          <p:cNvPr id="14" name="Rounded Rectangle 13"/>
          <p:cNvSpPr/>
          <p:nvPr/>
        </p:nvSpPr>
        <p:spPr>
          <a:xfrm>
            <a:off x="3452760" y="1349998"/>
            <a:ext cx="1458000" cy="4601245"/>
          </a:xfrm>
          <a:prstGeom prst="roundRect">
            <a:avLst>
              <a:gd name="adj" fmla="val 9118"/>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524760" y="1422000"/>
            <a:ext cx="1314000" cy="468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00" b="1">
                <a:solidFill>
                  <a:srgbClr val="009A93"/>
                </a:solidFill>
                <a:latin typeface="KoPub돋움체 Bold"/>
              </a:defRPr>
            </a:pPr>
            <a:r>
              <a:rPr sz="1000" dirty="0">
                <a:latin typeface="KoPub돋움체 Bold"/>
              </a:rPr>
              <a:t>Step 03</a:t>
            </a:r>
          </a:p>
          <a:p>
            <a:pPr algn="ctr">
              <a:defRPr sz="900" b="1">
                <a:solidFill>
                  <a:srgbClr val="0E306D"/>
                </a:solidFill>
                <a:latin typeface="KoPub돋움체 Bold"/>
              </a:defRPr>
            </a:pPr>
            <a:r>
              <a:rPr sz="1000" dirty="0">
                <a:latin typeface="KoPub돋움체 Bold"/>
              </a:rPr>
              <a:t>Nonce </a:t>
            </a:r>
            <a:r>
              <a:rPr sz="1000" dirty="0" err="1">
                <a:latin typeface="KoPub돋움체 Bold"/>
              </a:rPr>
              <a:t>소각</a:t>
            </a:r>
            <a:endParaRPr sz="1000" dirty="0">
              <a:latin typeface="KoPub돋움체 Bold"/>
            </a:endParaRPr>
          </a:p>
        </p:txBody>
      </p:sp>
      <p:sp>
        <p:nvSpPr>
          <p:cNvPr id="16" name="TextBox 15"/>
          <p:cNvSpPr txBox="1"/>
          <p:nvPr/>
        </p:nvSpPr>
        <p:spPr>
          <a:xfrm>
            <a:off x="3881998" y="1908000"/>
            <a:ext cx="599523" cy="138499"/>
          </a:xfrm>
          <a:prstGeom prst="rect">
            <a:avLst/>
          </a:prstGeom>
          <a:noFill/>
        </p:spPr>
        <p:txBody>
          <a:bodyPr wrap="none" lIns="0" tIns="0" rIns="0" bIns="0">
            <a:spAutoFit/>
          </a:bodyPr>
          <a:lstStyle/>
          <a:p>
            <a:pPr algn="ctr">
              <a:defRPr sz="750" b="1">
                <a:solidFill>
                  <a:srgbClr val="6B7280"/>
                </a:solidFill>
                <a:latin typeface="KoPub돋움체 Bold"/>
              </a:defRPr>
            </a:pPr>
            <a:r>
              <a:rPr sz="900" dirty="0" err="1">
                <a:latin typeface="KoPub돋움체 Bold"/>
              </a:rPr>
              <a:t>지연</a:t>
            </a:r>
            <a:r>
              <a:rPr sz="900" dirty="0">
                <a:latin typeface="KoPub돋움체 Bold"/>
              </a:rPr>
              <a:t>: 0.3ms</a:t>
            </a:r>
          </a:p>
        </p:txBody>
      </p:sp>
      <p:sp>
        <p:nvSpPr>
          <p:cNvPr id="17" name="TextBox 16"/>
          <p:cNvSpPr txBox="1"/>
          <p:nvPr/>
        </p:nvSpPr>
        <p:spPr>
          <a:xfrm>
            <a:off x="3542760" y="2106000"/>
            <a:ext cx="1278000" cy="3489032"/>
          </a:xfrm>
          <a:prstGeom prst="rect">
            <a:avLst/>
          </a:prstGeom>
          <a:noFill/>
        </p:spPr>
        <p:txBody>
          <a:bodyPr wrap="square" lIns="0" tIns="0" rIns="0" bIns="0">
            <a:spAutoFit/>
          </a:bodyPr>
          <a:lstStyle/>
          <a:p>
            <a:pPr>
              <a:lnSpc>
                <a:spcPct val="150000"/>
              </a:lnSpc>
              <a:defRPr sz="750" b="1">
                <a:solidFill>
                  <a:srgbClr val="0E306D"/>
                </a:solidFill>
                <a:latin typeface="KoPub돋움체 Bold"/>
              </a:defRPr>
            </a:pPr>
            <a:r>
              <a:rPr sz="1000" dirty="0">
                <a:latin typeface="KoPub돋움체 Bold"/>
              </a:rPr>
              <a:t>[</a:t>
            </a:r>
            <a:r>
              <a:rPr sz="1000" dirty="0" err="1">
                <a:latin typeface="KoPub돋움체 Bold"/>
              </a:rPr>
              <a:t>핵심</a:t>
            </a:r>
            <a:r>
              <a:rPr sz="1000" dirty="0">
                <a:latin typeface="KoPub돋움체 Bold"/>
              </a:rPr>
              <a:t> </a:t>
            </a:r>
            <a:r>
              <a:rPr sz="1000" dirty="0" err="1">
                <a:latin typeface="KoPub돋움체 Bold"/>
              </a:rPr>
              <a:t>메커니즘</a:t>
            </a:r>
            <a:r>
              <a:rPr sz="1000" dirty="0">
                <a:latin typeface="KoPub돋움체 Bold"/>
              </a:rPr>
              <a:t>]</a:t>
            </a:r>
          </a:p>
          <a:p>
            <a:pPr>
              <a:lnSpc>
                <a:spcPct val="150000"/>
              </a:lnSpc>
              <a:defRPr sz="700">
                <a:solidFill>
                  <a:srgbClr val="0F172A"/>
                </a:solidFill>
                <a:latin typeface="KoPub돋움체 Medium"/>
              </a:defRPr>
            </a:pPr>
            <a:r>
              <a:rPr sz="1000" dirty="0">
                <a:latin typeface="KoPub돋움체 Medium"/>
              </a:rPr>
              <a:t>• Redis Lua </a:t>
            </a:r>
            <a:r>
              <a:rPr sz="1000" dirty="0" err="1">
                <a:latin typeface="KoPub돋움체 Medium"/>
              </a:rPr>
              <a:t>원자</a:t>
            </a:r>
            <a:r>
              <a:rPr sz="1000" dirty="0">
                <a:latin typeface="KoPub돋움체 Medium"/>
              </a:rPr>
              <a:t> </a:t>
            </a:r>
            <a:r>
              <a:rPr sz="1000" dirty="0" err="1">
                <a:latin typeface="KoPub돋움체 Medium"/>
              </a:rPr>
              <a:t>연산</a:t>
            </a:r>
            <a:r>
              <a:rPr sz="1000" dirty="0">
                <a:latin typeface="KoPub돋움체 Medium"/>
              </a:rPr>
              <a:t> </a:t>
            </a:r>
            <a:r>
              <a:rPr sz="1000" dirty="0" err="1">
                <a:latin typeface="KoPub돋움체 Medium"/>
              </a:rPr>
              <a:t>소진</a:t>
            </a:r>
            <a:br>
              <a:rPr sz="1000" dirty="0"/>
            </a:br>
            <a:r>
              <a:rPr sz="1000" dirty="0">
                <a:latin typeface="KoPub돋움체 Medium"/>
              </a:rPr>
              <a:t>• </a:t>
            </a:r>
            <a:r>
              <a:rPr sz="1000" dirty="0" err="1">
                <a:latin typeface="KoPub돋움체 Medium"/>
              </a:rPr>
              <a:t>중복</a:t>
            </a:r>
            <a:r>
              <a:rPr sz="1000" dirty="0">
                <a:latin typeface="KoPub돋움체 Medium"/>
              </a:rPr>
              <a:t> </a:t>
            </a:r>
            <a:r>
              <a:rPr sz="1000" dirty="0" err="1">
                <a:latin typeface="KoPub돋움체 Medium"/>
              </a:rPr>
              <a:t>패킷</a:t>
            </a:r>
            <a:r>
              <a:rPr sz="1000" dirty="0">
                <a:latin typeface="KoPub돋움체 Medium"/>
              </a:rPr>
              <a:t> </a:t>
            </a:r>
            <a:r>
              <a:rPr sz="1000" dirty="0" err="1">
                <a:latin typeface="KoPub돋움체 Medium"/>
              </a:rPr>
              <a:t>에지</a:t>
            </a:r>
            <a:r>
              <a:rPr sz="1000" dirty="0">
                <a:latin typeface="KoPub돋움체 Medium"/>
              </a:rPr>
              <a:t> </a:t>
            </a:r>
            <a:r>
              <a:rPr sz="1000" dirty="0" err="1">
                <a:latin typeface="KoPub돋움체 Medium"/>
              </a:rPr>
              <a:t>즉시</a:t>
            </a:r>
            <a:r>
              <a:rPr sz="1000" dirty="0">
                <a:latin typeface="KoPub돋움체 Medium"/>
              </a:rPr>
              <a:t> </a:t>
            </a:r>
            <a:r>
              <a:rPr sz="1000" dirty="0" err="1">
                <a:latin typeface="KoPub돋움체 Medium"/>
              </a:rPr>
              <a:t>소각</a:t>
            </a:r>
            <a:endParaRPr sz="1000" dirty="0">
              <a:latin typeface="KoPub돋움체 Medium"/>
            </a:endParaRPr>
          </a:p>
          <a:p>
            <a:pPr>
              <a:lnSpc>
                <a:spcPct val="150000"/>
              </a:lnSpc>
              <a:spcBef>
                <a:spcPts val="200"/>
              </a:spcBef>
              <a:defRPr sz="750" b="1">
                <a:solidFill>
                  <a:srgbClr val="B91C1C"/>
                </a:solidFill>
                <a:latin typeface="KoPub돋움체 Bold"/>
              </a:defRPr>
            </a:pPr>
            <a:r>
              <a:rPr sz="1000" dirty="0">
                <a:latin typeface="KoPub돋움체 Bold"/>
              </a:rPr>
              <a:t>[</a:t>
            </a:r>
            <a:r>
              <a:rPr sz="1000" dirty="0" err="1">
                <a:latin typeface="KoPub돋움체 Bold"/>
              </a:rPr>
              <a:t>차단</a:t>
            </a:r>
            <a:r>
              <a:rPr sz="1000" dirty="0">
                <a:latin typeface="KoPub돋움체 Bold"/>
              </a:rPr>
              <a:t> 및 </a:t>
            </a:r>
            <a:r>
              <a:rPr sz="1000" dirty="0" err="1">
                <a:latin typeface="KoPub돋움체 Bold"/>
              </a:rPr>
              <a:t>제어</a:t>
            </a:r>
            <a:r>
              <a:rPr sz="1000" dirty="0">
                <a:latin typeface="KoPub돋움체 Bold"/>
              </a:rPr>
              <a:t>]</a:t>
            </a:r>
          </a:p>
          <a:p>
            <a:pPr>
              <a:lnSpc>
                <a:spcPct val="150000"/>
              </a:lnSpc>
              <a:defRPr sz="700">
                <a:solidFill>
                  <a:srgbClr val="0F172A"/>
                </a:solidFill>
                <a:latin typeface="KoPub돋움체 Medium"/>
              </a:defRPr>
            </a:pPr>
            <a:r>
              <a:rPr sz="1000" dirty="0">
                <a:latin typeface="KoPub돋움체 Medium"/>
              </a:rPr>
              <a:t>• </a:t>
            </a:r>
            <a:r>
              <a:rPr sz="1000" dirty="0" err="1">
                <a:latin typeface="KoPub돋움체 Medium"/>
              </a:rPr>
              <a:t>정상</a:t>
            </a:r>
            <a:r>
              <a:rPr sz="1000" dirty="0">
                <a:latin typeface="KoPub돋움체 Medium"/>
              </a:rPr>
              <a:t>: </a:t>
            </a:r>
            <a:r>
              <a:rPr sz="1000" dirty="0" err="1">
                <a:latin typeface="KoPub돋움체 Medium"/>
              </a:rPr>
              <a:t>최초</a:t>
            </a:r>
            <a:r>
              <a:rPr sz="1000" dirty="0">
                <a:latin typeface="KoPub돋움체 Medium"/>
              </a:rPr>
              <a:t> Nonce </a:t>
            </a:r>
            <a:r>
              <a:rPr sz="1000" dirty="0" err="1">
                <a:latin typeface="KoPub돋움체 Medium"/>
              </a:rPr>
              <a:t>소각</a:t>
            </a:r>
            <a:br>
              <a:rPr sz="1000" dirty="0"/>
            </a:br>
            <a:r>
              <a:rPr sz="1000" dirty="0">
                <a:latin typeface="KoPub돋움체 Medium"/>
              </a:rPr>
              <a:t>• </a:t>
            </a:r>
            <a:r>
              <a:rPr sz="1000" dirty="0" err="1">
                <a:latin typeface="KoPub돋움체 Medium"/>
              </a:rPr>
              <a:t>차단</a:t>
            </a:r>
            <a:r>
              <a:rPr sz="1000" dirty="0">
                <a:latin typeface="KoPub돋움체 Medium"/>
              </a:rPr>
              <a:t>: 401 Replay Detected</a:t>
            </a:r>
            <a:br>
              <a:rPr sz="1000" dirty="0"/>
            </a:br>
            <a:r>
              <a:rPr sz="1000" dirty="0">
                <a:latin typeface="KoPub돋움체 Medium"/>
              </a:rPr>
              <a:t>• </a:t>
            </a:r>
            <a:r>
              <a:rPr sz="1000" dirty="0" err="1">
                <a:latin typeface="KoPub돋움체 Medium"/>
              </a:rPr>
              <a:t>장애</a:t>
            </a:r>
            <a:r>
              <a:rPr sz="1000" dirty="0">
                <a:latin typeface="KoPub돋움체 Medium"/>
              </a:rPr>
              <a:t>: 503 Fail-Closed</a:t>
            </a:r>
          </a:p>
          <a:p>
            <a:pPr>
              <a:lnSpc>
                <a:spcPct val="150000"/>
              </a:lnSpc>
              <a:spcBef>
                <a:spcPts val="200"/>
              </a:spcBef>
              <a:defRPr sz="700" b="1">
                <a:solidFill>
                  <a:srgbClr val="6B7280"/>
                </a:solidFill>
                <a:latin typeface="KoPub돋움체 Bold"/>
              </a:defRPr>
            </a:pPr>
            <a:r>
              <a:rPr sz="1000" dirty="0">
                <a:latin typeface="KoPub돋움체 Bold"/>
              </a:rPr>
              <a:t>[</a:t>
            </a:r>
            <a:r>
              <a:rPr sz="1000" dirty="0" err="1">
                <a:latin typeface="KoPub돋움체 Bold"/>
              </a:rPr>
              <a:t>관측</a:t>
            </a:r>
            <a:r>
              <a:rPr sz="1000" dirty="0">
                <a:latin typeface="KoPub돋움체 Bold"/>
              </a:rPr>
              <a:t> </a:t>
            </a:r>
            <a:r>
              <a:rPr sz="1000" dirty="0" err="1">
                <a:latin typeface="KoPub돋움체 Bold"/>
              </a:rPr>
              <a:t>카운터</a:t>
            </a:r>
            <a:r>
              <a:rPr sz="1000" dirty="0">
                <a:latin typeface="KoPub돋움체 Bold"/>
              </a:rPr>
              <a:t>]</a:t>
            </a:r>
          </a:p>
          <a:p>
            <a:pPr>
              <a:lnSpc>
                <a:spcPct val="150000"/>
              </a:lnSpc>
              <a:defRPr sz="650">
                <a:solidFill>
                  <a:srgbClr val="009A93"/>
                </a:solidFill>
                <a:latin typeface="Consolas"/>
              </a:defRPr>
            </a:pPr>
            <a:r>
              <a:rPr sz="1000" dirty="0">
                <a:latin typeface="Consolas"/>
              </a:rPr>
              <a:t>[</a:t>
            </a:r>
            <a:r>
              <a:rPr sz="1000" dirty="0" err="1">
                <a:latin typeface="Consolas"/>
              </a:rPr>
              <a:t>nonce_replays</a:t>
            </a:r>
            <a:r>
              <a:rPr sz="1000" dirty="0">
                <a:latin typeface="Consolas"/>
              </a:rPr>
              <a:t>]</a:t>
            </a:r>
            <a:br>
              <a:rPr sz="1000" dirty="0"/>
            </a:br>
            <a:r>
              <a:rPr sz="1000" dirty="0">
                <a:latin typeface="Consolas"/>
              </a:rPr>
              <a:t>[</a:t>
            </a:r>
            <a:r>
              <a:rPr sz="1000" dirty="0" err="1">
                <a:latin typeface="Consolas"/>
              </a:rPr>
              <a:t>redis_outage_blocked</a:t>
            </a:r>
            <a:r>
              <a:rPr sz="1000" dirty="0">
                <a:latin typeface="Consolas"/>
              </a:rPr>
              <a:t>]</a:t>
            </a:r>
          </a:p>
        </p:txBody>
      </p:sp>
      <p:sp>
        <p:nvSpPr>
          <p:cNvPr id="18" name="Rounded Rectangle 17"/>
          <p:cNvSpPr/>
          <p:nvPr/>
        </p:nvSpPr>
        <p:spPr>
          <a:xfrm>
            <a:off x="5000760" y="1349998"/>
            <a:ext cx="1458000" cy="4601245"/>
          </a:xfrm>
          <a:prstGeom prst="roundRect">
            <a:avLst>
              <a:gd name="adj" fmla="val 7956"/>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5072760" y="1422000"/>
            <a:ext cx="1314000" cy="468000"/>
          </a:xfrm>
          <a:prstGeom prst="roundRect">
            <a:avLst/>
          </a:prstGeom>
          <a:solidFill>
            <a:srgbClr val="0E306D"/>
          </a:solidFill>
          <a:ln>
            <a:solidFill>
              <a:srgbClr val="0E306D"/>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00" b="1">
                <a:solidFill>
                  <a:srgbClr val="FBBC05"/>
                </a:solidFill>
                <a:latin typeface="KoPub돋움체 Bold"/>
              </a:defRPr>
            </a:pPr>
            <a:r>
              <a:rPr sz="1000" dirty="0">
                <a:latin typeface="KoPub돋움체 Bold"/>
              </a:rPr>
              <a:t>Step 04</a:t>
            </a:r>
          </a:p>
          <a:p>
            <a:pPr algn="ctr">
              <a:defRPr sz="900" b="1">
                <a:solidFill>
                  <a:srgbClr val="FFFFFF"/>
                </a:solidFill>
                <a:latin typeface="KoPub돋움체 Bold"/>
              </a:defRPr>
            </a:pPr>
            <a:r>
              <a:rPr sz="1000" dirty="0" err="1">
                <a:latin typeface="KoPub돋움체 Bold"/>
              </a:rPr>
              <a:t>PoP</a:t>
            </a:r>
            <a:r>
              <a:rPr sz="1000" dirty="0">
                <a:latin typeface="KoPub돋움체 Bold"/>
              </a:rPr>
              <a:t> </a:t>
            </a:r>
            <a:r>
              <a:rPr sz="1000" dirty="0" err="1">
                <a:latin typeface="KoPub돋움체 Bold"/>
              </a:rPr>
              <a:t>서명</a:t>
            </a:r>
            <a:r>
              <a:rPr sz="1000" dirty="0">
                <a:latin typeface="KoPub돋움체 Bold"/>
              </a:rPr>
              <a:t> </a:t>
            </a:r>
            <a:r>
              <a:rPr sz="1000" dirty="0" err="1">
                <a:latin typeface="KoPub돋움체 Bold"/>
              </a:rPr>
              <a:t>검증</a:t>
            </a:r>
            <a:endParaRPr sz="1000" dirty="0">
              <a:latin typeface="KoPub돋움체 Bold"/>
            </a:endParaRPr>
          </a:p>
        </p:txBody>
      </p:sp>
      <p:sp>
        <p:nvSpPr>
          <p:cNvPr id="20" name="TextBox 19"/>
          <p:cNvSpPr txBox="1"/>
          <p:nvPr/>
        </p:nvSpPr>
        <p:spPr>
          <a:xfrm>
            <a:off x="5226417" y="1908000"/>
            <a:ext cx="1006686" cy="138499"/>
          </a:xfrm>
          <a:prstGeom prst="rect">
            <a:avLst/>
          </a:prstGeom>
          <a:noFill/>
        </p:spPr>
        <p:txBody>
          <a:bodyPr wrap="none" lIns="0" tIns="0" rIns="0" bIns="0">
            <a:spAutoFit/>
          </a:bodyPr>
          <a:lstStyle/>
          <a:p>
            <a:pPr algn="ctr">
              <a:defRPr sz="750" b="1">
                <a:solidFill>
                  <a:srgbClr val="F47725"/>
                </a:solidFill>
                <a:latin typeface="KoPub돋움체 Bold"/>
              </a:defRPr>
            </a:pPr>
            <a:r>
              <a:rPr sz="900" dirty="0" err="1">
                <a:latin typeface="KoPub돋움체 Bold"/>
              </a:rPr>
              <a:t>지연</a:t>
            </a:r>
            <a:r>
              <a:rPr sz="900" dirty="0">
                <a:latin typeface="KoPub돋움체 Bold"/>
              </a:rPr>
              <a:t>: 1.2ms (</a:t>
            </a:r>
            <a:r>
              <a:rPr sz="900" dirty="0" err="1">
                <a:latin typeface="KoPub돋움체 Bold"/>
              </a:rPr>
              <a:t>고비용</a:t>
            </a:r>
            <a:r>
              <a:rPr sz="900" dirty="0">
                <a:latin typeface="KoPub돋움체 Bold"/>
              </a:rPr>
              <a:t>)</a:t>
            </a:r>
          </a:p>
        </p:txBody>
      </p:sp>
      <p:sp>
        <p:nvSpPr>
          <p:cNvPr id="21" name="TextBox 20"/>
          <p:cNvSpPr txBox="1"/>
          <p:nvPr/>
        </p:nvSpPr>
        <p:spPr>
          <a:xfrm>
            <a:off x="5090760" y="2106000"/>
            <a:ext cx="1278000" cy="3283848"/>
          </a:xfrm>
          <a:prstGeom prst="rect">
            <a:avLst/>
          </a:prstGeom>
          <a:noFill/>
        </p:spPr>
        <p:txBody>
          <a:bodyPr wrap="square" lIns="0" tIns="0" rIns="0" bIns="0">
            <a:spAutoFit/>
          </a:bodyPr>
          <a:lstStyle/>
          <a:p>
            <a:pPr>
              <a:lnSpc>
                <a:spcPct val="150000"/>
              </a:lnSpc>
              <a:defRPr sz="750" b="1">
                <a:solidFill>
                  <a:srgbClr val="0E306D"/>
                </a:solidFill>
                <a:latin typeface="KoPub돋움체 Bold"/>
              </a:defRPr>
            </a:pPr>
            <a:r>
              <a:rPr sz="1000" dirty="0">
                <a:latin typeface="KoPub돋움체 Bold"/>
              </a:rPr>
              <a:t>[</a:t>
            </a:r>
            <a:r>
              <a:rPr sz="1000" dirty="0" err="1">
                <a:latin typeface="KoPub돋움체 Bold"/>
              </a:rPr>
              <a:t>핵심</a:t>
            </a:r>
            <a:r>
              <a:rPr sz="1000" dirty="0">
                <a:latin typeface="KoPub돋움체 Bold"/>
              </a:rPr>
              <a:t> </a:t>
            </a:r>
            <a:r>
              <a:rPr sz="1000" dirty="0" err="1">
                <a:latin typeface="KoPub돋움체 Bold"/>
              </a:rPr>
              <a:t>메커니즘</a:t>
            </a:r>
            <a:r>
              <a:rPr sz="1000" dirty="0">
                <a:latin typeface="KoPub돋움체 Bold"/>
              </a:rPr>
              <a:t>]</a:t>
            </a:r>
          </a:p>
          <a:p>
            <a:pPr>
              <a:lnSpc>
                <a:spcPct val="150000"/>
              </a:lnSpc>
              <a:defRPr sz="700">
                <a:solidFill>
                  <a:srgbClr val="0F172A"/>
                </a:solidFill>
                <a:latin typeface="KoPub돋움체 Medium"/>
              </a:defRPr>
            </a:pPr>
            <a:r>
              <a:rPr sz="1000" dirty="0">
                <a:latin typeface="KoPub돋움체 Medium"/>
              </a:rPr>
              <a:t>• X-Body-Digest </a:t>
            </a:r>
            <a:r>
              <a:rPr sz="1000" dirty="0" err="1">
                <a:latin typeface="KoPub돋움체 Medium"/>
              </a:rPr>
              <a:t>선행</a:t>
            </a:r>
            <a:r>
              <a:rPr sz="1000" dirty="0">
                <a:latin typeface="KoPub돋움체 Medium"/>
              </a:rPr>
              <a:t> </a:t>
            </a:r>
            <a:r>
              <a:rPr sz="1000" dirty="0" err="1">
                <a:latin typeface="KoPub돋움체 Medium"/>
              </a:rPr>
              <a:t>검증</a:t>
            </a:r>
            <a:br>
              <a:rPr sz="1000" dirty="0"/>
            </a:br>
            <a:r>
              <a:rPr sz="1000" dirty="0">
                <a:latin typeface="KoPub돋움체 Medium"/>
              </a:rPr>
              <a:t>• </a:t>
            </a:r>
            <a:r>
              <a:rPr sz="1000" dirty="0" err="1">
                <a:latin typeface="KoPub돋움체 Medium"/>
              </a:rPr>
              <a:t>공개키</a:t>
            </a:r>
            <a:r>
              <a:rPr sz="1000" dirty="0">
                <a:latin typeface="KoPub돋움체 Medium"/>
              </a:rPr>
              <a:t> </a:t>
            </a:r>
            <a:r>
              <a:rPr sz="1000" dirty="0" err="1">
                <a:latin typeface="KoPub돋움체 Medium"/>
              </a:rPr>
              <a:t>조회</a:t>
            </a:r>
            <a:r>
              <a:rPr sz="1000" dirty="0">
                <a:latin typeface="KoPub돋움체 Medium"/>
              </a:rPr>
              <a:t> &amp; </a:t>
            </a:r>
            <a:r>
              <a:rPr sz="1000" dirty="0" err="1">
                <a:latin typeface="KoPub돋움체 Medium"/>
              </a:rPr>
              <a:t>서명</a:t>
            </a:r>
            <a:r>
              <a:rPr sz="1000" dirty="0">
                <a:latin typeface="KoPub돋움체 Medium"/>
              </a:rPr>
              <a:t> </a:t>
            </a:r>
            <a:r>
              <a:rPr sz="1000" dirty="0" err="1">
                <a:latin typeface="KoPub돋움체 Medium"/>
              </a:rPr>
              <a:t>검증</a:t>
            </a:r>
            <a:endParaRPr lang="en-US" sz="1000" dirty="0">
              <a:latin typeface="KoPub돋움체 Medium"/>
            </a:endParaRPr>
          </a:p>
          <a:p>
            <a:pPr>
              <a:lnSpc>
                <a:spcPct val="150000"/>
              </a:lnSpc>
              <a:defRPr sz="700">
                <a:solidFill>
                  <a:srgbClr val="0F172A"/>
                </a:solidFill>
                <a:latin typeface="KoPub돋움체 Medium"/>
              </a:defRPr>
            </a:pPr>
            <a:endParaRPr sz="1000" dirty="0">
              <a:latin typeface="KoPub돋움체 Medium"/>
            </a:endParaRPr>
          </a:p>
          <a:p>
            <a:pPr>
              <a:lnSpc>
                <a:spcPct val="150000"/>
              </a:lnSpc>
              <a:spcBef>
                <a:spcPts val="200"/>
              </a:spcBef>
              <a:defRPr sz="750" b="1">
                <a:solidFill>
                  <a:srgbClr val="B91C1C"/>
                </a:solidFill>
                <a:latin typeface="KoPub돋움체 Bold"/>
              </a:defRPr>
            </a:pPr>
            <a:r>
              <a:rPr sz="1000" dirty="0">
                <a:latin typeface="KoPub돋움체 Bold"/>
              </a:rPr>
              <a:t>[</a:t>
            </a:r>
            <a:r>
              <a:rPr sz="1000" dirty="0" err="1">
                <a:latin typeface="KoPub돋움체 Bold"/>
              </a:rPr>
              <a:t>차단</a:t>
            </a:r>
            <a:r>
              <a:rPr sz="1000" dirty="0">
                <a:latin typeface="KoPub돋움체 Bold"/>
              </a:rPr>
              <a:t> 및 </a:t>
            </a:r>
            <a:r>
              <a:rPr sz="1000" dirty="0" err="1">
                <a:latin typeface="KoPub돋움체 Bold"/>
              </a:rPr>
              <a:t>제어</a:t>
            </a:r>
            <a:r>
              <a:rPr sz="1000" dirty="0">
                <a:latin typeface="KoPub돋움체 Bold"/>
              </a:rPr>
              <a:t>]</a:t>
            </a:r>
          </a:p>
          <a:p>
            <a:pPr>
              <a:lnSpc>
                <a:spcPct val="150000"/>
              </a:lnSpc>
              <a:defRPr sz="700">
                <a:solidFill>
                  <a:srgbClr val="0F172A"/>
                </a:solidFill>
                <a:latin typeface="KoPub돋움체 Medium"/>
              </a:defRPr>
            </a:pPr>
            <a:r>
              <a:rPr sz="1000" dirty="0">
                <a:latin typeface="KoPub돋움체 Medium"/>
              </a:rPr>
              <a:t>• </a:t>
            </a:r>
            <a:r>
              <a:rPr sz="1000" dirty="0" err="1">
                <a:latin typeface="KoPub돋움체 Medium"/>
              </a:rPr>
              <a:t>정상</a:t>
            </a:r>
            <a:r>
              <a:rPr sz="1000" dirty="0">
                <a:latin typeface="KoPub돋움체 Medium"/>
              </a:rPr>
              <a:t>: </a:t>
            </a:r>
            <a:r>
              <a:rPr sz="1000" dirty="0" err="1">
                <a:latin typeface="KoPub돋움체 Medium"/>
              </a:rPr>
              <a:t>pop_verified</a:t>
            </a:r>
            <a:r>
              <a:rPr sz="1000" dirty="0">
                <a:latin typeface="KoPub돋움체 Medium"/>
              </a:rPr>
              <a:t> +1</a:t>
            </a:r>
            <a:br>
              <a:rPr sz="1000" dirty="0"/>
            </a:br>
            <a:r>
              <a:rPr sz="1000" dirty="0">
                <a:latin typeface="KoPub돋움체 Medium"/>
              </a:rPr>
              <a:t>• </a:t>
            </a:r>
            <a:r>
              <a:rPr sz="1000" dirty="0" err="1">
                <a:latin typeface="KoPub돋움체 Medium"/>
              </a:rPr>
              <a:t>바디</a:t>
            </a:r>
            <a:r>
              <a:rPr sz="1000" dirty="0">
                <a:latin typeface="KoPub돋움체 Medium"/>
              </a:rPr>
              <a:t> </a:t>
            </a:r>
            <a:r>
              <a:rPr sz="1000" dirty="0" err="1">
                <a:latin typeface="KoPub돋움체 Medium"/>
              </a:rPr>
              <a:t>불일치</a:t>
            </a:r>
            <a:r>
              <a:rPr sz="1000" dirty="0">
                <a:latin typeface="KoPub돋움체 Medium"/>
              </a:rPr>
              <a:t>: 400 Bad Req</a:t>
            </a:r>
            <a:br>
              <a:rPr sz="1000" dirty="0"/>
            </a:br>
            <a:r>
              <a:rPr sz="1000" dirty="0">
                <a:latin typeface="KoPub돋움체 Medium"/>
              </a:rPr>
              <a:t>• </a:t>
            </a:r>
            <a:r>
              <a:rPr sz="1000" dirty="0" err="1">
                <a:latin typeface="KoPub돋움체 Medium"/>
              </a:rPr>
              <a:t>서명</a:t>
            </a:r>
            <a:r>
              <a:rPr sz="1000" dirty="0">
                <a:latin typeface="KoPub돋움체 Medium"/>
              </a:rPr>
              <a:t> </a:t>
            </a:r>
            <a:r>
              <a:rPr sz="1000" dirty="0" err="1">
                <a:latin typeface="KoPub돋움체 Medium"/>
              </a:rPr>
              <a:t>오류</a:t>
            </a:r>
            <a:r>
              <a:rPr sz="1000" dirty="0">
                <a:latin typeface="KoPub돋움체 Medium"/>
              </a:rPr>
              <a:t>: 401 Invalid</a:t>
            </a:r>
          </a:p>
          <a:p>
            <a:pPr>
              <a:lnSpc>
                <a:spcPct val="150000"/>
              </a:lnSpc>
              <a:spcBef>
                <a:spcPts val="200"/>
              </a:spcBef>
              <a:defRPr sz="700" b="1">
                <a:solidFill>
                  <a:srgbClr val="6B7280"/>
                </a:solidFill>
                <a:latin typeface="KoPub돋움체 Bold"/>
              </a:defRPr>
            </a:pPr>
            <a:endParaRPr lang="en-US" sz="1000" dirty="0">
              <a:latin typeface="KoPub돋움체 Bold"/>
            </a:endParaRPr>
          </a:p>
          <a:p>
            <a:pPr>
              <a:lnSpc>
                <a:spcPct val="150000"/>
              </a:lnSpc>
              <a:spcBef>
                <a:spcPts val="200"/>
              </a:spcBef>
              <a:defRPr sz="700" b="1">
                <a:solidFill>
                  <a:srgbClr val="6B7280"/>
                </a:solidFill>
                <a:latin typeface="KoPub돋움체 Bold"/>
              </a:defRPr>
            </a:pPr>
            <a:r>
              <a:rPr sz="1000" dirty="0">
                <a:latin typeface="KoPub돋움체 Bold"/>
              </a:rPr>
              <a:t>[</a:t>
            </a:r>
            <a:r>
              <a:rPr sz="1000" dirty="0" err="1">
                <a:latin typeface="KoPub돋움체 Bold"/>
              </a:rPr>
              <a:t>관측</a:t>
            </a:r>
            <a:r>
              <a:rPr sz="1000" dirty="0">
                <a:latin typeface="KoPub돋움체 Bold"/>
              </a:rPr>
              <a:t> </a:t>
            </a:r>
            <a:r>
              <a:rPr sz="1000" dirty="0" err="1">
                <a:latin typeface="KoPub돋움체 Bold"/>
              </a:rPr>
              <a:t>카운터</a:t>
            </a:r>
            <a:r>
              <a:rPr sz="1000" dirty="0">
                <a:latin typeface="KoPub돋움체 Bold"/>
              </a:rPr>
              <a:t>]</a:t>
            </a:r>
          </a:p>
          <a:p>
            <a:pPr>
              <a:lnSpc>
                <a:spcPct val="150000"/>
              </a:lnSpc>
              <a:defRPr sz="650">
                <a:solidFill>
                  <a:srgbClr val="009A93"/>
                </a:solidFill>
                <a:latin typeface="Consolas"/>
              </a:defRPr>
            </a:pPr>
            <a:r>
              <a:rPr sz="1000" dirty="0">
                <a:latin typeface="Consolas"/>
              </a:rPr>
              <a:t>[</a:t>
            </a:r>
            <a:r>
              <a:rPr sz="1000" dirty="0" err="1">
                <a:latin typeface="Consolas"/>
              </a:rPr>
              <a:t>pop_rejected</a:t>
            </a:r>
            <a:r>
              <a:rPr sz="1000" dirty="0">
                <a:latin typeface="Consolas"/>
              </a:rPr>
              <a:t>]</a:t>
            </a:r>
          </a:p>
        </p:txBody>
      </p:sp>
      <p:sp>
        <p:nvSpPr>
          <p:cNvPr id="22" name="Rounded Rectangle 21"/>
          <p:cNvSpPr/>
          <p:nvPr/>
        </p:nvSpPr>
        <p:spPr>
          <a:xfrm>
            <a:off x="6548760" y="1349998"/>
            <a:ext cx="1458000" cy="4601245"/>
          </a:xfrm>
          <a:prstGeom prst="roundRect">
            <a:avLst>
              <a:gd name="adj" fmla="val 6214"/>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620760" y="1422000"/>
            <a:ext cx="1314000" cy="468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00" b="1">
                <a:solidFill>
                  <a:srgbClr val="009A93"/>
                </a:solidFill>
                <a:latin typeface="KoPub돋움체 Bold"/>
              </a:defRPr>
            </a:pPr>
            <a:r>
              <a:rPr sz="1000" dirty="0">
                <a:latin typeface="KoPub돋움체 Bold"/>
              </a:rPr>
              <a:t>Step 05</a:t>
            </a:r>
          </a:p>
          <a:p>
            <a:pPr algn="ctr">
              <a:defRPr sz="900" b="1">
                <a:solidFill>
                  <a:srgbClr val="0E306D"/>
                </a:solidFill>
                <a:latin typeface="KoPub돋움체 Bold"/>
              </a:defRPr>
            </a:pPr>
            <a:r>
              <a:rPr sz="1000" dirty="0" err="1">
                <a:latin typeface="KoPub돋움체 Bold"/>
              </a:rPr>
              <a:t>다단계</a:t>
            </a:r>
            <a:r>
              <a:rPr sz="1000" dirty="0">
                <a:latin typeface="KoPub돋움체 Bold"/>
              </a:rPr>
              <a:t> </a:t>
            </a:r>
            <a:r>
              <a:rPr sz="1000" dirty="0" err="1">
                <a:latin typeface="KoPub돋움체 Bold"/>
              </a:rPr>
              <a:t>캐시</a:t>
            </a:r>
            <a:endParaRPr sz="1000" dirty="0">
              <a:latin typeface="KoPub돋움체 Bold"/>
            </a:endParaRPr>
          </a:p>
        </p:txBody>
      </p:sp>
      <p:sp>
        <p:nvSpPr>
          <p:cNvPr id="24" name="TextBox 23"/>
          <p:cNvSpPr txBox="1"/>
          <p:nvPr/>
        </p:nvSpPr>
        <p:spPr>
          <a:xfrm>
            <a:off x="6945136" y="1908000"/>
            <a:ext cx="665247" cy="138499"/>
          </a:xfrm>
          <a:prstGeom prst="rect">
            <a:avLst/>
          </a:prstGeom>
          <a:noFill/>
        </p:spPr>
        <p:txBody>
          <a:bodyPr wrap="none" lIns="0" tIns="0" rIns="0" bIns="0">
            <a:spAutoFit/>
          </a:bodyPr>
          <a:lstStyle/>
          <a:p>
            <a:pPr algn="ctr">
              <a:defRPr sz="750" b="1">
                <a:solidFill>
                  <a:srgbClr val="6B7280"/>
                </a:solidFill>
                <a:latin typeface="KoPub돋움체 Bold"/>
              </a:defRPr>
            </a:pPr>
            <a:r>
              <a:rPr sz="900" dirty="0" err="1">
                <a:latin typeface="KoPub돋움체 Bold"/>
              </a:rPr>
              <a:t>지연</a:t>
            </a:r>
            <a:r>
              <a:rPr sz="900" dirty="0">
                <a:latin typeface="KoPub돋움체 Bold"/>
              </a:rPr>
              <a:t>: 0.85ms</a:t>
            </a:r>
          </a:p>
        </p:txBody>
      </p:sp>
      <p:sp>
        <p:nvSpPr>
          <p:cNvPr id="25" name="TextBox 24"/>
          <p:cNvSpPr txBox="1"/>
          <p:nvPr/>
        </p:nvSpPr>
        <p:spPr>
          <a:xfrm>
            <a:off x="6638760" y="2106000"/>
            <a:ext cx="1278000" cy="3053015"/>
          </a:xfrm>
          <a:prstGeom prst="rect">
            <a:avLst/>
          </a:prstGeom>
          <a:noFill/>
        </p:spPr>
        <p:txBody>
          <a:bodyPr wrap="square" lIns="0" tIns="0" rIns="0" bIns="0">
            <a:spAutoFit/>
          </a:bodyPr>
          <a:lstStyle/>
          <a:p>
            <a:pPr>
              <a:lnSpc>
                <a:spcPct val="150000"/>
              </a:lnSpc>
              <a:defRPr sz="750" b="1">
                <a:solidFill>
                  <a:srgbClr val="0E306D"/>
                </a:solidFill>
                <a:latin typeface="KoPub돋움체 Bold"/>
              </a:defRPr>
            </a:pPr>
            <a:r>
              <a:rPr sz="1000" dirty="0">
                <a:latin typeface="KoPub돋움체 Bold"/>
              </a:rPr>
              <a:t>[</a:t>
            </a:r>
            <a:r>
              <a:rPr sz="1000" dirty="0" err="1">
                <a:latin typeface="KoPub돋움체 Bold"/>
              </a:rPr>
              <a:t>핵심</a:t>
            </a:r>
            <a:r>
              <a:rPr sz="1000" dirty="0">
                <a:latin typeface="KoPub돋움체 Bold"/>
              </a:rPr>
              <a:t> </a:t>
            </a:r>
            <a:r>
              <a:rPr sz="1000" dirty="0" err="1">
                <a:latin typeface="KoPub돋움체 Bold"/>
              </a:rPr>
              <a:t>메커니즘</a:t>
            </a:r>
            <a:r>
              <a:rPr sz="1000" dirty="0">
                <a:latin typeface="KoPub돋움체 Bold"/>
              </a:rPr>
              <a:t>]</a:t>
            </a:r>
          </a:p>
          <a:p>
            <a:pPr>
              <a:lnSpc>
                <a:spcPct val="150000"/>
              </a:lnSpc>
              <a:defRPr sz="700">
                <a:solidFill>
                  <a:srgbClr val="0F172A"/>
                </a:solidFill>
                <a:latin typeface="KoPub돋움체 Medium"/>
              </a:defRPr>
            </a:pPr>
            <a:r>
              <a:rPr sz="1000" dirty="0">
                <a:latin typeface="KoPub돋움체 Medium"/>
              </a:rPr>
              <a:t>• L1 </a:t>
            </a:r>
            <a:r>
              <a:rPr sz="1000" dirty="0" err="1">
                <a:latin typeface="KoPub돋움체 Medium"/>
              </a:rPr>
              <a:t>OrderedDict</a:t>
            </a:r>
            <a:r>
              <a:rPr sz="1000" dirty="0">
                <a:latin typeface="KoPub돋움체 Medium"/>
              </a:rPr>
              <a:t> LRU</a:t>
            </a:r>
            <a:br>
              <a:rPr sz="1000" dirty="0"/>
            </a:br>
            <a:r>
              <a:rPr sz="1000" dirty="0">
                <a:latin typeface="KoPub돋움체 Medium"/>
              </a:rPr>
              <a:t>• L2 </a:t>
            </a:r>
            <a:r>
              <a:rPr sz="1000" dirty="0" err="1">
                <a:latin typeface="KoPub돋움체 Medium"/>
              </a:rPr>
              <a:t>중앙</a:t>
            </a:r>
            <a:r>
              <a:rPr sz="1000" dirty="0">
                <a:latin typeface="KoPub돋움체 Medium"/>
              </a:rPr>
              <a:t> Redis </a:t>
            </a:r>
            <a:r>
              <a:rPr sz="1000" dirty="0" err="1">
                <a:latin typeface="KoPub돋움체 Medium"/>
              </a:rPr>
              <a:t>캐시</a:t>
            </a:r>
            <a:r>
              <a:rPr sz="1000" dirty="0">
                <a:latin typeface="KoPub돋움체 Medium"/>
              </a:rPr>
              <a:t> </a:t>
            </a:r>
            <a:r>
              <a:rPr sz="1000" dirty="0" err="1">
                <a:latin typeface="KoPub돋움체 Medium"/>
              </a:rPr>
              <a:t>조회</a:t>
            </a:r>
            <a:endParaRPr lang="en-US" sz="1000" dirty="0">
              <a:latin typeface="KoPub돋움체 Medium"/>
            </a:endParaRPr>
          </a:p>
          <a:p>
            <a:pPr>
              <a:lnSpc>
                <a:spcPct val="150000"/>
              </a:lnSpc>
              <a:defRPr sz="700">
                <a:solidFill>
                  <a:srgbClr val="0F172A"/>
                </a:solidFill>
                <a:latin typeface="KoPub돋움체 Medium"/>
              </a:defRPr>
            </a:pPr>
            <a:endParaRPr sz="1000" dirty="0">
              <a:latin typeface="KoPub돋움체 Medium"/>
            </a:endParaRPr>
          </a:p>
          <a:p>
            <a:pPr>
              <a:lnSpc>
                <a:spcPct val="150000"/>
              </a:lnSpc>
              <a:spcBef>
                <a:spcPts val="200"/>
              </a:spcBef>
              <a:defRPr sz="750" b="1">
                <a:solidFill>
                  <a:srgbClr val="B91C1C"/>
                </a:solidFill>
                <a:latin typeface="KoPub돋움체 Bold"/>
              </a:defRPr>
            </a:pPr>
            <a:r>
              <a:rPr sz="1000" dirty="0">
                <a:latin typeface="KoPub돋움체 Bold"/>
              </a:rPr>
              <a:t>[</a:t>
            </a:r>
            <a:r>
              <a:rPr sz="1000" dirty="0" err="1">
                <a:latin typeface="KoPub돋움체 Bold"/>
              </a:rPr>
              <a:t>차단</a:t>
            </a:r>
            <a:r>
              <a:rPr sz="1000" dirty="0">
                <a:latin typeface="KoPub돋움체 Bold"/>
              </a:rPr>
              <a:t> 및 </a:t>
            </a:r>
            <a:r>
              <a:rPr sz="1000" dirty="0" err="1">
                <a:latin typeface="KoPub돋움체 Bold"/>
              </a:rPr>
              <a:t>제어</a:t>
            </a:r>
            <a:r>
              <a:rPr sz="1000" dirty="0">
                <a:latin typeface="KoPub돋움체 Bold"/>
              </a:rPr>
              <a:t>]</a:t>
            </a:r>
          </a:p>
          <a:p>
            <a:pPr>
              <a:lnSpc>
                <a:spcPct val="150000"/>
              </a:lnSpc>
              <a:defRPr sz="700">
                <a:solidFill>
                  <a:srgbClr val="0F172A"/>
                </a:solidFill>
                <a:latin typeface="KoPub돋움체 Medium"/>
              </a:defRPr>
            </a:pPr>
            <a:r>
              <a:rPr sz="1000" dirty="0">
                <a:latin typeface="KoPub돋움체 Medium"/>
              </a:rPr>
              <a:t>• L1/L2 </a:t>
            </a:r>
            <a:r>
              <a:rPr sz="1000" dirty="0" err="1">
                <a:latin typeface="KoPub돋움체 Medium"/>
              </a:rPr>
              <a:t>히트</a:t>
            </a:r>
            <a:r>
              <a:rPr sz="1000" dirty="0">
                <a:latin typeface="KoPub돋움체 Medium"/>
              </a:rPr>
              <a:t>: </a:t>
            </a:r>
            <a:r>
              <a:rPr sz="1000" dirty="0" err="1">
                <a:latin typeface="KoPub돋움체 Medium"/>
              </a:rPr>
              <a:t>즉시</a:t>
            </a:r>
            <a:r>
              <a:rPr sz="1000" dirty="0">
                <a:latin typeface="KoPub돋움체 Medium"/>
              </a:rPr>
              <a:t> 200 Allow</a:t>
            </a:r>
            <a:br>
              <a:rPr sz="1000" dirty="0"/>
            </a:br>
            <a:r>
              <a:rPr sz="1000" dirty="0">
                <a:latin typeface="KoPub돋움체 Medium"/>
              </a:rPr>
              <a:t>• </a:t>
            </a:r>
            <a:r>
              <a:rPr sz="1000" dirty="0" err="1">
                <a:latin typeface="KoPub돋움체 Medium"/>
              </a:rPr>
              <a:t>캐시</a:t>
            </a:r>
            <a:r>
              <a:rPr sz="1000" dirty="0">
                <a:latin typeface="KoPub돋움체 Medium"/>
              </a:rPr>
              <a:t> </a:t>
            </a:r>
            <a:r>
              <a:rPr sz="1000" dirty="0" err="1">
                <a:latin typeface="KoPub돋움체 Medium"/>
              </a:rPr>
              <a:t>미스</a:t>
            </a:r>
            <a:r>
              <a:rPr sz="1000" dirty="0">
                <a:latin typeface="KoPub돋움체 Medium"/>
              </a:rPr>
              <a:t>: Step 6 </a:t>
            </a:r>
            <a:r>
              <a:rPr sz="1000" dirty="0" err="1">
                <a:latin typeface="KoPub돋움체 Medium"/>
              </a:rPr>
              <a:t>진입</a:t>
            </a:r>
            <a:endParaRPr sz="1000" dirty="0">
              <a:latin typeface="KoPub돋움체 Medium"/>
            </a:endParaRPr>
          </a:p>
          <a:p>
            <a:pPr>
              <a:lnSpc>
                <a:spcPct val="150000"/>
              </a:lnSpc>
              <a:spcBef>
                <a:spcPts val="200"/>
              </a:spcBef>
              <a:defRPr sz="700" b="1">
                <a:solidFill>
                  <a:srgbClr val="6B7280"/>
                </a:solidFill>
                <a:latin typeface="KoPub돋움체 Bold"/>
              </a:defRPr>
            </a:pPr>
            <a:endParaRPr lang="en-US" sz="1000" dirty="0">
              <a:latin typeface="KoPub돋움체 Bold"/>
            </a:endParaRPr>
          </a:p>
          <a:p>
            <a:pPr>
              <a:lnSpc>
                <a:spcPct val="150000"/>
              </a:lnSpc>
              <a:spcBef>
                <a:spcPts val="200"/>
              </a:spcBef>
              <a:defRPr sz="700" b="1">
                <a:solidFill>
                  <a:srgbClr val="6B7280"/>
                </a:solidFill>
                <a:latin typeface="KoPub돋움체 Bold"/>
              </a:defRPr>
            </a:pPr>
            <a:r>
              <a:rPr sz="1000" dirty="0">
                <a:latin typeface="KoPub돋움체 Bold"/>
              </a:rPr>
              <a:t>[</a:t>
            </a:r>
            <a:r>
              <a:rPr sz="1000" dirty="0" err="1">
                <a:latin typeface="KoPub돋움체 Bold"/>
              </a:rPr>
              <a:t>관측</a:t>
            </a:r>
            <a:r>
              <a:rPr sz="1000" dirty="0">
                <a:latin typeface="KoPub돋움체 Bold"/>
              </a:rPr>
              <a:t> </a:t>
            </a:r>
            <a:r>
              <a:rPr sz="1000" dirty="0" err="1">
                <a:latin typeface="KoPub돋움체 Bold"/>
              </a:rPr>
              <a:t>카운터</a:t>
            </a:r>
            <a:r>
              <a:rPr sz="1000" dirty="0">
                <a:latin typeface="KoPub돋움체 Bold"/>
              </a:rPr>
              <a:t>]</a:t>
            </a:r>
          </a:p>
          <a:p>
            <a:pPr>
              <a:lnSpc>
                <a:spcPct val="150000"/>
              </a:lnSpc>
              <a:defRPr sz="650">
                <a:solidFill>
                  <a:srgbClr val="009A93"/>
                </a:solidFill>
                <a:latin typeface="Consolas"/>
              </a:defRPr>
            </a:pPr>
            <a:r>
              <a:rPr sz="1000" dirty="0">
                <a:latin typeface="Consolas"/>
              </a:rPr>
              <a:t>[l1_hits]</a:t>
            </a:r>
            <a:br>
              <a:rPr sz="1000" dirty="0"/>
            </a:br>
            <a:r>
              <a:rPr sz="1000" dirty="0">
                <a:latin typeface="Consolas"/>
              </a:rPr>
              <a:t>[l2_hits]</a:t>
            </a:r>
          </a:p>
        </p:txBody>
      </p:sp>
      <p:sp>
        <p:nvSpPr>
          <p:cNvPr id="26" name="Rounded Rectangle 25"/>
          <p:cNvSpPr/>
          <p:nvPr/>
        </p:nvSpPr>
        <p:spPr>
          <a:xfrm>
            <a:off x="8096760" y="1349998"/>
            <a:ext cx="1458000" cy="4601245"/>
          </a:xfrm>
          <a:prstGeom prst="roundRect">
            <a:avLst>
              <a:gd name="adj" fmla="val 7376"/>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168760" y="1422000"/>
            <a:ext cx="1314000" cy="468000"/>
          </a:xfrm>
          <a:prstGeom prst="roundRect">
            <a:avLst/>
          </a:prstGeom>
          <a:solidFill>
            <a:srgbClr val="0E306D"/>
          </a:solidFill>
          <a:ln>
            <a:solidFill>
              <a:srgbClr val="0E306D"/>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00" b="1">
                <a:solidFill>
                  <a:srgbClr val="FBBC05"/>
                </a:solidFill>
                <a:latin typeface="KoPub돋움체 Bold"/>
              </a:defRPr>
            </a:pPr>
            <a:r>
              <a:rPr sz="1000" dirty="0">
                <a:latin typeface="KoPub돋움체 Bold"/>
              </a:rPr>
              <a:t>Step 06</a:t>
            </a:r>
          </a:p>
          <a:p>
            <a:pPr algn="ctr">
              <a:defRPr sz="900" b="1">
                <a:solidFill>
                  <a:srgbClr val="FFFFFF"/>
                </a:solidFill>
                <a:latin typeface="KoPub돋움체 Bold"/>
              </a:defRPr>
            </a:pPr>
            <a:r>
              <a:rPr sz="1000" dirty="0">
                <a:latin typeface="KoPub돋움체 Bold"/>
              </a:rPr>
              <a:t>DB &amp; </a:t>
            </a:r>
            <a:r>
              <a:rPr sz="1000" dirty="0" err="1">
                <a:latin typeface="KoPub돋움체 Bold"/>
              </a:rPr>
              <a:t>서킷</a:t>
            </a:r>
            <a:endParaRPr sz="1000" dirty="0">
              <a:latin typeface="KoPub돋움체 Bold"/>
            </a:endParaRPr>
          </a:p>
        </p:txBody>
      </p:sp>
      <p:sp>
        <p:nvSpPr>
          <p:cNvPr id="28" name="TextBox 27"/>
          <p:cNvSpPr txBox="1"/>
          <p:nvPr/>
        </p:nvSpPr>
        <p:spPr>
          <a:xfrm>
            <a:off x="8405773" y="1908000"/>
            <a:ext cx="839974" cy="138499"/>
          </a:xfrm>
          <a:prstGeom prst="rect">
            <a:avLst/>
          </a:prstGeom>
          <a:noFill/>
        </p:spPr>
        <p:txBody>
          <a:bodyPr wrap="none" lIns="0" tIns="0" rIns="0" bIns="0">
            <a:spAutoFit/>
          </a:bodyPr>
          <a:lstStyle/>
          <a:p>
            <a:pPr algn="ctr">
              <a:defRPr sz="750" b="1">
                <a:solidFill>
                  <a:srgbClr val="F47725"/>
                </a:solidFill>
                <a:latin typeface="KoPub돋움체 Bold"/>
              </a:defRPr>
            </a:pPr>
            <a:r>
              <a:rPr sz="900" dirty="0" err="1">
                <a:latin typeface="KoPub돋움체 Bold"/>
              </a:rPr>
              <a:t>지연</a:t>
            </a:r>
            <a:r>
              <a:rPr sz="900" dirty="0">
                <a:latin typeface="KoPub돋움체 Bold"/>
              </a:rPr>
              <a:t>: 20ms (I/O)</a:t>
            </a:r>
          </a:p>
        </p:txBody>
      </p:sp>
      <p:sp>
        <p:nvSpPr>
          <p:cNvPr id="29" name="TextBox 28"/>
          <p:cNvSpPr txBox="1"/>
          <p:nvPr/>
        </p:nvSpPr>
        <p:spPr>
          <a:xfrm>
            <a:off x="8186760" y="2106000"/>
            <a:ext cx="1278000" cy="3719864"/>
          </a:xfrm>
          <a:prstGeom prst="rect">
            <a:avLst/>
          </a:prstGeom>
          <a:noFill/>
        </p:spPr>
        <p:txBody>
          <a:bodyPr wrap="square" lIns="0" tIns="0" rIns="0" bIns="0">
            <a:spAutoFit/>
          </a:bodyPr>
          <a:lstStyle/>
          <a:p>
            <a:pPr>
              <a:lnSpc>
                <a:spcPct val="150000"/>
              </a:lnSpc>
              <a:defRPr sz="750" b="1">
                <a:solidFill>
                  <a:srgbClr val="0E306D"/>
                </a:solidFill>
                <a:latin typeface="KoPub돋움체 Bold"/>
              </a:defRPr>
            </a:pPr>
            <a:r>
              <a:rPr sz="1000" dirty="0">
                <a:latin typeface="KoPub돋움체 Bold"/>
              </a:rPr>
              <a:t>[</a:t>
            </a:r>
            <a:r>
              <a:rPr sz="1000" dirty="0" err="1">
                <a:latin typeface="KoPub돋움체 Bold"/>
              </a:rPr>
              <a:t>핵심</a:t>
            </a:r>
            <a:r>
              <a:rPr sz="1000" dirty="0">
                <a:latin typeface="KoPub돋움체 Bold"/>
              </a:rPr>
              <a:t> </a:t>
            </a:r>
            <a:r>
              <a:rPr sz="1000" dirty="0" err="1">
                <a:latin typeface="KoPub돋움체 Bold"/>
              </a:rPr>
              <a:t>메커니즘</a:t>
            </a:r>
            <a:r>
              <a:rPr sz="1000" dirty="0">
                <a:latin typeface="KoPub돋움체 Bold"/>
              </a:rPr>
              <a:t>]</a:t>
            </a:r>
          </a:p>
          <a:p>
            <a:pPr>
              <a:lnSpc>
                <a:spcPct val="150000"/>
              </a:lnSpc>
              <a:defRPr sz="700">
                <a:solidFill>
                  <a:srgbClr val="0F172A"/>
                </a:solidFill>
                <a:latin typeface="KoPub돋움체 Medium"/>
              </a:defRPr>
            </a:pPr>
            <a:r>
              <a:rPr sz="1000" dirty="0">
                <a:latin typeface="KoPub돋움체 Medium"/>
              </a:rPr>
              <a:t>• Single-Flight DB </a:t>
            </a:r>
            <a:r>
              <a:rPr sz="1000" dirty="0" err="1">
                <a:latin typeface="KoPub돋움체 Medium"/>
              </a:rPr>
              <a:t>쿼리</a:t>
            </a:r>
            <a:r>
              <a:rPr sz="1000" dirty="0">
                <a:latin typeface="KoPub돋움체 Medium"/>
              </a:rPr>
              <a:t> </a:t>
            </a:r>
            <a:r>
              <a:rPr sz="1000" dirty="0" err="1">
                <a:latin typeface="KoPub돋움체 Medium"/>
              </a:rPr>
              <a:t>병합</a:t>
            </a:r>
            <a:br>
              <a:rPr sz="1000" dirty="0"/>
            </a:br>
            <a:r>
              <a:rPr sz="1000" dirty="0">
                <a:latin typeface="KoPub돋움체 Medium"/>
              </a:rPr>
              <a:t>• 3회 </a:t>
            </a:r>
            <a:r>
              <a:rPr sz="1000" dirty="0" err="1">
                <a:latin typeface="KoPub돋움체 Medium"/>
              </a:rPr>
              <a:t>실패</a:t>
            </a:r>
            <a:r>
              <a:rPr sz="1000" dirty="0">
                <a:latin typeface="KoPub돋움체 Medium"/>
              </a:rPr>
              <a:t> 시 </a:t>
            </a:r>
            <a:r>
              <a:rPr sz="1000" dirty="0" err="1">
                <a:latin typeface="KoPub돋움체 Medium"/>
              </a:rPr>
              <a:t>서킷</a:t>
            </a:r>
            <a:r>
              <a:rPr sz="1000" dirty="0">
                <a:latin typeface="KoPub돋움체 Medium"/>
              </a:rPr>
              <a:t> OPEN</a:t>
            </a:r>
          </a:p>
          <a:p>
            <a:pPr>
              <a:lnSpc>
                <a:spcPct val="150000"/>
              </a:lnSpc>
              <a:spcBef>
                <a:spcPts val="200"/>
              </a:spcBef>
              <a:defRPr sz="750" b="1">
                <a:solidFill>
                  <a:srgbClr val="B91C1C"/>
                </a:solidFill>
                <a:latin typeface="KoPub돋움체 Bold"/>
              </a:defRPr>
            </a:pPr>
            <a:r>
              <a:rPr sz="1000" dirty="0">
                <a:latin typeface="KoPub돋움체 Bold"/>
              </a:rPr>
              <a:t>[</a:t>
            </a:r>
            <a:r>
              <a:rPr sz="1000" dirty="0" err="1">
                <a:latin typeface="KoPub돋움체 Bold"/>
              </a:rPr>
              <a:t>차단</a:t>
            </a:r>
            <a:r>
              <a:rPr sz="1000" dirty="0">
                <a:latin typeface="KoPub돋움체 Bold"/>
              </a:rPr>
              <a:t> 및 </a:t>
            </a:r>
            <a:r>
              <a:rPr sz="1000" dirty="0" err="1">
                <a:latin typeface="KoPub돋움체 Bold"/>
              </a:rPr>
              <a:t>제어</a:t>
            </a:r>
            <a:r>
              <a:rPr sz="1000" dirty="0">
                <a:latin typeface="KoPub돋움체 Bold"/>
              </a:rPr>
              <a:t>]</a:t>
            </a:r>
          </a:p>
          <a:p>
            <a:pPr>
              <a:lnSpc>
                <a:spcPct val="150000"/>
              </a:lnSpc>
              <a:defRPr sz="700">
                <a:solidFill>
                  <a:srgbClr val="0F172A"/>
                </a:solidFill>
                <a:latin typeface="KoPub돋움체 Medium"/>
              </a:defRPr>
            </a:pPr>
            <a:r>
              <a:rPr sz="1000" dirty="0">
                <a:latin typeface="KoPub돋움체 Medium"/>
              </a:rPr>
              <a:t>• </a:t>
            </a:r>
            <a:r>
              <a:rPr sz="1000" dirty="0" err="1">
                <a:latin typeface="KoPub돋움체 Medium"/>
              </a:rPr>
              <a:t>정상</a:t>
            </a:r>
            <a:r>
              <a:rPr sz="1000" dirty="0">
                <a:latin typeface="KoPub돋움체 Medium"/>
              </a:rPr>
              <a:t>: DB </a:t>
            </a:r>
            <a:r>
              <a:rPr sz="1000" dirty="0" err="1">
                <a:latin typeface="KoPub돋움체 Medium"/>
              </a:rPr>
              <a:t>조회</a:t>
            </a:r>
            <a:r>
              <a:rPr sz="1000" dirty="0">
                <a:latin typeface="KoPub돋움체 Medium"/>
              </a:rPr>
              <a:t> 후 L1/L2 </a:t>
            </a:r>
            <a:r>
              <a:rPr sz="1000" dirty="0" err="1">
                <a:latin typeface="KoPub돋움체 Medium"/>
              </a:rPr>
              <a:t>적재</a:t>
            </a:r>
            <a:br>
              <a:rPr sz="1000" dirty="0"/>
            </a:br>
            <a:r>
              <a:rPr sz="1000" dirty="0">
                <a:latin typeface="KoPub돋움체 Medium"/>
              </a:rPr>
              <a:t>• </a:t>
            </a:r>
            <a:r>
              <a:rPr sz="1000" dirty="0" err="1">
                <a:latin typeface="KoPub돋움체 Medium"/>
              </a:rPr>
              <a:t>서킷</a:t>
            </a:r>
            <a:r>
              <a:rPr sz="1000" dirty="0">
                <a:latin typeface="KoPub돋움체 Medium"/>
              </a:rPr>
              <a:t> OPEN: </a:t>
            </a:r>
            <a:r>
              <a:rPr sz="1000" dirty="0" err="1">
                <a:latin typeface="KoPub돋움체 Medium"/>
              </a:rPr>
              <a:t>degraded_allow</a:t>
            </a:r>
            <a:br>
              <a:rPr sz="1000" dirty="0"/>
            </a:br>
            <a:r>
              <a:rPr sz="1000" dirty="0">
                <a:latin typeface="KoPub돋움체 Medium"/>
              </a:rPr>
              <a:t>• (</a:t>
            </a:r>
            <a:r>
              <a:rPr sz="1000" dirty="0" err="1">
                <a:latin typeface="KoPub돋움체 Medium"/>
              </a:rPr>
              <a:t>공개키</a:t>
            </a:r>
            <a:r>
              <a:rPr sz="1000" dirty="0">
                <a:latin typeface="KoPub돋움체 Medium"/>
              </a:rPr>
              <a:t> </a:t>
            </a:r>
            <a:r>
              <a:rPr sz="1000" dirty="0" err="1">
                <a:latin typeface="KoPub돋움체 Medium"/>
              </a:rPr>
              <a:t>미스는</a:t>
            </a:r>
            <a:r>
              <a:rPr sz="1000" dirty="0">
                <a:latin typeface="KoPub돋움체 Medium"/>
              </a:rPr>
              <a:t> 503 </a:t>
            </a:r>
            <a:r>
              <a:rPr sz="1000" dirty="0" err="1">
                <a:latin typeface="KoPub돋움체 Medium"/>
              </a:rPr>
              <a:t>차단</a:t>
            </a:r>
            <a:r>
              <a:rPr sz="1000" dirty="0">
                <a:latin typeface="KoPub돋움체 Medium"/>
              </a:rPr>
              <a:t>)</a:t>
            </a:r>
          </a:p>
          <a:p>
            <a:pPr>
              <a:lnSpc>
                <a:spcPct val="150000"/>
              </a:lnSpc>
              <a:spcBef>
                <a:spcPts val="200"/>
              </a:spcBef>
              <a:defRPr sz="700" b="1">
                <a:solidFill>
                  <a:srgbClr val="6B7280"/>
                </a:solidFill>
                <a:latin typeface="KoPub돋움체 Bold"/>
              </a:defRPr>
            </a:pPr>
            <a:r>
              <a:rPr sz="1000" dirty="0">
                <a:latin typeface="KoPub돋움체 Bold"/>
              </a:rPr>
              <a:t>[</a:t>
            </a:r>
            <a:r>
              <a:rPr sz="1000" dirty="0" err="1">
                <a:latin typeface="KoPub돋움체 Bold"/>
              </a:rPr>
              <a:t>관측</a:t>
            </a:r>
            <a:r>
              <a:rPr sz="1000" dirty="0">
                <a:latin typeface="KoPub돋움체 Bold"/>
              </a:rPr>
              <a:t> </a:t>
            </a:r>
            <a:r>
              <a:rPr sz="1000" dirty="0" err="1">
                <a:latin typeface="KoPub돋움체 Bold"/>
              </a:rPr>
              <a:t>카운터</a:t>
            </a:r>
            <a:r>
              <a:rPr sz="1000" dirty="0">
                <a:latin typeface="KoPub돋움체 Bold"/>
              </a:rPr>
              <a:t>]</a:t>
            </a:r>
          </a:p>
          <a:p>
            <a:pPr>
              <a:lnSpc>
                <a:spcPct val="150000"/>
              </a:lnSpc>
              <a:defRPr sz="650">
                <a:solidFill>
                  <a:srgbClr val="009A93"/>
                </a:solidFill>
                <a:latin typeface="Consolas"/>
              </a:defRPr>
            </a:pPr>
            <a:r>
              <a:rPr sz="1000" dirty="0">
                <a:latin typeface="Consolas"/>
              </a:rPr>
              <a:t>[</a:t>
            </a:r>
            <a:r>
              <a:rPr sz="1000" dirty="0" err="1">
                <a:latin typeface="Consolas"/>
              </a:rPr>
              <a:t>db_fallbacks</a:t>
            </a:r>
            <a:r>
              <a:rPr sz="1000" dirty="0">
                <a:latin typeface="Consolas"/>
              </a:rPr>
              <a:t>]</a:t>
            </a:r>
            <a:br>
              <a:rPr sz="1000" dirty="0"/>
            </a:br>
            <a:r>
              <a:rPr sz="1000" dirty="0">
                <a:latin typeface="Consolas"/>
              </a:rPr>
              <a:t>[</a:t>
            </a:r>
            <a:r>
              <a:rPr sz="1000" dirty="0" err="1">
                <a:latin typeface="Consolas"/>
              </a:rPr>
              <a:t>singleflight_coalesced</a:t>
            </a:r>
            <a:r>
              <a:rPr sz="1000" dirty="0">
                <a:latin typeface="Consolas"/>
              </a:rPr>
              <a:t>]</a:t>
            </a:r>
          </a:p>
        </p:txBody>
      </p:sp>
      <p:sp>
        <p:nvSpPr>
          <p:cNvPr id="34" name="Rounded Rectangle 33"/>
          <p:cNvSpPr/>
          <p:nvPr/>
        </p:nvSpPr>
        <p:spPr>
          <a:xfrm>
            <a:off x="356760" y="6048000"/>
            <a:ext cx="9198720" cy="342000"/>
          </a:xfrm>
          <a:prstGeom prst="roundRect">
            <a:avLst/>
          </a:prstGeom>
          <a:solidFill>
            <a:srgbClr val="F1F1F1"/>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368686" y="6142056"/>
            <a:ext cx="7736092" cy="153888"/>
          </a:xfrm>
          <a:prstGeom prst="rect">
            <a:avLst/>
          </a:prstGeom>
          <a:noFill/>
        </p:spPr>
        <p:txBody>
          <a:bodyPr wrap="none" lIns="0" tIns="0" rIns="0" bIns="0" anchor="ctr">
            <a:spAutoFit/>
          </a:bodyPr>
          <a:lstStyle/>
          <a:p>
            <a:pPr>
              <a:defRPr sz="900" b="1">
                <a:solidFill>
                  <a:srgbClr val="0F172A"/>
                </a:solidFill>
                <a:latin typeface="KoPub돋움체 Bold"/>
              </a:defRPr>
            </a:pPr>
            <a:r>
              <a:rPr sz="1000" dirty="0" err="1">
                <a:latin typeface="KoPub돋움체 Bold"/>
              </a:rPr>
              <a:t>고비용</a:t>
            </a:r>
            <a:r>
              <a:rPr sz="1000" dirty="0">
                <a:latin typeface="KoPub돋움체 Bold"/>
              </a:rPr>
              <a:t> </a:t>
            </a:r>
            <a:r>
              <a:rPr sz="1000" dirty="0" err="1">
                <a:latin typeface="KoPub돋움체 Bold"/>
              </a:rPr>
              <a:t>암호</a:t>
            </a:r>
            <a:r>
              <a:rPr sz="1000" dirty="0">
                <a:latin typeface="KoPub돋움체 Bold"/>
              </a:rPr>
              <a:t> </a:t>
            </a:r>
            <a:r>
              <a:rPr sz="1000" dirty="0" err="1">
                <a:latin typeface="KoPub돋움체 Bold"/>
              </a:rPr>
              <a:t>연산</a:t>
            </a:r>
            <a:r>
              <a:rPr sz="1000" dirty="0">
                <a:latin typeface="KoPub돋움체 Bold"/>
              </a:rPr>
              <a:t>(Step 4) 및 DB I/O(Step 6) </a:t>
            </a:r>
            <a:r>
              <a:rPr sz="1000" dirty="0" err="1">
                <a:latin typeface="KoPub돋움체 Bold"/>
              </a:rPr>
              <a:t>전에</a:t>
            </a:r>
            <a:r>
              <a:rPr sz="1000" dirty="0">
                <a:latin typeface="KoPub돋움체 Bold"/>
              </a:rPr>
              <a:t> </a:t>
            </a:r>
            <a:r>
              <a:rPr sz="1000" dirty="0" err="1">
                <a:latin typeface="KoPub돋움체 Bold"/>
              </a:rPr>
              <a:t>저비용</a:t>
            </a:r>
            <a:r>
              <a:rPr sz="1000" dirty="0">
                <a:latin typeface="KoPub돋움체 Bold"/>
              </a:rPr>
              <a:t> </a:t>
            </a:r>
            <a:r>
              <a:rPr sz="1000" dirty="0" err="1">
                <a:latin typeface="KoPub돋움체 Bold"/>
              </a:rPr>
              <a:t>유량</a:t>
            </a:r>
            <a:r>
              <a:rPr sz="1000" dirty="0">
                <a:latin typeface="KoPub돋움체 Bold"/>
              </a:rPr>
              <a:t> </a:t>
            </a:r>
            <a:r>
              <a:rPr sz="1000" dirty="0" err="1">
                <a:latin typeface="KoPub돋움체 Bold"/>
              </a:rPr>
              <a:t>제어</a:t>
            </a:r>
            <a:r>
              <a:rPr sz="1000" dirty="0">
                <a:latin typeface="KoPub돋움체 Bold"/>
              </a:rPr>
              <a:t>(Step 2)와 Nonce </a:t>
            </a:r>
            <a:r>
              <a:rPr sz="1000" dirty="0" err="1">
                <a:latin typeface="KoPub돋움체 Bold"/>
              </a:rPr>
              <a:t>소각</a:t>
            </a:r>
            <a:r>
              <a:rPr sz="1000" dirty="0">
                <a:latin typeface="KoPub돋움체 Bold"/>
              </a:rPr>
              <a:t>(Step 3)을 </a:t>
            </a:r>
            <a:r>
              <a:rPr sz="1000" dirty="0" err="1">
                <a:latin typeface="KoPub돋움체 Bold"/>
              </a:rPr>
              <a:t>선행</a:t>
            </a:r>
            <a:r>
              <a:rPr sz="1000" dirty="0">
                <a:latin typeface="KoPub돋움체 Bold"/>
              </a:rPr>
              <a:t> </a:t>
            </a:r>
            <a:r>
              <a:rPr sz="1000" dirty="0" err="1">
                <a:latin typeface="KoPub돋움체 Bold"/>
              </a:rPr>
              <a:t>배치하여</a:t>
            </a:r>
            <a:r>
              <a:rPr sz="1000" dirty="0">
                <a:latin typeface="KoPub돋움체 Bold"/>
              </a:rPr>
              <a:t> CPU </a:t>
            </a:r>
            <a:r>
              <a:rPr sz="1000" dirty="0" err="1">
                <a:latin typeface="KoPub돋움체 Bold"/>
              </a:rPr>
              <a:t>고갈</a:t>
            </a:r>
            <a:r>
              <a:rPr sz="1000" dirty="0">
                <a:latin typeface="KoPub돋움체 Bold"/>
              </a:rPr>
              <a:t> </a:t>
            </a:r>
            <a:r>
              <a:rPr sz="1000" dirty="0" err="1">
                <a:latin typeface="KoPub돋움체 Bold"/>
              </a:rPr>
              <a:t>공격을</a:t>
            </a:r>
            <a:r>
              <a:rPr sz="1000" dirty="0">
                <a:latin typeface="KoPub돋움체 Bold"/>
              </a:rPr>
              <a:t> </a:t>
            </a:r>
            <a:r>
              <a:rPr sz="1000" dirty="0" err="1">
                <a:latin typeface="KoPub돋움체 Bold"/>
              </a:rPr>
              <a:t>에지에서</a:t>
            </a:r>
            <a:r>
              <a:rPr sz="1000" dirty="0">
                <a:latin typeface="KoPub돋움체 Bold"/>
              </a:rPr>
              <a:t> </a:t>
            </a:r>
            <a:r>
              <a:rPr sz="1000" dirty="0" err="1">
                <a:latin typeface="KoPub돋움체 Bold"/>
              </a:rPr>
              <a:t>차단</a:t>
            </a:r>
            <a:endParaRPr sz="1000" dirty="0">
              <a:latin typeface="KoPub돋움체 Bold"/>
            </a:endParaRPr>
          </a:p>
        </p:txBody>
      </p:sp>
      <p:sp>
        <p:nvSpPr>
          <p:cNvPr id="37" name="TextBox 36"/>
          <p:cNvSpPr txBox="1"/>
          <p:nvPr/>
        </p:nvSpPr>
        <p:spPr>
          <a:xfrm>
            <a:off x="8723520" y="6537960"/>
            <a:ext cx="831960" cy="246960"/>
          </a:xfrm>
          <a:prstGeom prst="rect">
            <a:avLst/>
          </a:prstGeom>
          <a:noFill/>
        </p:spPr>
        <p:txBody>
          <a:bodyPr wrap="none" lIns="0" tIns="0" rIns="0" bIns="0">
            <a:spAutoFit/>
          </a:bodyPr>
          <a:lstStyle/>
          <a:p>
            <a:pPr algn="r">
              <a:defRPr sz="1000" b="1">
                <a:solidFill>
                  <a:srgbClr val="6B7280"/>
                </a:solidFill>
                <a:latin typeface="KoPub돋움체 Bold"/>
              </a:defRPr>
            </a:pPr>
            <a:r>
              <a:rPr>
                <a:latin typeface="KoPub돋움체 Bold"/>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9FAFD"/>
        </a:solidFill>
        <a:effectLst/>
      </p:bgPr>
    </p:bg>
    <p:spTree>
      <p:nvGrpSpPr>
        <p:cNvPr id="1" name=""/>
        <p:cNvGrpSpPr/>
        <p:nvPr/>
      </p:nvGrpSpPr>
      <p:grpSpPr>
        <a:xfrm>
          <a:off x="0" y="0"/>
          <a:ext cx="0" cy="0"/>
          <a:chOff x="0" y="0"/>
          <a:chExt cx="0" cy="0"/>
        </a:xfrm>
      </p:grpSpPr>
      <p:sp>
        <p:nvSpPr>
          <p:cNvPr id="2" name="Rounded Rectangle 1"/>
          <p:cNvSpPr/>
          <p:nvPr/>
        </p:nvSpPr>
        <p:spPr>
          <a:xfrm>
            <a:off x="356760" y="292680"/>
            <a:ext cx="9198720" cy="493920"/>
          </a:xfrm>
          <a:prstGeom prst="roundRect">
            <a:avLst/>
          </a:prstGeom>
          <a:solidFill>
            <a:srgbClr val="0E306D"/>
          </a:solidFill>
          <a:ln w="12700">
            <a:solidFill>
              <a:srgbClr val="0E30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80"/>
            <a:ext cx="8778240" cy="493920"/>
          </a:xfrm>
          <a:prstGeom prst="rect">
            <a:avLst/>
          </a:prstGeom>
          <a:noFill/>
        </p:spPr>
        <p:txBody>
          <a:bodyPr wrap="square" lIns="0" tIns="0" rIns="0" bIns="0" anchor="ctr">
            <a:spAutoFit/>
          </a:bodyPr>
          <a:lstStyle/>
          <a:p>
            <a:pPr>
              <a:defRPr sz="2000" b="1">
                <a:solidFill>
                  <a:srgbClr val="FFFFFF"/>
                </a:solidFill>
                <a:latin typeface="KoPub돋움체 Bold"/>
              </a:defRPr>
            </a:pPr>
            <a:r>
              <a:rPr>
                <a:latin typeface="KoPub돋움체 Bold"/>
              </a:rPr>
              <a:t>02. L1/L2 다단계 캐싱과 로컬 Single-Flight 깔때기 압축</a:t>
            </a:r>
          </a:p>
        </p:txBody>
      </p:sp>
      <p:sp>
        <p:nvSpPr>
          <p:cNvPr id="4" name="Rounded Rectangle 3"/>
          <p:cNvSpPr/>
          <p:nvPr/>
        </p:nvSpPr>
        <p:spPr>
          <a:xfrm>
            <a:off x="356760" y="914400"/>
            <a:ext cx="9198720" cy="347400"/>
          </a:xfrm>
          <a:prstGeom prst="roundRect">
            <a:avLst/>
          </a:prstGeom>
          <a:solidFill>
            <a:srgbClr val="F1F1F1"/>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011156"/>
            <a:ext cx="9052560" cy="153888"/>
          </a:xfrm>
          <a:prstGeom prst="rect">
            <a:avLst/>
          </a:prstGeom>
          <a:noFill/>
        </p:spPr>
        <p:txBody>
          <a:bodyPr wrap="square" lIns="0" tIns="0" rIns="0" bIns="0" anchor="ctr">
            <a:spAutoFit/>
          </a:bodyPr>
          <a:lstStyle/>
          <a:p>
            <a:pPr>
              <a:defRPr sz="1050" b="1">
                <a:solidFill>
                  <a:srgbClr val="0E306D"/>
                </a:solidFill>
                <a:latin typeface="KoPub돋움체 Bold"/>
              </a:defRPr>
            </a:pPr>
            <a:r>
              <a:rPr sz="1000" dirty="0" err="1">
                <a:latin typeface="KoPub돋움체 Bold"/>
              </a:rPr>
              <a:t>동일</a:t>
            </a:r>
            <a:r>
              <a:rPr sz="1000" dirty="0">
                <a:latin typeface="KoPub돋움체 Bold"/>
              </a:rPr>
              <a:t> 키 1,000건 </a:t>
            </a:r>
            <a:r>
              <a:rPr sz="1000" dirty="0" err="1">
                <a:latin typeface="KoPub돋움체 Bold"/>
              </a:rPr>
              <a:t>폭주</a:t>
            </a:r>
            <a:r>
              <a:rPr sz="1000" dirty="0">
                <a:latin typeface="KoPub돋움체 Bold"/>
              </a:rPr>
              <a:t> 시 </a:t>
            </a:r>
            <a:r>
              <a:rPr sz="1000" dirty="0" err="1">
                <a:latin typeface="KoPub돋움체 Bold"/>
              </a:rPr>
              <a:t>선두</a:t>
            </a:r>
            <a:r>
              <a:rPr sz="1000" dirty="0">
                <a:latin typeface="KoPub돋움체 Bold"/>
              </a:rPr>
              <a:t> 1건만 </a:t>
            </a:r>
            <a:r>
              <a:rPr sz="1000" dirty="0" err="1">
                <a:latin typeface="KoPub돋움체 Bold"/>
              </a:rPr>
              <a:t>DB를</a:t>
            </a:r>
            <a:r>
              <a:rPr sz="1000" dirty="0">
                <a:latin typeface="KoPub돋움체 Bold"/>
              </a:rPr>
              <a:t> </a:t>
            </a:r>
            <a:r>
              <a:rPr sz="1000" dirty="0" err="1">
                <a:latin typeface="KoPub돋움체 Bold"/>
              </a:rPr>
              <a:t>조회하고</a:t>
            </a:r>
            <a:r>
              <a:rPr sz="1000" dirty="0">
                <a:latin typeface="KoPub돋움체 Bold"/>
              </a:rPr>
              <a:t> 999건은 Future </a:t>
            </a:r>
            <a:r>
              <a:rPr sz="1000" dirty="0" err="1">
                <a:latin typeface="KoPub돋움체 Bold"/>
              </a:rPr>
              <a:t>결과를</a:t>
            </a:r>
            <a:r>
              <a:rPr sz="1000" dirty="0">
                <a:latin typeface="KoPub돋움체 Bold"/>
              </a:rPr>
              <a:t> </a:t>
            </a:r>
            <a:r>
              <a:rPr sz="1000" dirty="0" err="1">
                <a:latin typeface="KoPub돋움체 Bold"/>
              </a:rPr>
              <a:t>공유받아</a:t>
            </a:r>
            <a:r>
              <a:rPr sz="1000" dirty="0">
                <a:latin typeface="KoPub돋움체 Bold"/>
              </a:rPr>
              <a:t> DB </a:t>
            </a:r>
            <a:r>
              <a:rPr sz="1000" dirty="0" err="1">
                <a:latin typeface="KoPub돋움체 Bold"/>
              </a:rPr>
              <a:t>부하</a:t>
            </a:r>
            <a:r>
              <a:rPr sz="1000" dirty="0">
                <a:latin typeface="KoPub돋움체 Bold"/>
              </a:rPr>
              <a:t> 98~99.9% </a:t>
            </a:r>
            <a:r>
              <a:rPr sz="1000" dirty="0" err="1">
                <a:latin typeface="KoPub돋움체 Bold"/>
              </a:rPr>
              <a:t>절감</a:t>
            </a:r>
            <a:endParaRPr sz="1000" dirty="0">
              <a:latin typeface="KoPub돋움체 Bold"/>
            </a:endParaRPr>
          </a:p>
        </p:txBody>
      </p:sp>
      <p:sp>
        <p:nvSpPr>
          <p:cNvPr id="6" name="Rounded Rectangle 5"/>
          <p:cNvSpPr/>
          <p:nvPr/>
        </p:nvSpPr>
        <p:spPr>
          <a:xfrm>
            <a:off x="356760" y="1350000"/>
            <a:ext cx="5112000" cy="4572000"/>
          </a:xfrm>
          <a:prstGeom prst="roundRect">
            <a:avLst>
              <a:gd name="adj" fmla="val 2963"/>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86000" y="1476000"/>
            <a:ext cx="4860000" cy="288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0E306D"/>
                </a:solidFill>
                <a:latin typeface="KoPub돋움체 Bold"/>
              </a:defRPr>
            </a:pPr>
            <a:r>
              <a:rPr sz="1000" dirty="0" err="1">
                <a:latin typeface="KoPub돋움체 Bold"/>
              </a:rPr>
              <a:t>동일</a:t>
            </a:r>
            <a:r>
              <a:rPr sz="1000" dirty="0">
                <a:latin typeface="KoPub돋움체 Bold"/>
              </a:rPr>
              <a:t> 키 </a:t>
            </a:r>
            <a:r>
              <a:rPr sz="1000" dirty="0" err="1">
                <a:latin typeface="KoPub돋움체 Bold"/>
              </a:rPr>
              <a:t>폭주</a:t>
            </a:r>
            <a:r>
              <a:rPr sz="1000" dirty="0">
                <a:latin typeface="KoPub돋움체 Bold"/>
              </a:rPr>
              <a:t> </a:t>
            </a:r>
            <a:r>
              <a:rPr sz="1000" dirty="0" err="1">
                <a:latin typeface="KoPub돋움체 Bold"/>
              </a:rPr>
              <a:t>요청</a:t>
            </a:r>
            <a:r>
              <a:rPr sz="1000" dirty="0">
                <a:latin typeface="KoPub돋움체 Bold"/>
              </a:rPr>
              <a:t> </a:t>
            </a:r>
            <a:r>
              <a:rPr sz="1000" dirty="0" err="1">
                <a:latin typeface="KoPub돋움체 Bold"/>
              </a:rPr>
              <a:t>깔때기</a:t>
            </a:r>
            <a:r>
              <a:rPr sz="1000" dirty="0">
                <a:latin typeface="KoPub돋움체 Bold"/>
              </a:rPr>
              <a:t>(Funnel) </a:t>
            </a:r>
            <a:r>
              <a:rPr sz="1000" dirty="0" err="1">
                <a:latin typeface="KoPub돋움체 Bold"/>
              </a:rPr>
              <a:t>압축</a:t>
            </a:r>
            <a:r>
              <a:rPr sz="1000" dirty="0">
                <a:latin typeface="KoPub돋움체 Bold"/>
              </a:rPr>
              <a:t> </a:t>
            </a:r>
            <a:r>
              <a:rPr sz="1000" dirty="0" err="1">
                <a:latin typeface="KoPub돋움체 Bold"/>
              </a:rPr>
              <a:t>파이프라인</a:t>
            </a:r>
            <a:endParaRPr sz="1000" dirty="0">
              <a:latin typeface="KoPub돋움체 Bold"/>
            </a:endParaRPr>
          </a:p>
        </p:txBody>
      </p:sp>
      <p:sp>
        <p:nvSpPr>
          <p:cNvPr id="8" name="Rounded Rectangle 7"/>
          <p:cNvSpPr/>
          <p:nvPr/>
        </p:nvSpPr>
        <p:spPr>
          <a:xfrm>
            <a:off x="486000" y="1872000"/>
            <a:ext cx="4860000" cy="864000"/>
          </a:xfrm>
          <a:prstGeom prst="roundRect">
            <a:avLst/>
          </a:prstGeom>
          <a:solidFill>
            <a:srgbClr val="FEF2F2"/>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6000" y="1944000"/>
            <a:ext cx="4680000" cy="464551"/>
          </a:xfrm>
          <a:prstGeom prst="rect">
            <a:avLst/>
          </a:prstGeom>
          <a:noFill/>
        </p:spPr>
        <p:txBody>
          <a:bodyPr wrap="square" lIns="0" tIns="0" rIns="0" bIns="0">
            <a:spAutoFit/>
          </a:bodyPr>
          <a:lstStyle/>
          <a:p>
            <a:pPr>
              <a:lnSpc>
                <a:spcPct val="150000"/>
              </a:lnSpc>
              <a:defRPr sz="850" b="1">
                <a:solidFill>
                  <a:srgbClr val="B91C1C"/>
                </a:solidFill>
                <a:latin typeface="KoPub돋움체 Bold"/>
              </a:defRPr>
            </a:pPr>
            <a:r>
              <a:rPr sz="1000" dirty="0">
                <a:latin typeface="KoPub돋움체 Bold"/>
              </a:rPr>
              <a:t>Layer 1: </a:t>
            </a:r>
            <a:r>
              <a:rPr sz="1000" dirty="0" err="1">
                <a:latin typeface="KoPub돋움체 Bold"/>
              </a:rPr>
              <a:t>동시</a:t>
            </a:r>
            <a:r>
              <a:rPr sz="1000" dirty="0">
                <a:latin typeface="KoPub돋움체 Bold"/>
              </a:rPr>
              <a:t> </a:t>
            </a:r>
            <a:r>
              <a:rPr sz="1000" dirty="0" err="1">
                <a:latin typeface="KoPub돋움체 Bold"/>
              </a:rPr>
              <a:t>다발적</a:t>
            </a:r>
            <a:r>
              <a:rPr sz="1000" dirty="0">
                <a:latin typeface="KoPub돋움체 Bold"/>
              </a:rPr>
              <a:t> </a:t>
            </a:r>
            <a:r>
              <a:rPr sz="1000" dirty="0" err="1">
                <a:latin typeface="KoPub돋움체 Bold"/>
              </a:rPr>
              <a:t>요청</a:t>
            </a:r>
            <a:r>
              <a:rPr sz="1000" dirty="0">
                <a:latin typeface="KoPub돋움체 Bold"/>
              </a:rPr>
              <a:t> </a:t>
            </a:r>
            <a:r>
              <a:rPr sz="1000" dirty="0" err="1">
                <a:latin typeface="KoPub돋움체 Bold"/>
              </a:rPr>
              <a:t>유입</a:t>
            </a:r>
            <a:r>
              <a:rPr sz="1000" dirty="0">
                <a:latin typeface="KoPub돋움체 Bold"/>
              </a:rPr>
              <a:t> : 1,000 Concurrent Requests </a:t>
            </a:r>
            <a:r>
              <a:rPr sz="1000" dirty="0" err="1">
                <a:latin typeface="KoPub돋움체 Bold"/>
              </a:rPr>
              <a:t>유입</a:t>
            </a:r>
            <a:endParaRPr sz="1000" dirty="0">
              <a:latin typeface="KoPub돋움체 Bold"/>
            </a:endParaRPr>
          </a:p>
          <a:p>
            <a:pPr>
              <a:lnSpc>
                <a:spcPct val="150000"/>
              </a:lnSpc>
              <a:spcBef>
                <a:spcPts val="200"/>
              </a:spcBef>
              <a:defRPr sz="780">
                <a:solidFill>
                  <a:srgbClr val="0F172A"/>
                </a:solidFill>
                <a:latin typeface="KoPub돋움체 Medium"/>
              </a:defRPr>
            </a:pPr>
            <a:r>
              <a:rPr sz="1000" dirty="0" err="1">
                <a:latin typeface="KoPub돋움체 Medium"/>
              </a:rPr>
              <a:t>동일한</a:t>
            </a:r>
            <a:r>
              <a:rPr sz="1000" dirty="0">
                <a:latin typeface="KoPub돋움체 Medium"/>
              </a:rPr>
              <a:t> </a:t>
            </a:r>
            <a:r>
              <a:rPr sz="1000" dirty="0" err="1">
                <a:latin typeface="KoPub돋움체 Medium"/>
              </a:rPr>
              <a:t>리소스</a:t>
            </a:r>
            <a:r>
              <a:rPr sz="1000" dirty="0">
                <a:latin typeface="KoPub돋움체 Medium"/>
              </a:rPr>
              <a:t>(</a:t>
            </a:r>
            <a:r>
              <a:rPr sz="1000" dirty="0" err="1">
                <a:latin typeface="KoPub돋움체 Medium"/>
              </a:rPr>
              <a:t>comp_key</a:t>
            </a:r>
            <a:r>
              <a:rPr sz="1000" dirty="0">
                <a:latin typeface="KoPub돋움체 Medium"/>
              </a:rPr>
              <a:t>)에 </a:t>
            </a:r>
            <a:r>
              <a:rPr sz="1000" dirty="0" err="1">
                <a:latin typeface="KoPub돋움체 Medium"/>
              </a:rPr>
              <a:t>대한</a:t>
            </a:r>
            <a:r>
              <a:rPr sz="1000" dirty="0">
                <a:latin typeface="KoPub돋움체 Medium"/>
              </a:rPr>
              <a:t> </a:t>
            </a:r>
            <a:r>
              <a:rPr sz="1000" dirty="0" err="1">
                <a:latin typeface="KoPub돋움체 Medium"/>
              </a:rPr>
              <a:t>대규모</a:t>
            </a:r>
            <a:r>
              <a:rPr sz="1000" dirty="0">
                <a:latin typeface="KoPub돋움체 Medium"/>
              </a:rPr>
              <a:t> </a:t>
            </a:r>
            <a:r>
              <a:rPr sz="1000" dirty="0" err="1">
                <a:latin typeface="KoPub돋움체 Medium"/>
              </a:rPr>
              <a:t>동시</a:t>
            </a:r>
            <a:r>
              <a:rPr sz="1000" dirty="0">
                <a:latin typeface="KoPub돋움체 Medium"/>
              </a:rPr>
              <a:t> </a:t>
            </a:r>
            <a:r>
              <a:rPr sz="1000" dirty="0" err="1">
                <a:latin typeface="KoPub돋움체 Medium"/>
              </a:rPr>
              <a:t>인가</a:t>
            </a:r>
            <a:r>
              <a:rPr sz="1000" dirty="0">
                <a:latin typeface="KoPub돋움체 Medium"/>
              </a:rPr>
              <a:t> </a:t>
            </a:r>
            <a:r>
              <a:rPr sz="1000" dirty="0" err="1">
                <a:latin typeface="KoPub돋움체 Medium"/>
              </a:rPr>
              <a:t>검증</a:t>
            </a:r>
            <a:r>
              <a:rPr sz="1000" dirty="0">
                <a:latin typeface="KoPub돋움체 Medium"/>
              </a:rPr>
              <a:t> </a:t>
            </a:r>
            <a:r>
              <a:rPr sz="1000" dirty="0" err="1">
                <a:latin typeface="KoPub돋움체 Medium"/>
              </a:rPr>
              <a:t>요청</a:t>
            </a:r>
            <a:endParaRPr sz="1000" dirty="0">
              <a:latin typeface="KoPub돋움체 Medium"/>
            </a:endParaRPr>
          </a:p>
        </p:txBody>
      </p:sp>
      <p:sp>
        <p:nvSpPr>
          <p:cNvPr id="10" name="Rounded Rectangle 9"/>
          <p:cNvSpPr/>
          <p:nvPr/>
        </p:nvSpPr>
        <p:spPr>
          <a:xfrm>
            <a:off x="486000" y="2844000"/>
            <a:ext cx="4860000" cy="864000"/>
          </a:xfrm>
          <a:prstGeom prst="roundRect">
            <a:avLst/>
          </a:prstGeom>
          <a:solidFill>
            <a:srgbClr val="EEF5FF"/>
          </a:solidFill>
          <a:ln w="12700">
            <a:solidFill>
              <a:srgbClr val="C7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6000" y="2916000"/>
            <a:ext cx="4680000" cy="464551"/>
          </a:xfrm>
          <a:prstGeom prst="rect">
            <a:avLst/>
          </a:prstGeom>
          <a:noFill/>
        </p:spPr>
        <p:txBody>
          <a:bodyPr wrap="square" lIns="0" tIns="0" rIns="0" bIns="0">
            <a:spAutoFit/>
          </a:bodyPr>
          <a:lstStyle/>
          <a:p>
            <a:pPr>
              <a:lnSpc>
                <a:spcPct val="150000"/>
              </a:lnSpc>
              <a:defRPr sz="850" b="1">
                <a:solidFill>
                  <a:srgbClr val="0E306D"/>
                </a:solidFill>
                <a:latin typeface="KoPub돋움체 Bold"/>
              </a:defRPr>
            </a:pPr>
            <a:r>
              <a:rPr sz="1000" dirty="0">
                <a:latin typeface="KoPub돋움체 Bold"/>
              </a:rPr>
              <a:t>Layer 2: </a:t>
            </a:r>
            <a:r>
              <a:rPr sz="1000" dirty="0" err="1">
                <a:latin typeface="KoPub돋움체 Bold"/>
              </a:rPr>
              <a:t>다단계</a:t>
            </a:r>
            <a:r>
              <a:rPr sz="1000" dirty="0">
                <a:latin typeface="KoPub돋움체 Bold"/>
              </a:rPr>
              <a:t> </a:t>
            </a:r>
            <a:r>
              <a:rPr sz="1000" dirty="0" err="1">
                <a:latin typeface="KoPub돋움체 Bold"/>
              </a:rPr>
              <a:t>캐시</a:t>
            </a:r>
            <a:r>
              <a:rPr sz="1000" dirty="0">
                <a:latin typeface="KoPub돋움체 Bold"/>
              </a:rPr>
              <a:t> </a:t>
            </a:r>
            <a:r>
              <a:rPr sz="1000" dirty="0" err="1">
                <a:latin typeface="KoPub돋움체 Bold"/>
              </a:rPr>
              <a:t>계층</a:t>
            </a:r>
            <a:r>
              <a:rPr sz="1000" dirty="0">
                <a:latin typeface="KoPub돋움체 Bold"/>
              </a:rPr>
              <a:t> </a:t>
            </a:r>
            <a:r>
              <a:rPr sz="1000" dirty="0" err="1">
                <a:latin typeface="KoPub돋움체 Bold"/>
              </a:rPr>
              <a:t>검사</a:t>
            </a:r>
            <a:r>
              <a:rPr sz="1000" dirty="0">
                <a:latin typeface="KoPub돋움체 Bold"/>
              </a:rPr>
              <a:t> : L1 LRU &amp; L2 Redis </a:t>
            </a:r>
            <a:r>
              <a:rPr sz="1000" dirty="0" err="1">
                <a:latin typeface="KoPub돋움체 Bold"/>
              </a:rPr>
              <a:t>캐시</a:t>
            </a:r>
            <a:r>
              <a:rPr sz="1000" dirty="0">
                <a:latin typeface="KoPub돋움체 Bold"/>
              </a:rPr>
              <a:t> </a:t>
            </a:r>
            <a:r>
              <a:rPr sz="1000" dirty="0" err="1">
                <a:latin typeface="KoPub돋움체 Bold"/>
              </a:rPr>
              <a:t>미스</a:t>
            </a:r>
            <a:endParaRPr sz="1000" dirty="0">
              <a:latin typeface="KoPub돋움체 Bold"/>
            </a:endParaRPr>
          </a:p>
          <a:p>
            <a:pPr>
              <a:lnSpc>
                <a:spcPct val="150000"/>
              </a:lnSpc>
              <a:spcBef>
                <a:spcPts val="200"/>
              </a:spcBef>
              <a:defRPr sz="780">
                <a:solidFill>
                  <a:srgbClr val="0F172A"/>
                </a:solidFill>
                <a:latin typeface="KoPub돋움체 Medium"/>
              </a:defRPr>
            </a:pPr>
            <a:r>
              <a:rPr sz="1000" dirty="0">
                <a:latin typeface="KoPub돋움체 Medium"/>
              </a:rPr>
              <a:t>L1 </a:t>
            </a:r>
            <a:r>
              <a:rPr sz="1000" dirty="0" err="1">
                <a:latin typeface="KoPub돋움체 Medium"/>
              </a:rPr>
              <a:t>메모리</a:t>
            </a:r>
            <a:r>
              <a:rPr sz="1000" dirty="0">
                <a:latin typeface="KoPub돋움체 Medium"/>
              </a:rPr>
              <a:t> </a:t>
            </a:r>
            <a:r>
              <a:rPr sz="1000" dirty="0" err="1">
                <a:latin typeface="KoPub돋움체 Medium"/>
              </a:rPr>
              <a:t>캐시</a:t>
            </a:r>
            <a:r>
              <a:rPr sz="1000" dirty="0">
                <a:latin typeface="KoPub돋움체 Medium"/>
              </a:rPr>
              <a:t> </a:t>
            </a:r>
            <a:r>
              <a:rPr sz="1000" dirty="0" err="1">
                <a:latin typeface="KoPub돋움체 Medium"/>
              </a:rPr>
              <a:t>미스</a:t>
            </a:r>
            <a:r>
              <a:rPr sz="1000" dirty="0">
                <a:latin typeface="KoPub돋움체 Medium"/>
              </a:rPr>
              <a:t> → L2 </a:t>
            </a:r>
            <a:r>
              <a:rPr sz="1000" dirty="0" err="1">
                <a:latin typeface="KoPub돋움체 Medium"/>
              </a:rPr>
              <a:t>중앙</a:t>
            </a:r>
            <a:r>
              <a:rPr sz="1000" dirty="0">
                <a:latin typeface="KoPub돋움체 Medium"/>
              </a:rPr>
              <a:t> Redis </a:t>
            </a:r>
            <a:r>
              <a:rPr sz="1000" dirty="0" err="1">
                <a:latin typeface="KoPub돋움체 Medium"/>
              </a:rPr>
              <a:t>캐시</a:t>
            </a:r>
            <a:r>
              <a:rPr sz="1000" dirty="0">
                <a:latin typeface="KoPub돋움체 Medium"/>
              </a:rPr>
              <a:t> </a:t>
            </a:r>
            <a:r>
              <a:rPr sz="1000" dirty="0" err="1">
                <a:latin typeface="KoPub돋움체 Medium"/>
              </a:rPr>
              <a:t>미스</a:t>
            </a:r>
            <a:r>
              <a:rPr sz="1000" dirty="0">
                <a:latin typeface="KoPub돋움체 Medium"/>
              </a:rPr>
              <a:t> </a:t>
            </a:r>
            <a:r>
              <a:rPr sz="1000" dirty="0" err="1">
                <a:latin typeface="KoPub돋움체 Medium"/>
              </a:rPr>
              <a:t>동시</a:t>
            </a:r>
            <a:r>
              <a:rPr sz="1000" dirty="0">
                <a:latin typeface="KoPub돋움체 Medium"/>
              </a:rPr>
              <a:t> </a:t>
            </a:r>
            <a:r>
              <a:rPr sz="1000" dirty="0" err="1">
                <a:latin typeface="KoPub돋움체 Medium"/>
              </a:rPr>
              <a:t>발생</a:t>
            </a:r>
            <a:r>
              <a:rPr sz="1000" dirty="0">
                <a:latin typeface="KoPub돋움체 Medium"/>
              </a:rPr>
              <a:t> (DB </a:t>
            </a:r>
            <a:r>
              <a:rPr sz="1000" dirty="0" err="1">
                <a:latin typeface="KoPub돋움체 Medium"/>
              </a:rPr>
              <a:t>경로</a:t>
            </a:r>
            <a:r>
              <a:rPr sz="1000" dirty="0">
                <a:latin typeface="KoPub돋움체 Medium"/>
              </a:rPr>
              <a:t> </a:t>
            </a:r>
            <a:r>
              <a:rPr sz="1000" dirty="0" err="1">
                <a:latin typeface="KoPub돋움체 Medium"/>
              </a:rPr>
              <a:t>진입</a:t>
            </a:r>
            <a:r>
              <a:rPr sz="1000" dirty="0">
                <a:latin typeface="KoPub돋움체 Medium"/>
              </a:rPr>
              <a:t>)</a:t>
            </a:r>
          </a:p>
        </p:txBody>
      </p:sp>
      <p:sp>
        <p:nvSpPr>
          <p:cNvPr id="12" name="Rounded Rectangle 11"/>
          <p:cNvSpPr/>
          <p:nvPr/>
        </p:nvSpPr>
        <p:spPr>
          <a:xfrm>
            <a:off x="486000" y="3816000"/>
            <a:ext cx="4860000" cy="864000"/>
          </a:xfrm>
          <a:prstGeom prst="roundRect">
            <a:avLst/>
          </a:prstGeom>
          <a:solidFill>
            <a:srgbClr val="E3F3F2"/>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76000" y="3888000"/>
            <a:ext cx="4680000" cy="695383"/>
          </a:xfrm>
          <a:prstGeom prst="rect">
            <a:avLst/>
          </a:prstGeom>
          <a:noFill/>
        </p:spPr>
        <p:txBody>
          <a:bodyPr wrap="square" lIns="0" tIns="0" rIns="0" bIns="0">
            <a:spAutoFit/>
          </a:bodyPr>
          <a:lstStyle/>
          <a:p>
            <a:pPr>
              <a:lnSpc>
                <a:spcPct val="150000"/>
              </a:lnSpc>
              <a:defRPr sz="850" b="1">
                <a:solidFill>
                  <a:srgbClr val="009A93"/>
                </a:solidFill>
                <a:latin typeface="KoPub돋움체 Bold"/>
              </a:defRPr>
            </a:pPr>
            <a:r>
              <a:rPr sz="1000" dirty="0">
                <a:latin typeface="KoPub돋움체 Bold"/>
              </a:rPr>
              <a:t>Layer 3: Single-Flight Future </a:t>
            </a:r>
            <a:r>
              <a:rPr sz="1000" dirty="0" err="1">
                <a:latin typeface="KoPub돋움체 Bold"/>
              </a:rPr>
              <a:t>병합</a:t>
            </a:r>
            <a:r>
              <a:rPr sz="1000" dirty="0">
                <a:latin typeface="KoPub돋움체 Bold"/>
              </a:rPr>
              <a:t> : Leader </a:t>
            </a:r>
            <a:r>
              <a:rPr sz="1000" dirty="0" err="1">
                <a:latin typeface="KoPub돋움체 Bold"/>
              </a:rPr>
              <a:t>선출</a:t>
            </a:r>
            <a:r>
              <a:rPr sz="1000" dirty="0">
                <a:latin typeface="KoPub돋움체 Bold"/>
              </a:rPr>
              <a:t> 및 Follower Future </a:t>
            </a:r>
            <a:r>
              <a:rPr sz="1000" dirty="0" err="1">
                <a:latin typeface="KoPub돋움체 Bold"/>
              </a:rPr>
              <a:t>대기열</a:t>
            </a:r>
            <a:r>
              <a:rPr sz="1000" dirty="0">
                <a:latin typeface="KoPub돋움체 Bold"/>
              </a:rPr>
              <a:t> </a:t>
            </a:r>
            <a:r>
              <a:rPr sz="1000" dirty="0" err="1">
                <a:latin typeface="KoPub돋움체 Bold"/>
              </a:rPr>
              <a:t>병합</a:t>
            </a:r>
            <a:endParaRPr sz="1000" dirty="0">
              <a:latin typeface="KoPub돋움체 Bold"/>
            </a:endParaRPr>
          </a:p>
          <a:p>
            <a:pPr>
              <a:lnSpc>
                <a:spcPct val="150000"/>
              </a:lnSpc>
              <a:spcBef>
                <a:spcPts val="200"/>
              </a:spcBef>
              <a:defRPr sz="780">
                <a:solidFill>
                  <a:srgbClr val="0F172A"/>
                </a:solidFill>
                <a:latin typeface="KoPub돋움체 Medium"/>
              </a:defRPr>
            </a:pPr>
            <a:r>
              <a:rPr sz="1000" dirty="0">
                <a:latin typeface="KoPub돋움체 Medium"/>
              </a:rPr>
              <a:t>• Leader (1건): </a:t>
            </a:r>
            <a:r>
              <a:rPr sz="1000" dirty="0" err="1">
                <a:latin typeface="KoPub돋움체 Medium"/>
              </a:rPr>
              <a:t>in_flight에</a:t>
            </a:r>
            <a:r>
              <a:rPr sz="1000" dirty="0">
                <a:latin typeface="KoPub돋움체 Medium"/>
              </a:rPr>
              <a:t> Future </a:t>
            </a:r>
            <a:r>
              <a:rPr sz="1000" dirty="0" err="1">
                <a:latin typeface="KoPub돋움체 Medium"/>
              </a:rPr>
              <a:t>등록</a:t>
            </a:r>
            <a:r>
              <a:rPr sz="1000" dirty="0">
                <a:latin typeface="KoPub돋움체 Medium"/>
              </a:rPr>
              <a:t> 후 DB </a:t>
            </a:r>
            <a:r>
              <a:rPr sz="1000" dirty="0" err="1">
                <a:latin typeface="KoPub돋움체 Medium"/>
              </a:rPr>
              <a:t>조회</a:t>
            </a:r>
            <a:r>
              <a:rPr sz="1000" dirty="0">
                <a:latin typeface="KoPub돋움체 Medium"/>
              </a:rPr>
              <a:t> </a:t>
            </a:r>
            <a:r>
              <a:rPr sz="1000" dirty="0" err="1">
                <a:latin typeface="KoPub돋움체 Medium"/>
              </a:rPr>
              <a:t>비동기</a:t>
            </a:r>
            <a:r>
              <a:rPr sz="1000" dirty="0">
                <a:latin typeface="KoPub돋움체 Medium"/>
              </a:rPr>
              <a:t> </a:t>
            </a:r>
            <a:r>
              <a:rPr sz="1000" dirty="0" err="1">
                <a:latin typeface="KoPub돋움체 Medium"/>
              </a:rPr>
              <a:t>기동</a:t>
            </a:r>
            <a:br>
              <a:rPr sz="1000" dirty="0"/>
            </a:br>
            <a:r>
              <a:rPr sz="1000" dirty="0">
                <a:latin typeface="KoPub돋움체 Medium"/>
              </a:rPr>
              <a:t>• Followers (999건): </a:t>
            </a:r>
            <a:r>
              <a:rPr sz="1000" dirty="0" err="1">
                <a:latin typeface="KoPub돋움체 Medium"/>
              </a:rPr>
              <a:t>in_flight</a:t>
            </a:r>
            <a:r>
              <a:rPr sz="1000" dirty="0">
                <a:latin typeface="KoPub돋움체 Medium"/>
              </a:rPr>
              <a:t> </a:t>
            </a:r>
            <a:r>
              <a:rPr sz="1000" dirty="0" err="1">
                <a:latin typeface="KoPub돋움체 Medium"/>
              </a:rPr>
              <a:t>조회</a:t>
            </a:r>
            <a:r>
              <a:rPr sz="1000" dirty="0">
                <a:latin typeface="KoPub돋움체 Medium"/>
              </a:rPr>
              <a:t> 후 await </a:t>
            </a:r>
            <a:r>
              <a:rPr sz="1000" dirty="0" err="1">
                <a:latin typeface="KoPub돋움체 Medium"/>
              </a:rPr>
              <a:t>asyncio.shield</a:t>
            </a:r>
            <a:r>
              <a:rPr sz="1000" dirty="0">
                <a:latin typeface="KoPub돋움체 Medium"/>
              </a:rPr>
              <a:t>(</a:t>
            </a:r>
            <a:r>
              <a:rPr sz="1000" dirty="0" err="1">
                <a:latin typeface="KoPub돋움체 Medium"/>
              </a:rPr>
              <a:t>fut</a:t>
            </a:r>
            <a:r>
              <a:rPr sz="1000" dirty="0">
                <a:latin typeface="KoPub돋움체 Medium"/>
              </a:rPr>
              <a:t>) </a:t>
            </a:r>
            <a:r>
              <a:rPr sz="1000" dirty="0" err="1">
                <a:latin typeface="KoPub돋움체 Medium"/>
              </a:rPr>
              <a:t>대기열</a:t>
            </a:r>
            <a:r>
              <a:rPr sz="1000" dirty="0">
                <a:latin typeface="KoPub돋움체 Medium"/>
              </a:rPr>
              <a:t> </a:t>
            </a:r>
            <a:r>
              <a:rPr sz="1000" dirty="0" err="1">
                <a:latin typeface="KoPub돋움체 Medium"/>
              </a:rPr>
              <a:t>진입</a:t>
            </a:r>
            <a:endParaRPr sz="1000" dirty="0">
              <a:latin typeface="KoPub돋움체 Medium"/>
            </a:endParaRPr>
          </a:p>
        </p:txBody>
      </p:sp>
      <p:sp>
        <p:nvSpPr>
          <p:cNvPr id="14" name="Rounded Rectangle 13"/>
          <p:cNvSpPr/>
          <p:nvPr/>
        </p:nvSpPr>
        <p:spPr>
          <a:xfrm>
            <a:off x="486000" y="4788000"/>
            <a:ext cx="4860000" cy="864000"/>
          </a:xfrm>
          <a:prstGeom prst="roundRect">
            <a:avLst/>
          </a:prstGeom>
          <a:solidFill>
            <a:srgbClr val="F1F1F1"/>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76000" y="4860000"/>
            <a:ext cx="4680000" cy="464551"/>
          </a:xfrm>
          <a:prstGeom prst="rect">
            <a:avLst/>
          </a:prstGeom>
          <a:noFill/>
        </p:spPr>
        <p:txBody>
          <a:bodyPr wrap="square" lIns="0" tIns="0" rIns="0" bIns="0">
            <a:spAutoFit/>
          </a:bodyPr>
          <a:lstStyle/>
          <a:p>
            <a:pPr>
              <a:lnSpc>
                <a:spcPct val="150000"/>
              </a:lnSpc>
              <a:defRPr sz="850" b="1">
                <a:solidFill>
                  <a:srgbClr val="0F172A"/>
                </a:solidFill>
                <a:latin typeface="KoPub돋움체 Bold"/>
              </a:defRPr>
            </a:pPr>
            <a:r>
              <a:rPr sz="1000" dirty="0">
                <a:latin typeface="KoPub돋움체 Bold"/>
              </a:rPr>
              <a:t>Layer 4: Policy DB </a:t>
            </a:r>
            <a:r>
              <a:rPr sz="1000" dirty="0" err="1">
                <a:latin typeface="KoPub돋움체 Bold"/>
              </a:rPr>
              <a:t>백엔드</a:t>
            </a:r>
            <a:r>
              <a:rPr sz="1000" dirty="0">
                <a:latin typeface="KoPub돋움체 Bold"/>
              </a:rPr>
              <a:t> </a:t>
            </a:r>
            <a:r>
              <a:rPr sz="1000" dirty="0" err="1">
                <a:latin typeface="KoPub돋움체 Bold"/>
              </a:rPr>
              <a:t>쿼리</a:t>
            </a:r>
            <a:r>
              <a:rPr sz="1000" dirty="0">
                <a:latin typeface="KoPub돋움체 Bold"/>
              </a:rPr>
              <a:t> </a:t>
            </a:r>
            <a:r>
              <a:rPr sz="1000" dirty="0" err="1">
                <a:latin typeface="KoPub돋움체 Bold"/>
              </a:rPr>
              <a:t>실행</a:t>
            </a:r>
            <a:r>
              <a:rPr sz="1000" dirty="0">
                <a:latin typeface="KoPub돋움체 Bold"/>
              </a:rPr>
              <a:t> : </a:t>
            </a:r>
            <a:r>
              <a:rPr sz="1000" dirty="0" err="1">
                <a:latin typeface="KoPub돋움체 Bold"/>
              </a:rPr>
              <a:t>실제</a:t>
            </a:r>
            <a:r>
              <a:rPr sz="1000" dirty="0">
                <a:latin typeface="KoPub돋움체 Bold"/>
              </a:rPr>
              <a:t> DB </a:t>
            </a:r>
            <a:r>
              <a:rPr sz="1000" dirty="0" err="1">
                <a:latin typeface="KoPub돋움체 Bold"/>
              </a:rPr>
              <a:t>쿼리</a:t>
            </a:r>
            <a:r>
              <a:rPr sz="1000" dirty="0">
                <a:latin typeface="KoPub돋움체 Bold"/>
              </a:rPr>
              <a:t> 단 1회 </a:t>
            </a:r>
            <a:r>
              <a:rPr sz="1000" dirty="0" err="1">
                <a:latin typeface="KoPub돋움체 Bold"/>
              </a:rPr>
              <a:t>실행</a:t>
            </a:r>
            <a:r>
              <a:rPr sz="1000" dirty="0">
                <a:latin typeface="KoPub돋움체 Bold"/>
              </a:rPr>
              <a:t> </a:t>
            </a:r>
            <a:r>
              <a:rPr sz="1000" dirty="0" err="1">
                <a:latin typeface="KoPub돋움체 Bold"/>
              </a:rPr>
              <a:t>완료</a:t>
            </a:r>
            <a:endParaRPr sz="1000" dirty="0">
              <a:latin typeface="KoPub돋움체 Bold"/>
            </a:endParaRPr>
          </a:p>
          <a:p>
            <a:pPr>
              <a:lnSpc>
                <a:spcPct val="150000"/>
              </a:lnSpc>
              <a:spcBef>
                <a:spcPts val="200"/>
              </a:spcBef>
              <a:defRPr sz="780">
                <a:solidFill>
                  <a:srgbClr val="0F172A"/>
                </a:solidFill>
                <a:latin typeface="KoPub돋움체 Medium"/>
              </a:defRPr>
            </a:pPr>
            <a:r>
              <a:rPr sz="1000" dirty="0">
                <a:latin typeface="KoPub돋움체 Medium"/>
              </a:rPr>
              <a:t>DB </a:t>
            </a:r>
            <a:r>
              <a:rPr sz="1000" dirty="0" err="1">
                <a:latin typeface="KoPub돋움체 Medium"/>
              </a:rPr>
              <a:t>응답</a:t>
            </a:r>
            <a:r>
              <a:rPr sz="1000" dirty="0">
                <a:latin typeface="KoPub돋움체 Medium"/>
              </a:rPr>
              <a:t> </a:t>
            </a:r>
            <a:r>
              <a:rPr sz="1000" dirty="0" err="1">
                <a:latin typeface="KoPub돋움체 Medium"/>
              </a:rPr>
              <a:t>완료</a:t>
            </a:r>
            <a:r>
              <a:rPr sz="1000" dirty="0">
                <a:latin typeface="KoPub돋움체 Medium"/>
              </a:rPr>
              <a:t> → L1/L2 </a:t>
            </a:r>
            <a:r>
              <a:rPr sz="1000" dirty="0" err="1">
                <a:latin typeface="KoPub돋움체 Medium"/>
              </a:rPr>
              <a:t>캐시</a:t>
            </a:r>
            <a:r>
              <a:rPr sz="1000" dirty="0">
                <a:latin typeface="KoPub돋움체 Medium"/>
              </a:rPr>
              <a:t> </a:t>
            </a:r>
            <a:r>
              <a:rPr sz="1000" dirty="0" err="1">
                <a:latin typeface="KoPub돋움체 Medium"/>
              </a:rPr>
              <a:t>동시</a:t>
            </a:r>
            <a:r>
              <a:rPr sz="1000" dirty="0">
                <a:latin typeface="KoPub돋움체 Medium"/>
              </a:rPr>
              <a:t> </a:t>
            </a:r>
            <a:r>
              <a:rPr sz="1000" dirty="0" err="1">
                <a:latin typeface="KoPub돋움체 Medium"/>
              </a:rPr>
              <a:t>적재</a:t>
            </a:r>
            <a:r>
              <a:rPr sz="1000" dirty="0">
                <a:latin typeface="KoPub돋움체 Medium"/>
              </a:rPr>
              <a:t> 후 1,000건 </a:t>
            </a:r>
            <a:r>
              <a:rPr sz="1000" dirty="0" err="1">
                <a:latin typeface="KoPub돋움체 Medium"/>
              </a:rPr>
              <a:t>요청</a:t>
            </a:r>
            <a:r>
              <a:rPr sz="1000" dirty="0">
                <a:latin typeface="KoPub돋움체 Medium"/>
              </a:rPr>
              <a:t> </a:t>
            </a:r>
            <a:r>
              <a:rPr sz="1000" dirty="0" err="1">
                <a:latin typeface="KoPub돋움체 Medium"/>
              </a:rPr>
              <a:t>전원</a:t>
            </a:r>
            <a:r>
              <a:rPr sz="1000" dirty="0">
                <a:latin typeface="KoPub돋움체 Medium"/>
              </a:rPr>
              <a:t> </a:t>
            </a:r>
            <a:r>
              <a:rPr sz="1000" dirty="0" err="1">
                <a:latin typeface="KoPub돋움체 Medium"/>
              </a:rPr>
              <a:t>즉시</a:t>
            </a:r>
            <a:r>
              <a:rPr sz="1000" dirty="0">
                <a:latin typeface="KoPub돋움체 Medium"/>
              </a:rPr>
              <a:t> </a:t>
            </a:r>
            <a:r>
              <a:rPr sz="1000" dirty="0" err="1">
                <a:latin typeface="KoPub돋움체 Medium"/>
              </a:rPr>
              <a:t>동시</a:t>
            </a:r>
            <a:r>
              <a:rPr sz="1000" dirty="0">
                <a:latin typeface="KoPub돋움체 Medium"/>
              </a:rPr>
              <a:t> </a:t>
            </a:r>
            <a:r>
              <a:rPr sz="1000" dirty="0" err="1">
                <a:latin typeface="KoPub돋움체 Medium"/>
              </a:rPr>
              <a:t>반환</a:t>
            </a:r>
            <a:endParaRPr sz="1000" dirty="0">
              <a:latin typeface="KoPub돋움체 Medium"/>
            </a:endParaRPr>
          </a:p>
        </p:txBody>
      </p:sp>
      <p:sp>
        <p:nvSpPr>
          <p:cNvPr id="16" name="Rounded Rectangle 15"/>
          <p:cNvSpPr/>
          <p:nvPr/>
        </p:nvSpPr>
        <p:spPr>
          <a:xfrm>
            <a:off x="5612760" y="1350000"/>
            <a:ext cx="3942000" cy="2088000"/>
          </a:xfrm>
          <a:prstGeom prst="roundRect">
            <a:avLst>
              <a:gd name="adj" fmla="val 5313"/>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738760" y="1476000"/>
            <a:ext cx="3690000" cy="270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0E306D"/>
                </a:solidFill>
                <a:latin typeface="KoPub돋움체 Bold"/>
              </a:defRPr>
            </a:pPr>
            <a:r>
              <a:rPr dirty="0">
                <a:latin typeface="KoPub돋움체 Bold"/>
              </a:rPr>
              <a:t>DB </a:t>
            </a:r>
            <a:r>
              <a:rPr dirty="0" err="1">
                <a:latin typeface="KoPub돋움체 Bold"/>
              </a:rPr>
              <a:t>쿼리</a:t>
            </a:r>
            <a:r>
              <a:rPr dirty="0">
                <a:latin typeface="KoPub돋움체 Bold"/>
              </a:rPr>
              <a:t> </a:t>
            </a:r>
            <a:r>
              <a:rPr dirty="0" err="1">
                <a:latin typeface="KoPub돋움체 Bold"/>
              </a:rPr>
              <a:t>압축</a:t>
            </a:r>
            <a:r>
              <a:rPr dirty="0">
                <a:latin typeface="KoPub돋움체 Bold"/>
              </a:rPr>
              <a:t> 및 </a:t>
            </a:r>
            <a:r>
              <a:rPr dirty="0" err="1">
                <a:latin typeface="KoPub돋움체 Bold"/>
              </a:rPr>
              <a:t>부하</a:t>
            </a:r>
            <a:r>
              <a:rPr dirty="0">
                <a:latin typeface="KoPub돋움체 Bold"/>
              </a:rPr>
              <a:t> </a:t>
            </a:r>
            <a:r>
              <a:rPr dirty="0" err="1">
                <a:latin typeface="KoPub돋움체 Bold"/>
              </a:rPr>
              <a:t>절감</a:t>
            </a:r>
            <a:r>
              <a:rPr dirty="0">
                <a:latin typeface="KoPub돋움체 Bold"/>
              </a:rPr>
              <a:t> </a:t>
            </a:r>
            <a:r>
              <a:rPr dirty="0" err="1">
                <a:latin typeface="KoPub돋움체 Bold"/>
              </a:rPr>
              <a:t>성과</a:t>
            </a:r>
            <a:endParaRPr dirty="0">
              <a:latin typeface="KoPub돋움체 Bold"/>
            </a:endParaRPr>
          </a:p>
        </p:txBody>
      </p:sp>
      <p:sp>
        <p:nvSpPr>
          <p:cNvPr id="18" name="TextBox 17"/>
          <p:cNvSpPr txBox="1"/>
          <p:nvPr/>
        </p:nvSpPr>
        <p:spPr>
          <a:xfrm>
            <a:off x="5792760" y="1800000"/>
            <a:ext cx="3582000" cy="1233992"/>
          </a:xfrm>
          <a:prstGeom prst="rect">
            <a:avLst/>
          </a:prstGeom>
          <a:noFill/>
        </p:spPr>
        <p:txBody>
          <a:bodyPr wrap="square" lIns="0" tIns="0" rIns="0" bIns="0">
            <a:spAutoFit/>
          </a:bodyPr>
          <a:lstStyle/>
          <a:p>
            <a:pPr>
              <a:defRPr sz="2000" b="1">
                <a:solidFill>
                  <a:srgbClr val="009A93"/>
                </a:solidFill>
                <a:latin typeface="KoPub돋움체 Bold"/>
              </a:defRPr>
            </a:pPr>
            <a:r>
              <a:rPr dirty="0">
                <a:latin typeface="KoPub돋움체 Bold"/>
              </a:rPr>
              <a:t>98.0% ~ 99.9% </a:t>
            </a:r>
            <a:r>
              <a:rPr dirty="0" err="1">
                <a:latin typeface="KoPub돋움체 Bold"/>
              </a:rPr>
              <a:t>절감</a:t>
            </a:r>
            <a:endParaRPr dirty="0">
              <a:latin typeface="KoPub돋움체 Bold"/>
            </a:endParaRPr>
          </a:p>
          <a:p>
            <a:pPr>
              <a:lnSpc>
                <a:spcPct val="150000"/>
              </a:lnSpc>
              <a:spcBef>
                <a:spcPts val="200"/>
              </a:spcBef>
              <a:defRPr sz="800">
                <a:solidFill>
                  <a:srgbClr val="0F172A"/>
                </a:solidFill>
                <a:latin typeface="KoPub돋움체 Medium"/>
              </a:defRPr>
            </a:pPr>
            <a:r>
              <a:rPr sz="1000" dirty="0" err="1">
                <a:latin typeface="KoPub돋움체 Medium"/>
              </a:rPr>
              <a:t>동일</a:t>
            </a:r>
            <a:r>
              <a:rPr sz="1000" dirty="0">
                <a:latin typeface="KoPub돋움체 Medium"/>
              </a:rPr>
              <a:t> 키 50~1,000건 </a:t>
            </a:r>
            <a:r>
              <a:rPr sz="1000" dirty="0" err="1">
                <a:latin typeface="KoPub돋움체 Medium"/>
              </a:rPr>
              <a:t>유입</a:t>
            </a:r>
            <a:r>
              <a:rPr sz="1000" dirty="0">
                <a:latin typeface="KoPub돋움체 Medium"/>
              </a:rPr>
              <a:t> 시 </a:t>
            </a:r>
            <a:r>
              <a:rPr sz="1000" dirty="0" err="1">
                <a:latin typeface="KoPub돋움체 Medium"/>
              </a:rPr>
              <a:t>실제</a:t>
            </a:r>
            <a:r>
              <a:rPr sz="1000" dirty="0">
                <a:latin typeface="KoPub돋움체 Medium"/>
              </a:rPr>
              <a:t> DB </a:t>
            </a:r>
            <a:r>
              <a:rPr sz="1000" dirty="0" err="1">
                <a:latin typeface="KoPub돋움체 Medium"/>
              </a:rPr>
              <a:t>쿼리는</a:t>
            </a:r>
            <a:r>
              <a:rPr sz="1000" dirty="0">
                <a:latin typeface="KoPub돋움체 Medium"/>
              </a:rPr>
              <a:t> 단 1건만 </a:t>
            </a:r>
            <a:r>
              <a:rPr sz="1000" dirty="0" err="1">
                <a:latin typeface="KoPub돋움체 Medium"/>
              </a:rPr>
              <a:t>실행</a:t>
            </a:r>
            <a:br>
              <a:rPr sz="1000" dirty="0"/>
            </a:br>
            <a:r>
              <a:rPr sz="1000" dirty="0">
                <a:latin typeface="KoPub돋움체 Medium"/>
              </a:rPr>
              <a:t>• 50건 </a:t>
            </a:r>
            <a:r>
              <a:rPr sz="1000" dirty="0" err="1">
                <a:latin typeface="KoPub돋움체 Medium"/>
              </a:rPr>
              <a:t>동시</a:t>
            </a:r>
            <a:r>
              <a:rPr sz="1000" dirty="0">
                <a:latin typeface="KoPub돋움체 Medium"/>
              </a:rPr>
              <a:t> </a:t>
            </a:r>
            <a:r>
              <a:rPr sz="1000" dirty="0" err="1">
                <a:latin typeface="KoPub돋움체 Medium"/>
              </a:rPr>
              <a:t>유입</a:t>
            </a:r>
            <a:r>
              <a:rPr sz="1000" dirty="0">
                <a:latin typeface="KoPub돋움체 Medium"/>
              </a:rPr>
              <a:t>: DB 1건 </a:t>
            </a:r>
            <a:r>
              <a:rPr sz="1000" dirty="0" err="1">
                <a:latin typeface="KoPub돋움체 Medium"/>
              </a:rPr>
              <a:t>쿼리</a:t>
            </a:r>
            <a:r>
              <a:rPr sz="1000" dirty="0">
                <a:latin typeface="KoPub돋움체 Medium"/>
              </a:rPr>
              <a:t> (98.0% </a:t>
            </a:r>
            <a:r>
              <a:rPr sz="1000" dirty="0" err="1">
                <a:latin typeface="KoPub돋움체 Medium"/>
              </a:rPr>
              <a:t>부하</a:t>
            </a:r>
            <a:r>
              <a:rPr sz="1000" dirty="0">
                <a:latin typeface="KoPub돋움체 Medium"/>
              </a:rPr>
              <a:t> </a:t>
            </a:r>
            <a:r>
              <a:rPr sz="1000" dirty="0" err="1">
                <a:latin typeface="KoPub돋움체 Medium"/>
              </a:rPr>
              <a:t>절감</a:t>
            </a:r>
            <a:r>
              <a:rPr sz="1000" dirty="0">
                <a:latin typeface="KoPub돋움체 Medium"/>
              </a:rPr>
              <a:t> </a:t>
            </a:r>
            <a:r>
              <a:rPr sz="1000" dirty="0" err="1">
                <a:latin typeface="KoPub돋움체 Medium"/>
              </a:rPr>
              <a:t>실측</a:t>
            </a:r>
            <a:r>
              <a:rPr sz="1000" dirty="0">
                <a:latin typeface="KoPub돋움체 Medium"/>
              </a:rPr>
              <a:t>)</a:t>
            </a:r>
            <a:br>
              <a:rPr sz="1000" dirty="0"/>
            </a:br>
            <a:r>
              <a:rPr sz="1000" dirty="0">
                <a:latin typeface="KoPub돋움체 Medium"/>
              </a:rPr>
              <a:t>• 1,000건 </a:t>
            </a:r>
            <a:r>
              <a:rPr sz="1000" dirty="0" err="1">
                <a:latin typeface="KoPub돋움체 Medium"/>
              </a:rPr>
              <a:t>폭주</a:t>
            </a:r>
            <a:r>
              <a:rPr sz="1000" dirty="0">
                <a:latin typeface="KoPub돋움체 Medium"/>
              </a:rPr>
              <a:t>: DB 1건 </a:t>
            </a:r>
            <a:r>
              <a:rPr sz="1000" dirty="0" err="1">
                <a:latin typeface="KoPub돋움체 Medium"/>
              </a:rPr>
              <a:t>실행</a:t>
            </a:r>
            <a:r>
              <a:rPr sz="1000" dirty="0">
                <a:latin typeface="KoPub돋움체 Medium"/>
              </a:rPr>
              <a:t>, 999건 Future </a:t>
            </a:r>
            <a:r>
              <a:rPr sz="1000" dirty="0" err="1">
                <a:latin typeface="KoPub돋움체 Medium"/>
              </a:rPr>
              <a:t>병합</a:t>
            </a:r>
            <a:r>
              <a:rPr sz="1000" dirty="0">
                <a:latin typeface="KoPub돋움체 Medium"/>
              </a:rPr>
              <a:t> (99.9% </a:t>
            </a:r>
            <a:r>
              <a:rPr sz="1000" dirty="0" err="1">
                <a:latin typeface="KoPub돋움체 Medium"/>
              </a:rPr>
              <a:t>절감</a:t>
            </a:r>
            <a:r>
              <a:rPr sz="1000" dirty="0">
                <a:latin typeface="KoPub돋움체 Medium"/>
              </a:rPr>
              <a:t>)</a:t>
            </a:r>
            <a:br>
              <a:rPr sz="1000" dirty="0"/>
            </a:br>
            <a:r>
              <a:rPr sz="1000" dirty="0">
                <a:latin typeface="KoPub돋움체 Medium"/>
              </a:rPr>
              <a:t>• </a:t>
            </a:r>
            <a:r>
              <a:rPr sz="1000" dirty="0" err="1">
                <a:latin typeface="KoPub돋움체 Medium"/>
              </a:rPr>
              <a:t>관측</a:t>
            </a:r>
            <a:r>
              <a:rPr sz="1000" dirty="0">
                <a:latin typeface="KoPub돋움체 Medium"/>
              </a:rPr>
              <a:t> </a:t>
            </a:r>
            <a:r>
              <a:rPr sz="1000" dirty="0" err="1">
                <a:latin typeface="KoPub돋움체 Medium"/>
              </a:rPr>
              <a:t>카운터</a:t>
            </a:r>
            <a:r>
              <a:rPr sz="1000" dirty="0">
                <a:latin typeface="KoPub돋움체 Medium"/>
              </a:rPr>
              <a:t>: </a:t>
            </a:r>
            <a:r>
              <a:rPr sz="1000" dirty="0" err="1">
                <a:latin typeface="KoPub돋움체 Medium"/>
              </a:rPr>
              <a:t>singleflight_coalesced</a:t>
            </a:r>
            <a:r>
              <a:rPr sz="1000" dirty="0">
                <a:latin typeface="KoPub돋움체 Medium"/>
              </a:rPr>
              <a:t> </a:t>
            </a:r>
            <a:r>
              <a:rPr sz="1000" dirty="0" err="1">
                <a:latin typeface="KoPub돋움체 Medium"/>
              </a:rPr>
              <a:t>지표</a:t>
            </a:r>
            <a:r>
              <a:rPr sz="1000" dirty="0">
                <a:latin typeface="KoPub돋움체 Medium"/>
              </a:rPr>
              <a:t> </a:t>
            </a:r>
            <a:r>
              <a:rPr sz="1000" dirty="0" err="1">
                <a:latin typeface="KoPub돋움체 Medium"/>
              </a:rPr>
              <a:t>실시간</a:t>
            </a:r>
            <a:r>
              <a:rPr sz="1000" dirty="0">
                <a:latin typeface="KoPub돋움체 Medium"/>
              </a:rPr>
              <a:t> </a:t>
            </a:r>
            <a:r>
              <a:rPr sz="1000" dirty="0" err="1">
                <a:latin typeface="KoPub돋움체 Medium"/>
              </a:rPr>
              <a:t>추적</a:t>
            </a:r>
            <a:endParaRPr sz="1000" dirty="0">
              <a:latin typeface="KoPub돋움체 Medium"/>
            </a:endParaRPr>
          </a:p>
        </p:txBody>
      </p:sp>
      <p:sp>
        <p:nvSpPr>
          <p:cNvPr id="19" name="Rounded Rectangle 18"/>
          <p:cNvSpPr/>
          <p:nvPr/>
        </p:nvSpPr>
        <p:spPr>
          <a:xfrm>
            <a:off x="5612760" y="3546000"/>
            <a:ext cx="3942000" cy="2376000"/>
          </a:xfrm>
          <a:prstGeom prst="roundRect">
            <a:avLst>
              <a:gd name="adj" fmla="val 4908"/>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5738760" y="3672000"/>
            <a:ext cx="3690000" cy="270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0E306D"/>
                </a:solidFill>
                <a:latin typeface="KoPub돋움체 Bold"/>
              </a:defRPr>
            </a:pPr>
            <a:r>
              <a:rPr>
                <a:latin typeface="KoPub돋움체 Bold"/>
              </a:rPr>
              <a:t>다단계 캐시 계층별 응답 속도 격차</a:t>
            </a:r>
          </a:p>
        </p:txBody>
      </p:sp>
      <p:sp>
        <p:nvSpPr>
          <p:cNvPr id="21" name="Rounded Rectangle 20"/>
          <p:cNvSpPr/>
          <p:nvPr/>
        </p:nvSpPr>
        <p:spPr>
          <a:xfrm>
            <a:off x="5792760" y="4014000"/>
            <a:ext cx="1719000" cy="576000"/>
          </a:xfrm>
          <a:prstGeom prst="roundRect">
            <a:avLst/>
          </a:prstGeom>
          <a:solidFill>
            <a:srgbClr val="E3F3F2"/>
          </a:solidFill>
          <a:ln>
            <a:solidFill>
              <a:srgbClr val="A7F3D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00" b="1">
                <a:solidFill>
                  <a:srgbClr val="009A93"/>
                </a:solidFill>
                <a:latin typeface="KoPub돋움체 Bold"/>
              </a:defRPr>
            </a:pPr>
            <a:r>
              <a:rPr>
                <a:latin typeface="KoPub돋움체 Bold"/>
              </a:rPr>
              <a:t>L1 Cache Hit</a:t>
            </a:r>
          </a:p>
          <a:p>
            <a:pPr algn="ctr">
              <a:defRPr sz="1300" b="1">
                <a:solidFill>
                  <a:srgbClr val="0E306D"/>
                </a:solidFill>
                <a:latin typeface="KoPub돋움체 Bold"/>
              </a:defRPr>
            </a:pPr>
            <a:r>
              <a:rPr>
                <a:latin typeface="KoPub돋움체 Bold"/>
              </a:rPr>
              <a:t>0.85 ms</a:t>
            </a:r>
          </a:p>
        </p:txBody>
      </p:sp>
      <p:sp>
        <p:nvSpPr>
          <p:cNvPr id="22" name="Rounded Rectangle 21"/>
          <p:cNvSpPr/>
          <p:nvPr/>
        </p:nvSpPr>
        <p:spPr>
          <a:xfrm>
            <a:off x="7655760" y="4014000"/>
            <a:ext cx="1719000" cy="576000"/>
          </a:xfrm>
          <a:prstGeom prst="roundRect">
            <a:avLst/>
          </a:prstGeom>
          <a:solidFill>
            <a:srgbClr val="F1F1F1"/>
          </a:solidFill>
          <a:ln>
            <a:solidFill>
              <a:srgbClr val="CBD5E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00" b="1">
                <a:solidFill>
                  <a:srgbClr val="6B7280"/>
                </a:solidFill>
                <a:latin typeface="KoPub돋움체 Bold"/>
              </a:defRPr>
            </a:pPr>
            <a:r>
              <a:rPr>
                <a:latin typeface="KoPub돋움체 Bold"/>
              </a:rPr>
              <a:t>Policy DB Fallback</a:t>
            </a:r>
          </a:p>
          <a:p>
            <a:pPr algn="ctr">
              <a:defRPr sz="1300" b="1">
                <a:solidFill>
                  <a:srgbClr val="0E306D"/>
                </a:solidFill>
                <a:latin typeface="KoPub돋움체 Bold"/>
              </a:defRPr>
            </a:pPr>
            <a:r>
              <a:rPr>
                <a:latin typeface="KoPub돋움체 Bold"/>
              </a:rPr>
              <a:t>20.85 ms</a:t>
            </a:r>
          </a:p>
        </p:txBody>
      </p:sp>
      <p:sp>
        <p:nvSpPr>
          <p:cNvPr id="23" name="TextBox 22"/>
          <p:cNvSpPr txBox="1"/>
          <p:nvPr/>
        </p:nvSpPr>
        <p:spPr>
          <a:xfrm>
            <a:off x="5792760" y="4662000"/>
            <a:ext cx="3690000" cy="669735"/>
          </a:xfrm>
          <a:prstGeom prst="rect">
            <a:avLst/>
          </a:prstGeom>
          <a:noFill/>
        </p:spPr>
        <p:txBody>
          <a:bodyPr wrap="square" lIns="0" tIns="0" rIns="0" bIns="0">
            <a:spAutoFit/>
          </a:bodyPr>
          <a:lstStyle/>
          <a:p>
            <a:pPr>
              <a:lnSpc>
                <a:spcPct val="150000"/>
              </a:lnSpc>
              <a:defRPr sz="800">
                <a:solidFill>
                  <a:srgbClr val="0F172A"/>
                </a:solidFill>
                <a:latin typeface="KoPub돋움체 Medium"/>
              </a:defRPr>
            </a:pPr>
            <a:r>
              <a:rPr sz="1000" dirty="0">
                <a:latin typeface="KoPub돋움체 Medium"/>
              </a:rPr>
              <a:t>• L1 </a:t>
            </a:r>
            <a:r>
              <a:rPr sz="1000" dirty="0" err="1">
                <a:latin typeface="KoPub돋움체 Medium"/>
              </a:rPr>
              <a:t>OrderedDict</a:t>
            </a:r>
            <a:r>
              <a:rPr sz="1000" dirty="0">
                <a:latin typeface="KoPub돋움체 Medium"/>
              </a:rPr>
              <a:t> LRU (0.85ms): </a:t>
            </a:r>
            <a:r>
              <a:rPr sz="1000" dirty="0" err="1">
                <a:latin typeface="KoPub돋움체 Medium"/>
              </a:rPr>
              <a:t>네트워크</a:t>
            </a:r>
            <a:r>
              <a:rPr sz="1000" dirty="0">
                <a:latin typeface="KoPub돋움체 Medium"/>
              </a:rPr>
              <a:t> </a:t>
            </a:r>
            <a:r>
              <a:rPr sz="1000" dirty="0" err="1">
                <a:latin typeface="KoPub돋움체 Medium"/>
              </a:rPr>
              <a:t>왕복</a:t>
            </a:r>
            <a:r>
              <a:rPr sz="1000" dirty="0">
                <a:latin typeface="KoPub돋움체 Medium"/>
              </a:rPr>
              <a:t> </a:t>
            </a:r>
            <a:r>
              <a:rPr sz="1000" dirty="0" err="1">
                <a:latin typeface="KoPub돋움체 Medium"/>
              </a:rPr>
              <a:t>없이</a:t>
            </a:r>
            <a:r>
              <a:rPr sz="1000" dirty="0">
                <a:latin typeface="KoPub돋움체 Medium"/>
              </a:rPr>
              <a:t> </a:t>
            </a:r>
            <a:r>
              <a:rPr sz="1000" dirty="0" err="1">
                <a:latin typeface="KoPub돋움체 Medium"/>
              </a:rPr>
              <a:t>즉시</a:t>
            </a:r>
            <a:r>
              <a:rPr sz="1000" dirty="0">
                <a:latin typeface="KoPub돋움체 Medium"/>
              </a:rPr>
              <a:t> 200 </a:t>
            </a:r>
            <a:r>
              <a:rPr sz="1000" dirty="0" err="1">
                <a:latin typeface="KoPub돋움체 Medium"/>
              </a:rPr>
              <a:t>반환</a:t>
            </a:r>
            <a:br>
              <a:rPr sz="1000" dirty="0"/>
            </a:br>
            <a:r>
              <a:rPr sz="1000" dirty="0">
                <a:latin typeface="KoPub돋움체 Medium"/>
              </a:rPr>
              <a:t>• L2 Redis </a:t>
            </a:r>
            <a:r>
              <a:rPr sz="1000" dirty="0" err="1">
                <a:latin typeface="KoPub돋움체 Medium"/>
              </a:rPr>
              <a:t>캐시</a:t>
            </a:r>
            <a:r>
              <a:rPr sz="1000" dirty="0">
                <a:latin typeface="KoPub돋움체 Medium"/>
              </a:rPr>
              <a:t>: </a:t>
            </a:r>
            <a:r>
              <a:rPr sz="1000" dirty="0" err="1">
                <a:latin typeface="KoPub돋움체 Medium"/>
              </a:rPr>
              <a:t>노드</a:t>
            </a:r>
            <a:r>
              <a:rPr sz="1000" dirty="0">
                <a:latin typeface="KoPub돋움체 Medium"/>
              </a:rPr>
              <a:t> 간 </a:t>
            </a:r>
            <a:r>
              <a:rPr sz="1000" dirty="0" err="1">
                <a:latin typeface="KoPub돋움체 Medium"/>
              </a:rPr>
              <a:t>공유</a:t>
            </a:r>
            <a:r>
              <a:rPr sz="1000" dirty="0">
                <a:latin typeface="KoPub돋움체 Medium"/>
              </a:rPr>
              <a:t> </a:t>
            </a:r>
            <a:r>
              <a:rPr sz="1000" dirty="0" err="1">
                <a:latin typeface="KoPub돋움체 Medium"/>
              </a:rPr>
              <a:t>캐시로</a:t>
            </a:r>
            <a:r>
              <a:rPr sz="1000" dirty="0">
                <a:latin typeface="KoPub돋움체 Medium"/>
              </a:rPr>
              <a:t> L1 </a:t>
            </a:r>
            <a:r>
              <a:rPr sz="1000" dirty="0" err="1">
                <a:latin typeface="KoPub돋움체 Medium"/>
              </a:rPr>
              <a:t>캐시</a:t>
            </a:r>
            <a:r>
              <a:rPr sz="1000" dirty="0">
                <a:latin typeface="KoPub돋움체 Medium"/>
              </a:rPr>
              <a:t> </a:t>
            </a:r>
            <a:r>
              <a:rPr sz="1000" dirty="0" err="1">
                <a:latin typeface="KoPub돋움체 Medium"/>
              </a:rPr>
              <a:t>미스</a:t>
            </a:r>
            <a:r>
              <a:rPr sz="1000" dirty="0">
                <a:latin typeface="KoPub돋움체 Medium"/>
              </a:rPr>
              <a:t> </a:t>
            </a:r>
            <a:r>
              <a:rPr sz="1000" dirty="0" err="1">
                <a:latin typeface="KoPub돋움체 Medium"/>
              </a:rPr>
              <a:t>완충</a:t>
            </a:r>
            <a:r>
              <a:rPr sz="1000" dirty="0">
                <a:latin typeface="KoPub돋움체 Medium"/>
              </a:rPr>
              <a:t> (1.67ms)</a:t>
            </a:r>
            <a:br>
              <a:rPr sz="1000" dirty="0"/>
            </a:br>
            <a:r>
              <a:rPr sz="1000" dirty="0">
                <a:latin typeface="KoPub돋움체 Medium"/>
              </a:rPr>
              <a:t>• Redis Streams </a:t>
            </a:r>
            <a:r>
              <a:rPr sz="1000" dirty="0" err="1">
                <a:latin typeface="KoPub돋움체 Medium"/>
              </a:rPr>
              <a:t>연동으로</a:t>
            </a:r>
            <a:r>
              <a:rPr sz="1000" dirty="0">
                <a:latin typeface="KoPub돋움체 Medium"/>
              </a:rPr>
              <a:t> </a:t>
            </a:r>
            <a:r>
              <a:rPr sz="1000" dirty="0" err="1">
                <a:latin typeface="KoPub돋움체 Medium"/>
              </a:rPr>
              <a:t>정책</a:t>
            </a:r>
            <a:r>
              <a:rPr sz="1000" dirty="0">
                <a:latin typeface="KoPub돋움체 Medium"/>
              </a:rPr>
              <a:t> </a:t>
            </a:r>
            <a:r>
              <a:rPr sz="1000" dirty="0" err="1">
                <a:latin typeface="KoPub돋움체 Medium"/>
              </a:rPr>
              <a:t>변경</a:t>
            </a:r>
            <a:r>
              <a:rPr sz="1000" dirty="0">
                <a:latin typeface="KoPub돋움체 Medium"/>
              </a:rPr>
              <a:t> 시 전 </a:t>
            </a:r>
            <a:r>
              <a:rPr sz="1000" dirty="0" err="1">
                <a:latin typeface="KoPub돋움체 Medium"/>
              </a:rPr>
              <a:t>노드</a:t>
            </a:r>
            <a:r>
              <a:rPr sz="1000" dirty="0">
                <a:latin typeface="KoPub돋움체 Medium"/>
              </a:rPr>
              <a:t> </a:t>
            </a:r>
            <a:r>
              <a:rPr sz="1000" dirty="0" err="1">
                <a:latin typeface="KoPub돋움체 Medium"/>
              </a:rPr>
              <a:t>캐시</a:t>
            </a:r>
            <a:r>
              <a:rPr sz="1000" dirty="0">
                <a:latin typeface="KoPub돋움체 Medium"/>
              </a:rPr>
              <a:t> </a:t>
            </a:r>
            <a:r>
              <a:rPr sz="1000" dirty="0" err="1">
                <a:latin typeface="KoPub돋움체 Medium"/>
              </a:rPr>
              <a:t>정합성</a:t>
            </a:r>
            <a:r>
              <a:rPr sz="1000" dirty="0">
                <a:latin typeface="KoPub돋움체 Medium"/>
              </a:rPr>
              <a:t> </a:t>
            </a:r>
            <a:r>
              <a:rPr sz="1000" dirty="0" err="1">
                <a:latin typeface="KoPub돋움체 Medium"/>
              </a:rPr>
              <a:t>보장</a:t>
            </a:r>
            <a:endParaRPr sz="1000" dirty="0">
              <a:latin typeface="KoPub돋움체 Medium"/>
            </a:endParaRPr>
          </a:p>
        </p:txBody>
      </p:sp>
      <p:sp>
        <p:nvSpPr>
          <p:cNvPr id="24" name="Rounded Rectangle 23"/>
          <p:cNvSpPr/>
          <p:nvPr/>
        </p:nvSpPr>
        <p:spPr>
          <a:xfrm>
            <a:off x="356760" y="6048000"/>
            <a:ext cx="9198720" cy="342000"/>
          </a:xfrm>
          <a:prstGeom prst="roundRect">
            <a:avLst/>
          </a:prstGeom>
          <a:solidFill>
            <a:srgbClr val="F1F1F1"/>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674859" y="6142056"/>
            <a:ext cx="6556282" cy="153888"/>
          </a:xfrm>
          <a:prstGeom prst="rect">
            <a:avLst/>
          </a:prstGeom>
          <a:noFill/>
        </p:spPr>
        <p:txBody>
          <a:bodyPr wrap="none" lIns="0" tIns="0" rIns="0" bIns="0" anchor="ctr">
            <a:spAutoFit/>
          </a:bodyPr>
          <a:lstStyle/>
          <a:p>
            <a:pPr>
              <a:defRPr sz="900" b="1">
                <a:solidFill>
                  <a:srgbClr val="0F172A"/>
                </a:solidFill>
                <a:latin typeface="KoPub돋움체 Bold"/>
              </a:defRPr>
            </a:pPr>
            <a:r>
              <a:rPr sz="1000" dirty="0" err="1">
                <a:latin typeface="KoPub돋움체 Bold"/>
              </a:rPr>
              <a:t>db_fallbacks</a:t>
            </a:r>
            <a:r>
              <a:rPr sz="1000" dirty="0">
                <a:latin typeface="KoPub돋움체 Bold"/>
              </a:rPr>
              <a:t> == </a:t>
            </a:r>
            <a:r>
              <a:rPr sz="1000" dirty="0" err="1">
                <a:latin typeface="KoPub돋움체 Bold"/>
              </a:rPr>
              <a:t>db_queries_executed</a:t>
            </a:r>
            <a:r>
              <a:rPr sz="1000" dirty="0">
                <a:latin typeface="KoPub돋움체 Bold"/>
              </a:rPr>
              <a:t> + </a:t>
            </a:r>
            <a:r>
              <a:rPr sz="1000" dirty="0" err="1">
                <a:latin typeface="KoPub돋움체 Bold"/>
              </a:rPr>
              <a:t>singleflight_coalesced</a:t>
            </a:r>
            <a:r>
              <a:rPr sz="1000" dirty="0">
                <a:latin typeface="KoPub돋움체 Bold"/>
              </a:rPr>
              <a:t> + ... (DB </a:t>
            </a:r>
            <a:r>
              <a:rPr sz="1000" dirty="0" err="1">
                <a:latin typeface="KoPub돋움체 Bold"/>
              </a:rPr>
              <a:t>진입</a:t>
            </a:r>
            <a:r>
              <a:rPr sz="1000" dirty="0">
                <a:latin typeface="KoPub돋움체 Bold"/>
              </a:rPr>
              <a:t> </a:t>
            </a:r>
            <a:r>
              <a:rPr sz="1000" dirty="0" err="1">
                <a:latin typeface="KoPub돋움체 Bold"/>
              </a:rPr>
              <a:t>요청은</a:t>
            </a:r>
            <a:r>
              <a:rPr sz="1000" dirty="0">
                <a:latin typeface="KoPub돋움체 Bold"/>
              </a:rPr>
              <a:t> </a:t>
            </a:r>
            <a:r>
              <a:rPr sz="1000" dirty="0" err="1">
                <a:latin typeface="KoPub돋움체 Bold"/>
              </a:rPr>
              <a:t>유실</a:t>
            </a:r>
            <a:r>
              <a:rPr sz="1000" dirty="0">
                <a:latin typeface="KoPub돋움체 Bold"/>
              </a:rPr>
              <a:t> </a:t>
            </a:r>
            <a:r>
              <a:rPr sz="1000" dirty="0" err="1">
                <a:latin typeface="KoPub돋움체 Bold"/>
              </a:rPr>
              <a:t>없이</a:t>
            </a:r>
            <a:r>
              <a:rPr sz="1000" dirty="0">
                <a:latin typeface="KoPub돋움체 Bold"/>
              </a:rPr>
              <a:t> </a:t>
            </a:r>
            <a:r>
              <a:rPr sz="1000" dirty="0" err="1">
                <a:latin typeface="KoPub돋움체 Bold"/>
              </a:rPr>
              <a:t>병합·쿼리로</a:t>
            </a:r>
            <a:r>
              <a:rPr sz="1000" dirty="0">
                <a:latin typeface="KoPub돋움체 Bold"/>
              </a:rPr>
              <a:t> 100% </a:t>
            </a:r>
            <a:r>
              <a:rPr sz="1000" dirty="0" err="1">
                <a:latin typeface="KoPub돋움체 Bold"/>
              </a:rPr>
              <a:t>해소</a:t>
            </a:r>
            <a:r>
              <a:rPr sz="1000" dirty="0">
                <a:latin typeface="KoPub돋움체 Bold"/>
              </a:rPr>
              <a:t>)</a:t>
            </a:r>
          </a:p>
        </p:txBody>
      </p:sp>
      <p:sp>
        <p:nvSpPr>
          <p:cNvPr id="27" name="TextBox 26"/>
          <p:cNvSpPr txBox="1"/>
          <p:nvPr/>
        </p:nvSpPr>
        <p:spPr>
          <a:xfrm>
            <a:off x="8723520" y="6537960"/>
            <a:ext cx="831960" cy="246960"/>
          </a:xfrm>
          <a:prstGeom prst="rect">
            <a:avLst/>
          </a:prstGeom>
          <a:noFill/>
        </p:spPr>
        <p:txBody>
          <a:bodyPr wrap="none" lIns="0" tIns="0" rIns="0" bIns="0">
            <a:spAutoFit/>
          </a:bodyPr>
          <a:lstStyle/>
          <a:p>
            <a:pPr algn="r">
              <a:defRPr sz="1000" b="1">
                <a:solidFill>
                  <a:srgbClr val="6B7280"/>
                </a:solidFill>
                <a:latin typeface="KoPub돋움체 Bold"/>
              </a:defRPr>
            </a:pPr>
            <a:r>
              <a:rPr>
                <a:latin typeface="KoPub돋움체 Bold"/>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AFD"/>
        </a:solidFill>
        <a:effectLst/>
      </p:bgPr>
    </p:bg>
    <p:spTree>
      <p:nvGrpSpPr>
        <p:cNvPr id="1" name=""/>
        <p:cNvGrpSpPr/>
        <p:nvPr/>
      </p:nvGrpSpPr>
      <p:grpSpPr>
        <a:xfrm>
          <a:off x="0" y="0"/>
          <a:ext cx="0" cy="0"/>
          <a:chOff x="0" y="0"/>
          <a:chExt cx="0" cy="0"/>
        </a:xfrm>
      </p:grpSpPr>
      <p:sp>
        <p:nvSpPr>
          <p:cNvPr id="2" name="Rounded Rectangle 1"/>
          <p:cNvSpPr/>
          <p:nvPr/>
        </p:nvSpPr>
        <p:spPr>
          <a:xfrm>
            <a:off x="356760" y="292680"/>
            <a:ext cx="9198720" cy="493920"/>
          </a:xfrm>
          <a:prstGeom prst="roundRect">
            <a:avLst/>
          </a:prstGeom>
          <a:solidFill>
            <a:srgbClr val="0E306D"/>
          </a:solidFill>
          <a:ln w="12700">
            <a:solidFill>
              <a:srgbClr val="0E30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80"/>
            <a:ext cx="8778240" cy="493920"/>
          </a:xfrm>
          <a:prstGeom prst="rect">
            <a:avLst/>
          </a:prstGeom>
          <a:noFill/>
        </p:spPr>
        <p:txBody>
          <a:bodyPr wrap="square" lIns="0" tIns="0" rIns="0" bIns="0" anchor="ctr">
            <a:spAutoFit/>
          </a:bodyPr>
          <a:lstStyle/>
          <a:p>
            <a:pPr>
              <a:defRPr sz="2000" b="1">
                <a:solidFill>
                  <a:srgbClr val="FFFFFF"/>
                </a:solidFill>
                <a:latin typeface="KoPub돋움체 Bold"/>
              </a:defRPr>
            </a:pPr>
            <a:r>
              <a:rPr>
                <a:latin typeface="KoPub돋움체 Bold"/>
              </a:rPr>
              <a:t>02. 클러스터 전역 Single-Flight와 p95 지연시간 극적 단축</a:t>
            </a:r>
          </a:p>
        </p:txBody>
      </p:sp>
      <p:sp>
        <p:nvSpPr>
          <p:cNvPr id="4" name="Rounded Rectangle 3"/>
          <p:cNvSpPr/>
          <p:nvPr/>
        </p:nvSpPr>
        <p:spPr>
          <a:xfrm>
            <a:off x="356760" y="914400"/>
            <a:ext cx="9198720" cy="347400"/>
          </a:xfrm>
          <a:prstGeom prst="roundRect">
            <a:avLst/>
          </a:prstGeom>
          <a:solidFill>
            <a:srgbClr val="F1F1F1"/>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011156"/>
            <a:ext cx="9052560" cy="153888"/>
          </a:xfrm>
          <a:prstGeom prst="rect">
            <a:avLst/>
          </a:prstGeom>
          <a:noFill/>
        </p:spPr>
        <p:txBody>
          <a:bodyPr wrap="square" lIns="0" tIns="0" rIns="0" bIns="0" anchor="ctr">
            <a:spAutoFit/>
          </a:bodyPr>
          <a:lstStyle/>
          <a:p>
            <a:pPr>
              <a:defRPr sz="1050" b="1">
                <a:solidFill>
                  <a:srgbClr val="0E306D"/>
                </a:solidFill>
                <a:latin typeface="KoPub돋움체 Bold"/>
              </a:defRPr>
            </a:pPr>
            <a:r>
              <a:rPr sz="1000" dirty="0">
                <a:latin typeface="KoPub돋움체 Bold"/>
              </a:rPr>
              <a:t>Redis </a:t>
            </a:r>
            <a:r>
              <a:rPr sz="1000" dirty="0" err="1">
                <a:latin typeface="KoPub돋움체 Bold"/>
              </a:rPr>
              <a:t>분산</a:t>
            </a:r>
            <a:r>
              <a:rPr sz="1000" dirty="0">
                <a:latin typeface="KoPub돋움체 Bold"/>
              </a:rPr>
              <a:t> 락(SET NX)과 L2 </a:t>
            </a:r>
            <a:r>
              <a:rPr sz="1000" dirty="0" err="1">
                <a:latin typeface="KoPub돋움체 Bold"/>
              </a:rPr>
              <a:t>폴링을</a:t>
            </a:r>
            <a:r>
              <a:rPr sz="1000" dirty="0">
                <a:latin typeface="KoPub돋움체 Bold"/>
              </a:rPr>
              <a:t> </a:t>
            </a:r>
            <a:r>
              <a:rPr sz="1000" dirty="0" err="1">
                <a:latin typeface="KoPub돋움체 Bold"/>
              </a:rPr>
              <a:t>결합한</a:t>
            </a:r>
            <a:r>
              <a:rPr sz="1000" dirty="0">
                <a:latin typeface="KoPub돋움체 Bold"/>
              </a:rPr>
              <a:t> 3노드 </a:t>
            </a:r>
            <a:r>
              <a:rPr sz="1000" dirty="0" err="1">
                <a:latin typeface="KoPub돋움체 Bold"/>
              </a:rPr>
              <a:t>클러스터</a:t>
            </a:r>
            <a:r>
              <a:rPr sz="1000" dirty="0">
                <a:latin typeface="KoPub돋움체 Bold"/>
              </a:rPr>
              <a:t> DB </a:t>
            </a:r>
            <a:r>
              <a:rPr sz="1000" dirty="0" err="1">
                <a:latin typeface="KoPub돋움체 Bold"/>
              </a:rPr>
              <a:t>쿼리</a:t>
            </a:r>
            <a:r>
              <a:rPr sz="1000" dirty="0">
                <a:latin typeface="KoPub돋움체 Bold"/>
              </a:rPr>
              <a:t> 1회 </a:t>
            </a:r>
            <a:r>
              <a:rPr sz="1000" dirty="0" err="1">
                <a:latin typeface="KoPub돋움체 Bold"/>
              </a:rPr>
              <a:t>병합</a:t>
            </a:r>
            <a:r>
              <a:rPr sz="1000" dirty="0">
                <a:latin typeface="KoPub돋움체 Bold"/>
              </a:rPr>
              <a:t> 및 p95 </a:t>
            </a:r>
            <a:r>
              <a:rPr sz="1000" dirty="0" err="1">
                <a:latin typeface="KoPub돋움체 Bold"/>
              </a:rPr>
              <a:t>지연</a:t>
            </a:r>
            <a:r>
              <a:rPr sz="1000" dirty="0">
                <a:latin typeface="KoPub돋움체 Bold"/>
              </a:rPr>
              <a:t> 4,065ms → 27ms </a:t>
            </a:r>
            <a:r>
              <a:rPr sz="1000" dirty="0" err="1">
                <a:latin typeface="KoPub돋움체 Bold"/>
              </a:rPr>
              <a:t>단축</a:t>
            </a:r>
            <a:endParaRPr sz="1000" dirty="0">
              <a:latin typeface="KoPub돋움체 Bold"/>
            </a:endParaRPr>
          </a:p>
        </p:txBody>
      </p:sp>
      <p:sp>
        <p:nvSpPr>
          <p:cNvPr id="6" name="Rounded Rectangle 5"/>
          <p:cNvSpPr/>
          <p:nvPr/>
        </p:nvSpPr>
        <p:spPr>
          <a:xfrm>
            <a:off x="356760" y="1350000"/>
            <a:ext cx="2926080" cy="2268000"/>
          </a:xfrm>
          <a:prstGeom prst="roundRect">
            <a:avLst>
              <a:gd name="adj" fmla="val 3228"/>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64760" y="1458000"/>
            <a:ext cx="2710080" cy="306000"/>
          </a:xfrm>
          <a:prstGeom prst="roundRect">
            <a:avLst/>
          </a:prstGeom>
          <a:solidFill>
            <a:srgbClr val="0E306D"/>
          </a:solidFill>
          <a:ln>
            <a:solidFill>
              <a:srgbClr val="0E306D"/>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50" b="1">
                <a:solidFill>
                  <a:srgbClr val="FFFFFF"/>
                </a:solidFill>
                <a:latin typeface="KoPub돋움체 Bold"/>
              </a:defRPr>
            </a:pPr>
            <a:r>
              <a:rPr sz="1000" dirty="0">
                <a:latin typeface="KoPub돋움체 Bold"/>
              </a:rPr>
              <a:t>Node-A (Leader) : </a:t>
            </a:r>
            <a:r>
              <a:rPr sz="1000" dirty="0" err="1">
                <a:latin typeface="KoPub돋움체 Bold"/>
              </a:rPr>
              <a:t>분산</a:t>
            </a:r>
            <a:r>
              <a:rPr sz="1000" dirty="0">
                <a:latin typeface="KoPub돋움체 Bold"/>
              </a:rPr>
              <a:t> 락 </a:t>
            </a:r>
            <a:r>
              <a:rPr sz="1000" dirty="0" err="1">
                <a:latin typeface="KoPub돋움체 Bold"/>
              </a:rPr>
              <a:t>선점</a:t>
            </a:r>
            <a:r>
              <a:rPr sz="1000" dirty="0">
                <a:latin typeface="KoPub돋움체 Bold"/>
              </a:rPr>
              <a:t> &amp; DB </a:t>
            </a:r>
            <a:r>
              <a:rPr sz="1000" dirty="0" err="1">
                <a:latin typeface="KoPub돋움체 Bold"/>
              </a:rPr>
              <a:t>쿼리</a:t>
            </a:r>
            <a:r>
              <a:rPr sz="1000" dirty="0">
                <a:latin typeface="KoPub돋움체 Bold"/>
              </a:rPr>
              <a:t> </a:t>
            </a:r>
            <a:r>
              <a:rPr sz="1000" dirty="0" err="1">
                <a:latin typeface="KoPub돋움체 Bold"/>
              </a:rPr>
              <a:t>실행</a:t>
            </a:r>
            <a:endParaRPr sz="1000" dirty="0">
              <a:latin typeface="KoPub돋움체 Bold"/>
            </a:endParaRPr>
          </a:p>
        </p:txBody>
      </p:sp>
      <p:sp>
        <p:nvSpPr>
          <p:cNvPr id="8" name="TextBox 7"/>
          <p:cNvSpPr txBox="1"/>
          <p:nvPr/>
        </p:nvSpPr>
        <p:spPr>
          <a:xfrm>
            <a:off x="500760" y="1818000"/>
            <a:ext cx="2638080" cy="1439177"/>
          </a:xfrm>
          <a:prstGeom prst="rect">
            <a:avLst/>
          </a:prstGeom>
          <a:noFill/>
        </p:spPr>
        <p:txBody>
          <a:bodyPr wrap="square" lIns="0" tIns="0" rIns="0" bIns="0">
            <a:spAutoFit/>
          </a:bodyPr>
          <a:lstStyle/>
          <a:p>
            <a:pPr>
              <a:lnSpc>
                <a:spcPct val="150000"/>
              </a:lnSpc>
              <a:defRPr sz="780">
                <a:solidFill>
                  <a:srgbClr val="0F172A"/>
                </a:solidFill>
                <a:latin typeface="KoPub돋움체 Medium"/>
              </a:defRPr>
            </a:pPr>
            <a:r>
              <a:rPr sz="1000" dirty="0">
                <a:latin typeface="KoPub돋움체 Medium"/>
              </a:rPr>
              <a:t>•  [1. Redis </a:t>
            </a:r>
            <a:r>
              <a:rPr sz="1000" dirty="0" err="1">
                <a:latin typeface="KoPub돋움체 Medium"/>
              </a:rPr>
              <a:t>분산</a:t>
            </a:r>
            <a:r>
              <a:rPr sz="1000" dirty="0">
                <a:latin typeface="KoPub돋움체 Medium"/>
              </a:rPr>
              <a:t> 락 </a:t>
            </a:r>
            <a:r>
              <a:rPr sz="1000" dirty="0" err="1">
                <a:latin typeface="KoPub돋움체 Medium"/>
              </a:rPr>
              <a:t>선점</a:t>
            </a:r>
            <a:r>
              <a:rPr sz="1000" dirty="0">
                <a:latin typeface="KoPub돋움체 Medium"/>
              </a:rPr>
              <a:t>] SET NX </a:t>
            </a:r>
            <a:r>
              <a:rPr sz="1000" dirty="0" err="1">
                <a:latin typeface="KoPub돋움체 Medium"/>
              </a:rPr>
              <a:t>lock:sf</a:t>
            </a:r>
            <a:r>
              <a:rPr sz="1000" dirty="0">
                <a:latin typeface="KoPub돋움체 Medium"/>
              </a:rPr>
              <a:t>:{key} </a:t>
            </a:r>
            <a:r>
              <a:rPr sz="1000" dirty="0" err="1">
                <a:latin typeface="KoPub돋움체 Medium"/>
              </a:rPr>
              <a:t>성공</a:t>
            </a:r>
            <a:r>
              <a:rPr sz="1000" dirty="0">
                <a:latin typeface="KoPub돋움체 Medium"/>
              </a:rPr>
              <a:t> (TTL: 3.0s)</a:t>
            </a:r>
          </a:p>
          <a:p>
            <a:pPr>
              <a:lnSpc>
                <a:spcPct val="150000"/>
              </a:lnSpc>
              <a:spcBef>
                <a:spcPts val="300"/>
              </a:spcBef>
              <a:defRPr sz="780">
                <a:solidFill>
                  <a:srgbClr val="0F172A"/>
                </a:solidFill>
                <a:latin typeface="KoPub돋움체 Medium"/>
              </a:defRPr>
            </a:pPr>
            <a:r>
              <a:rPr sz="1000" dirty="0">
                <a:latin typeface="KoPub돋움체 Medium"/>
              </a:rPr>
              <a:t>•  [2. Policy DB </a:t>
            </a:r>
            <a:r>
              <a:rPr sz="1000" dirty="0" err="1">
                <a:latin typeface="KoPub돋움체 Medium"/>
              </a:rPr>
              <a:t>쿼리</a:t>
            </a:r>
            <a:r>
              <a:rPr sz="1000" dirty="0">
                <a:latin typeface="KoPub돋움체 Medium"/>
              </a:rPr>
              <a:t> </a:t>
            </a:r>
            <a:r>
              <a:rPr sz="1000" dirty="0" err="1">
                <a:latin typeface="KoPub돋움체 Medium"/>
              </a:rPr>
              <a:t>실행</a:t>
            </a:r>
            <a:r>
              <a:rPr sz="1000" dirty="0">
                <a:latin typeface="KoPub돋움체 Medium"/>
              </a:rPr>
              <a:t>] </a:t>
            </a:r>
            <a:r>
              <a:rPr sz="1000" dirty="0" err="1">
                <a:latin typeface="KoPub돋움체 Medium"/>
              </a:rPr>
              <a:t>선두</a:t>
            </a:r>
            <a:r>
              <a:rPr sz="1000" dirty="0">
                <a:latin typeface="KoPub돋움체 Medium"/>
              </a:rPr>
              <a:t> 1건만 </a:t>
            </a:r>
            <a:r>
              <a:rPr sz="1000" dirty="0" err="1">
                <a:latin typeface="KoPub돋움체 Medium"/>
              </a:rPr>
              <a:t>백엔드</a:t>
            </a:r>
            <a:r>
              <a:rPr sz="1000" dirty="0">
                <a:latin typeface="KoPub돋움체 Medium"/>
              </a:rPr>
              <a:t> DB </a:t>
            </a:r>
            <a:r>
              <a:rPr sz="1000" dirty="0" err="1">
                <a:latin typeface="KoPub돋움체 Medium"/>
              </a:rPr>
              <a:t>조회</a:t>
            </a:r>
            <a:r>
              <a:rPr sz="1000" dirty="0">
                <a:latin typeface="KoPub돋움체 Medium"/>
              </a:rPr>
              <a:t> </a:t>
            </a:r>
            <a:r>
              <a:rPr sz="1000" dirty="0" err="1">
                <a:latin typeface="KoPub돋움체 Medium"/>
              </a:rPr>
              <a:t>실행</a:t>
            </a:r>
            <a:r>
              <a:rPr sz="1000" dirty="0">
                <a:latin typeface="KoPub돋움체 Medium"/>
              </a:rPr>
              <a:t> (20ms)</a:t>
            </a:r>
          </a:p>
          <a:p>
            <a:pPr>
              <a:lnSpc>
                <a:spcPct val="150000"/>
              </a:lnSpc>
              <a:spcBef>
                <a:spcPts val="300"/>
              </a:spcBef>
              <a:defRPr sz="780">
                <a:solidFill>
                  <a:srgbClr val="0F172A"/>
                </a:solidFill>
                <a:latin typeface="KoPub돋움체 Medium"/>
              </a:defRPr>
            </a:pPr>
            <a:r>
              <a:rPr sz="1000" dirty="0">
                <a:latin typeface="KoPub돋움체 Medium"/>
              </a:rPr>
              <a:t>•  [3. L2 Redis </a:t>
            </a:r>
            <a:r>
              <a:rPr sz="1000" dirty="0" err="1">
                <a:latin typeface="KoPub돋움체 Medium"/>
              </a:rPr>
              <a:t>적재</a:t>
            </a:r>
            <a:r>
              <a:rPr sz="1000" dirty="0">
                <a:latin typeface="KoPub돋움체 Medium"/>
              </a:rPr>
              <a:t> &amp; 락 </a:t>
            </a:r>
            <a:r>
              <a:rPr sz="1000" dirty="0" err="1">
                <a:latin typeface="KoPub돋움체 Medium"/>
              </a:rPr>
              <a:t>해제</a:t>
            </a:r>
            <a:r>
              <a:rPr sz="1000" dirty="0">
                <a:latin typeface="KoPub돋움체 Medium"/>
              </a:rPr>
              <a:t>] </a:t>
            </a:r>
            <a:r>
              <a:rPr sz="1000" dirty="0" err="1">
                <a:latin typeface="KoPub돋움체 Medium"/>
              </a:rPr>
              <a:t>결과</a:t>
            </a:r>
            <a:r>
              <a:rPr sz="1000" dirty="0">
                <a:latin typeface="KoPub돋움체 Medium"/>
              </a:rPr>
              <a:t> </a:t>
            </a:r>
            <a:r>
              <a:rPr sz="1000" dirty="0" err="1">
                <a:latin typeface="KoPub돋움체 Medium"/>
              </a:rPr>
              <a:t>적재</a:t>
            </a:r>
            <a:r>
              <a:rPr sz="1000" dirty="0">
                <a:latin typeface="KoPub돋움체 Medium"/>
              </a:rPr>
              <a:t> 후 DEL </a:t>
            </a:r>
            <a:r>
              <a:rPr sz="1000" dirty="0" err="1">
                <a:latin typeface="KoPub돋움체 Medium"/>
              </a:rPr>
              <a:t>lock:sf</a:t>
            </a:r>
            <a:r>
              <a:rPr sz="1000" dirty="0">
                <a:latin typeface="KoPub돋움체 Medium"/>
              </a:rPr>
              <a:t>:{key} </a:t>
            </a:r>
            <a:r>
              <a:rPr sz="1000" dirty="0" err="1">
                <a:latin typeface="KoPub돋움체 Medium"/>
              </a:rPr>
              <a:t>즉시</a:t>
            </a:r>
            <a:r>
              <a:rPr sz="1000" dirty="0">
                <a:latin typeface="KoPub돋움체 Medium"/>
              </a:rPr>
              <a:t> </a:t>
            </a:r>
            <a:r>
              <a:rPr sz="1000" dirty="0" err="1">
                <a:latin typeface="KoPub돋움체 Medium"/>
              </a:rPr>
              <a:t>수행</a:t>
            </a:r>
            <a:endParaRPr sz="1000" dirty="0">
              <a:latin typeface="KoPub돋움체 Medium"/>
            </a:endParaRPr>
          </a:p>
        </p:txBody>
      </p:sp>
      <p:sp>
        <p:nvSpPr>
          <p:cNvPr id="9" name="Rounded Rectangle 8"/>
          <p:cNvSpPr/>
          <p:nvPr/>
        </p:nvSpPr>
        <p:spPr>
          <a:xfrm>
            <a:off x="3483720" y="1350000"/>
            <a:ext cx="2926080" cy="2268000"/>
          </a:xfrm>
          <a:prstGeom prst="roundRect">
            <a:avLst>
              <a:gd name="adj" fmla="val 5468"/>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591720" y="1458000"/>
            <a:ext cx="2710080" cy="306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50" b="1">
                <a:solidFill>
                  <a:srgbClr val="0E306D"/>
                </a:solidFill>
                <a:latin typeface="KoPub돋움체 Bold"/>
              </a:defRPr>
            </a:pPr>
            <a:r>
              <a:rPr sz="1000" dirty="0">
                <a:latin typeface="KoPub돋움체 Bold"/>
              </a:rPr>
              <a:t>Node-B (Follower) : L2 </a:t>
            </a:r>
            <a:r>
              <a:rPr sz="1000" dirty="0" err="1">
                <a:latin typeface="KoPub돋움체 Bold"/>
              </a:rPr>
              <a:t>캐시</a:t>
            </a:r>
            <a:r>
              <a:rPr sz="1000" dirty="0">
                <a:latin typeface="KoPub돋움체 Bold"/>
              </a:rPr>
              <a:t> </a:t>
            </a:r>
            <a:r>
              <a:rPr sz="1000" dirty="0" err="1">
                <a:latin typeface="KoPub돋움체 Bold"/>
              </a:rPr>
              <a:t>대기</a:t>
            </a:r>
            <a:r>
              <a:rPr sz="1000" dirty="0">
                <a:latin typeface="KoPub돋움체 Bold"/>
              </a:rPr>
              <a:t> </a:t>
            </a:r>
            <a:r>
              <a:rPr sz="1000" dirty="0" err="1">
                <a:latin typeface="KoPub돋움체 Bold"/>
              </a:rPr>
              <a:t>폴링</a:t>
            </a:r>
            <a:endParaRPr sz="1000" dirty="0">
              <a:latin typeface="KoPub돋움체 Bold"/>
            </a:endParaRPr>
          </a:p>
        </p:txBody>
      </p:sp>
      <p:sp>
        <p:nvSpPr>
          <p:cNvPr id="11" name="TextBox 10"/>
          <p:cNvSpPr txBox="1"/>
          <p:nvPr/>
        </p:nvSpPr>
        <p:spPr>
          <a:xfrm>
            <a:off x="3627720" y="1818000"/>
            <a:ext cx="2638080" cy="1439177"/>
          </a:xfrm>
          <a:prstGeom prst="rect">
            <a:avLst/>
          </a:prstGeom>
          <a:noFill/>
        </p:spPr>
        <p:txBody>
          <a:bodyPr wrap="square" lIns="0" tIns="0" rIns="0" bIns="0">
            <a:spAutoFit/>
          </a:bodyPr>
          <a:lstStyle/>
          <a:p>
            <a:pPr>
              <a:lnSpc>
                <a:spcPct val="150000"/>
              </a:lnSpc>
              <a:defRPr sz="780">
                <a:solidFill>
                  <a:srgbClr val="0F172A"/>
                </a:solidFill>
                <a:latin typeface="KoPub돋움체 Medium"/>
              </a:defRPr>
            </a:pPr>
            <a:r>
              <a:rPr sz="1000" dirty="0">
                <a:latin typeface="KoPub돋움체 Medium"/>
              </a:rPr>
              <a:t>•  [1. </a:t>
            </a:r>
            <a:r>
              <a:rPr sz="1000" dirty="0" err="1">
                <a:latin typeface="KoPub돋움체 Medium"/>
              </a:rPr>
              <a:t>분산</a:t>
            </a:r>
            <a:r>
              <a:rPr sz="1000" dirty="0">
                <a:latin typeface="KoPub돋움체 Medium"/>
              </a:rPr>
              <a:t> 락 </a:t>
            </a:r>
            <a:r>
              <a:rPr sz="1000" dirty="0" err="1">
                <a:latin typeface="KoPub돋움체 Medium"/>
              </a:rPr>
              <a:t>경합</a:t>
            </a:r>
            <a:r>
              <a:rPr sz="1000" dirty="0">
                <a:latin typeface="KoPub돋움체 Medium"/>
              </a:rPr>
              <a:t> </a:t>
            </a:r>
            <a:r>
              <a:rPr sz="1000" dirty="0" err="1">
                <a:latin typeface="KoPub돋움체 Medium"/>
              </a:rPr>
              <a:t>실패</a:t>
            </a:r>
            <a:r>
              <a:rPr sz="1000" dirty="0">
                <a:latin typeface="KoPub돋움체 Medium"/>
              </a:rPr>
              <a:t>] SET NX </a:t>
            </a:r>
            <a:r>
              <a:rPr sz="1000" dirty="0" err="1">
                <a:latin typeface="KoPub돋움체 Medium"/>
              </a:rPr>
              <a:t>실패</a:t>
            </a:r>
            <a:r>
              <a:rPr sz="1000" dirty="0">
                <a:latin typeface="KoPub돋움체 Medium"/>
              </a:rPr>
              <a:t> → </a:t>
            </a:r>
            <a:r>
              <a:rPr sz="1000" dirty="0" err="1">
                <a:latin typeface="KoPub돋움체 Medium"/>
              </a:rPr>
              <a:t>Leader가</a:t>
            </a:r>
            <a:r>
              <a:rPr sz="1000" dirty="0">
                <a:latin typeface="KoPub돋움체 Medium"/>
              </a:rPr>
              <a:t> DB </a:t>
            </a:r>
            <a:r>
              <a:rPr sz="1000" dirty="0" err="1">
                <a:latin typeface="KoPub돋움체 Medium"/>
              </a:rPr>
              <a:t>조회</a:t>
            </a:r>
            <a:r>
              <a:rPr sz="1000" dirty="0">
                <a:latin typeface="KoPub돋움체 Medium"/>
              </a:rPr>
              <a:t> </a:t>
            </a:r>
            <a:r>
              <a:rPr sz="1000" dirty="0" err="1">
                <a:latin typeface="KoPub돋움체 Medium"/>
              </a:rPr>
              <a:t>중임을</a:t>
            </a:r>
            <a:r>
              <a:rPr sz="1000" dirty="0">
                <a:latin typeface="KoPub돋움체 Medium"/>
              </a:rPr>
              <a:t> </a:t>
            </a:r>
            <a:r>
              <a:rPr sz="1000" dirty="0" err="1">
                <a:latin typeface="KoPub돋움체 Medium"/>
              </a:rPr>
              <a:t>확인</a:t>
            </a:r>
            <a:endParaRPr sz="1000" dirty="0">
              <a:latin typeface="KoPub돋움체 Medium"/>
            </a:endParaRPr>
          </a:p>
          <a:p>
            <a:pPr>
              <a:lnSpc>
                <a:spcPct val="150000"/>
              </a:lnSpc>
              <a:spcBef>
                <a:spcPts val="300"/>
              </a:spcBef>
              <a:defRPr sz="780">
                <a:solidFill>
                  <a:srgbClr val="0F172A"/>
                </a:solidFill>
                <a:latin typeface="KoPub돋움체 Medium"/>
              </a:defRPr>
            </a:pPr>
            <a:r>
              <a:rPr sz="1000" dirty="0">
                <a:latin typeface="KoPub돋움체 Medium"/>
              </a:rPr>
              <a:t>•  [2. L2 </a:t>
            </a:r>
            <a:r>
              <a:rPr sz="1000" dirty="0" err="1">
                <a:latin typeface="KoPub돋움체 Medium"/>
              </a:rPr>
              <a:t>캐시</a:t>
            </a:r>
            <a:r>
              <a:rPr sz="1000" dirty="0">
                <a:latin typeface="KoPub돋움체 Medium"/>
              </a:rPr>
              <a:t> </a:t>
            </a:r>
            <a:r>
              <a:rPr sz="1000" dirty="0" err="1">
                <a:latin typeface="KoPub돋움체 Medium"/>
              </a:rPr>
              <a:t>대기</a:t>
            </a:r>
            <a:r>
              <a:rPr sz="1000" dirty="0">
                <a:latin typeface="KoPub돋움체 Medium"/>
              </a:rPr>
              <a:t> </a:t>
            </a:r>
            <a:r>
              <a:rPr sz="1000" dirty="0" err="1">
                <a:latin typeface="KoPub돋움체 Medium"/>
              </a:rPr>
              <a:t>폴링</a:t>
            </a:r>
            <a:r>
              <a:rPr sz="1000" dirty="0">
                <a:latin typeface="KoPub돋움체 Medium"/>
              </a:rPr>
              <a:t>] 25ms </a:t>
            </a:r>
            <a:r>
              <a:rPr sz="1000" dirty="0" err="1">
                <a:latin typeface="KoPub돋움체 Medium"/>
              </a:rPr>
              <a:t>주기로</a:t>
            </a:r>
            <a:r>
              <a:rPr sz="1000" dirty="0">
                <a:latin typeface="KoPub돋움체 Medium"/>
              </a:rPr>
              <a:t> L2 </a:t>
            </a:r>
            <a:r>
              <a:rPr sz="1000" dirty="0" err="1">
                <a:latin typeface="KoPub돋움체 Medium"/>
              </a:rPr>
              <a:t>폴링</a:t>
            </a:r>
            <a:r>
              <a:rPr sz="1000" dirty="0">
                <a:latin typeface="KoPub돋움체 Medium"/>
              </a:rPr>
              <a:t> </a:t>
            </a:r>
            <a:r>
              <a:rPr sz="1000" dirty="0" err="1">
                <a:latin typeface="KoPub돋움체 Medium"/>
              </a:rPr>
              <a:t>비동기</a:t>
            </a:r>
            <a:r>
              <a:rPr sz="1000" dirty="0">
                <a:latin typeface="KoPub돋움체 Medium"/>
              </a:rPr>
              <a:t> sleep </a:t>
            </a:r>
            <a:r>
              <a:rPr sz="1000" dirty="0" err="1">
                <a:latin typeface="KoPub돋움체 Medium"/>
              </a:rPr>
              <a:t>대기</a:t>
            </a:r>
            <a:endParaRPr sz="1000" dirty="0">
              <a:latin typeface="KoPub돋움체 Medium"/>
            </a:endParaRPr>
          </a:p>
          <a:p>
            <a:pPr>
              <a:lnSpc>
                <a:spcPct val="150000"/>
              </a:lnSpc>
              <a:spcBef>
                <a:spcPts val="300"/>
              </a:spcBef>
              <a:defRPr sz="780">
                <a:solidFill>
                  <a:srgbClr val="0F172A"/>
                </a:solidFill>
                <a:latin typeface="KoPub돋움체 Medium"/>
              </a:defRPr>
            </a:pPr>
            <a:r>
              <a:rPr sz="1000" dirty="0">
                <a:latin typeface="KoPub돋움체 Medium"/>
              </a:rPr>
              <a:t>•  [3. DB </a:t>
            </a:r>
            <a:r>
              <a:rPr sz="1000" dirty="0" err="1">
                <a:latin typeface="KoPub돋움체 Medium"/>
              </a:rPr>
              <a:t>호출</a:t>
            </a:r>
            <a:r>
              <a:rPr sz="1000" dirty="0">
                <a:latin typeface="KoPub돋움체 Medium"/>
              </a:rPr>
              <a:t> </a:t>
            </a:r>
            <a:r>
              <a:rPr sz="1000" dirty="0" err="1">
                <a:latin typeface="KoPub돋움체 Medium"/>
              </a:rPr>
              <a:t>없이</a:t>
            </a:r>
            <a:r>
              <a:rPr sz="1000" dirty="0">
                <a:latin typeface="KoPub돋움체 Medium"/>
              </a:rPr>
              <a:t> </a:t>
            </a:r>
            <a:r>
              <a:rPr sz="1000" dirty="0" err="1">
                <a:latin typeface="KoPub돋움체 Medium"/>
              </a:rPr>
              <a:t>결과</a:t>
            </a:r>
            <a:r>
              <a:rPr sz="1000" dirty="0">
                <a:latin typeface="KoPub돋움체 Medium"/>
              </a:rPr>
              <a:t> </a:t>
            </a:r>
            <a:r>
              <a:rPr sz="1000" dirty="0" err="1">
                <a:latin typeface="KoPub돋움체 Medium"/>
              </a:rPr>
              <a:t>공유</a:t>
            </a:r>
            <a:r>
              <a:rPr sz="1000" dirty="0">
                <a:latin typeface="KoPub돋움체 Medium"/>
              </a:rPr>
              <a:t>] Node-</a:t>
            </a:r>
            <a:r>
              <a:rPr sz="1000" dirty="0" err="1">
                <a:latin typeface="KoPub돋움체 Medium"/>
              </a:rPr>
              <a:t>A가</a:t>
            </a:r>
            <a:r>
              <a:rPr sz="1000" dirty="0">
                <a:latin typeface="KoPub돋움체 Medium"/>
              </a:rPr>
              <a:t> </a:t>
            </a:r>
            <a:r>
              <a:rPr sz="1000" dirty="0" err="1">
                <a:latin typeface="KoPub돋움체 Medium"/>
              </a:rPr>
              <a:t>적재한</a:t>
            </a:r>
            <a:r>
              <a:rPr sz="1000" dirty="0">
                <a:latin typeface="KoPub돋움체 Medium"/>
              </a:rPr>
              <a:t> L2 </a:t>
            </a:r>
            <a:r>
              <a:rPr sz="1000" dirty="0" err="1">
                <a:latin typeface="KoPub돋움체 Medium"/>
              </a:rPr>
              <a:t>캐시</a:t>
            </a:r>
            <a:r>
              <a:rPr sz="1000" dirty="0">
                <a:latin typeface="KoPub돋움체 Medium"/>
              </a:rPr>
              <a:t> </a:t>
            </a:r>
            <a:r>
              <a:rPr sz="1000" dirty="0" err="1">
                <a:latin typeface="KoPub돋움체 Medium"/>
              </a:rPr>
              <a:t>히트</a:t>
            </a:r>
            <a:r>
              <a:rPr sz="1000" dirty="0">
                <a:latin typeface="KoPub돋움체 Medium"/>
              </a:rPr>
              <a:t> </a:t>
            </a:r>
            <a:r>
              <a:rPr sz="1000" dirty="0" err="1">
                <a:latin typeface="KoPub돋움체 Medium"/>
              </a:rPr>
              <a:t>즉시</a:t>
            </a:r>
            <a:r>
              <a:rPr sz="1000" dirty="0">
                <a:latin typeface="KoPub돋움체 Medium"/>
              </a:rPr>
              <a:t> </a:t>
            </a:r>
            <a:r>
              <a:rPr sz="1000" dirty="0" err="1">
                <a:latin typeface="KoPub돋움체 Medium"/>
              </a:rPr>
              <a:t>응답</a:t>
            </a:r>
            <a:endParaRPr sz="1000" dirty="0">
              <a:latin typeface="KoPub돋움체 Medium"/>
            </a:endParaRPr>
          </a:p>
        </p:txBody>
      </p:sp>
      <p:sp>
        <p:nvSpPr>
          <p:cNvPr id="12" name="Rounded Rectangle 11"/>
          <p:cNvSpPr/>
          <p:nvPr/>
        </p:nvSpPr>
        <p:spPr>
          <a:xfrm>
            <a:off x="6611039" y="1350000"/>
            <a:ext cx="2926080" cy="2268000"/>
          </a:xfrm>
          <a:prstGeom prst="roundRect">
            <a:avLst>
              <a:gd name="adj" fmla="val 4348"/>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719039" y="1458000"/>
            <a:ext cx="2710080" cy="306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50" b="1">
                <a:solidFill>
                  <a:srgbClr val="0E306D"/>
                </a:solidFill>
                <a:latin typeface="KoPub돋움체 Bold"/>
              </a:defRPr>
            </a:pPr>
            <a:r>
              <a:rPr sz="1000" dirty="0">
                <a:latin typeface="KoPub돋움체 Bold"/>
              </a:rPr>
              <a:t>Node-C (Follower) : L2 </a:t>
            </a:r>
            <a:r>
              <a:rPr sz="1000" dirty="0" err="1">
                <a:latin typeface="KoPub돋움체 Bold"/>
              </a:rPr>
              <a:t>캐시</a:t>
            </a:r>
            <a:r>
              <a:rPr sz="1000" dirty="0">
                <a:latin typeface="KoPub돋움체 Bold"/>
              </a:rPr>
              <a:t> </a:t>
            </a:r>
            <a:r>
              <a:rPr sz="1000" dirty="0" err="1">
                <a:latin typeface="KoPub돋움체 Bold"/>
              </a:rPr>
              <a:t>대기</a:t>
            </a:r>
            <a:r>
              <a:rPr sz="1000" dirty="0">
                <a:latin typeface="KoPub돋움체 Bold"/>
              </a:rPr>
              <a:t> </a:t>
            </a:r>
            <a:r>
              <a:rPr sz="1000" dirty="0" err="1">
                <a:latin typeface="KoPub돋움체 Bold"/>
              </a:rPr>
              <a:t>폴링</a:t>
            </a:r>
            <a:endParaRPr sz="1000" dirty="0">
              <a:latin typeface="KoPub돋움체 Bold"/>
            </a:endParaRPr>
          </a:p>
        </p:txBody>
      </p:sp>
      <p:sp>
        <p:nvSpPr>
          <p:cNvPr id="14" name="TextBox 13"/>
          <p:cNvSpPr txBox="1"/>
          <p:nvPr/>
        </p:nvSpPr>
        <p:spPr>
          <a:xfrm>
            <a:off x="6755039" y="1818000"/>
            <a:ext cx="2638080" cy="1439177"/>
          </a:xfrm>
          <a:prstGeom prst="rect">
            <a:avLst/>
          </a:prstGeom>
          <a:noFill/>
        </p:spPr>
        <p:txBody>
          <a:bodyPr wrap="square" lIns="0" tIns="0" rIns="0" bIns="0">
            <a:spAutoFit/>
          </a:bodyPr>
          <a:lstStyle/>
          <a:p>
            <a:pPr>
              <a:lnSpc>
                <a:spcPct val="150000"/>
              </a:lnSpc>
              <a:defRPr sz="780">
                <a:solidFill>
                  <a:srgbClr val="0F172A"/>
                </a:solidFill>
                <a:latin typeface="KoPub돋움체 Medium"/>
              </a:defRPr>
            </a:pPr>
            <a:r>
              <a:rPr sz="1000" dirty="0">
                <a:latin typeface="KoPub돋움체 Medium"/>
              </a:rPr>
              <a:t>•  [1. </a:t>
            </a:r>
            <a:r>
              <a:rPr sz="1000" dirty="0" err="1">
                <a:latin typeface="KoPub돋움체 Medium"/>
              </a:rPr>
              <a:t>분산</a:t>
            </a:r>
            <a:r>
              <a:rPr sz="1000" dirty="0">
                <a:latin typeface="KoPub돋움체 Medium"/>
              </a:rPr>
              <a:t> 락 </a:t>
            </a:r>
            <a:r>
              <a:rPr sz="1000" dirty="0" err="1">
                <a:latin typeface="KoPub돋움체 Medium"/>
              </a:rPr>
              <a:t>경합</a:t>
            </a:r>
            <a:r>
              <a:rPr sz="1000" dirty="0">
                <a:latin typeface="KoPub돋움체 Medium"/>
              </a:rPr>
              <a:t> </a:t>
            </a:r>
            <a:r>
              <a:rPr sz="1000" dirty="0" err="1">
                <a:latin typeface="KoPub돋움체 Medium"/>
              </a:rPr>
              <a:t>실패</a:t>
            </a:r>
            <a:r>
              <a:rPr sz="1000" dirty="0">
                <a:latin typeface="KoPub돋움체 Medium"/>
              </a:rPr>
              <a:t>] SET NX </a:t>
            </a:r>
            <a:r>
              <a:rPr sz="1000" dirty="0" err="1">
                <a:latin typeface="KoPub돋움체 Medium"/>
              </a:rPr>
              <a:t>실패</a:t>
            </a:r>
            <a:r>
              <a:rPr sz="1000" dirty="0">
                <a:latin typeface="KoPub돋움체 Medium"/>
              </a:rPr>
              <a:t> → Leader </a:t>
            </a:r>
            <a:r>
              <a:rPr sz="1000" dirty="0" err="1">
                <a:latin typeface="KoPub돋움체 Medium"/>
              </a:rPr>
              <a:t>조회</a:t>
            </a:r>
            <a:r>
              <a:rPr sz="1000" dirty="0">
                <a:latin typeface="KoPub돋움체 Medium"/>
              </a:rPr>
              <a:t> </a:t>
            </a:r>
            <a:r>
              <a:rPr sz="1000" dirty="0" err="1">
                <a:latin typeface="KoPub돋움체 Medium"/>
              </a:rPr>
              <a:t>완료</a:t>
            </a:r>
            <a:r>
              <a:rPr sz="1000" dirty="0">
                <a:latin typeface="KoPub돋움체 Medium"/>
              </a:rPr>
              <a:t> </a:t>
            </a:r>
            <a:r>
              <a:rPr sz="1000" dirty="0" err="1">
                <a:latin typeface="KoPub돋움체 Medium"/>
              </a:rPr>
              <a:t>대기</a:t>
            </a:r>
            <a:endParaRPr sz="1000" dirty="0">
              <a:latin typeface="KoPub돋움체 Medium"/>
            </a:endParaRPr>
          </a:p>
          <a:p>
            <a:pPr>
              <a:lnSpc>
                <a:spcPct val="150000"/>
              </a:lnSpc>
              <a:spcBef>
                <a:spcPts val="300"/>
              </a:spcBef>
              <a:defRPr sz="780">
                <a:solidFill>
                  <a:srgbClr val="0F172A"/>
                </a:solidFill>
                <a:latin typeface="KoPub돋움체 Medium"/>
              </a:defRPr>
            </a:pPr>
            <a:r>
              <a:rPr sz="1000" dirty="0">
                <a:latin typeface="KoPub돋움체 Medium"/>
              </a:rPr>
              <a:t>•  [2. L2 </a:t>
            </a:r>
            <a:r>
              <a:rPr sz="1000" dirty="0" err="1">
                <a:latin typeface="KoPub돋움체 Medium"/>
              </a:rPr>
              <a:t>캐시</a:t>
            </a:r>
            <a:r>
              <a:rPr sz="1000" dirty="0">
                <a:latin typeface="KoPub돋움체 Medium"/>
              </a:rPr>
              <a:t> </a:t>
            </a:r>
            <a:r>
              <a:rPr sz="1000" dirty="0" err="1">
                <a:latin typeface="KoPub돋움체 Medium"/>
              </a:rPr>
              <a:t>대기</a:t>
            </a:r>
            <a:r>
              <a:rPr sz="1000" dirty="0">
                <a:latin typeface="KoPub돋움체 Medium"/>
              </a:rPr>
              <a:t> </a:t>
            </a:r>
            <a:r>
              <a:rPr sz="1000" dirty="0" err="1">
                <a:latin typeface="KoPub돋움체 Medium"/>
              </a:rPr>
              <a:t>폴링</a:t>
            </a:r>
            <a:r>
              <a:rPr sz="1000" dirty="0">
                <a:latin typeface="KoPub돋움체 Medium"/>
              </a:rPr>
              <a:t>] 25ms </a:t>
            </a:r>
            <a:r>
              <a:rPr sz="1000" dirty="0" err="1">
                <a:latin typeface="KoPub돋움체 Medium"/>
              </a:rPr>
              <a:t>주기</a:t>
            </a:r>
            <a:r>
              <a:rPr sz="1000" dirty="0">
                <a:latin typeface="KoPub돋움체 Medium"/>
              </a:rPr>
              <a:t> </a:t>
            </a:r>
            <a:r>
              <a:rPr sz="1000" dirty="0" err="1">
                <a:latin typeface="KoPub돋움체 Medium"/>
              </a:rPr>
              <a:t>비동기</a:t>
            </a:r>
            <a:r>
              <a:rPr sz="1000" dirty="0">
                <a:latin typeface="KoPub돋움체 Medium"/>
              </a:rPr>
              <a:t> </a:t>
            </a:r>
            <a:r>
              <a:rPr sz="1000" dirty="0" err="1">
                <a:latin typeface="KoPub돋움체 Medium"/>
              </a:rPr>
              <a:t>대기</a:t>
            </a:r>
            <a:r>
              <a:rPr sz="1000" dirty="0">
                <a:latin typeface="KoPub돋움체 Medium"/>
              </a:rPr>
              <a:t> (</a:t>
            </a:r>
            <a:r>
              <a:rPr sz="1000" dirty="0" err="1">
                <a:latin typeface="KoPub돋움체 Medium"/>
              </a:rPr>
              <a:t>최대</a:t>
            </a:r>
            <a:r>
              <a:rPr sz="1000" dirty="0">
                <a:latin typeface="KoPub돋움체 Medium"/>
              </a:rPr>
              <a:t> 2.0s </a:t>
            </a:r>
            <a:r>
              <a:rPr sz="1000" dirty="0" err="1">
                <a:latin typeface="KoPub돋움체 Medium"/>
              </a:rPr>
              <a:t>타임아웃</a:t>
            </a:r>
            <a:r>
              <a:rPr sz="1000" dirty="0">
                <a:latin typeface="KoPub돋움체 Medium"/>
              </a:rPr>
              <a:t>)</a:t>
            </a:r>
          </a:p>
          <a:p>
            <a:pPr>
              <a:lnSpc>
                <a:spcPct val="150000"/>
              </a:lnSpc>
              <a:spcBef>
                <a:spcPts val="300"/>
              </a:spcBef>
              <a:defRPr sz="780">
                <a:solidFill>
                  <a:srgbClr val="0F172A"/>
                </a:solidFill>
                <a:latin typeface="KoPub돋움체 Medium"/>
              </a:defRPr>
            </a:pPr>
            <a:r>
              <a:rPr sz="1000" dirty="0">
                <a:latin typeface="KoPub돋움체 Medium"/>
              </a:rPr>
              <a:t>•  [3. DB </a:t>
            </a:r>
            <a:r>
              <a:rPr sz="1000" dirty="0" err="1">
                <a:latin typeface="KoPub돋움체 Medium"/>
              </a:rPr>
              <a:t>호출</a:t>
            </a:r>
            <a:r>
              <a:rPr sz="1000" dirty="0">
                <a:latin typeface="KoPub돋움체 Medium"/>
              </a:rPr>
              <a:t> </a:t>
            </a:r>
            <a:r>
              <a:rPr sz="1000" dirty="0" err="1">
                <a:latin typeface="KoPub돋움체 Medium"/>
              </a:rPr>
              <a:t>없이</a:t>
            </a:r>
            <a:r>
              <a:rPr sz="1000" dirty="0">
                <a:latin typeface="KoPub돋움체 Medium"/>
              </a:rPr>
              <a:t> </a:t>
            </a:r>
            <a:r>
              <a:rPr sz="1000" dirty="0" err="1">
                <a:latin typeface="KoPub돋움체 Medium"/>
              </a:rPr>
              <a:t>결과</a:t>
            </a:r>
            <a:r>
              <a:rPr sz="1000" dirty="0">
                <a:latin typeface="KoPub돋움체 Medium"/>
              </a:rPr>
              <a:t> </a:t>
            </a:r>
            <a:r>
              <a:rPr sz="1000" dirty="0" err="1">
                <a:latin typeface="KoPub돋움체 Medium"/>
              </a:rPr>
              <a:t>공유</a:t>
            </a:r>
            <a:r>
              <a:rPr sz="1000" dirty="0">
                <a:latin typeface="KoPub돋움체 Medium"/>
              </a:rPr>
              <a:t>] L2 </a:t>
            </a:r>
            <a:r>
              <a:rPr sz="1000" dirty="0" err="1">
                <a:latin typeface="KoPub돋움체 Medium"/>
              </a:rPr>
              <a:t>히트</a:t>
            </a:r>
            <a:r>
              <a:rPr sz="1000" dirty="0">
                <a:latin typeface="KoPub돋움체 Medium"/>
              </a:rPr>
              <a:t> </a:t>
            </a:r>
            <a:r>
              <a:rPr sz="1000" dirty="0" err="1">
                <a:latin typeface="KoPub돋움체 Medium"/>
              </a:rPr>
              <a:t>확인</a:t>
            </a:r>
            <a:r>
              <a:rPr sz="1000" dirty="0">
                <a:latin typeface="KoPub돋움체 Medium"/>
              </a:rPr>
              <a:t> → </a:t>
            </a:r>
            <a:r>
              <a:rPr sz="1000" dirty="0" err="1">
                <a:latin typeface="KoPub돋움체 Medium"/>
              </a:rPr>
              <a:t>로컬</a:t>
            </a:r>
            <a:r>
              <a:rPr sz="1000" dirty="0">
                <a:latin typeface="KoPub돋움체 Medium"/>
              </a:rPr>
              <a:t> L1 </a:t>
            </a:r>
            <a:r>
              <a:rPr sz="1000" dirty="0" err="1">
                <a:latin typeface="KoPub돋움체 Medium"/>
              </a:rPr>
              <a:t>적재</a:t>
            </a:r>
            <a:r>
              <a:rPr sz="1000" dirty="0">
                <a:latin typeface="KoPub돋움체 Medium"/>
              </a:rPr>
              <a:t> 후 </a:t>
            </a:r>
            <a:r>
              <a:rPr sz="1000" dirty="0" err="1">
                <a:latin typeface="KoPub돋움체 Medium"/>
              </a:rPr>
              <a:t>클라이언트</a:t>
            </a:r>
            <a:r>
              <a:rPr sz="1000" dirty="0">
                <a:latin typeface="KoPub돋움체 Medium"/>
              </a:rPr>
              <a:t> </a:t>
            </a:r>
            <a:r>
              <a:rPr sz="1000" dirty="0" err="1">
                <a:latin typeface="KoPub돋움체 Medium"/>
              </a:rPr>
              <a:t>응답</a:t>
            </a:r>
            <a:endParaRPr sz="1000" dirty="0">
              <a:latin typeface="KoPub돋움체 Medium"/>
            </a:endParaRPr>
          </a:p>
        </p:txBody>
      </p:sp>
      <p:sp>
        <p:nvSpPr>
          <p:cNvPr id="15" name="Rounded Rectangle 14"/>
          <p:cNvSpPr/>
          <p:nvPr/>
        </p:nvSpPr>
        <p:spPr>
          <a:xfrm>
            <a:off x="356760" y="3726000"/>
            <a:ext cx="4500000" cy="2232000"/>
          </a:xfrm>
          <a:prstGeom prst="roundRect">
            <a:avLst>
              <a:gd name="adj" fmla="val 5287"/>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86000" y="3852000"/>
            <a:ext cx="4240800" cy="288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50" b="1">
                <a:solidFill>
                  <a:srgbClr val="0E306D"/>
                </a:solidFill>
                <a:latin typeface="KoPub돋움체 Bold"/>
              </a:defRPr>
            </a:pPr>
            <a:r>
              <a:rPr sz="1000" dirty="0">
                <a:latin typeface="KoPub돋움체 Bold"/>
              </a:rPr>
              <a:t>p95 </a:t>
            </a:r>
            <a:r>
              <a:rPr sz="1000" dirty="0" err="1">
                <a:latin typeface="KoPub돋움체 Bold"/>
              </a:rPr>
              <a:t>지연시간</a:t>
            </a:r>
            <a:r>
              <a:rPr sz="1000" dirty="0">
                <a:latin typeface="KoPub돋움체 Bold"/>
              </a:rPr>
              <a:t> </a:t>
            </a:r>
            <a:r>
              <a:rPr sz="1000" dirty="0" err="1">
                <a:latin typeface="KoPub돋움체 Bold"/>
              </a:rPr>
              <a:t>비교</a:t>
            </a:r>
            <a:r>
              <a:rPr sz="1000" dirty="0">
                <a:latin typeface="KoPub돋움체 Bold"/>
              </a:rPr>
              <a:t> (1,000건 </a:t>
            </a:r>
            <a:r>
              <a:rPr sz="1000" dirty="0" err="1">
                <a:latin typeface="KoPub돋움체 Bold"/>
              </a:rPr>
              <a:t>동시</a:t>
            </a:r>
            <a:r>
              <a:rPr sz="1000" dirty="0">
                <a:latin typeface="KoPub돋움체 Bold"/>
              </a:rPr>
              <a:t> </a:t>
            </a:r>
            <a:r>
              <a:rPr sz="1000" dirty="0" err="1">
                <a:latin typeface="KoPub돋움체 Bold"/>
              </a:rPr>
              <a:t>폭주</a:t>
            </a:r>
            <a:r>
              <a:rPr sz="1000" dirty="0">
                <a:latin typeface="KoPub돋움체 Bold"/>
              </a:rPr>
              <a:t> </a:t>
            </a:r>
            <a:r>
              <a:rPr sz="1000" dirty="0" err="1">
                <a:latin typeface="KoPub돋움체 Bold"/>
              </a:rPr>
              <a:t>실측</a:t>
            </a:r>
            <a:r>
              <a:rPr sz="1000" dirty="0">
                <a:latin typeface="KoPub돋움체 Bold"/>
              </a:rPr>
              <a:t>)</a:t>
            </a:r>
          </a:p>
        </p:txBody>
      </p:sp>
      <p:sp>
        <p:nvSpPr>
          <p:cNvPr id="17" name="Rounded Rectangle 16"/>
          <p:cNvSpPr/>
          <p:nvPr/>
        </p:nvSpPr>
        <p:spPr>
          <a:xfrm>
            <a:off x="504000" y="4230000"/>
            <a:ext cx="2016000" cy="864000"/>
          </a:xfrm>
          <a:prstGeom prst="roundRect">
            <a:avLst/>
          </a:prstGeom>
          <a:solidFill>
            <a:srgbClr val="FEF2F2"/>
          </a:solidFill>
          <a:ln>
            <a:solidFill>
              <a:srgbClr val="FECDD3"/>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B91C1C"/>
                </a:solidFill>
                <a:latin typeface="KoPub돋움체 Bold"/>
              </a:defRPr>
            </a:pPr>
            <a:r>
              <a:rPr dirty="0">
                <a:latin typeface="KoPub돋움체 Bold"/>
              </a:rPr>
              <a:t>Single-Flight OFF</a:t>
            </a:r>
          </a:p>
          <a:p>
            <a:pPr algn="ctr">
              <a:defRPr sz="1600" b="1">
                <a:solidFill>
                  <a:srgbClr val="B91C1C"/>
                </a:solidFill>
                <a:latin typeface="KoPub돋움체 Bold"/>
              </a:defRPr>
            </a:pPr>
            <a:r>
              <a:rPr dirty="0">
                <a:latin typeface="KoPub돋움체 Bold"/>
              </a:rPr>
              <a:t>4,065.1 </a:t>
            </a:r>
            <a:r>
              <a:rPr dirty="0" err="1">
                <a:latin typeface="KoPub돋움체 Bold"/>
              </a:rPr>
              <a:t>ms</a:t>
            </a:r>
            <a:endParaRPr dirty="0">
              <a:latin typeface="KoPub돋움체 Bold"/>
            </a:endParaRPr>
          </a:p>
          <a:p>
            <a:pPr algn="ctr">
              <a:defRPr sz="750">
                <a:solidFill>
                  <a:srgbClr val="6B7280"/>
                </a:solidFill>
                <a:latin typeface="KoPub돋움체 Medium"/>
              </a:defRPr>
            </a:pPr>
            <a:r>
              <a:rPr dirty="0">
                <a:latin typeface="KoPub돋움체 Medium"/>
              </a:rPr>
              <a:t>DB </a:t>
            </a:r>
            <a:r>
              <a:rPr dirty="0" err="1">
                <a:latin typeface="KoPub돋움체 Medium"/>
              </a:rPr>
              <a:t>세마포어</a:t>
            </a:r>
            <a:r>
              <a:rPr dirty="0">
                <a:latin typeface="KoPub돋움체 Medium"/>
              </a:rPr>
              <a:t> </a:t>
            </a:r>
            <a:r>
              <a:rPr dirty="0" err="1">
                <a:latin typeface="KoPub돋움체 Medium"/>
              </a:rPr>
              <a:t>고갈</a:t>
            </a:r>
            <a:r>
              <a:rPr dirty="0">
                <a:latin typeface="KoPub돋움체 Medium"/>
              </a:rPr>
              <a:t> (</a:t>
            </a:r>
            <a:r>
              <a:rPr dirty="0" err="1">
                <a:latin typeface="KoPub돋움체 Medium"/>
              </a:rPr>
              <a:t>타임아웃</a:t>
            </a:r>
            <a:r>
              <a:rPr dirty="0">
                <a:latin typeface="KoPub돋움체 Medium"/>
              </a:rPr>
              <a:t>)</a:t>
            </a:r>
          </a:p>
        </p:txBody>
      </p:sp>
      <p:sp>
        <p:nvSpPr>
          <p:cNvPr id="18" name="Rounded Rectangle 17"/>
          <p:cNvSpPr/>
          <p:nvPr/>
        </p:nvSpPr>
        <p:spPr>
          <a:xfrm>
            <a:off x="2664000" y="4230000"/>
            <a:ext cx="2016000" cy="864000"/>
          </a:xfrm>
          <a:prstGeom prst="roundRect">
            <a:avLst/>
          </a:prstGeom>
          <a:solidFill>
            <a:srgbClr val="E3F3F2"/>
          </a:solidFill>
          <a:ln>
            <a:solidFill>
              <a:srgbClr val="A7F3D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009A93"/>
                </a:solidFill>
                <a:latin typeface="KoPub돋움체 Bold"/>
              </a:defRPr>
            </a:pPr>
            <a:r>
              <a:rPr>
                <a:latin typeface="KoPub돋움체 Bold"/>
              </a:rPr>
              <a:t>Single-Flight ON</a:t>
            </a:r>
          </a:p>
          <a:p>
            <a:pPr algn="ctr">
              <a:defRPr sz="1600" b="1">
                <a:solidFill>
                  <a:srgbClr val="009A93"/>
                </a:solidFill>
                <a:latin typeface="KoPub돋움체 Bold"/>
              </a:defRPr>
            </a:pPr>
            <a:r>
              <a:rPr>
                <a:latin typeface="KoPub돋움체 Bold"/>
              </a:rPr>
              <a:t>27.3 ms</a:t>
            </a:r>
          </a:p>
          <a:p>
            <a:pPr algn="ctr">
              <a:defRPr sz="750">
                <a:solidFill>
                  <a:srgbClr val="0E306D"/>
                </a:solidFill>
                <a:latin typeface="KoPub돋움체 Bold"/>
              </a:defRPr>
            </a:pPr>
            <a:r>
              <a:rPr>
                <a:latin typeface="KoPub돋움체 Bold"/>
              </a:rPr>
              <a:t>클러스터 1건 병합 (148.9배 가속)</a:t>
            </a:r>
          </a:p>
        </p:txBody>
      </p:sp>
      <p:sp>
        <p:nvSpPr>
          <p:cNvPr id="19" name="TextBox 18"/>
          <p:cNvSpPr txBox="1"/>
          <p:nvPr/>
        </p:nvSpPr>
        <p:spPr>
          <a:xfrm>
            <a:off x="504000" y="5166000"/>
            <a:ext cx="4176000" cy="438903"/>
          </a:xfrm>
          <a:prstGeom prst="rect">
            <a:avLst/>
          </a:prstGeom>
          <a:noFill/>
        </p:spPr>
        <p:txBody>
          <a:bodyPr wrap="square" lIns="0" tIns="0" rIns="0" bIns="0">
            <a:spAutoFit/>
          </a:bodyPr>
          <a:lstStyle/>
          <a:p>
            <a:pPr>
              <a:lnSpc>
                <a:spcPct val="150000"/>
              </a:lnSpc>
              <a:defRPr sz="800">
                <a:solidFill>
                  <a:srgbClr val="0F172A"/>
                </a:solidFill>
                <a:latin typeface="KoPub돋움체 Medium"/>
              </a:defRPr>
            </a:pPr>
            <a:r>
              <a:rPr dirty="0">
                <a:latin typeface="KoPub돋움체 Medium"/>
              </a:rPr>
              <a:t>• </a:t>
            </a:r>
            <a:r>
              <a:rPr sz="1000" dirty="0" err="1">
                <a:latin typeface="KoPub돋움체 Medium"/>
              </a:rPr>
              <a:t>클러스터</a:t>
            </a:r>
            <a:r>
              <a:rPr sz="1000" dirty="0">
                <a:latin typeface="KoPub돋움체 Medium"/>
              </a:rPr>
              <a:t> </a:t>
            </a:r>
            <a:r>
              <a:rPr sz="1000" dirty="0" err="1">
                <a:latin typeface="KoPub돋움체 Medium"/>
              </a:rPr>
              <a:t>전역</a:t>
            </a:r>
            <a:r>
              <a:rPr sz="1000" dirty="0">
                <a:latin typeface="KoPub돋움체 Medium"/>
              </a:rPr>
              <a:t> </a:t>
            </a:r>
            <a:r>
              <a:rPr sz="1000" dirty="0" err="1">
                <a:latin typeface="KoPub돋움체 Medium"/>
              </a:rPr>
              <a:t>분산</a:t>
            </a:r>
            <a:r>
              <a:rPr sz="1000" dirty="0">
                <a:latin typeface="KoPub돋움체 Medium"/>
              </a:rPr>
              <a:t> </a:t>
            </a:r>
            <a:r>
              <a:rPr sz="1000" dirty="0" err="1">
                <a:latin typeface="KoPub돋움체 Medium"/>
              </a:rPr>
              <a:t>락으로</a:t>
            </a:r>
            <a:r>
              <a:rPr sz="1000" dirty="0">
                <a:latin typeface="KoPub돋움체 Medium"/>
              </a:rPr>
              <a:t> 3개 </a:t>
            </a:r>
            <a:r>
              <a:rPr sz="1000" dirty="0" err="1">
                <a:latin typeface="KoPub돋움체 Medium"/>
              </a:rPr>
              <a:t>노드</a:t>
            </a:r>
            <a:r>
              <a:rPr sz="1000" dirty="0">
                <a:latin typeface="KoPub돋움체 Medium"/>
              </a:rPr>
              <a:t> </a:t>
            </a:r>
            <a:r>
              <a:rPr sz="1000" dirty="0" err="1">
                <a:latin typeface="KoPub돋움체 Medium"/>
              </a:rPr>
              <a:t>쿼리가</a:t>
            </a:r>
            <a:r>
              <a:rPr sz="1000" dirty="0">
                <a:latin typeface="KoPub돋움체 Medium"/>
              </a:rPr>
              <a:t> 단 1회(66.7% </a:t>
            </a:r>
            <a:r>
              <a:rPr sz="1000" dirty="0" err="1">
                <a:latin typeface="KoPub돋움체 Medium"/>
              </a:rPr>
              <a:t>절감</a:t>
            </a:r>
            <a:r>
              <a:rPr sz="1000" dirty="0">
                <a:latin typeface="KoPub돋움체 Medium"/>
              </a:rPr>
              <a:t>)로 </a:t>
            </a:r>
            <a:r>
              <a:rPr sz="1000" dirty="0" err="1">
                <a:latin typeface="KoPub돋움체 Medium"/>
              </a:rPr>
              <a:t>병합</a:t>
            </a:r>
            <a:br>
              <a:rPr sz="1000" dirty="0"/>
            </a:br>
            <a:r>
              <a:rPr sz="1000" dirty="0">
                <a:latin typeface="KoPub돋움체 Medium"/>
              </a:rPr>
              <a:t>• Leader </a:t>
            </a:r>
            <a:r>
              <a:rPr sz="1000" dirty="0" err="1">
                <a:latin typeface="KoPub돋움체 Medium"/>
              </a:rPr>
              <a:t>장애</a:t>
            </a:r>
            <a:r>
              <a:rPr sz="1000" dirty="0">
                <a:latin typeface="KoPub돋움체 Medium"/>
              </a:rPr>
              <a:t> 시 락 TTL(3.0s) 및 </a:t>
            </a:r>
            <a:r>
              <a:rPr sz="1000" dirty="0" err="1">
                <a:latin typeface="KoPub돋움체 Medium"/>
              </a:rPr>
              <a:t>타임아웃</a:t>
            </a:r>
            <a:r>
              <a:rPr sz="1000" dirty="0">
                <a:latin typeface="KoPub돋움체 Medium"/>
              </a:rPr>
              <a:t>(2.0s) 후 </a:t>
            </a:r>
            <a:r>
              <a:rPr sz="1000" dirty="0" err="1">
                <a:latin typeface="KoPub돋움체 Medium"/>
              </a:rPr>
              <a:t>안전</a:t>
            </a:r>
            <a:r>
              <a:rPr sz="1000" dirty="0">
                <a:latin typeface="KoPub돋움체 Medium"/>
              </a:rPr>
              <a:t> </a:t>
            </a:r>
            <a:r>
              <a:rPr sz="1000" dirty="0" err="1">
                <a:latin typeface="KoPub돋움체 Medium"/>
              </a:rPr>
              <a:t>인계</a:t>
            </a:r>
            <a:endParaRPr sz="1000" dirty="0">
              <a:latin typeface="KoPub돋움체 Medium"/>
            </a:endParaRPr>
          </a:p>
        </p:txBody>
      </p:sp>
      <p:sp>
        <p:nvSpPr>
          <p:cNvPr id="20" name="Rounded Rectangle 19"/>
          <p:cNvSpPr/>
          <p:nvPr/>
        </p:nvSpPr>
        <p:spPr>
          <a:xfrm>
            <a:off x="5055480" y="3726000"/>
            <a:ext cx="4500000" cy="2232000"/>
          </a:xfrm>
          <a:prstGeom prst="roundRect">
            <a:avLst>
              <a:gd name="adj" fmla="val 4149"/>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184000" y="3852000"/>
            <a:ext cx="4240800" cy="288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50" b="1">
                <a:solidFill>
                  <a:srgbClr val="0E306D"/>
                </a:solidFill>
                <a:latin typeface="KoPub돋움체 Bold"/>
              </a:defRPr>
            </a:pPr>
            <a:r>
              <a:rPr sz="1000" dirty="0" err="1">
                <a:latin typeface="KoPub돋움체 Bold"/>
              </a:rPr>
              <a:t>클러스터</a:t>
            </a:r>
            <a:r>
              <a:rPr sz="1000" dirty="0">
                <a:latin typeface="KoPub돋움체 Bold"/>
              </a:rPr>
              <a:t> </a:t>
            </a:r>
            <a:r>
              <a:rPr sz="1000" dirty="0" err="1">
                <a:latin typeface="KoPub돋움체 Bold"/>
              </a:rPr>
              <a:t>분산</a:t>
            </a:r>
            <a:r>
              <a:rPr sz="1000" dirty="0">
                <a:latin typeface="KoPub돋움체 Bold"/>
              </a:rPr>
              <a:t> 락 </a:t>
            </a:r>
            <a:r>
              <a:rPr sz="1000" dirty="0" err="1">
                <a:latin typeface="KoPub돋움체 Bold"/>
              </a:rPr>
              <a:t>성과</a:t>
            </a:r>
            <a:r>
              <a:rPr sz="1000" dirty="0">
                <a:latin typeface="KoPub돋움체 Bold"/>
              </a:rPr>
              <a:t> &amp; </a:t>
            </a:r>
            <a:r>
              <a:rPr sz="1000" dirty="0" err="1">
                <a:latin typeface="KoPub돋움체 Bold"/>
              </a:rPr>
              <a:t>가속</a:t>
            </a:r>
            <a:r>
              <a:rPr sz="1000" dirty="0">
                <a:latin typeface="KoPub돋움체 Bold"/>
              </a:rPr>
              <a:t> </a:t>
            </a:r>
            <a:r>
              <a:rPr sz="1000" dirty="0" err="1">
                <a:latin typeface="KoPub돋움체 Bold"/>
              </a:rPr>
              <a:t>지표</a:t>
            </a:r>
            <a:endParaRPr sz="1000" dirty="0">
              <a:latin typeface="KoPub돋움체 Bold"/>
            </a:endParaRPr>
          </a:p>
        </p:txBody>
      </p:sp>
      <p:sp>
        <p:nvSpPr>
          <p:cNvPr id="22" name="TextBox 21"/>
          <p:cNvSpPr txBox="1"/>
          <p:nvPr/>
        </p:nvSpPr>
        <p:spPr>
          <a:xfrm>
            <a:off x="5184000" y="4230000"/>
            <a:ext cx="4240800" cy="1185261"/>
          </a:xfrm>
          <a:prstGeom prst="rect">
            <a:avLst/>
          </a:prstGeom>
          <a:noFill/>
        </p:spPr>
        <p:txBody>
          <a:bodyPr wrap="square" lIns="0" tIns="0" rIns="0" bIns="0">
            <a:spAutoFit/>
          </a:bodyPr>
          <a:lstStyle/>
          <a:p>
            <a:pPr>
              <a:defRPr sz="1600" b="1">
                <a:solidFill>
                  <a:srgbClr val="009A93"/>
                </a:solidFill>
                <a:latin typeface="KoPub돋움체 Bold"/>
              </a:defRPr>
            </a:pPr>
            <a:r>
              <a:rPr dirty="0" err="1">
                <a:latin typeface="KoPub돋움체 Bold"/>
              </a:rPr>
              <a:t>지연시간</a:t>
            </a:r>
            <a:r>
              <a:rPr dirty="0">
                <a:latin typeface="KoPub돋움체 Bold"/>
              </a:rPr>
              <a:t> 99.3% </a:t>
            </a:r>
            <a:r>
              <a:rPr dirty="0" err="1">
                <a:latin typeface="KoPub돋움체 Bold"/>
              </a:rPr>
              <a:t>단축</a:t>
            </a:r>
            <a:r>
              <a:rPr dirty="0">
                <a:latin typeface="KoPub돋움체 Bold"/>
              </a:rPr>
              <a:t> (148.9배 </a:t>
            </a:r>
            <a:r>
              <a:rPr dirty="0" err="1">
                <a:latin typeface="KoPub돋움체 Bold"/>
              </a:rPr>
              <a:t>가속</a:t>
            </a:r>
            <a:r>
              <a:rPr dirty="0">
                <a:latin typeface="KoPub돋움체 Bold"/>
              </a:rPr>
              <a:t>)</a:t>
            </a:r>
          </a:p>
          <a:p>
            <a:pPr>
              <a:lnSpc>
                <a:spcPct val="150000"/>
              </a:lnSpc>
              <a:spcBef>
                <a:spcPts val="300"/>
              </a:spcBef>
              <a:defRPr sz="850">
                <a:solidFill>
                  <a:srgbClr val="0F172A"/>
                </a:solidFill>
                <a:latin typeface="KoPub돋움체 Medium"/>
              </a:defRPr>
            </a:pPr>
            <a:r>
              <a:rPr sz="1000" dirty="0">
                <a:latin typeface="KoPub돋움체 Medium"/>
              </a:rPr>
              <a:t>• p50 </a:t>
            </a:r>
            <a:r>
              <a:rPr sz="1000" dirty="0" err="1">
                <a:latin typeface="KoPub돋움체 Medium"/>
              </a:rPr>
              <a:t>지연시간</a:t>
            </a:r>
            <a:r>
              <a:rPr sz="1000" dirty="0">
                <a:latin typeface="KoPub돋움체 Medium"/>
              </a:rPr>
              <a:t>: 2,040.5 </a:t>
            </a:r>
            <a:r>
              <a:rPr sz="1000" dirty="0" err="1">
                <a:latin typeface="KoPub돋움체 Medium"/>
              </a:rPr>
              <a:t>ms</a:t>
            </a:r>
            <a:r>
              <a:rPr sz="1000" dirty="0">
                <a:latin typeface="KoPub돋움체 Medium"/>
              </a:rPr>
              <a:t> → 20.8 </a:t>
            </a:r>
            <a:r>
              <a:rPr sz="1000" dirty="0" err="1">
                <a:latin typeface="KoPub돋움체 Medium"/>
              </a:rPr>
              <a:t>ms</a:t>
            </a:r>
            <a:r>
              <a:rPr sz="1000" dirty="0">
                <a:latin typeface="KoPub돋움체 Medium"/>
              </a:rPr>
              <a:t> (99.0% </a:t>
            </a:r>
            <a:r>
              <a:rPr sz="1000" dirty="0" err="1">
                <a:latin typeface="KoPub돋움체 Medium"/>
              </a:rPr>
              <a:t>단축</a:t>
            </a:r>
            <a:r>
              <a:rPr sz="1000" dirty="0">
                <a:latin typeface="KoPub돋움체 Medium"/>
              </a:rPr>
              <a:t>)</a:t>
            </a:r>
            <a:br>
              <a:rPr sz="1000" dirty="0"/>
            </a:br>
            <a:r>
              <a:rPr sz="1000" dirty="0">
                <a:latin typeface="KoPub돋움체 Medium"/>
              </a:rPr>
              <a:t>• p95 </a:t>
            </a:r>
            <a:r>
              <a:rPr sz="1000" dirty="0" err="1">
                <a:latin typeface="KoPub돋움체 Medium"/>
              </a:rPr>
              <a:t>지연시간</a:t>
            </a:r>
            <a:r>
              <a:rPr sz="1000" dirty="0">
                <a:latin typeface="KoPub돋움체 Medium"/>
              </a:rPr>
              <a:t>: 4,065.1 </a:t>
            </a:r>
            <a:r>
              <a:rPr sz="1000" dirty="0" err="1">
                <a:latin typeface="KoPub돋움체 Medium"/>
              </a:rPr>
              <a:t>ms</a:t>
            </a:r>
            <a:r>
              <a:rPr sz="1000" dirty="0">
                <a:latin typeface="KoPub돋움체 Medium"/>
              </a:rPr>
              <a:t> → 27.3 </a:t>
            </a:r>
            <a:r>
              <a:rPr sz="1000" dirty="0" err="1">
                <a:latin typeface="KoPub돋움체 Medium"/>
              </a:rPr>
              <a:t>ms</a:t>
            </a:r>
            <a:r>
              <a:rPr sz="1000" dirty="0">
                <a:latin typeface="KoPub돋움체 Medium"/>
              </a:rPr>
              <a:t> (148.9배 </a:t>
            </a:r>
            <a:r>
              <a:rPr sz="1000" dirty="0" err="1">
                <a:latin typeface="KoPub돋움체 Medium"/>
              </a:rPr>
              <a:t>가속</a:t>
            </a:r>
            <a:r>
              <a:rPr sz="1000" dirty="0">
                <a:latin typeface="KoPub돋움체 Medium"/>
              </a:rPr>
              <a:t>)</a:t>
            </a:r>
            <a:br>
              <a:rPr sz="1000" dirty="0"/>
            </a:br>
            <a:r>
              <a:rPr sz="1000" dirty="0">
                <a:latin typeface="KoPub돋움체 Medium"/>
              </a:rPr>
              <a:t>• </a:t>
            </a:r>
            <a:r>
              <a:rPr sz="1000" dirty="0" err="1">
                <a:latin typeface="KoPub돋움체 Medium"/>
              </a:rPr>
              <a:t>실제</a:t>
            </a:r>
            <a:r>
              <a:rPr sz="1000" dirty="0">
                <a:latin typeface="KoPub돋움체 Medium"/>
              </a:rPr>
              <a:t> DB </a:t>
            </a:r>
            <a:r>
              <a:rPr sz="1000" dirty="0" err="1">
                <a:latin typeface="KoPub돋움체 Medium"/>
              </a:rPr>
              <a:t>쿼리</a:t>
            </a:r>
            <a:r>
              <a:rPr sz="1000" dirty="0">
                <a:latin typeface="KoPub돋움체 Medium"/>
              </a:rPr>
              <a:t> 수: 1,000회 → 단 1회 </a:t>
            </a:r>
            <a:r>
              <a:rPr sz="1000" dirty="0" err="1">
                <a:latin typeface="KoPub돋움체 Medium"/>
              </a:rPr>
              <a:t>실행</a:t>
            </a:r>
            <a:r>
              <a:rPr sz="1000" dirty="0">
                <a:latin typeface="KoPub돋움체 Medium"/>
              </a:rPr>
              <a:t> (99.9% </a:t>
            </a:r>
            <a:r>
              <a:rPr sz="1000" dirty="0" err="1">
                <a:latin typeface="KoPub돋움체 Medium"/>
              </a:rPr>
              <a:t>부하</a:t>
            </a:r>
            <a:r>
              <a:rPr sz="1000" dirty="0">
                <a:latin typeface="KoPub돋움체 Medium"/>
              </a:rPr>
              <a:t> </a:t>
            </a:r>
            <a:r>
              <a:rPr sz="1000" dirty="0" err="1">
                <a:latin typeface="KoPub돋움체 Medium"/>
              </a:rPr>
              <a:t>절감</a:t>
            </a:r>
            <a:r>
              <a:rPr sz="1000" dirty="0">
                <a:latin typeface="KoPub돋움체 Medium"/>
              </a:rPr>
              <a:t>)</a:t>
            </a:r>
            <a:br>
              <a:rPr sz="1000" dirty="0"/>
            </a:br>
            <a:r>
              <a:rPr sz="1000" dirty="0">
                <a:latin typeface="KoPub돋움체 Medium"/>
              </a:rPr>
              <a:t>• </a:t>
            </a:r>
            <a:r>
              <a:rPr sz="1000" dirty="0" err="1">
                <a:latin typeface="KoPub돋움체 Medium"/>
              </a:rPr>
              <a:t>클러스터</a:t>
            </a:r>
            <a:r>
              <a:rPr sz="1000" dirty="0">
                <a:latin typeface="KoPub돋움체 Medium"/>
              </a:rPr>
              <a:t> </a:t>
            </a:r>
            <a:r>
              <a:rPr sz="1000" dirty="0" err="1">
                <a:latin typeface="KoPub돋움체 Medium"/>
              </a:rPr>
              <a:t>전역</a:t>
            </a:r>
            <a:r>
              <a:rPr sz="1000" dirty="0">
                <a:latin typeface="KoPub돋움체 Medium"/>
              </a:rPr>
              <a:t> </a:t>
            </a:r>
            <a:r>
              <a:rPr sz="1000" dirty="0" err="1">
                <a:latin typeface="KoPub돋움체 Medium"/>
              </a:rPr>
              <a:t>불변식</a:t>
            </a:r>
            <a:r>
              <a:rPr sz="1000" dirty="0">
                <a:latin typeface="KoPub돋움체 Medium"/>
              </a:rPr>
              <a:t>: 1,000건 </a:t>
            </a:r>
            <a:r>
              <a:rPr sz="1000" dirty="0" err="1">
                <a:latin typeface="KoPub돋움체 Medium"/>
              </a:rPr>
              <a:t>전원</a:t>
            </a:r>
            <a:r>
              <a:rPr sz="1000" dirty="0">
                <a:latin typeface="KoPub돋움체 Medium"/>
              </a:rPr>
              <a:t> </a:t>
            </a:r>
            <a:r>
              <a:rPr sz="1000" dirty="0" err="1">
                <a:latin typeface="KoPub돋움체 Medium"/>
              </a:rPr>
              <a:t>누락</a:t>
            </a:r>
            <a:r>
              <a:rPr sz="1000" dirty="0">
                <a:latin typeface="KoPub돋움체 Medium"/>
              </a:rPr>
              <a:t> 0건으로 </a:t>
            </a:r>
            <a:r>
              <a:rPr sz="1000" dirty="0" err="1">
                <a:latin typeface="KoPub돋움체 Medium"/>
              </a:rPr>
              <a:t>병합</a:t>
            </a:r>
            <a:r>
              <a:rPr sz="1000" dirty="0">
                <a:latin typeface="KoPub돋움체 Medium"/>
              </a:rPr>
              <a:t> </a:t>
            </a:r>
            <a:r>
              <a:rPr sz="1000" dirty="0" err="1">
                <a:latin typeface="KoPub돋움체 Medium"/>
              </a:rPr>
              <a:t>완결</a:t>
            </a:r>
            <a:endParaRPr sz="1000" dirty="0">
              <a:latin typeface="KoPub돋움체 Medium"/>
            </a:endParaRPr>
          </a:p>
        </p:txBody>
      </p:sp>
      <p:sp>
        <p:nvSpPr>
          <p:cNvPr id="23" name="Rounded Rectangle 22"/>
          <p:cNvSpPr/>
          <p:nvPr/>
        </p:nvSpPr>
        <p:spPr>
          <a:xfrm>
            <a:off x="356760" y="6048000"/>
            <a:ext cx="9198720" cy="342000"/>
          </a:xfrm>
          <a:prstGeom prst="roundRect">
            <a:avLst/>
          </a:prstGeom>
          <a:solidFill>
            <a:srgbClr val="F1F1F1"/>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253543" y="6142056"/>
            <a:ext cx="5398914" cy="153888"/>
          </a:xfrm>
          <a:prstGeom prst="rect">
            <a:avLst/>
          </a:prstGeom>
          <a:noFill/>
        </p:spPr>
        <p:txBody>
          <a:bodyPr wrap="none" lIns="0" tIns="0" rIns="0" bIns="0" anchor="ctr">
            <a:spAutoFit/>
          </a:bodyPr>
          <a:lstStyle/>
          <a:p>
            <a:pPr>
              <a:defRPr sz="900" b="1">
                <a:solidFill>
                  <a:srgbClr val="0F172A"/>
                </a:solidFill>
                <a:latin typeface="KoPub돋움체 Bold"/>
              </a:defRPr>
            </a:pPr>
            <a:r>
              <a:rPr sz="1000" dirty="0" err="1">
                <a:latin typeface="KoPub돋움체 Bold"/>
              </a:rPr>
              <a:t>db_fallbacks</a:t>
            </a:r>
            <a:r>
              <a:rPr sz="1000" dirty="0">
                <a:latin typeface="KoPub돋움체 Bold"/>
              </a:rPr>
              <a:t> (1,000) == </a:t>
            </a:r>
            <a:r>
              <a:rPr sz="1000" dirty="0" err="1">
                <a:latin typeface="KoPub돋움체 Bold"/>
              </a:rPr>
              <a:t>db_queries</a:t>
            </a:r>
            <a:r>
              <a:rPr sz="1000" dirty="0">
                <a:latin typeface="KoPub돋움체 Bold"/>
              </a:rPr>
              <a:t> (1) + coalesced (999) (</a:t>
            </a:r>
            <a:r>
              <a:rPr sz="1000" dirty="0" err="1">
                <a:latin typeface="KoPub돋움체 Bold"/>
              </a:rPr>
              <a:t>클러스터</a:t>
            </a:r>
            <a:r>
              <a:rPr sz="1000" dirty="0">
                <a:latin typeface="KoPub돋움체 Bold"/>
              </a:rPr>
              <a:t> 1,000건 중 단 1건만 DB </a:t>
            </a:r>
            <a:r>
              <a:rPr sz="1000" dirty="0" err="1">
                <a:latin typeface="KoPub돋움체 Bold"/>
              </a:rPr>
              <a:t>진입</a:t>
            </a:r>
            <a:r>
              <a:rPr sz="1000" dirty="0">
                <a:latin typeface="KoPub돋움체 Bold"/>
              </a:rPr>
              <a:t>)</a:t>
            </a:r>
          </a:p>
        </p:txBody>
      </p:sp>
      <p:sp>
        <p:nvSpPr>
          <p:cNvPr id="26" name="TextBox 25"/>
          <p:cNvSpPr txBox="1"/>
          <p:nvPr/>
        </p:nvSpPr>
        <p:spPr>
          <a:xfrm>
            <a:off x="8723520" y="6537960"/>
            <a:ext cx="831960" cy="246960"/>
          </a:xfrm>
          <a:prstGeom prst="rect">
            <a:avLst/>
          </a:prstGeom>
          <a:noFill/>
        </p:spPr>
        <p:txBody>
          <a:bodyPr wrap="none" lIns="0" tIns="0" rIns="0" bIns="0">
            <a:spAutoFit/>
          </a:bodyPr>
          <a:lstStyle/>
          <a:p>
            <a:pPr algn="r">
              <a:defRPr sz="1000" b="1">
                <a:solidFill>
                  <a:srgbClr val="6B7280"/>
                </a:solidFill>
                <a:latin typeface="KoPub돋움체 Bold"/>
              </a:defRPr>
            </a:pPr>
            <a:r>
              <a:rPr>
                <a:latin typeface="KoPub돋움체 Bold"/>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9FAFD"/>
        </a:solidFill>
        <a:effectLst/>
      </p:bgPr>
    </p:bg>
    <p:spTree>
      <p:nvGrpSpPr>
        <p:cNvPr id="1" name=""/>
        <p:cNvGrpSpPr/>
        <p:nvPr/>
      </p:nvGrpSpPr>
      <p:grpSpPr>
        <a:xfrm>
          <a:off x="0" y="0"/>
          <a:ext cx="0" cy="0"/>
          <a:chOff x="0" y="0"/>
          <a:chExt cx="0" cy="0"/>
        </a:xfrm>
      </p:grpSpPr>
      <p:sp>
        <p:nvSpPr>
          <p:cNvPr id="2" name="Rounded Rectangle 1"/>
          <p:cNvSpPr/>
          <p:nvPr/>
        </p:nvSpPr>
        <p:spPr>
          <a:xfrm>
            <a:off x="356760" y="292680"/>
            <a:ext cx="9198720" cy="493920"/>
          </a:xfrm>
          <a:prstGeom prst="roundRect">
            <a:avLst/>
          </a:prstGeom>
          <a:solidFill>
            <a:srgbClr val="0E306D"/>
          </a:solidFill>
          <a:ln w="12700">
            <a:solidFill>
              <a:srgbClr val="0E30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80"/>
            <a:ext cx="8778240" cy="493920"/>
          </a:xfrm>
          <a:prstGeom prst="rect">
            <a:avLst/>
          </a:prstGeom>
          <a:noFill/>
        </p:spPr>
        <p:txBody>
          <a:bodyPr wrap="square" lIns="0" tIns="0" rIns="0" bIns="0" anchor="ctr">
            <a:spAutoFit/>
          </a:bodyPr>
          <a:lstStyle/>
          <a:p>
            <a:pPr>
              <a:defRPr sz="2000" b="1">
                <a:solidFill>
                  <a:srgbClr val="FFFFFF"/>
                </a:solidFill>
                <a:latin typeface="KoPub돋움체 Bold"/>
              </a:defRPr>
            </a:pPr>
            <a:r>
              <a:rPr>
                <a:latin typeface="KoPub돋움체 Bold"/>
              </a:rPr>
              <a:t>03. O(1) 유량 제어와 Nonce 원자적 소각 (Admission Control)</a:t>
            </a:r>
          </a:p>
        </p:txBody>
      </p:sp>
      <p:sp>
        <p:nvSpPr>
          <p:cNvPr id="4" name="Rounded Rectangle 3"/>
          <p:cNvSpPr/>
          <p:nvPr/>
        </p:nvSpPr>
        <p:spPr>
          <a:xfrm>
            <a:off x="356760" y="914400"/>
            <a:ext cx="9198720" cy="347400"/>
          </a:xfrm>
          <a:prstGeom prst="roundRect">
            <a:avLst/>
          </a:prstGeom>
          <a:solidFill>
            <a:srgbClr val="F1F1F1"/>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011156"/>
            <a:ext cx="9052560" cy="153888"/>
          </a:xfrm>
          <a:prstGeom prst="rect">
            <a:avLst/>
          </a:prstGeom>
          <a:noFill/>
        </p:spPr>
        <p:txBody>
          <a:bodyPr wrap="square" lIns="0" tIns="0" rIns="0" bIns="0" anchor="ctr">
            <a:spAutoFit/>
          </a:bodyPr>
          <a:lstStyle/>
          <a:p>
            <a:pPr>
              <a:defRPr sz="1050" b="1">
                <a:solidFill>
                  <a:srgbClr val="0E306D"/>
                </a:solidFill>
                <a:latin typeface="KoPub돋움체 Bold"/>
              </a:defRPr>
            </a:pPr>
            <a:r>
              <a:rPr sz="1000" dirty="0">
                <a:latin typeface="KoPub돋움체 Bold"/>
              </a:rPr>
              <a:t>Check-Before-</a:t>
            </a:r>
            <a:r>
              <a:rPr sz="1000" dirty="0" err="1">
                <a:latin typeface="KoPub돋움체 Bold"/>
              </a:rPr>
              <a:t>Increment로</a:t>
            </a:r>
            <a:r>
              <a:rPr sz="1000" dirty="0">
                <a:latin typeface="KoPub돋움체 Bold"/>
              </a:rPr>
              <a:t> </a:t>
            </a:r>
            <a:r>
              <a:rPr sz="1000" dirty="0" err="1">
                <a:latin typeface="KoPub돋움체 Bold"/>
              </a:rPr>
              <a:t>경계</a:t>
            </a:r>
            <a:r>
              <a:rPr sz="1000" dirty="0">
                <a:latin typeface="KoPub돋움체 Bold"/>
              </a:rPr>
              <a:t> 2배 </a:t>
            </a:r>
            <a:r>
              <a:rPr sz="1000" dirty="0" err="1">
                <a:latin typeface="KoPub돋움체 Bold"/>
              </a:rPr>
              <a:t>누수</a:t>
            </a:r>
            <a:r>
              <a:rPr sz="1000" dirty="0">
                <a:latin typeface="KoPub돋움체 Bold"/>
              </a:rPr>
              <a:t> </a:t>
            </a:r>
            <a:r>
              <a:rPr sz="1000" dirty="0" err="1">
                <a:latin typeface="KoPub돋움체 Bold"/>
              </a:rPr>
              <a:t>차단</a:t>
            </a:r>
            <a:r>
              <a:rPr sz="1000" dirty="0">
                <a:latin typeface="KoPub돋움체 Bold"/>
              </a:rPr>
              <a:t>(Step 2) 및 Redis </a:t>
            </a:r>
            <a:r>
              <a:rPr sz="1000" dirty="0" err="1">
                <a:latin typeface="KoPub돋움체 Bold"/>
              </a:rPr>
              <a:t>Lua로</a:t>
            </a:r>
            <a:r>
              <a:rPr sz="1000" dirty="0">
                <a:latin typeface="KoPub돋움체 Bold"/>
              </a:rPr>
              <a:t> </a:t>
            </a:r>
            <a:r>
              <a:rPr sz="1000" dirty="0" err="1">
                <a:latin typeface="KoPub돋움체 Bold"/>
              </a:rPr>
              <a:t>리플레이</a:t>
            </a:r>
            <a:r>
              <a:rPr sz="1000" dirty="0">
                <a:latin typeface="KoPub돋움체 Bold"/>
              </a:rPr>
              <a:t> </a:t>
            </a:r>
            <a:r>
              <a:rPr sz="1000" dirty="0" err="1">
                <a:latin typeface="KoPub돋움체 Bold"/>
              </a:rPr>
              <a:t>원천</a:t>
            </a:r>
            <a:r>
              <a:rPr sz="1000" dirty="0">
                <a:latin typeface="KoPub돋움체 Bold"/>
              </a:rPr>
              <a:t> </a:t>
            </a:r>
            <a:r>
              <a:rPr sz="1000" dirty="0" err="1">
                <a:latin typeface="KoPub돋움체 Bold"/>
              </a:rPr>
              <a:t>소각</a:t>
            </a:r>
            <a:r>
              <a:rPr sz="1000" dirty="0">
                <a:latin typeface="KoPub돋움체 Bold"/>
              </a:rPr>
              <a:t>(Step 3)</a:t>
            </a:r>
          </a:p>
        </p:txBody>
      </p:sp>
      <p:sp>
        <p:nvSpPr>
          <p:cNvPr id="6" name="Rounded Rectangle 5"/>
          <p:cNvSpPr/>
          <p:nvPr/>
        </p:nvSpPr>
        <p:spPr>
          <a:xfrm>
            <a:off x="356760" y="1350000"/>
            <a:ext cx="4968000" cy="4572000"/>
          </a:xfrm>
          <a:prstGeom prst="roundRect">
            <a:avLst>
              <a:gd name="adj" fmla="val 3334"/>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86000" y="1476000"/>
            <a:ext cx="4716000" cy="288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0E306D"/>
                </a:solidFill>
                <a:latin typeface="KoPub돋움체 Bold"/>
              </a:defRPr>
            </a:pPr>
            <a:r>
              <a:rPr sz="1000" dirty="0" err="1">
                <a:latin typeface="KoPub돋움체 Bold"/>
              </a:rPr>
              <a:t>유량</a:t>
            </a:r>
            <a:r>
              <a:rPr sz="1000" dirty="0">
                <a:latin typeface="KoPub돋움체 Bold"/>
              </a:rPr>
              <a:t> </a:t>
            </a:r>
            <a:r>
              <a:rPr sz="1000" dirty="0" err="1">
                <a:latin typeface="KoPub돋움체 Bold"/>
              </a:rPr>
              <a:t>제어</a:t>
            </a:r>
            <a:r>
              <a:rPr sz="1000" dirty="0">
                <a:latin typeface="KoPub돋움체 Bold"/>
              </a:rPr>
              <a:t> 및 Nonce </a:t>
            </a:r>
            <a:r>
              <a:rPr sz="1000" dirty="0" err="1">
                <a:latin typeface="KoPub돋움체 Bold"/>
              </a:rPr>
              <a:t>소각</a:t>
            </a:r>
            <a:r>
              <a:rPr sz="1000" dirty="0">
                <a:latin typeface="KoPub돋움체 Bold"/>
              </a:rPr>
              <a:t> </a:t>
            </a:r>
            <a:r>
              <a:rPr sz="1000" dirty="0" err="1">
                <a:latin typeface="KoPub돋움체 Bold"/>
              </a:rPr>
              <a:t>상태</a:t>
            </a:r>
            <a:r>
              <a:rPr sz="1000" dirty="0">
                <a:latin typeface="KoPub돋움체 Bold"/>
              </a:rPr>
              <a:t> </a:t>
            </a:r>
            <a:r>
              <a:rPr sz="1000" dirty="0" err="1">
                <a:latin typeface="KoPub돋움체 Bold"/>
              </a:rPr>
              <a:t>전이</a:t>
            </a:r>
            <a:r>
              <a:rPr sz="1000" dirty="0">
                <a:latin typeface="KoPub돋움체 Bold"/>
              </a:rPr>
              <a:t> </a:t>
            </a:r>
            <a:r>
              <a:rPr sz="1000" dirty="0" err="1">
                <a:latin typeface="KoPub돋움체 Bold"/>
              </a:rPr>
              <a:t>다이어그램</a:t>
            </a:r>
            <a:endParaRPr sz="1000" dirty="0">
              <a:latin typeface="KoPub돋움체 Bold"/>
            </a:endParaRPr>
          </a:p>
        </p:txBody>
      </p:sp>
      <p:sp>
        <p:nvSpPr>
          <p:cNvPr id="8" name="Rounded Rectangle 7"/>
          <p:cNvSpPr/>
          <p:nvPr/>
        </p:nvSpPr>
        <p:spPr>
          <a:xfrm>
            <a:off x="486000" y="1854000"/>
            <a:ext cx="4716000" cy="1908000"/>
          </a:xfrm>
          <a:prstGeom prst="roundRect">
            <a:avLst>
              <a:gd name="adj" fmla="val 7348"/>
            </a:avLst>
          </a:prstGeom>
          <a:solidFill>
            <a:srgbClr val="E3F3F2"/>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6000" y="1926000"/>
            <a:ext cx="4536000" cy="1631537"/>
          </a:xfrm>
          <a:prstGeom prst="rect">
            <a:avLst/>
          </a:prstGeom>
          <a:noFill/>
        </p:spPr>
        <p:txBody>
          <a:bodyPr wrap="square" lIns="0" tIns="0" rIns="0" bIns="0">
            <a:spAutoFit/>
          </a:bodyPr>
          <a:lstStyle/>
          <a:p>
            <a:pPr>
              <a:lnSpc>
                <a:spcPct val="150000"/>
              </a:lnSpc>
              <a:defRPr sz="950" b="1">
                <a:solidFill>
                  <a:srgbClr val="009A93"/>
                </a:solidFill>
                <a:latin typeface="KoPub돋움체 Bold"/>
              </a:defRPr>
            </a:pPr>
            <a:r>
              <a:rPr sz="1000" dirty="0">
                <a:latin typeface="KoPub돋움체 Bold"/>
              </a:rPr>
              <a:t>Step 2: O(1) </a:t>
            </a:r>
            <a:r>
              <a:rPr sz="1000" dirty="0" err="1">
                <a:latin typeface="KoPub돋움체 Bold"/>
              </a:rPr>
              <a:t>가중</a:t>
            </a:r>
            <a:r>
              <a:rPr sz="1000" dirty="0">
                <a:latin typeface="KoPub돋움체 Bold"/>
              </a:rPr>
              <a:t> </a:t>
            </a:r>
            <a:r>
              <a:rPr sz="1000" dirty="0" err="1">
                <a:latin typeface="KoPub돋움체 Bold"/>
              </a:rPr>
              <a:t>합산</a:t>
            </a:r>
            <a:r>
              <a:rPr sz="1000" dirty="0">
                <a:latin typeface="KoPub돋움체 Bold"/>
              </a:rPr>
              <a:t> </a:t>
            </a:r>
            <a:r>
              <a:rPr sz="1000" dirty="0" err="1">
                <a:latin typeface="KoPub돋움체 Bold"/>
              </a:rPr>
              <a:t>슬라이딩</a:t>
            </a:r>
            <a:r>
              <a:rPr sz="1000" dirty="0">
                <a:latin typeface="KoPub돋움체 Bold"/>
              </a:rPr>
              <a:t> </a:t>
            </a:r>
            <a:r>
              <a:rPr sz="1000" dirty="0" err="1">
                <a:latin typeface="KoPub돋움체 Bold"/>
              </a:rPr>
              <a:t>윈도우</a:t>
            </a:r>
            <a:r>
              <a:rPr sz="1000" dirty="0">
                <a:latin typeface="KoPub돋움체 Bold"/>
              </a:rPr>
              <a:t> (SLIDING_RL_LUA Script)</a:t>
            </a:r>
          </a:p>
          <a:p>
            <a:pPr>
              <a:lnSpc>
                <a:spcPct val="150000"/>
              </a:lnSpc>
              <a:spcBef>
                <a:spcPts val="300"/>
              </a:spcBef>
              <a:defRPr sz="800">
                <a:solidFill>
                  <a:srgbClr val="0F172A"/>
                </a:solidFill>
                <a:latin typeface="KoPub돋움체 Medium"/>
              </a:defRPr>
            </a:pPr>
            <a:r>
              <a:rPr sz="1000" dirty="0">
                <a:latin typeface="KoPub돋움체 Medium"/>
              </a:rPr>
              <a:t>• </a:t>
            </a:r>
            <a:r>
              <a:rPr sz="1000" dirty="0" err="1">
                <a:latin typeface="KoPub돋움체 Medium"/>
              </a:rPr>
              <a:t>가중</a:t>
            </a:r>
            <a:r>
              <a:rPr sz="1000" dirty="0">
                <a:latin typeface="KoPub돋움체 Medium"/>
              </a:rPr>
              <a:t> </a:t>
            </a:r>
            <a:r>
              <a:rPr sz="1000" dirty="0" err="1">
                <a:latin typeface="KoPub돋움체 Medium"/>
              </a:rPr>
              <a:t>공식</a:t>
            </a:r>
            <a:r>
              <a:rPr sz="1000" dirty="0">
                <a:latin typeface="KoPub돋움체 Medium"/>
              </a:rPr>
              <a:t>: estimated = floor(</a:t>
            </a:r>
            <a:r>
              <a:rPr sz="1000" dirty="0" err="1">
                <a:latin typeface="KoPub돋움체 Medium"/>
              </a:rPr>
              <a:t>prev</a:t>
            </a:r>
            <a:r>
              <a:rPr sz="1000" dirty="0">
                <a:latin typeface="KoPub돋움체 Medium"/>
              </a:rPr>
              <a:t> * (window - elapsed)/window) + </a:t>
            </a:r>
            <a:r>
              <a:rPr sz="1000" dirty="0" err="1">
                <a:latin typeface="KoPub돋움체 Medium"/>
              </a:rPr>
              <a:t>curr</a:t>
            </a:r>
            <a:br>
              <a:rPr sz="1000" dirty="0"/>
            </a:br>
            <a:r>
              <a:rPr sz="1000" dirty="0">
                <a:latin typeface="KoPub돋움체 Medium"/>
              </a:rPr>
              <a:t>• [</a:t>
            </a:r>
            <a:r>
              <a:rPr sz="1000" dirty="0" err="1">
                <a:latin typeface="KoPub돋움체 Medium"/>
              </a:rPr>
              <a:t>정상</a:t>
            </a:r>
            <a:r>
              <a:rPr sz="1000" dirty="0">
                <a:latin typeface="KoPub돋움체 Medium"/>
              </a:rPr>
              <a:t> </a:t>
            </a:r>
            <a:r>
              <a:rPr sz="1000" dirty="0" err="1">
                <a:latin typeface="KoPub돋움체 Medium"/>
              </a:rPr>
              <a:t>흐름</a:t>
            </a:r>
            <a:r>
              <a:rPr sz="1000" dirty="0">
                <a:latin typeface="KoPub돋움체 Medium"/>
              </a:rPr>
              <a:t>] estimated &lt; limit (50건) → INCR </a:t>
            </a:r>
            <a:r>
              <a:rPr sz="1000" dirty="0" err="1">
                <a:latin typeface="KoPub돋움체 Medium"/>
              </a:rPr>
              <a:t>실행</a:t>
            </a:r>
            <a:r>
              <a:rPr sz="1000" dirty="0">
                <a:latin typeface="KoPub돋움체 Medium"/>
              </a:rPr>
              <a:t> 후 Step 3 Nonce </a:t>
            </a:r>
            <a:r>
              <a:rPr sz="1000" dirty="0" err="1">
                <a:latin typeface="KoPub돋움체 Medium"/>
              </a:rPr>
              <a:t>소각으로</a:t>
            </a:r>
            <a:r>
              <a:rPr sz="1000" dirty="0">
                <a:latin typeface="KoPub돋움체 Medium"/>
              </a:rPr>
              <a:t> </a:t>
            </a:r>
            <a:r>
              <a:rPr sz="1000" dirty="0" err="1">
                <a:latin typeface="KoPub돋움체 Medium"/>
              </a:rPr>
              <a:t>전달</a:t>
            </a:r>
            <a:br>
              <a:rPr sz="1000" dirty="0"/>
            </a:br>
            <a:r>
              <a:rPr sz="1000" dirty="0">
                <a:latin typeface="KoPub돋움체 Medium"/>
              </a:rPr>
              <a:t>• [</a:t>
            </a:r>
            <a:r>
              <a:rPr sz="1000" dirty="0" err="1">
                <a:latin typeface="KoPub돋움체 Medium"/>
              </a:rPr>
              <a:t>차단</a:t>
            </a:r>
            <a:r>
              <a:rPr sz="1000" dirty="0">
                <a:latin typeface="KoPub돋움체 Medium"/>
              </a:rPr>
              <a:t> </a:t>
            </a:r>
            <a:r>
              <a:rPr sz="1000" dirty="0" err="1">
                <a:latin typeface="KoPub돋움체 Medium"/>
              </a:rPr>
              <a:t>흐름</a:t>
            </a:r>
            <a:r>
              <a:rPr sz="1000" dirty="0">
                <a:latin typeface="KoPub돋움체 Medium"/>
              </a:rPr>
              <a:t>] estimated &gt;= limit → 429 Too Many Requests </a:t>
            </a:r>
            <a:r>
              <a:rPr sz="1000" dirty="0" err="1">
                <a:latin typeface="KoPub돋움체 Medium"/>
              </a:rPr>
              <a:t>차단</a:t>
            </a:r>
            <a:r>
              <a:rPr sz="1000" dirty="0">
                <a:latin typeface="KoPub돋움체 Medium"/>
              </a:rPr>
              <a:t> (INCR </a:t>
            </a:r>
            <a:r>
              <a:rPr sz="1000" dirty="0" err="1">
                <a:latin typeface="KoPub돋움체 Medium"/>
              </a:rPr>
              <a:t>생략</a:t>
            </a:r>
            <a:r>
              <a:rPr sz="1000" dirty="0">
                <a:latin typeface="KoPub돋움체 Medium"/>
              </a:rPr>
              <a:t>, </a:t>
            </a:r>
            <a:r>
              <a:rPr sz="1000" dirty="0" err="1">
                <a:latin typeface="KoPub돋움체 Medium"/>
              </a:rPr>
              <a:t>카운터</a:t>
            </a:r>
            <a:r>
              <a:rPr sz="1000" dirty="0">
                <a:latin typeface="KoPub돋움체 Medium"/>
              </a:rPr>
              <a:t> </a:t>
            </a:r>
            <a:r>
              <a:rPr sz="1000" dirty="0" err="1">
                <a:latin typeface="KoPub돋움체 Medium"/>
              </a:rPr>
              <a:t>보존</a:t>
            </a:r>
            <a:r>
              <a:rPr sz="1000" dirty="0">
                <a:latin typeface="KoPub돋움체 Medium"/>
              </a:rPr>
              <a:t>)</a:t>
            </a:r>
            <a:br>
              <a:rPr sz="1000" dirty="0"/>
            </a:br>
            <a:r>
              <a:rPr sz="1000" dirty="0">
                <a:latin typeface="KoPub돋움체 Medium"/>
              </a:rPr>
              <a:t>• [</a:t>
            </a:r>
            <a:r>
              <a:rPr sz="1000" dirty="0" err="1">
                <a:latin typeface="KoPub돋움체 Medium"/>
              </a:rPr>
              <a:t>폴백</a:t>
            </a:r>
            <a:r>
              <a:rPr sz="1000" dirty="0">
                <a:latin typeface="KoPub돋움체 Medium"/>
              </a:rPr>
              <a:t> </a:t>
            </a:r>
            <a:r>
              <a:rPr sz="1000" dirty="0" err="1">
                <a:latin typeface="KoPub돋움체 Medium"/>
              </a:rPr>
              <a:t>흐름</a:t>
            </a:r>
            <a:r>
              <a:rPr sz="1000" dirty="0">
                <a:latin typeface="KoPub돋움체 Medium"/>
              </a:rPr>
              <a:t>] Redis </a:t>
            </a:r>
            <a:r>
              <a:rPr sz="1000" dirty="0" err="1">
                <a:latin typeface="KoPub돋움체 Medium"/>
              </a:rPr>
              <a:t>다운</a:t>
            </a:r>
            <a:r>
              <a:rPr sz="1000" dirty="0">
                <a:latin typeface="KoPub돋움체 Medium"/>
              </a:rPr>
              <a:t> → </a:t>
            </a:r>
            <a:r>
              <a:rPr sz="1000" dirty="0" err="1">
                <a:latin typeface="KoPub돋움체 Medium"/>
              </a:rPr>
              <a:t>노드</a:t>
            </a:r>
            <a:r>
              <a:rPr sz="1000" dirty="0">
                <a:latin typeface="KoPub돋움체 Medium"/>
              </a:rPr>
              <a:t> </a:t>
            </a:r>
            <a:r>
              <a:rPr sz="1000" dirty="0" err="1">
                <a:latin typeface="KoPub돋움체 Medium"/>
              </a:rPr>
              <a:t>로컬</a:t>
            </a:r>
            <a:r>
              <a:rPr sz="1000" dirty="0">
                <a:latin typeface="KoPub돋움체 Medium"/>
              </a:rPr>
              <a:t> LRU </a:t>
            </a:r>
            <a:r>
              <a:rPr sz="1000" dirty="0" err="1">
                <a:latin typeface="KoPub돋움체 Medium"/>
              </a:rPr>
              <a:t>카운터</a:t>
            </a:r>
            <a:r>
              <a:rPr sz="1000" dirty="0">
                <a:latin typeface="KoPub돋움체 Medium"/>
              </a:rPr>
              <a:t> </a:t>
            </a:r>
            <a:r>
              <a:rPr sz="1000" dirty="0" err="1">
                <a:latin typeface="KoPub돋움체 Medium"/>
              </a:rPr>
              <a:t>폴백</a:t>
            </a:r>
            <a:r>
              <a:rPr sz="1000" dirty="0">
                <a:latin typeface="KoPub돋움체 Medium"/>
              </a:rPr>
              <a:t> (10초 15건 </a:t>
            </a:r>
            <a:r>
              <a:rPr sz="1000" dirty="0" err="1">
                <a:latin typeface="KoPub돋움체 Medium"/>
              </a:rPr>
              <a:t>한도</a:t>
            </a:r>
            <a:r>
              <a:rPr sz="1000" dirty="0">
                <a:latin typeface="KoPub돋움체 Medium"/>
              </a:rPr>
              <a:t> </a:t>
            </a:r>
            <a:r>
              <a:rPr sz="1000" dirty="0" err="1">
                <a:latin typeface="KoPub돋움체 Medium"/>
              </a:rPr>
              <a:t>초과분</a:t>
            </a:r>
            <a:r>
              <a:rPr sz="1000" dirty="0">
                <a:latin typeface="KoPub돋움체 Medium"/>
              </a:rPr>
              <a:t> 429 </a:t>
            </a:r>
            <a:r>
              <a:rPr sz="1000" dirty="0" err="1">
                <a:latin typeface="KoPub돋움체 Medium"/>
              </a:rPr>
              <a:t>차단</a:t>
            </a:r>
            <a:r>
              <a:rPr sz="1000" dirty="0">
                <a:latin typeface="KoPub돋움체 Medium"/>
              </a:rPr>
              <a:t>)</a:t>
            </a:r>
          </a:p>
        </p:txBody>
      </p:sp>
      <p:sp>
        <p:nvSpPr>
          <p:cNvPr id="10" name="Rounded Rectangle 9"/>
          <p:cNvSpPr/>
          <p:nvPr/>
        </p:nvSpPr>
        <p:spPr>
          <a:xfrm>
            <a:off x="486000" y="3870000"/>
            <a:ext cx="4716000" cy="1872000"/>
          </a:xfrm>
          <a:prstGeom prst="roundRect">
            <a:avLst>
              <a:gd name="adj" fmla="val 8978"/>
            </a:avLst>
          </a:prstGeom>
          <a:solidFill>
            <a:srgbClr val="EEF5FF"/>
          </a:solidFill>
          <a:ln w="12700">
            <a:solidFill>
              <a:srgbClr val="C7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6000" y="3942000"/>
            <a:ext cx="4536000" cy="1400704"/>
          </a:xfrm>
          <a:prstGeom prst="rect">
            <a:avLst/>
          </a:prstGeom>
          <a:noFill/>
        </p:spPr>
        <p:txBody>
          <a:bodyPr wrap="square" lIns="0" tIns="0" rIns="0" bIns="0">
            <a:spAutoFit/>
          </a:bodyPr>
          <a:lstStyle/>
          <a:p>
            <a:pPr>
              <a:lnSpc>
                <a:spcPct val="150000"/>
              </a:lnSpc>
              <a:defRPr sz="950" b="1">
                <a:solidFill>
                  <a:srgbClr val="0E306D"/>
                </a:solidFill>
                <a:latin typeface="KoPub돋움체 Bold"/>
              </a:defRPr>
            </a:pPr>
            <a:r>
              <a:rPr sz="1000" dirty="0">
                <a:latin typeface="KoPub돋움체 Bold"/>
              </a:rPr>
              <a:t>Step 3: Nonce </a:t>
            </a:r>
            <a:r>
              <a:rPr sz="1000" dirty="0" err="1">
                <a:latin typeface="KoPub돋움체 Bold"/>
              </a:rPr>
              <a:t>원자적</a:t>
            </a:r>
            <a:r>
              <a:rPr sz="1000" dirty="0">
                <a:latin typeface="KoPub돋움체 Bold"/>
              </a:rPr>
              <a:t> </a:t>
            </a:r>
            <a:r>
              <a:rPr sz="1000" dirty="0" err="1">
                <a:latin typeface="KoPub돋움체 Bold"/>
              </a:rPr>
              <a:t>소각</a:t>
            </a:r>
            <a:r>
              <a:rPr sz="1000" dirty="0">
                <a:latin typeface="KoPub돋움체 Bold"/>
              </a:rPr>
              <a:t> (NONCE_LUA Script)</a:t>
            </a:r>
          </a:p>
          <a:p>
            <a:pPr>
              <a:lnSpc>
                <a:spcPct val="150000"/>
              </a:lnSpc>
              <a:spcBef>
                <a:spcPts val="300"/>
              </a:spcBef>
              <a:defRPr sz="800">
                <a:solidFill>
                  <a:srgbClr val="0F172A"/>
                </a:solidFill>
                <a:latin typeface="KoPub돋움체 Medium"/>
              </a:defRPr>
            </a:pPr>
            <a:r>
              <a:rPr sz="1000" dirty="0">
                <a:latin typeface="KoPub돋움체 Medium"/>
              </a:rPr>
              <a:t>• [</a:t>
            </a:r>
            <a:r>
              <a:rPr sz="1000" dirty="0" err="1">
                <a:latin typeface="KoPub돋움체 Medium"/>
              </a:rPr>
              <a:t>정상</a:t>
            </a:r>
            <a:r>
              <a:rPr sz="1000" dirty="0">
                <a:latin typeface="KoPub돋움체 Medium"/>
              </a:rPr>
              <a:t> </a:t>
            </a:r>
            <a:r>
              <a:rPr sz="1000" dirty="0" err="1">
                <a:latin typeface="KoPub돋움체 Medium"/>
              </a:rPr>
              <a:t>흐름</a:t>
            </a:r>
            <a:r>
              <a:rPr sz="1000" dirty="0">
                <a:latin typeface="KoPub돋움체 Medium"/>
              </a:rPr>
              <a:t>] </a:t>
            </a:r>
            <a:r>
              <a:rPr sz="1000" dirty="0" err="1">
                <a:latin typeface="KoPub돋움체 Medium"/>
              </a:rPr>
              <a:t>유량</a:t>
            </a:r>
            <a:r>
              <a:rPr sz="1000" dirty="0">
                <a:latin typeface="KoPub돋움체 Medium"/>
              </a:rPr>
              <a:t> </a:t>
            </a:r>
            <a:r>
              <a:rPr sz="1000" dirty="0" err="1">
                <a:latin typeface="KoPub돋움체 Medium"/>
              </a:rPr>
              <a:t>통과</a:t>
            </a:r>
            <a:r>
              <a:rPr sz="1000" dirty="0">
                <a:latin typeface="KoPub돋움체 Medium"/>
              </a:rPr>
              <a:t> </a:t>
            </a:r>
            <a:r>
              <a:rPr sz="1000" dirty="0" err="1">
                <a:latin typeface="KoPub돋움체 Medium"/>
              </a:rPr>
              <a:t>신규</a:t>
            </a:r>
            <a:r>
              <a:rPr sz="1000" dirty="0">
                <a:latin typeface="KoPub돋움체 Medium"/>
              </a:rPr>
              <a:t> Nonce → SET NX </a:t>
            </a:r>
            <a:r>
              <a:rPr sz="1000" dirty="0" err="1">
                <a:latin typeface="KoPub돋움체 Medium"/>
              </a:rPr>
              <a:t>등록</a:t>
            </a:r>
            <a:r>
              <a:rPr sz="1000" dirty="0">
                <a:latin typeface="KoPub돋움체 Medium"/>
              </a:rPr>
              <a:t> </a:t>
            </a:r>
            <a:r>
              <a:rPr sz="1000" dirty="0" err="1">
                <a:latin typeface="KoPub돋움체 Medium"/>
              </a:rPr>
              <a:t>성공</a:t>
            </a:r>
            <a:r>
              <a:rPr sz="1000" dirty="0">
                <a:latin typeface="KoPub돋움체 Medium"/>
              </a:rPr>
              <a:t> (TTL: 60s) → Step 4 ECDSA </a:t>
            </a:r>
            <a:r>
              <a:rPr sz="1000" dirty="0" err="1">
                <a:latin typeface="KoPub돋움체 Medium"/>
              </a:rPr>
              <a:t>전달</a:t>
            </a:r>
            <a:br>
              <a:rPr sz="1000" dirty="0"/>
            </a:br>
            <a:r>
              <a:rPr sz="1000" dirty="0">
                <a:latin typeface="KoPub돋움체 Medium"/>
              </a:rPr>
              <a:t>• [</a:t>
            </a:r>
            <a:r>
              <a:rPr sz="1000" dirty="0" err="1">
                <a:latin typeface="KoPub돋움체 Medium"/>
              </a:rPr>
              <a:t>차단</a:t>
            </a:r>
            <a:r>
              <a:rPr sz="1000" dirty="0">
                <a:latin typeface="KoPub돋움체 Medium"/>
              </a:rPr>
              <a:t> </a:t>
            </a:r>
            <a:r>
              <a:rPr sz="1000" dirty="0" err="1">
                <a:latin typeface="KoPub돋움체 Medium"/>
              </a:rPr>
              <a:t>흐름</a:t>
            </a:r>
            <a:r>
              <a:rPr sz="1000" dirty="0">
                <a:latin typeface="KoPub돋움체 Medium"/>
              </a:rPr>
              <a:t>] </a:t>
            </a:r>
            <a:r>
              <a:rPr sz="1000" dirty="0" err="1">
                <a:latin typeface="KoPub돋움체 Medium"/>
              </a:rPr>
              <a:t>재사용</a:t>
            </a:r>
            <a:r>
              <a:rPr sz="1000" dirty="0">
                <a:latin typeface="KoPub돋움체 Medium"/>
              </a:rPr>
              <a:t> Nonce </a:t>
            </a:r>
            <a:r>
              <a:rPr sz="1000" dirty="0" err="1">
                <a:latin typeface="KoPub돋움체 Medium"/>
              </a:rPr>
              <a:t>감지</a:t>
            </a:r>
            <a:r>
              <a:rPr sz="1000" dirty="0">
                <a:latin typeface="KoPub돋움체 Medium"/>
              </a:rPr>
              <a:t> → </a:t>
            </a:r>
            <a:r>
              <a:rPr sz="1000" dirty="0" err="1">
                <a:latin typeface="KoPub돋움체 Medium"/>
              </a:rPr>
              <a:t>암호</a:t>
            </a:r>
            <a:r>
              <a:rPr sz="1000" dirty="0">
                <a:latin typeface="KoPub돋움체 Medium"/>
              </a:rPr>
              <a:t> </a:t>
            </a:r>
            <a:r>
              <a:rPr sz="1000" dirty="0" err="1">
                <a:latin typeface="KoPub돋움체 Medium"/>
              </a:rPr>
              <a:t>연산</a:t>
            </a:r>
            <a:r>
              <a:rPr sz="1000" dirty="0">
                <a:latin typeface="KoPub돋움체 Medium"/>
              </a:rPr>
              <a:t> 전 </a:t>
            </a:r>
            <a:r>
              <a:rPr sz="1000" dirty="0" err="1">
                <a:latin typeface="KoPub돋움체 Medium"/>
              </a:rPr>
              <a:t>즉시</a:t>
            </a:r>
            <a:r>
              <a:rPr sz="1000" dirty="0">
                <a:latin typeface="KoPub돋움체 Medium"/>
              </a:rPr>
              <a:t> 401 Replay </a:t>
            </a:r>
            <a:r>
              <a:rPr sz="1000" dirty="0" err="1">
                <a:latin typeface="KoPub돋움체 Medium"/>
              </a:rPr>
              <a:t>차단</a:t>
            </a:r>
            <a:r>
              <a:rPr sz="1000" dirty="0">
                <a:latin typeface="KoPub돋움체 Medium"/>
              </a:rPr>
              <a:t> (</a:t>
            </a:r>
            <a:r>
              <a:rPr sz="1000" dirty="0" err="1">
                <a:latin typeface="KoPub돋움체 Medium"/>
              </a:rPr>
              <a:t>nonce_replays</a:t>
            </a:r>
            <a:r>
              <a:rPr sz="1000" dirty="0">
                <a:latin typeface="KoPub돋움체 Medium"/>
              </a:rPr>
              <a:t> +1)</a:t>
            </a:r>
            <a:br>
              <a:rPr sz="1000" dirty="0"/>
            </a:br>
            <a:r>
              <a:rPr sz="1000" dirty="0">
                <a:latin typeface="KoPub돋움체 Medium"/>
              </a:rPr>
              <a:t>• [</a:t>
            </a:r>
            <a:r>
              <a:rPr sz="1000" dirty="0" err="1">
                <a:latin typeface="KoPub돋움체 Medium"/>
              </a:rPr>
              <a:t>장애</a:t>
            </a:r>
            <a:r>
              <a:rPr sz="1000" dirty="0">
                <a:latin typeface="KoPub돋움체 Medium"/>
              </a:rPr>
              <a:t> </a:t>
            </a:r>
            <a:r>
              <a:rPr sz="1000" dirty="0" err="1">
                <a:latin typeface="KoPub돋움체 Medium"/>
              </a:rPr>
              <a:t>격리</a:t>
            </a:r>
            <a:r>
              <a:rPr sz="1000" dirty="0">
                <a:latin typeface="KoPub돋움체 Medium"/>
              </a:rPr>
              <a:t>] Redis </a:t>
            </a:r>
            <a:r>
              <a:rPr sz="1000" dirty="0" err="1">
                <a:latin typeface="KoPub돋움체 Medium"/>
              </a:rPr>
              <a:t>마비</a:t>
            </a:r>
            <a:r>
              <a:rPr sz="1000" dirty="0">
                <a:latin typeface="KoPub돋움체 Medium"/>
              </a:rPr>
              <a:t> </a:t>
            </a:r>
            <a:r>
              <a:rPr sz="1000" dirty="0" err="1">
                <a:latin typeface="KoPub돋움체 Medium"/>
              </a:rPr>
              <a:t>발생</a:t>
            </a:r>
            <a:r>
              <a:rPr sz="1000" dirty="0">
                <a:latin typeface="KoPub돋움체 Medium"/>
              </a:rPr>
              <a:t> → 503 Fail-Closed </a:t>
            </a:r>
            <a:r>
              <a:rPr sz="1000" dirty="0" err="1">
                <a:latin typeface="KoPub돋움체 Medium"/>
              </a:rPr>
              <a:t>차단</a:t>
            </a:r>
            <a:r>
              <a:rPr sz="1000" dirty="0">
                <a:latin typeface="KoPub돋움체 Medium"/>
              </a:rPr>
              <a:t> (</a:t>
            </a:r>
            <a:r>
              <a:rPr sz="1000" dirty="0" err="1">
                <a:latin typeface="KoPub돋움체 Medium"/>
              </a:rPr>
              <a:t>redis_outage_blocked</a:t>
            </a:r>
            <a:r>
              <a:rPr sz="1000" dirty="0">
                <a:latin typeface="KoPub돋움체 Medium"/>
              </a:rPr>
              <a:t> +1)</a:t>
            </a:r>
          </a:p>
        </p:txBody>
      </p:sp>
      <p:sp>
        <p:nvSpPr>
          <p:cNvPr id="12" name="Rounded Rectangle 11"/>
          <p:cNvSpPr/>
          <p:nvPr/>
        </p:nvSpPr>
        <p:spPr>
          <a:xfrm>
            <a:off x="5468760" y="1350000"/>
            <a:ext cx="4086000" cy="2196000"/>
          </a:xfrm>
          <a:prstGeom prst="roundRect">
            <a:avLst>
              <a:gd name="adj" fmla="val 3558"/>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594760" y="1476000"/>
            <a:ext cx="3834000" cy="270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0E306D"/>
                </a:solidFill>
                <a:latin typeface="KoPub돋움체 Bold"/>
              </a:defRPr>
            </a:pPr>
            <a:r>
              <a:rPr dirty="0">
                <a:latin typeface="KoPub돋움체 Bold"/>
              </a:rPr>
              <a:t>10초 </a:t>
            </a:r>
            <a:r>
              <a:rPr dirty="0" err="1">
                <a:latin typeface="KoPub돋움체 Bold"/>
              </a:rPr>
              <a:t>경계</a:t>
            </a:r>
            <a:r>
              <a:rPr dirty="0">
                <a:latin typeface="KoPub돋움체 Bold"/>
              </a:rPr>
              <a:t> 100건 </a:t>
            </a:r>
            <a:r>
              <a:rPr dirty="0" err="1">
                <a:latin typeface="KoPub돋움체 Bold"/>
              </a:rPr>
              <a:t>스파이크</a:t>
            </a:r>
            <a:r>
              <a:rPr dirty="0">
                <a:latin typeface="KoPub돋움체 Bold"/>
              </a:rPr>
              <a:t> </a:t>
            </a:r>
            <a:r>
              <a:rPr dirty="0" err="1">
                <a:latin typeface="KoPub돋움체 Bold"/>
              </a:rPr>
              <a:t>공격</a:t>
            </a:r>
            <a:r>
              <a:rPr dirty="0">
                <a:latin typeface="KoPub돋움체 Bold"/>
              </a:rPr>
              <a:t> </a:t>
            </a:r>
            <a:r>
              <a:rPr dirty="0" err="1">
                <a:latin typeface="KoPub돋움체 Bold"/>
              </a:rPr>
              <a:t>실측</a:t>
            </a:r>
            <a:r>
              <a:rPr dirty="0">
                <a:latin typeface="KoPub돋움체 Bold"/>
              </a:rPr>
              <a:t> </a:t>
            </a:r>
            <a:r>
              <a:rPr dirty="0" err="1">
                <a:latin typeface="KoPub돋움체 Bold"/>
              </a:rPr>
              <a:t>비교</a:t>
            </a:r>
            <a:endParaRPr dirty="0">
              <a:latin typeface="KoPub돋움체 Bold"/>
            </a:endParaRPr>
          </a:p>
        </p:txBody>
      </p:sp>
      <p:sp>
        <p:nvSpPr>
          <p:cNvPr id="14" name="TextBox 13"/>
          <p:cNvSpPr txBox="1"/>
          <p:nvPr/>
        </p:nvSpPr>
        <p:spPr>
          <a:xfrm>
            <a:off x="5577640" y="1842754"/>
            <a:ext cx="3977840" cy="1372492"/>
          </a:xfrm>
          <a:prstGeom prst="rect">
            <a:avLst/>
          </a:prstGeom>
          <a:noFill/>
        </p:spPr>
        <p:txBody>
          <a:bodyPr wrap="square" lIns="0" tIns="0" rIns="0" bIns="0">
            <a:spAutoFit/>
          </a:bodyPr>
          <a:lstStyle/>
          <a:p>
            <a:pPr>
              <a:defRPr sz="1400" b="1">
                <a:solidFill>
                  <a:srgbClr val="009A93"/>
                </a:solidFill>
                <a:latin typeface="KoPub돋움체 Bold"/>
              </a:defRPr>
            </a:pPr>
            <a:r>
              <a:rPr dirty="0" err="1">
                <a:latin typeface="KoPub돋움체 Bold"/>
              </a:rPr>
              <a:t>경계</a:t>
            </a:r>
            <a:r>
              <a:rPr dirty="0">
                <a:latin typeface="KoPub돋움체 Bold"/>
              </a:rPr>
              <a:t> </a:t>
            </a:r>
            <a:r>
              <a:rPr dirty="0" err="1">
                <a:latin typeface="KoPub돋움체 Bold"/>
              </a:rPr>
              <a:t>누수</a:t>
            </a:r>
            <a:r>
              <a:rPr dirty="0">
                <a:latin typeface="KoPub돋움체 Bold"/>
              </a:rPr>
              <a:t>: 0건 (3/3회 </a:t>
            </a:r>
            <a:r>
              <a:rPr dirty="0" err="1">
                <a:latin typeface="KoPub돋움체 Bold"/>
              </a:rPr>
              <a:t>차단</a:t>
            </a:r>
            <a:r>
              <a:rPr dirty="0">
                <a:latin typeface="KoPub돋움체 Bold"/>
              </a:rPr>
              <a:t>)</a:t>
            </a:r>
          </a:p>
          <a:p>
            <a:pPr>
              <a:lnSpc>
                <a:spcPct val="150000"/>
              </a:lnSpc>
              <a:spcBef>
                <a:spcPts val="200"/>
              </a:spcBef>
              <a:defRPr sz="780">
                <a:solidFill>
                  <a:srgbClr val="0F172A"/>
                </a:solidFill>
                <a:latin typeface="KoPub돋움체 Medium"/>
              </a:defRPr>
            </a:pPr>
            <a:r>
              <a:rPr sz="1000" dirty="0">
                <a:latin typeface="KoPub돋움체 Medium"/>
              </a:rPr>
              <a:t>• </a:t>
            </a:r>
            <a:r>
              <a:rPr sz="1000" dirty="0" err="1">
                <a:latin typeface="KoPub돋움체 Medium"/>
              </a:rPr>
              <a:t>공격</a:t>
            </a:r>
            <a:r>
              <a:rPr sz="1000" dirty="0">
                <a:latin typeface="KoPub돋움체 Medium"/>
              </a:rPr>
              <a:t> </a:t>
            </a:r>
            <a:r>
              <a:rPr sz="1000" dirty="0" err="1">
                <a:latin typeface="KoPub돋움체 Medium"/>
              </a:rPr>
              <a:t>시나리오</a:t>
            </a:r>
            <a:r>
              <a:rPr sz="1000" dirty="0">
                <a:latin typeface="KoPub돋움체 Medium"/>
              </a:rPr>
              <a:t>: </a:t>
            </a:r>
            <a:r>
              <a:rPr sz="1000" dirty="0" err="1">
                <a:latin typeface="KoPub돋움체 Medium"/>
              </a:rPr>
              <a:t>윈도우</a:t>
            </a:r>
            <a:r>
              <a:rPr sz="1000" dirty="0">
                <a:latin typeface="KoPub돋움체 Medium"/>
              </a:rPr>
              <a:t> </a:t>
            </a:r>
            <a:r>
              <a:rPr sz="1000" dirty="0" err="1">
                <a:latin typeface="KoPub돋움체 Medium"/>
              </a:rPr>
              <a:t>경계</a:t>
            </a:r>
            <a:r>
              <a:rPr sz="1000" dirty="0">
                <a:latin typeface="KoPub돋움체 Medium"/>
              </a:rPr>
              <a:t> 0.5초 전 50건 + </a:t>
            </a:r>
            <a:r>
              <a:rPr sz="1000" dirty="0" err="1">
                <a:latin typeface="KoPub돋움체 Medium"/>
              </a:rPr>
              <a:t>경계</a:t>
            </a:r>
            <a:r>
              <a:rPr sz="1000" dirty="0">
                <a:latin typeface="KoPub돋움체 Medium"/>
              </a:rPr>
              <a:t> 0.5초 후 50건 </a:t>
            </a:r>
            <a:r>
              <a:rPr sz="1000" dirty="0" err="1">
                <a:latin typeface="KoPub돋움체 Medium"/>
              </a:rPr>
              <a:t>유입</a:t>
            </a:r>
            <a:br>
              <a:rPr sz="1000" dirty="0"/>
            </a:br>
            <a:r>
              <a:rPr sz="1000" dirty="0">
                <a:latin typeface="KoPub돋움체 Medium"/>
              </a:rPr>
              <a:t>• </a:t>
            </a:r>
            <a:r>
              <a:rPr sz="1000" dirty="0" err="1">
                <a:latin typeface="KoPub돋움체 Medium"/>
              </a:rPr>
              <a:t>기존</a:t>
            </a:r>
            <a:r>
              <a:rPr sz="1000" dirty="0">
                <a:latin typeface="KoPub돋움체 Medium"/>
              </a:rPr>
              <a:t> </a:t>
            </a:r>
            <a:r>
              <a:rPr sz="1000" dirty="0" err="1">
                <a:latin typeface="KoPub돋움체 Medium"/>
              </a:rPr>
              <a:t>고정</a:t>
            </a:r>
            <a:r>
              <a:rPr sz="1000" dirty="0">
                <a:latin typeface="KoPub돋움체 Medium"/>
              </a:rPr>
              <a:t> </a:t>
            </a:r>
            <a:r>
              <a:rPr sz="1000" dirty="0" err="1">
                <a:latin typeface="KoPub돋움체 Medium"/>
              </a:rPr>
              <a:t>윈도우</a:t>
            </a:r>
            <a:r>
              <a:rPr sz="1000" dirty="0">
                <a:latin typeface="KoPub돋움체 Medium"/>
              </a:rPr>
              <a:t>: 2개 </a:t>
            </a:r>
            <a:r>
              <a:rPr sz="1000" dirty="0" err="1">
                <a:latin typeface="KoPub돋움체 Medium"/>
              </a:rPr>
              <a:t>윈도우로</a:t>
            </a:r>
            <a:r>
              <a:rPr sz="1000" dirty="0">
                <a:latin typeface="KoPub돋움체 Medium"/>
              </a:rPr>
              <a:t> </a:t>
            </a:r>
            <a:r>
              <a:rPr sz="1000" dirty="0" err="1">
                <a:latin typeface="KoPub돋움체 Medium"/>
              </a:rPr>
              <a:t>분리</a:t>
            </a:r>
            <a:r>
              <a:rPr sz="1000" dirty="0">
                <a:latin typeface="KoPub돋움체 Medium"/>
              </a:rPr>
              <a:t> </a:t>
            </a:r>
            <a:r>
              <a:rPr sz="1000" dirty="0" err="1">
                <a:latin typeface="KoPub돋움체 Medium"/>
              </a:rPr>
              <a:t>인식</a:t>
            </a:r>
            <a:r>
              <a:rPr sz="1000" dirty="0">
                <a:latin typeface="KoPub돋움체 Medium"/>
              </a:rPr>
              <a:t> → 100건 </a:t>
            </a:r>
            <a:r>
              <a:rPr sz="1000" dirty="0" err="1">
                <a:latin typeface="KoPub돋움체 Medium"/>
              </a:rPr>
              <a:t>통과</a:t>
            </a:r>
            <a:r>
              <a:rPr sz="1000" dirty="0">
                <a:latin typeface="KoPub돋움체 Medium"/>
              </a:rPr>
              <a:t> (2배 </a:t>
            </a:r>
            <a:r>
              <a:rPr sz="1000" dirty="0" err="1">
                <a:latin typeface="KoPub돋움체 Medium"/>
              </a:rPr>
              <a:t>누수</a:t>
            </a:r>
            <a:r>
              <a:rPr sz="1000" dirty="0">
                <a:latin typeface="KoPub돋움체 Medium"/>
              </a:rPr>
              <a:t> </a:t>
            </a:r>
            <a:r>
              <a:rPr sz="1000" dirty="0" err="1">
                <a:latin typeface="KoPub돋움체 Medium"/>
              </a:rPr>
              <a:t>허용</a:t>
            </a:r>
            <a:r>
              <a:rPr sz="1000" dirty="0">
                <a:latin typeface="KoPub돋움체 Medium"/>
              </a:rPr>
              <a:t>)</a:t>
            </a:r>
            <a:br>
              <a:rPr sz="1000" dirty="0"/>
            </a:br>
            <a:r>
              <a:rPr sz="1000" dirty="0">
                <a:latin typeface="KoPub돋움체 Medium"/>
              </a:rPr>
              <a:t>• </a:t>
            </a:r>
            <a:r>
              <a:rPr sz="1000" dirty="0" err="1">
                <a:latin typeface="KoPub돋움체 Medium"/>
              </a:rPr>
              <a:t>PoP</a:t>
            </a:r>
            <a:r>
              <a:rPr sz="1000" dirty="0">
                <a:latin typeface="KoPub돋움체 Medium"/>
              </a:rPr>
              <a:t>-Sync </a:t>
            </a:r>
            <a:r>
              <a:rPr sz="1000" dirty="0" err="1">
                <a:latin typeface="KoPub돋움체 Medium"/>
              </a:rPr>
              <a:t>슬라이딩</a:t>
            </a:r>
            <a:r>
              <a:rPr sz="1000" dirty="0">
                <a:latin typeface="KoPub돋움체 Medium"/>
              </a:rPr>
              <a:t>: </a:t>
            </a:r>
            <a:r>
              <a:rPr sz="1000" dirty="0" err="1">
                <a:latin typeface="KoPub돋움체 Medium"/>
              </a:rPr>
              <a:t>직전</a:t>
            </a:r>
            <a:r>
              <a:rPr sz="1000" dirty="0">
                <a:latin typeface="KoPub돋움체 Medium"/>
              </a:rPr>
              <a:t> </a:t>
            </a:r>
            <a:r>
              <a:rPr sz="1000" dirty="0" err="1">
                <a:latin typeface="KoPub돋움체 Medium"/>
              </a:rPr>
              <a:t>가중치</a:t>
            </a:r>
            <a:r>
              <a:rPr sz="1000" dirty="0">
                <a:latin typeface="KoPub돋움체 Medium"/>
              </a:rPr>
              <a:t> </a:t>
            </a:r>
            <a:r>
              <a:rPr sz="1000" dirty="0" err="1">
                <a:latin typeface="KoPub돋움체 Medium"/>
              </a:rPr>
              <a:t>반영</a:t>
            </a:r>
            <a:r>
              <a:rPr sz="1000" dirty="0">
                <a:latin typeface="KoPub돋움체 Medium"/>
              </a:rPr>
              <a:t> → </a:t>
            </a:r>
            <a:r>
              <a:rPr sz="1000" dirty="0" err="1">
                <a:latin typeface="KoPub돋움체 Medium"/>
              </a:rPr>
              <a:t>정확히</a:t>
            </a:r>
            <a:r>
              <a:rPr sz="1000" dirty="0">
                <a:latin typeface="KoPub돋움체 Medium"/>
              </a:rPr>
              <a:t> 50건 </a:t>
            </a:r>
            <a:r>
              <a:rPr sz="1000" dirty="0" err="1">
                <a:latin typeface="KoPub돋움체 Medium"/>
              </a:rPr>
              <a:t>이후</a:t>
            </a:r>
            <a:r>
              <a:rPr sz="1000" dirty="0">
                <a:latin typeface="KoPub돋움체 Medium"/>
              </a:rPr>
              <a:t> </a:t>
            </a:r>
            <a:r>
              <a:rPr sz="1000" dirty="0" err="1">
                <a:latin typeface="KoPub돋움체 Medium"/>
              </a:rPr>
              <a:t>전량</a:t>
            </a:r>
            <a:r>
              <a:rPr sz="1000" dirty="0">
                <a:latin typeface="KoPub돋움체 Medium"/>
              </a:rPr>
              <a:t> 429 </a:t>
            </a:r>
            <a:r>
              <a:rPr sz="1000" dirty="0" err="1">
                <a:latin typeface="KoPub돋움체 Medium"/>
              </a:rPr>
              <a:t>차단</a:t>
            </a:r>
            <a:br>
              <a:rPr sz="1000" dirty="0"/>
            </a:br>
            <a:r>
              <a:rPr sz="1000" dirty="0">
                <a:latin typeface="KoPub돋움체 Medium"/>
              </a:rPr>
              <a:t>• Check-Before-Increment: </a:t>
            </a:r>
            <a:r>
              <a:rPr sz="1000" dirty="0" err="1">
                <a:latin typeface="KoPub돋움체 Medium"/>
              </a:rPr>
              <a:t>거부된</a:t>
            </a:r>
            <a:r>
              <a:rPr sz="1000" dirty="0">
                <a:latin typeface="KoPub돋움체 Medium"/>
              </a:rPr>
              <a:t> </a:t>
            </a:r>
            <a:r>
              <a:rPr sz="1000" dirty="0" err="1">
                <a:latin typeface="KoPub돋움체 Medium"/>
              </a:rPr>
              <a:t>요청이</a:t>
            </a:r>
            <a:r>
              <a:rPr sz="1000" dirty="0">
                <a:latin typeface="KoPub돋움체 Medium"/>
              </a:rPr>
              <a:t> </a:t>
            </a:r>
            <a:r>
              <a:rPr sz="1000" dirty="0" err="1">
                <a:latin typeface="KoPub돋움체 Medium"/>
              </a:rPr>
              <a:t>다음</a:t>
            </a:r>
            <a:r>
              <a:rPr sz="1000" dirty="0">
                <a:latin typeface="KoPub돋움체 Medium"/>
              </a:rPr>
              <a:t> </a:t>
            </a:r>
            <a:r>
              <a:rPr sz="1000" dirty="0" err="1">
                <a:latin typeface="KoPub돋움체 Medium"/>
              </a:rPr>
              <a:t>윈도우</a:t>
            </a:r>
            <a:r>
              <a:rPr sz="1000" dirty="0">
                <a:latin typeface="KoPub돋움체 Medium"/>
              </a:rPr>
              <a:t> </a:t>
            </a:r>
            <a:r>
              <a:rPr sz="1000" dirty="0" err="1">
                <a:latin typeface="KoPub돋움체 Medium"/>
              </a:rPr>
              <a:t>카운터를</a:t>
            </a:r>
            <a:r>
              <a:rPr sz="1000" dirty="0">
                <a:latin typeface="KoPub돋움체 Medium"/>
              </a:rPr>
              <a:t> </a:t>
            </a:r>
            <a:r>
              <a:rPr sz="1000" dirty="0" err="1">
                <a:latin typeface="KoPub돋움체 Medium"/>
              </a:rPr>
              <a:t>오염시키지</a:t>
            </a:r>
            <a:r>
              <a:rPr sz="1000" dirty="0">
                <a:latin typeface="KoPub돋움체 Medium"/>
              </a:rPr>
              <a:t> </a:t>
            </a:r>
            <a:r>
              <a:rPr sz="1000" dirty="0" err="1">
                <a:latin typeface="KoPub돋움체 Medium"/>
              </a:rPr>
              <a:t>않음</a:t>
            </a:r>
            <a:endParaRPr sz="1000" dirty="0">
              <a:latin typeface="KoPub돋움체 Medium"/>
            </a:endParaRPr>
          </a:p>
        </p:txBody>
      </p:sp>
      <p:sp>
        <p:nvSpPr>
          <p:cNvPr id="15" name="Rounded Rectangle 14"/>
          <p:cNvSpPr/>
          <p:nvPr/>
        </p:nvSpPr>
        <p:spPr>
          <a:xfrm>
            <a:off x="5468760" y="3654000"/>
            <a:ext cx="4086000" cy="2268000"/>
          </a:xfrm>
          <a:prstGeom prst="roundRect">
            <a:avLst>
              <a:gd name="adj" fmla="val 3974"/>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594760" y="3780000"/>
            <a:ext cx="3834000" cy="270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0E306D"/>
                </a:solidFill>
                <a:latin typeface="KoPub돋움체 Bold"/>
              </a:defRPr>
            </a:pPr>
            <a:r>
              <a:rPr dirty="0">
                <a:latin typeface="KoPub돋움체 Bold"/>
              </a:rPr>
              <a:t>Nonce </a:t>
            </a:r>
            <a:r>
              <a:rPr dirty="0" err="1">
                <a:latin typeface="KoPub돋움체 Bold"/>
              </a:rPr>
              <a:t>리플레이</a:t>
            </a:r>
            <a:r>
              <a:rPr dirty="0">
                <a:latin typeface="KoPub돋움체 Bold"/>
              </a:rPr>
              <a:t> </a:t>
            </a:r>
            <a:r>
              <a:rPr dirty="0" err="1">
                <a:latin typeface="KoPub돋움체 Bold"/>
              </a:rPr>
              <a:t>공격</a:t>
            </a:r>
            <a:r>
              <a:rPr dirty="0">
                <a:latin typeface="KoPub돋움체 Bold"/>
              </a:rPr>
              <a:t> 100% </a:t>
            </a:r>
            <a:r>
              <a:rPr dirty="0" err="1">
                <a:latin typeface="KoPub돋움체 Bold"/>
              </a:rPr>
              <a:t>에지</a:t>
            </a:r>
            <a:r>
              <a:rPr dirty="0">
                <a:latin typeface="KoPub돋움체 Bold"/>
              </a:rPr>
              <a:t> </a:t>
            </a:r>
            <a:r>
              <a:rPr dirty="0" err="1">
                <a:latin typeface="KoPub돋움체 Bold"/>
              </a:rPr>
              <a:t>차단</a:t>
            </a:r>
            <a:endParaRPr dirty="0">
              <a:latin typeface="KoPub돋움체 Bold"/>
            </a:endParaRPr>
          </a:p>
        </p:txBody>
      </p:sp>
      <p:sp>
        <p:nvSpPr>
          <p:cNvPr id="17" name="TextBox 16"/>
          <p:cNvSpPr txBox="1"/>
          <p:nvPr/>
        </p:nvSpPr>
        <p:spPr>
          <a:xfrm>
            <a:off x="5648760" y="4104000"/>
            <a:ext cx="3726000" cy="1603324"/>
          </a:xfrm>
          <a:prstGeom prst="rect">
            <a:avLst/>
          </a:prstGeom>
          <a:noFill/>
        </p:spPr>
        <p:txBody>
          <a:bodyPr wrap="square" lIns="0" tIns="0" rIns="0" bIns="0">
            <a:spAutoFit/>
          </a:bodyPr>
          <a:lstStyle/>
          <a:p>
            <a:pPr>
              <a:defRPr sz="1400" b="1">
                <a:solidFill>
                  <a:srgbClr val="009A93"/>
                </a:solidFill>
                <a:latin typeface="KoPub돋움체 Bold"/>
              </a:defRPr>
            </a:pPr>
            <a:r>
              <a:rPr dirty="0">
                <a:latin typeface="KoPub돋움체 Bold"/>
              </a:rPr>
              <a:t>1,500건 중 1,500건 </a:t>
            </a:r>
            <a:r>
              <a:rPr dirty="0" err="1">
                <a:latin typeface="KoPub돋움체 Bold"/>
              </a:rPr>
              <a:t>차단</a:t>
            </a:r>
            <a:r>
              <a:rPr dirty="0">
                <a:latin typeface="KoPub돋움체 Bold"/>
              </a:rPr>
              <a:t> (100%)</a:t>
            </a:r>
          </a:p>
          <a:p>
            <a:pPr>
              <a:lnSpc>
                <a:spcPct val="150000"/>
              </a:lnSpc>
              <a:spcBef>
                <a:spcPts val="200"/>
              </a:spcBef>
              <a:defRPr sz="780">
                <a:solidFill>
                  <a:srgbClr val="0F172A"/>
                </a:solidFill>
                <a:latin typeface="KoPub돋움체 Medium"/>
              </a:defRPr>
            </a:pPr>
            <a:r>
              <a:rPr sz="1000" dirty="0">
                <a:latin typeface="KoPub돋움체 Medium"/>
              </a:rPr>
              <a:t>• </a:t>
            </a:r>
            <a:r>
              <a:rPr sz="1000" dirty="0" err="1">
                <a:latin typeface="KoPub돋움체 Medium"/>
              </a:rPr>
              <a:t>고비용</a:t>
            </a:r>
            <a:r>
              <a:rPr sz="1000" dirty="0">
                <a:latin typeface="KoPub돋움체 Medium"/>
              </a:rPr>
              <a:t> ECDSA </a:t>
            </a:r>
            <a:r>
              <a:rPr sz="1000" dirty="0" err="1">
                <a:latin typeface="KoPub돋움체 Medium"/>
              </a:rPr>
              <a:t>서명</a:t>
            </a:r>
            <a:r>
              <a:rPr sz="1000" dirty="0">
                <a:latin typeface="KoPub돋움체 Medium"/>
              </a:rPr>
              <a:t> </a:t>
            </a:r>
            <a:r>
              <a:rPr sz="1000" dirty="0" err="1">
                <a:latin typeface="KoPub돋움체 Medium"/>
              </a:rPr>
              <a:t>검증</a:t>
            </a:r>
            <a:r>
              <a:rPr sz="1000" dirty="0">
                <a:latin typeface="KoPub돋움체 Medium"/>
              </a:rPr>
              <a:t>(1.2ms) </a:t>
            </a:r>
            <a:r>
              <a:rPr sz="1000" dirty="0" err="1">
                <a:latin typeface="KoPub돋움체 Medium"/>
              </a:rPr>
              <a:t>진입</a:t>
            </a:r>
            <a:r>
              <a:rPr sz="1000" dirty="0">
                <a:latin typeface="KoPub돋움체 Medium"/>
              </a:rPr>
              <a:t> 전 O(1) </a:t>
            </a:r>
            <a:r>
              <a:rPr sz="1000" dirty="0" err="1">
                <a:latin typeface="KoPub돋움체 Medium"/>
              </a:rPr>
              <a:t>Lua로</a:t>
            </a:r>
            <a:r>
              <a:rPr sz="1000" dirty="0">
                <a:latin typeface="KoPub돋움체 Medium"/>
              </a:rPr>
              <a:t> </a:t>
            </a:r>
            <a:r>
              <a:rPr sz="1000" dirty="0" err="1">
                <a:latin typeface="KoPub돋움체 Medium"/>
              </a:rPr>
              <a:t>에지</a:t>
            </a:r>
            <a:r>
              <a:rPr sz="1000" dirty="0">
                <a:latin typeface="KoPub돋움체 Medium"/>
              </a:rPr>
              <a:t> 401 </a:t>
            </a:r>
            <a:r>
              <a:rPr sz="1000" dirty="0" err="1">
                <a:latin typeface="KoPub돋움체 Medium"/>
              </a:rPr>
              <a:t>차단</a:t>
            </a:r>
            <a:br>
              <a:rPr sz="1000" dirty="0"/>
            </a:br>
            <a:r>
              <a:rPr sz="1000" dirty="0">
                <a:latin typeface="KoPub돋움체 Medium"/>
              </a:rPr>
              <a:t>• </a:t>
            </a:r>
            <a:r>
              <a:rPr sz="1000" dirty="0" err="1">
                <a:latin typeface="KoPub돋움체 Medium"/>
              </a:rPr>
              <a:t>공격</a:t>
            </a:r>
            <a:r>
              <a:rPr sz="1000" dirty="0">
                <a:latin typeface="KoPub돋움체 Medium"/>
              </a:rPr>
              <a:t> </a:t>
            </a:r>
            <a:r>
              <a:rPr sz="1000" dirty="0" err="1">
                <a:latin typeface="KoPub돋움체 Medium"/>
              </a:rPr>
              <a:t>유입</a:t>
            </a:r>
            <a:r>
              <a:rPr sz="1000" dirty="0">
                <a:latin typeface="KoPub돋움체 Medium"/>
              </a:rPr>
              <a:t> </a:t>
            </a:r>
            <a:r>
              <a:rPr sz="1000" dirty="0" err="1">
                <a:latin typeface="KoPub돋움체 Medium"/>
              </a:rPr>
              <a:t>즉시</a:t>
            </a:r>
            <a:r>
              <a:rPr sz="1000" dirty="0">
                <a:latin typeface="KoPub돋움체 Medium"/>
              </a:rPr>
              <a:t> Nonce </a:t>
            </a:r>
            <a:r>
              <a:rPr sz="1000" dirty="0" err="1">
                <a:latin typeface="KoPub돋움체 Medium"/>
              </a:rPr>
              <a:t>소각</a:t>
            </a:r>
            <a:r>
              <a:rPr sz="1000" dirty="0">
                <a:latin typeface="KoPub돋움체 Medium"/>
              </a:rPr>
              <a:t>(Burn)</a:t>
            </a:r>
            <a:r>
              <a:rPr sz="1000" dirty="0" err="1">
                <a:latin typeface="KoPub돋움체 Medium"/>
              </a:rPr>
              <a:t>으로</a:t>
            </a:r>
            <a:r>
              <a:rPr sz="1000" dirty="0">
                <a:latin typeface="KoPub돋움체 Medium"/>
              </a:rPr>
              <a:t> </a:t>
            </a:r>
            <a:r>
              <a:rPr sz="1000" dirty="0" err="1">
                <a:latin typeface="KoPub돋움체 Medium"/>
              </a:rPr>
              <a:t>백엔드</a:t>
            </a:r>
            <a:r>
              <a:rPr sz="1000" dirty="0">
                <a:latin typeface="KoPub돋움체 Medium"/>
              </a:rPr>
              <a:t> CPU </a:t>
            </a:r>
            <a:r>
              <a:rPr sz="1000" dirty="0" err="1">
                <a:latin typeface="KoPub돋움체 Medium"/>
              </a:rPr>
              <a:t>자원</a:t>
            </a:r>
            <a:r>
              <a:rPr sz="1000" dirty="0">
                <a:latin typeface="KoPub돋움체 Medium"/>
              </a:rPr>
              <a:t> </a:t>
            </a:r>
            <a:r>
              <a:rPr sz="1000" dirty="0" err="1">
                <a:latin typeface="KoPub돋움체 Medium"/>
              </a:rPr>
              <a:t>소모</a:t>
            </a:r>
            <a:r>
              <a:rPr sz="1000" dirty="0">
                <a:latin typeface="KoPub돋움체 Medium"/>
              </a:rPr>
              <a:t> 0% </a:t>
            </a:r>
            <a:r>
              <a:rPr sz="1000" dirty="0" err="1">
                <a:latin typeface="KoPub돋움체 Medium"/>
              </a:rPr>
              <a:t>유지</a:t>
            </a:r>
            <a:br>
              <a:rPr sz="1000" dirty="0"/>
            </a:br>
            <a:r>
              <a:rPr sz="1000" dirty="0">
                <a:latin typeface="KoPub돋움체 Medium"/>
              </a:rPr>
              <a:t>• 20건 </a:t>
            </a:r>
            <a:r>
              <a:rPr sz="1000" dirty="0" err="1">
                <a:latin typeface="KoPub돋움체 Medium"/>
              </a:rPr>
              <a:t>동시</a:t>
            </a:r>
            <a:r>
              <a:rPr sz="1000" dirty="0">
                <a:latin typeface="KoPub돋움체 Medium"/>
              </a:rPr>
              <a:t> Redis </a:t>
            </a:r>
            <a:r>
              <a:rPr sz="1000" dirty="0" err="1">
                <a:latin typeface="KoPub돋움체 Medium"/>
              </a:rPr>
              <a:t>장애</a:t>
            </a:r>
            <a:r>
              <a:rPr sz="1000" dirty="0">
                <a:latin typeface="KoPub돋움체 Medium"/>
              </a:rPr>
              <a:t> 시: </a:t>
            </a:r>
            <a:r>
              <a:rPr sz="1000" dirty="0" err="1">
                <a:latin typeface="KoPub돋움체 Medium"/>
              </a:rPr>
              <a:t>로컬</a:t>
            </a:r>
            <a:r>
              <a:rPr sz="1000" dirty="0">
                <a:latin typeface="KoPub돋움체 Medium"/>
              </a:rPr>
              <a:t> </a:t>
            </a:r>
            <a:r>
              <a:rPr sz="1000" dirty="0" err="1">
                <a:latin typeface="KoPub돋움체 Medium"/>
              </a:rPr>
              <a:t>한도</a:t>
            </a:r>
            <a:r>
              <a:rPr sz="1000" dirty="0">
                <a:latin typeface="KoPub돋움체 Medium"/>
              </a:rPr>
              <a:t> </a:t>
            </a:r>
            <a:r>
              <a:rPr sz="1000" dirty="0" err="1">
                <a:latin typeface="KoPub돋움체 Medium"/>
              </a:rPr>
              <a:t>초과</a:t>
            </a:r>
            <a:r>
              <a:rPr sz="1000" dirty="0">
                <a:latin typeface="KoPub돋움체 Medium"/>
              </a:rPr>
              <a:t> 5건 429 </a:t>
            </a:r>
            <a:r>
              <a:rPr sz="1000" dirty="0" err="1">
                <a:latin typeface="KoPub돋움체 Medium"/>
              </a:rPr>
              <a:t>차단</a:t>
            </a:r>
            <a:r>
              <a:rPr sz="1000" dirty="0">
                <a:latin typeface="KoPub돋움체 Medium"/>
              </a:rPr>
              <a:t> · 15건 503 </a:t>
            </a:r>
            <a:r>
              <a:rPr sz="1000" dirty="0" err="1">
                <a:latin typeface="KoPub돋움체 Medium"/>
              </a:rPr>
              <a:t>차단</a:t>
            </a:r>
            <a:br>
              <a:rPr sz="1000" dirty="0"/>
            </a:br>
            <a:r>
              <a:rPr sz="1000" dirty="0">
                <a:latin typeface="KoPub돋움체 Medium"/>
              </a:rPr>
              <a:t>• Redis </a:t>
            </a:r>
            <a:r>
              <a:rPr sz="1000" dirty="0" err="1">
                <a:latin typeface="KoPub돋움체 Medium"/>
              </a:rPr>
              <a:t>장애</a:t>
            </a:r>
            <a:r>
              <a:rPr sz="1000" dirty="0">
                <a:latin typeface="KoPub돋움체 Medium"/>
              </a:rPr>
              <a:t> </a:t>
            </a:r>
            <a:r>
              <a:rPr sz="1000" dirty="0" err="1">
                <a:latin typeface="KoPub돋움체 Medium"/>
              </a:rPr>
              <a:t>중에도</a:t>
            </a:r>
            <a:r>
              <a:rPr sz="1000" dirty="0">
                <a:latin typeface="KoPub돋움체 Medium"/>
              </a:rPr>
              <a:t> </a:t>
            </a:r>
            <a:r>
              <a:rPr sz="1000" dirty="0" err="1">
                <a:latin typeface="KoPub돋움체 Medium"/>
              </a:rPr>
              <a:t>무단</a:t>
            </a:r>
            <a:r>
              <a:rPr sz="1000" dirty="0">
                <a:latin typeface="KoPub돋움체 Medium"/>
              </a:rPr>
              <a:t> </a:t>
            </a:r>
            <a:r>
              <a:rPr sz="1000" dirty="0" err="1">
                <a:latin typeface="KoPub돋움체 Medium"/>
              </a:rPr>
              <a:t>통과를</a:t>
            </a:r>
            <a:r>
              <a:rPr sz="1000" dirty="0">
                <a:latin typeface="KoPub돋움체 Medium"/>
              </a:rPr>
              <a:t> </a:t>
            </a:r>
            <a:r>
              <a:rPr sz="1000" dirty="0" err="1">
                <a:latin typeface="KoPub돋움체 Medium"/>
              </a:rPr>
              <a:t>막기</a:t>
            </a:r>
            <a:r>
              <a:rPr sz="1000" dirty="0">
                <a:latin typeface="KoPub돋움체 Medium"/>
              </a:rPr>
              <a:t> </a:t>
            </a:r>
            <a:r>
              <a:rPr sz="1000" dirty="0" err="1">
                <a:latin typeface="KoPub돋움체 Medium"/>
              </a:rPr>
              <a:t>위해</a:t>
            </a:r>
            <a:r>
              <a:rPr sz="1000" dirty="0">
                <a:latin typeface="KoPub돋움체 Medium"/>
              </a:rPr>
              <a:t> Nonce </a:t>
            </a:r>
            <a:r>
              <a:rPr sz="1000" dirty="0" err="1">
                <a:latin typeface="KoPub돋움체 Medium"/>
              </a:rPr>
              <a:t>검증은</a:t>
            </a:r>
            <a:r>
              <a:rPr sz="1000" dirty="0">
                <a:latin typeface="KoPub돋움체 Medium"/>
              </a:rPr>
              <a:t> 503 Fail-Closed </a:t>
            </a:r>
            <a:r>
              <a:rPr sz="1000" dirty="0" err="1">
                <a:latin typeface="KoPub돋움체 Medium"/>
              </a:rPr>
              <a:t>준수</a:t>
            </a:r>
            <a:endParaRPr sz="1000" dirty="0">
              <a:latin typeface="KoPub돋움체 Medium"/>
            </a:endParaRPr>
          </a:p>
        </p:txBody>
      </p:sp>
      <p:sp>
        <p:nvSpPr>
          <p:cNvPr id="18" name="Rounded Rectangle 17"/>
          <p:cNvSpPr/>
          <p:nvPr/>
        </p:nvSpPr>
        <p:spPr>
          <a:xfrm>
            <a:off x="356760" y="6048000"/>
            <a:ext cx="9198720" cy="342000"/>
          </a:xfrm>
          <a:prstGeom prst="roundRect">
            <a:avLst/>
          </a:prstGeom>
          <a:solidFill>
            <a:srgbClr val="F1F1F1"/>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890463" y="6142056"/>
            <a:ext cx="6125075" cy="153888"/>
          </a:xfrm>
          <a:prstGeom prst="rect">
            <a:avLst/>
          </a:prstGeom>
          <a:noFill/>
        </p:spPr>
        <p:txBody>
          <a:bodyPr wrap="none" lIns="0" tIns="0" rIns="0" bIns="0" anchor="ctr">
            <a:spAutoFit/>
          </a:bodyPr>
          <a:lstStyle/>
          <a:p>
            <a:pPr>
              <a:defRPr sz="900" b="1">
                <a:solidFill>
                  <a:srgbClr val="0F172A"/>
                </a:solidFill>
                <a:latin typeface="KoPub돋움체 Bold"/>
              </a:defRPr>
            </a:pPr>
            <a:r>
              <a:rPr sz="1000" dirty="0">
                <a:latin typeface="KoPub돋움체 Bold"/>
              </a:rPr>
              <a:t>requests == </a:t>
            </a:r>
            <a:r>
              <a:rPr sz="1000" dirty="0" err="1">
                <a:latin typeface="KoPub돋움체 Bold"/>
              </a:rPr>
              <a:t>rate_limited</a:t>
            </a:r>
            <a:r>
              <a:rPr sz="1000" dirty="0">
                <a:latin typeface="KoPub돋움체 Bold"/>
              </a:rPr>
              <a:t> (429) + </a:t>
            </a:r>
            <a:r>
              <a:rPr sz="1000" dirty="0" err="1">
                <a:latin typeface="KoPub돋움체 Bold"/>
              </a:rPr>
              <a:t>nonce_replays</a:t>
            </a:r>
            <a:r>
              <a:rPr sz="1000" dirty="0">
                <a:latin typeface="KoPub돋움체 Bold"/>
              </a:rPr>
              <a:t> (401) + </a:t>
            </a:r>
            <a:r>
              <a:rPr sz="1000" dirty="0" err="1">
                <a:latin typeface="KoPub돋움체 Bold"/>
              </a:rPr>
              <a:t>redis_outage_blocked</a:t>
            </a:r>
            <a:r>
              <a:rPr sz="1000" dirty="0">
                <a:latin typeface="KoPub돋움체 Bold"/>
              </a:rPr>
              <a:t> (503) + ... (</a:t>
            </a:r>
            <a:r>
              <a:rPr sz="1000" dirty="0" err="1">
                <a:latin typeface="KoPub돋움체 Bold"/>
              </a:rPr>
              <a:t>누락</a:t>
            </a:r>
            <a:r>
              <a:rPr sz="1000" dirty="0">
                <a:latin typeface="KoPub돋움체 Bold"/>
              </a:rPr>
              <a:t> </a:t>
            </a:r>
            <a:r>
              <a:rPr sz="1000" dirty="0" err="1">
                <a:latin typeface="KoPub돋움체 Bold"/>
              </a:rPr>
              <a:t>없이</a:t>
            </a:r>
            <a:r>
              <a:rPr sz="1000" dirty="0">
                <a:latin typeface="KoPub돋움체 Bold"/>
              </a:rPr>
              <a:t> </a:t>
            </a:r>
            <a:r>
              <a:rPr sz="1000" dirty="0" err="1">
                <a:latin typeface="KoPub돋움체 Bold"/>
              </a:rPr>
              <a:t>오차</a:t>
            </a:r>
            <a:r>
              <a:rPr sz="1000" dirty="0">
                <a:latin typeface="KoPub돋움체 Bold"/>
              </a:rPr>
              <a:t> 0건)</a:t>
            </a:r>
          </a:p>
        </p:txBody>
      </p:sp>
      <p:sp>
        <p:nvSpPr>
          <p:cNvPr id="21" name="TextBox 20"/>
          <p:cNvSpPr txBox="1"/>
          <p:nvPr/>
        </p:nvSpPr>
        <p:spPr>
          <a:xfrm>
            <a:off x="8723520" y="6537960"/>
            <a:ext cx="831960" cy="246960"/>
          </a:xfrm>
          <a:prstGeom prst="rect">
            <a:avLst/>
          </a:prstGeom>
          <a:noFill/>
        </p:spPr>
        <p:txBody>
          <a:bodyPr wrap="none" lIns="0" tIns="0" rIns="0" bIns="0">
            <a:spAutoFit/>
          </a:bodyPr>
          <a:lstStyle/>
          <a:p>
            <a:pPr algn="r">
              <a:defRPr sz="1000" b="1">
                <a:solidFill>
                  <a:srgbClr val="6B7280"/>
                </a:solidFill>
                <a:latin typeface="KoPub돋움체 Bold"/>
              </a:defRPr>
            </a:pPr>
            <a:r>
              <a:rPr>
                <a:latin typeface="KoPub돋움체 Bold"/>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9FAFD"/>
        </a:solidFill>
        <a:effectLst/>
      </p:bgPr>
    </p:bg>
    <p:spTree>
      <p:nvGrpSpPr>
        <p:cNvPr id="1" name=""/>
        <p:cNvGrpSpPr/>
        <p:nvPr/>
      </p:nvGrpSpPr>
      <p:grpSpPr>
        <a:xfrm>
          <a:off x="0" y="0"/>
          <a:ext cx="0" cy="0"/>
          <a:chOff x="0" y="0"/>
          <a:chExt cx="0" cy="0"/>
        </a:xfrm>
      </p:grpSpPr>
      <p:sp>
        <p:nvSpPr>
          <p:cNvPr id="2" name="Rounded Rectangle 1"/>
          <p:cNvSpPr/>
          <p:nvPr/>
        </p:nvSpPr>
        <p:spPr>
          <a:xfrm>
            <a:off x="356760" y="292680"/>
            <a:ext cx="9198720" cy="493920"/>
          </a:xfrm>
          <a:prstGeom prst="roundRect">
            <a:avLst/>
          </a:prstGeom>
          <a:solidFill>
            <a:srgbClr val="0E306D"/>
          </a:solidFill>
          <a:ln w="12700">
            <a:solidFill>
              <a:srgbClr val="0E30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80"/>
            <a:ext cx="8778240" cy="493920"/>
          </a:xfrm>
          <a:prstGeom prst="rect">
            <a:avLst/>
          </a:prstGeom>
          <a:noFill/>
        </p:spPr>
        <p:txBody>
          <a:bodyPr wrap="square" lIns="0" tIns="0" rIns="0" bIns="0" anchor="ctr">
            <a:spAutoFit/>
          </a:bodyPr>
          <a:lstStyle/>
          <a:p>
            <a:pPr>
              <a:defRPr sz="2000" b="1">
                <a:solidFill>
                  <a:srgbClr val="FFFFFF"/>
                </a:solidFill>
                <a:latin typeface="KoPub돋움체 Bold"/>
              </a:defRPr>
            </a:pPr>
            <a:r>
              <a:rPr>
                <a:latin typeface="KoPub돋움체 Bold"/>
              </a:rPr>
              <a:t>03. 지능형 서킷 브레이커와 복구 시점 플래핑 방어</a:t>
            </a:r>
          </a:p>
        </p:txBody>
      </p:sp>
      <p:sp>
        <p:nvSpPr>
          <p:cNvPr id="4" name="Rounded Rectangle 3"/>
          <p:cNvSpPr/>
          <p:nvPr/>
        </p:nvSpPr>
        <p:spPr>
          <a:xfrm>
            <a:off x="356760" y="914400"/>
            <a:ext cx="9198720" cy="347400"/>
          </a:xfrm>
          <a:prstGeom prst="roundRect">
            <a:avLst/>
          </a:prstGeom>
          <a:solidFill>
            <a:srgbClr val="F1F1F1"/>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914400"/>
            <a:ext cx="9052560" cy="347400"/>
          </a:xfrm>
          <a:prstGeom prst="rect">
            <a:avLst/>
          </a:prstGeom>
          <a:noFill/>
        </p:spPr>
        <p:txBody>
          <a:bodyPr wrap="square" lIns="0" tIns="0" rIns="0" bIns="0" anchor="ctr">
            <a:spAutoFit/>
          </a:bodyPr>
          <a:lstStyle/>
          <a:p>
            <a:pPr>
              <a:defRPr sz="1050" b="1">
                <a:solidFill>
                  <a:srgbClr val="0E306D"/>
                </a:solidFill>
                <a:latin typeface="KoPub돋움체 Bold"/>
              </a:defRPr>
            </a:pPr>
            <a:r>
              <a:rPr>
                <a:latin typeface="KoPub돋움체 Bold"/>
              </a:rPr>
              <a:t>연속 3회 실패 시 OPEN 격리, 2.0s 디바운스 및 단일 프로브(Probe) 세마포어로 재붕괴 원천 차단</a:t>
            </a:r>
          </a:p>
        </p:txBody>
      </p:sp>
      <p:sp>
        <p:nvSpPr>
          <p:cNvPr id="6" name="Rounded Rectangle 5"/>
          <p:cNvSpPr/>
          <p:nvPr/>
        </p:nvSpPr>
        <p:spPr>
          <a:xfrm>
            <a:off x="356760" y="1350000"/>
            <a:ext cx="2926080" cy="2155944"/>
          </a:xfrm>
          <a:prstGeom prst="roundRect">
            <a:avLst>
              <a:gd name="adj" fmla="val 6168"/>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64760" y="1458000"/>
            <a:ext cx="2710080" cy="288000"/>
          </a:xfrm>
          <a:prstGeom prst="roundRect">
            <a:avLst/>
          </a:prstGeom>
          <a:solidFill>
            <a:srgbClr val="E3F3F2"/>
          </a:solidFill>
          <a:ln>
            <a:solidFill>
              <a:srgbClr val="A7F3D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50" b="1">
                <a:solidFill>
                  <a:srgbClr val="009A93"/>
                </a:solidFill>
                <a:latin typeface="KoPub돋움체 Bold"/>
              </a:defRPr>
            </a:pPr>
            <a:r>
              <a:rPr sz="1000" dirty="0">
                <a:latin typeface="KoPub돋움체 Bold"/>
              </a:rPr>
              <a:t>CLOSED (</a:t>
            </a:r>
            <a:r>
              <a:rPr sz="1000" dirty="0" err="1">
                <a:latin typeface="KoPub돋움체 Bold"/>
              </a:rPr>
              <a:t>정상</a:t>
            </a:r>
            <a:r>
              <a:rPr sz="1000" dirty="0">
                <a:latin typeface="KoPub돋움체 Bold"/>
              </a:rPr>
              <a:t> </a:t>
            </a:r>
            <a:r>
              <a:rPr sz="1000" dirty="0" err="1">
                <a:latin typeface="KoPub돋움체 Bold"/>
              </a:rPr>
              <a:t>동작</a:t>
            </a:r>
            <a:r>
              <a:rPr sz="1000" dirty="0">
                <a:latin typeface="KoPub돋움체 Bold"/>
              </a:rPr>
              <a:t>)</a:t>
            </a:r>
          </a:p>
        </p:txBody>
      </p:sp>
      <p:sp>
        <p:nvSpPr>
          <p:cNvPr id="8" name="TextBox 7"/>
          <p:cNvSpPr txBox="1"/>
          <p:nvPr/>
        </p:nvSpPr>
        <p:spPr>
          <a:xfrm>
            <a:off x="500760" y="1800000"/>
            <a:ext cx="2638080" cy="1169872"/>
          </a:xfrm>
          <a:prstGeom prst="rect">
            <a:avLst/>
          </a:prstGeom>
          <a:noFill/>
        </p:spPr>
        <p:txBody>
          <a:bodyPr wrap="square" lIns="0" tIns="0" rIns="0" bIns="0">
            <a:spAutoFit/>
          </a:bodyPr>
          <a:lstStyle/>
          <a:p>
            <a:pPr>
              <a:lnSpc>
                <a:spcPct val="150000"/>
              </a:lnSpc>
              <a:defRPr sz="780">
                <a:solidFill>
                  <a:srgbClr val="0F172A"/>
                </a:solidFill>
                <a:latin typeface="KoPub돋움체 Medium"/>
              </a:defRPr>
            </a:pPr>
            <a:r>
              <a:rPr sz="1000" dirty="0">
                <a:latin typeface="KoPub돋움체 Medium"/>
              </a:rPr>
              <a:t>•  [</a:t>
            </a:r>
            <a:r>
              <a:rPr sz="1000" dirty="0" err="1">
                <a:latin typeface="KoPub돋움체 Medium"/>
              </a:rPr>
              <a:t>정상</a:t>
            </a:r>
            <a:r>
              <a:rPr sz="1000" dirty="0">
                <a:latin typeface="KoPub돋움체 Medium"/>
              </a:rPr>
              <a:t> </a:t>
            </a:r>
            <a:r>
              <a:rPr sz="1000" dirty="0" err="1">
                <a:latin typeface="KoPub돋움체 Medium"/>
              </a:rPr>
              <a:t>흐름</a:t>
            </a:r>
            <a:r>
              <a:rPr sz="1000" dirty="0">
                <a:latin typeface="KoPub돋움체 Medium"/>
              </a:rPr>
              <a:t>] Policy </a:t>
            </a:r>
            <a:r>
              <a:rPr sz="1000" dirty="0" err="1">
                <a:latin typeface="KoPub돋움체 Medium"/>
              </a:rPr>
              <a:t>DB로</a:t>
            </a:r>
            <a:r>
              <a:rPr sz="1000" dirty="0">
                <a:latin typeface="KoPub돋움체 Medium"/>
              </a:rPr>
              <a:t> </a:t>
            </a:r>
            <a:r>
              <a:rPr sz="1000" dirty="0" err="1">
                <a:latin typeface="KoPub돋움체 Medium"/>
              </a:rPr>
              <a:t>실시간</a:t>
            </a:r>
            <a:r>
              <a:rPr sz="1000" dirty="0">
                <a:latin typeface="KoPub돋움체 Medium"/>
              </a:rPr>
              <a:t> </a:t>
            </a:r>
            <a:r>
              <a:rPr sz="1000" dirty="0" err="1">
                <a:latin typeface="KoPub돋움체 Medium"/>
              </a:rPr>
              <a:t>쿼리</a:t>
            </a:r>
            <a:r>
              <a:rPr sz="1000" dirty="0">
                <a:latin typeface="KoPub돋움체 Medium"/>
              </a:rPr>
              <a:t> </a:t>
            </a:r>
            <a:r>
              <a:rPr sz="1000" dirty="0" err="1">
                <a:latin typeface="KoPub돋움체 Medium"/>
              </a:rPr>
              <a:t>실행</a:t>
            </a:r>
            <a:r>
              <a:rPr sz="1000" dirty="0">
                <a:latin typeface="KoPub돋움체 Medium"/>
              </a:rPr>
              <a:t> (</a:t>
            </a:r>
            <a:r>
              <a:rPr sz="1000" dirty="0" err="1">
                <a:latin typeface="KoPub돋움체 Medium"/>
              </a:rPr>
              <a:t>정상</a:t>
            </a:r>
            <a:r>
              <a:rPr sz="1000" dirty="0">
                <a:latin typeface="KoPub돋움체 Medium"/>
              </a:rPr>
              <a:t> </a:t>
            </a:r>
            <a:r>
              <a:rPr sz="1000" dirty="0" err="1">
                <a:latin typeface="KoPub돋움체 Medium"/>
              </a:rPr>
              <a:t>응답</a:t>
            </a:r>
            <a:r>
              <a:rPr sz="1000" dirty="0">
                <a:latin typeface="KoPub돋움체 Medium"/>
              </a:rPr>
              <a:t> 시 </a:t>
            </a:r>
            <a:r>
              <a:rPr sz="1000" dirty="0" err="1">
                <a:latin typeface="KoPub돋움체 Medium"/>
              </a:rPr>
              <a:t>실패</a:t>
            </a:r>
            <a:r>
              <a:rPr sz="1000" dirty="0">
                <a:latin typeface="KoPub돋움체 Medium"/>
              </a:rPr>
              <a:t> </a:t>
            </a:r>
            <a:r>
              <a:rPr sz="1000" dirty="0" err="1">
                <a:latin typeface="KoPub돋움체 Medium"/>
              </a:rPr>
              <a:t>카운터</a:t>
            </a:r>
            <a:r>
              <a:rPr sz="1000" dirty="0">
                <a:latin typeface="KoPub돋움체 Medium"/>
              </a:rPr>
              <a:t> 0 </a:t>
            </a:r>
            <a:r>
              <a:rPr sz="1000" dirty="0" err="1">
                <a:latin typeface="KoPub돋움체 Medium"/>
              </a:rPr>
              <a:t>리셋</a:t>
            </a:r>
            <a:r>
              <a:rPr sz="1000" dirty="0">
                <a:latin typeface="KoPub돋움체 Medium"/>
              </a:rPr>
              <a:t>)</a:t>
            </a:r>
          </a:p>
          <a:p>
            <a:pPr>
              <a:lnSpc>
                <a:spcPct val="150000"/>
              </a:lnSpc>
              <a:spcBef>
                <a:spcPts val="250"/>
              </a:spcBef>
              <a:defRPr sz="780">
                <a:solidFill>
                  <a:srgbClr val="0F172A"/>
                </a:solidFill>
                <a:latin typeface="KoPub돋움체 Medium"/>
              </a:defRPr>
            </a:pPr>
            <a:r>
              <a:rPr sz="1000" dirty="0">
                <a:latin typeface="KoPub돋움체 Medium"/>
              </a:rPr>
              <a:t>•  [</a:t>
            </a:r>
            <a:r>
              <a:rPr sz="1000" dirty="0" err="1">
                <a:latin typeface="KoPub돋움체 Medium"/>
              </a:rPr>
              <a:t>전이</a:t>
            </a:r>
            <a:r>
              <a:rPr sz="1000" dirty="0">
                <a:latin typeface="KoPub돋움체 Medium"/>
              </a:rPr>
              <a:t> </a:t>
            </a:r>
            <a:r>
              <a:rPr sz="1000" dirty="0" err="1">
                <a:latin typeface="KoPub돋움체 Medium"/>
              </a:rPr>
              <a:t>트리거</a:t>
            </a:r>
            <a:r>
              <a:rPr sz="1000" dirty="0">
                <a:latin typeface="KoPub돋움체 Medium"/>
              </a:rPr>
              <a:t>] </a:t>
            </a:r>
            <a:r>
              <a:rPr sz="1000" dirty="0" err="1">
                <a:latin typeface="KoPub돋움체 Medium"/>
              </a:rPr>
              <a:t>연속</a:t>
            </a:r>
            <a:r>
              <a:rPr sz="1000" dirty="0">
                <a:latin typeface="KoPub돋움체 Medium"/>
              </a:rPr>
              <a:t> 3회 </a:t>
            </a:r>
            <a:r>
              <a:rPr sz="1000" dirty="0" err="1">
                <a:latin typeface="KoPub돋움체 Medium"/>
              </a:rPr>
              <a:t>실패</a:t>
            </a:r>
            <a:r>
              <a:rPr sz="1000" dirty="0">
                <a:latin typeface="KoPub돋움체 Medium"/>
              </a:rPr>
              <a:t>(CB_MAX_FAILURES = 3) </a:t>
            </a:r>
            <a:r>
              <a:rPr sz="1000" dirty="0" err="1">
                <a:latin typeface="KoPub돋움체 Medium"/>
              </a:rPr>
              <a:t>감지</a:t>
            </a:r>
            <a:r>
              <a:rPr sz="1000" dirty="0">
                <a:latin typeface="KoPub돋움체 Medium"/>
              </a:rPr>
              <a:t> </a:t>
            </a:r>
            <a:r>
              <a:rPr sz="1000" dirty="0" err="1">
                <a:latin typeface="KoPub돋움체 Medium"/>
              </a:rPr>
              <a:t>즉시</a:t>
            </a:r>
            <a:r>
              <a:rPr sz="1000" dirty="0">
                <a:latin typeface="KoPub돋움체 Medium"/>
              </a:rPr>
              <a:t> OPEN </a:t>
            </a:r>
            <a:r>
              <a:rPr sz="1000" dirty="0" err="1">
                <a:latin typeface="KoPub돋움체 Medium"/>
              </a:rPr>
              <a:t>상태로</a:t>
            </a:r>
            <a:r>
              <a:rPr sz="1000" dirty="0">
                <a:latin typeface="KoPub돋움체 Medium"/>
              </a:rPr>
              <a:t> </a:t>
            </a:r>
            <a:r>
              <a:rPr sz="1000" dirty="0" err="1">
                <a:latin typeface="KoPub돋움체 Medium"/>
              </a:rPr>
              <a:t>전이</a:t>
            </a:r>
            <a:endParaRPr sz="1000" dirty="0">
              <a:latin typeface="KoPub돋움체 Medium"/>
            </a:endParaRPr>
          </a:p>
        </p:txBody>
      </p:sp>
      <p:sp>
        <p:nvSpPr>
          <p:cNvPr id="9" name="Rounded Rectangle 8"/>
          <p:cNvSpPr/>
          <p:nvPr/>
        </p:nvSpPr>
        <p:spPr>
          <a:xfrm>
            <a:off x="3483720" y="1350000"/>
            <a:ext cx="2926080" cy="2155944"/>
          </a:xfrm>
          <a:prstGeom prst="roundRect">
            <a:avLst>
              <a:gd name="adj" fmla="val 6167"/>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591720" y="1458000"/>
            <a:ext cx="2710080" cy="288000"/>
          </a:xfrm>
          <a:prstGeom prst="roundRect">
            <a:avLst/>
          </a:prstGeom>
          <a:solidFill>
            <a:srgbClr val="FEF2F2"/>
          </a:solidFill>
          <a:ln>
            <a:solidFill>
              <a:srgbClr val="FECDD3"/>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50" b="1">
                <a:solidFill>
                  <a:srgbClr val="B91C1C"/>
                </a:solidFill>
                <a:latin typeface="KoPub돋움체 Bold"/>
              </a:defRPr>
            </a:pPr>
            <a:r>
              <a:rPr sz="1000" dirty="0">
                <a:latin typeface="KoPub돋움체 Bold"/>
              </a:rPr>
              <a:t>OPEN (</a:t>
            </a:r>
            <a:r>
              <a:rPr sz="1000" dirty="0" err="1">
                <a:latin typeface="KoPub돋움체 Bold"/>
              </a:rPr>
              <a:t>차단</a:t>
            </a:r>
            <a:r>
              <a:rPr sz="1000" dirty="0">
                <a:latin typeface="KoPub돋움체 Bold"/>
              </a:rPr>
              <a:t> 및 </a:t>
            </a:r>
            <a:r>
              <a:rPr sz="1000" dirty="0" err="1">
                <a:latin typeface="KoPub돋움체 Bold"/>
              </a:rPr>
              <a:t>안전</a:t>
            </a:r>
            <a:r>
              <a:rPr sz="1000" dirty="0">
                <a:latin typeface="KoPub돋움체 Bold"/>
              </a:rPr>
              <a:t> </a:t>
            </a:r>
            <a:r>
              <a:rPr sz="1000" dirty="0" err="1">
                <a:latin typeface="KoPub돋움체 Bold"/>
              </a:rPr>
              <a:t>격리</a:t>
            </a:r>
            <a:r>
              <a:rPr sz="1000" dirty="0">
                <a:latin typeface="KoPub돋움체 Bold"/>
              </a:rPr>
              <a:t>)</a:t>
            </a:r>
          </a:p>
        </p:txBody>
      </p:sp>
      <p:sp>
        <p:nvSpPr>
          <p:cNvPr id="11" name="TextBox 10"/>
          <p:cNvSpPr txBox="1"/>
          <p:nvPr/>
        </p:nvSpPr>
        <p:spPr>
          <a:xfrm>
            <a:off x="3627720" y="1800000"/>
            <a:ext cx="2638080" cy="1670009"/>
          </a:xfrm>
          <a:prstGeom prst="rect">
            <a:avLst/>
          </a:prstGeom>
          <a:noFill/>
        </p:spPr>
        <p:txBody>
          <a:bodyPr wrap="square" lIns="0" tIns="0" rIns="0" bIns="0">
            <a:spAutoFit/>
          </a:bodyPr>
          <a:lstStyle/>
          <a:p>
            <a:pPr>
              <a:lnSpc>
                <a:spcPct val="150000"/>
              </a:lnSpc>
              <a:defRPr sz="780">
                <a:solidFill>
                  <a:srgbClr val="0F172A"/>
                </a:solidFill>
                <a:latin typeface="KoPub돋움체 Medium"/>
              </a:defRPr>
            </a:pPr>
            <a:r>
              <a:rPr sz="1000" dirty="0">
                <a:latin typeface="KoPub돋움체 Medium"/>
              </a:rPr>
              <a:t>•  [</a:t>
            </a:r>
            <a:r>
              <a:rPr sz="1000" dirty="0" err="1">
                <a:latin typeface="KoPub돋움체 Medium"/>
              </a:rPr>
              <a:t>차단</a:t>
            </a:r>
            <a:r>
              <a:rPr sz="1000" dirty="0">
                <a:latin typeface="KoPub돋움체 Medium"/>
              </a:rPr>
              <a:t> </a:t>
            </a:r>
            <a:r>
              <a:rPr sz="1000" dirty="0" err="1">
                <a:latin typeface="KoPub돋움체 Medium"/>
              </a:rPr>
              <a:t>흐름</a:t>
            </a:r>
            <a:r>
              <a:rPr sz="1000" dirty="0">
                <a:latin typeface="KoPub돋움체 Medium"/>
              </a:rPr>
              <a:t>] Policy DB </a:t>
            </a:r>
            <a:r>
              <a:rPr sz="1000" dirty="0" err="1">
                <a:latin typeface="KoPub돋움체 Medium"/>
              </a:rPr>
              <a:t>호출</a:t>
            </a:r>
            <a:r>
              <a:rPr sz="1000" dirty="0">
                <a:latin typeface="KoPub돋움체 Medium"/>
              </a:rPr>
              <a:t> </a:t>
            </a:r>
            <a:r>
              <a:rPr sz="1000" dirty="0" err="1">
                <a:latin typeface="KoPub돋움체 Medium"/>
              </a:rPr>
              <a:t>즉시</a:t>
            </a:r>
            <a:r>
              <a:rPr sz="1000" dirty="0">
                <a:latin typeface="KoPub돋움체 Medium"/>
              </a:rPr>
              <a:t> </a:t>
            </a:r>
            <a:r>
              <a:rPr sz="1000" dirty="0" err="1">
                <a:latin typeface="KoPub돋움체 Medium"/>
              </a:rPr>
              <a:t>차단</a:t>
            </a:r>
            <a:r>
              <a:rPr sz="1000" dirty="0">
                <a:latin typeface="KoPub돋움체 Medium"/>
              </a:rPr>
              <a:t> (0.1ms </a:t>
            </a:r>
            <a:r>
              <a:rPr sz="1000" dirty="0" err="1">
                <a:latin typeface="KoPub돋움체 Medium"/>
              </a:rPr>
              <a:t>이내</a:t>
            </a:r>
            <a:r>
              <a:rPr sz="1000" dirty="0">
                <a:latin typeface="KoPub돋움체 Medium"/>
              </a:rPr>
              <a:t> </a:t>
            </a:r>
            <a:r>
              <a:rPr sz="1000" dirty="0" err="1">
                <a:latin typeface="KoPub돋움체 Medium"/>
              </a:rPr>
              <a:t>고속</a:t>
            </a:r>
            <a:r>
              <a:rPr sz="1000" dirty="0">
                <a:latin typeface="KoPub돋움체 Medium"/>
              </a:rPr>
              <a:t> </a:t>
            </a:r>
            <a:r>
              <a:rPr sz="1000" dirty="0" err="1">
                <a:latin typeface="KoPub돋움체 Medium"/>
              </a:rPr>
              <a:t>응답으로</a:t>
            </a:r>
            <a:r>
              <a:rPr sz="1000" dirty="0">
                <a:latin typeface="KoPub돋움체 Medium"/>
              </a:rPr>
              <a:t> </a:t>
            </a:r>
            <a:r>
              <a:rPr sz="1000" dirty="0" err="1">
                <a:latin typeface="KoPub돋움체 Medium"/>
              </a:rPr>
              <a:t>스레드</a:t>
            </a:r>
            <a:r>
              <a:rPr sz="1000" dirty="0">
                <a:latin typeface="KoPub돋움체 Medium"/>
              </a:rPr>
              <a:t> 풀 </a:t>
            </a:r>
            <a:r>
              <a:rPr sz="1000" dirty="0" err="1">
                <a:latin typeface="KoPub돋움체 Medium"/>
              </a:rPr>
              <a:t>보호</a:t>
            </a:r>
            <a:r>
              <a:rPr sz="1000" dirty="0">
                <a:latin typeface="KoPub돋움체 Medium"/>
              </a:rPr>
              <a:t>)</a:t>
            </a:r>
          </a:p>
          <a:p>
            <a:pPr>
              <a:lnSpc>
                <a:spcPct val="150000"/>
              </a:lnSpc>
              <a:spcBef>
                <a:spcPts val="250"/>
              </a:spcBef>
              <a:defRPr sz="780">
                <a:solidFill>
                  <a:srgbClr val="0F172A"/>
                </a:solidFill>
                <a:latin typeface="KoPub돋움체 Medium"/>
              </a:defRPr>
            </a:pPr>
            <a:r>
              <a:rPr sz="1000" dirty="0">
                <a:latin typeface="KoPub돋움체 Medium"/>
              </a:rPr>
              <a:t>•  [</a:t>
            </a:r>
            <a:r>
              <a:rPr sz="1000" dirty="0" err="1">
                <a:latin typeface="KoPub돋움체 Medium"/>
              </a:rPr>
              <a:t>인가</a:t>
            </a:r>
            <a:r>
              <a:rPr sz="1000" dirty="0">
                <a:latin typeface="KoPub돋움체 Medium"/>
              </a:rPr>
              <a:t> </a:t>
            </a:r>
            <a:r>
              <a:rPr sz="1000" dirty="0" err="1">
                <a:latin typeface="KoPub돋움체 Medium"/>
              </a:rPr>
              <a:t>정책</a:t>
            </a:r>
            <a:r>
              <a:rPr sz="1000" dirty="0">
                <a:latin typeface="KoPub돋움체 Medium"/>
              </a:rPr>
              <a:t> </a:t>
            </a:r>
            <a:r>
              <a:rPr sz="1000" dirty="0" err="1">
                <a:latin typeface="KoPub돋움체 Medium"/>
              </a:rPr>
              <a:t>분기</a:t>
            </a:r>
            <a:r>
              <a:rPr sz="1000" dirty="0">
                <a:latin typeface="KoPub돋움체 Medium"/>
              </a:rPr>
              <a:t>] </a:t>
            </a:r>
            <a:r>
              <a:rPr sz="1000" dirty="0" err="1">
                <a:latin typeface="KoPub돋움체 Medium"/>
              </a:rPr>
              <a:t>일반</a:t>
            </a:r>
            <a:r>
              <a:rPr sz="1000" dirty="0">
                <a:latin typeface="KoPub돋움체 Medium"/>
              </a:rPr>
              <a:t> </a:t>
            </a:r>
            <a:r>
              <a:rPr sz="1000" dirty="0" err="1">
                <a:latin typeface="KoPub돋움체 Medium"/>
              </a:rPr>
              <a:t>정책</a:t>
            </a:r>
            <a:r>
              <a:rPr sz="1000" dirty="0">
                <a:latin typeface="KoPub돋움체 Medium"/>
              </a:rPr>
              <a:t> </a:t>
            </a:r>
            <a:r>
              <a:rPr sz="1000" dirty="0" err="1">
                <a:latin typeface="KoPub돋움체 Medium"/>
              </a:rPr>
              <a:t>degraded_allow</a:t>
            </a:r>
            <a:r>
              <a:rPr sz="1000" dirty="0">
                <a:latin typeface="KoPub돋움체 Medium"/>
              </a:rPr>
              <a:t> </a:t>
            </a:r>
            <a:r>
              <a:rPr sz="1000" dirty="0" err="1">
                <a:latin typeface="KoPub돋움체 Medium"/>
              </a:rPr>
              <a:t>응답</a:t>
            </a:r>
            <a:r>
              <a:rPr sz="1000" dirty="0">
                <a:latin typeface="KoPub돋움체 Medium"/>
              </a:rPr>
              <a:t> / </a:t>
            </a:r>
            <a:r>
              <a:rPr sz="1000" dirty="0" err="1">
                <a:latin typeface="KoPub돋움체 Medium"/>
              </a:rPr>
              <a:t>PoP</a:t>
            </a:r>
            <a:r>
              <a:rPr sz="1000" dirty="0">
                <a:latin typeface="KoPub돋움체 Medium"/>
              </a:rPr>
              <a:t> </a:t>
            </a:r>
            <a:r>
              <a:rPr sz="1000" dirty="0" err="1">
                <a:latin typeface="KoPub돋움체 Medium"/>
              </a:rPr>
              <a:t>공개키</a:t>
            </a:r>
            <a:r>
              <a:rPr sz="1000" dirty="0">
                <a:latin typeface="KoPub돋움체 Medium"/>
              </a:rPr>
              <a:t> 503 Fail-Closed </a:t>
            </a:r>
            <a:r>
              <a:rPr sz="1000" dirty="0" err="1">
                <a:latin typeface="KoPub돋움체 Medium"/>
              </a:rPr>
              <a:t>차단</a:t>
            </a:r>
            <a:endParaRPr sz="1000" dirty="0">
              <a:latin typeface="KoPub돋움체 Medium"/>
            </a:endParaRPr>
          </a:p>
          <a:p>
            <a:pPr>
              <a:lnSpc>
                <a:spcPct val="150000"/>
              </a:lnSpc>
              <a:spcBef>
                <a:spcPts val="250"/>
              </a:spcBef>
              <a:defRPr sz="780">
                <a:solidFill>
                  <a:srgbClr val="0F172A"/>
                </a:solidFill>
                <a:latin typeface="KoPub돋움체 Medium"/>
              </a:defRPr>
            </a:pPr>
            <a:r>
              <a:rPr sz="1000" dirty="0">
                <a:latin typeface="KoPub돋움체 Medium"/>
              </a:rPr>
              <a:t>•  [</a:t>
            </a:r>
            <a:r>
              <a:rPr sz="1000" dirty="0" err="1">
                <a:latin typeface="KoPub돋움체 Medium"/>
              </a:rPr>
              <a:t>전이</a:t>
            </a:r>
            <a:r>
              <a:rPr sz="1000" dirty="0">
                <a:latin typeface="KoPub돋움체 Medium"/>
              </a:rPr>
              <a:t> </a:t>
            </a:r>
            <a:r>
              <a:rPr sz="1000" dirty="0" err="1">
                <a:latin typeface="KoPub돋움체 Medium"/>
              </a:rPr>
              <a:t>트리거</a:t>
            </a:r>
            <a:r>
              <a:rPr sz="1000" dirty="0">
                <a:latin typeface="KoPub돋움체 Medium"/>
              </a:rPr>
              <a:t>] 3.0초 </a:t>
            </a:r>
            <a:r>
              <a:rPr sz="1000" dirty="0" err="1">
                <a:latin typeface="KoPub돋움체 Medium"/>
              </a:rPr>
              <a:t>경과</a:t>
            </a:r>
            <a:r>
              <a:rPr sz="1000" dirty="0">
                <a:latin typeface="KoPub돋움체 Medium"/>
              </a:rPr>
              <a:t>(CB_RESET_TIMEOUT_SEC) 시 HALF-OPEN </a:t>
            </a:r>
            <a:r>
              <a:rPr sz="1000" dirty="0" err="1">
                <a:latin typeface="KoPub돋움체 Medium"/>
              </a:rPr>
              <a:t>상태로</a:t>
            </a:r>
            <a:r>
              <a:rPr sz="1000" dirty="0">
                <a:latin typeface="KoPub돋움체 Medium"/>
              </a:rPr>
              <a:t> </a:t>
            </a:r>
            <a:r>
              <a:rPr sz="1000" dirty="0" err="1">
                <a:latin typeface="KoPub돋움체 Medium"/>
              </a:rPr>
              <a:t>자동</a:t>
            </a:r>
            <a:r>
              <a:rPr sz="1000" dirty="0">
                <a:latin typeface="KoPub돋움체 Medium"/>
              </a:rPr>
              <a:t> </a:t>
            </a:r>
            <a:r>
              <a:rPr sz="1000" dirty="0" err="1">
                <a:latin typeface="KoPub돋움체 Medium"/>
              </a:rPr>
              <a:t>전이</a:t>
            </a:r>
            <a:endParaRPr sz="1000" dirty="0">
              <a:latin typeface="KoPub돋움체 Medium"/>
            </a:endParaRPr>
          </a:p>
        </p:txBody>
      </p:sp>
      <p:sp>
        <p:nvSpPr>
          <p:cNvPr id="12" name="Rounded Rectangle 11"/>
          <p:cNvSpPr/>
          <p:nvPr/>
        </p:nvSpPr>
        <p:spPr>
          <a:xfrm>
            <a:off x="6611039" y="1350000"/>
            <a:ext cx="2926080" cy="2155944"/>
          </a:xfrm>
          <a:prstGeom prst="roundRect">
            <a:avLst>
              <a:gd name="adj" fmla="val 7008"/>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719039" y="1458000"/>
            <a:ext cx="2710080" cy="288000"/>
          </a:xfrm>
          <a:prstGeom prst="roundRect">
            <a:avLst/>
          </a:prstGeom>
          <a:solidFill>
            <a:srgbClr val="EEF5FF"/>
          </a:solidFill>
          <a:ln>
            <a:solidFill>
              <a:srgbClr val="C7DBFE"/>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50" b="1">
                <a:solidFill>
                  <a:srgbClr val="0E306D"/>
                </a:solidFill>
                <a:latin typeface="KoPub돋움체 Bold"/>
              </a:defRPr>
            </a:pPr>
            <a:r>
              <a:rPr sz="1000" dirty="0">
                <a:latin typeface="KoPub돋움체 Bold"/>
              </a:rPr>
              <a:t>HALF-OPEN (</a:t>
            </a:r>
            <a:r>
              <a:rPr sz="1000" dirty="0" err="1">
                <a:latin typeface="KoPub돋움체 Bold"/>
              </a:rPr>
              <a:t>선발대</a:t>
            </a:r>
            <a:r>
              <a:rPr sz="1000" dirty="0">
                <a:latin typeface="KoPub돋움체 Bold"/>
              </a:rPr>
              <a:t> </a:t>
            </a:r>
            <a:r>
              <a:rPr sz="1000" dirty="0" err="1">
                <a:latin typeface="KoPub돋움체 Bold"/>
              </a:rPr>
              <a:t>검증</a:t>
            </a:r>
            <a:r>
              <a:rPr sz="1000" dirty="0">
                <a:latin typeface="KoPub돋움체 Bold"/>
              </a:rPr>
              <a:t>)</a:t>
            </a:r>
          </a:p>
        </p:txBody>
      </p:sp>
      <p:sp>
        <p:nvSpPr>
          <p:cNvPr id="14" name="TextBox 13"/>
          <p:cNvSpPr txBox="1"/>
          <p:nvPr/>
        </p:nvSpPr>
        <p:spPr>
          <a:xfrm>
            <a:off x="6755039" y="1800000"/>
            <a:ext cx="2638080" cy="1670009"/>
          </a:xfrm>
          <a:prstGeom prst="rect">
            <a:avLst/>
          </a:prstGeom>
          <a:noFill/>
        </p:spPr>
        <p:txBody>
          <a:bodyPr wrap="square" lIns="0" tIns="0" rIns="0" bIns="0">
            <a:spAutoFit/>
          </a:bodyPr>
          <a:lstStyle/>
          <a:p>
            <a:pPr>
              <a:lnSpc>
                <a:spcPct val="150000"/>
              </a:lnSpc>
              <a:defRPr sz="780">
                <a:solidFill>
                  <a:srgbClr val="0F172A"/>
                </a:solidFill>
                <a:latin typeface="KoPub돋움체 Medium"/>
              </a:defRPr>
            </a:pPr>
            <a:r>
              <a:rPr sz="1000" dirty="0">
                <a:latin typeface="KoPub돋움체 Medium"/>
              </a:rPr>
              <a:t>•  [</a:t>
            </a:r>
            <a:r>
              <a:rPr sz="1000" dirty="0" err="1">
                <a:latin typeface="KoPub돋움체 Medium"/>
              </a:rPr>
              <a:t>단일</a:t>
            </a:r>
            <a:r>
              <a:rPr sz="1000" dirty="0">
                <a:latin typeface="KoPub돋움체 Medium"/>
              </a:rPr>
              <a:t> </a:t>
            </a:r>
            <a:r>
              <a:rPr sz="1000" dirty="0" err="1">
                <a:latin typeface="KoPub돋움체 Medium"/>
              </a:rPr>
              <a:t>프로브</a:t>
            </a:r>
            <a:r>
              <a:rPr sz="1000" dirty="0">
                <a:latin typeface="KoPub돋움체 Medium"/>
              </a:rPr>
              <a:t> </a:t>
            </a:r>
            <a:r>
              <a:rPr sz="1000" dirty="0" err="1">
                <a:latin typeface="KoPub돋움체 Medium"/>
              </a:rPr>
              <a:t>제어</a:t>
            </a:r>
            <a:r>
              <a:rPr sz="1000" dirty="0">
                <a:latin typeface="KoPub돋움체 Medium"/>
              </a:rPr>
              <a:t>] </a:t>
            </a:r>
            <a:r>
              <a:rPr sz="1000" dirty="0" err="1">
                <a:latin typeface="KoPub돋움체 Medium"/>
              </a:rPr>
              <a:t>probe_semaphore</a:t>
            </a:r>
            <a:r>
              <a:rPr sz="1000" dirty="0">
                <a:latin typeface="KoPub돋움체 Medium"/>
              </a:rPr>
              <a:t> = </a:t>
            </a:r>
            <a:r>
              <a:rPr sz="1000" dirty="0" err="1">
                <a:latin typeface="KoPub돋움체 Medium"/>
              </a:rPr>
              <a:t>asyncio.Semaphore</a:t>
            </a:r>
            <a:r>
              <a:rPr sz="1000" dirty="0">
                <a:latin typeface="KoPub돋움체 Medium"/>
              </a:rPr>
              <a:t>(1)로 단 1건만 DB </a:t>
            </a:r>
            <a:r>
              <a:rPr sz="1000" dirty="0" err="1">
                <a:latin typeface="KoPub돋움체 Medium"/>
              </a:rPr>
              <a:t>헬스</a:t>
            </a:r>
            <a:r>
              <a:rPr sz="1000" dirty="0">
                <a:latin typeface="KoPub돋움체 Medium"/>
              </a:rPr>
              <a:t> </a:t>
            </a:r>
            <a:r>
              <a:rPr sz="1000" dirty="0" err="1">
                <a:latin typeface="KoPub돋움체 Medium"/>
              </a:rPr>
              <a:t>프로브</a:t>
            </a:r>
            <a:endParaRPr sz="1000" dirty="0">
              <a:latin typeface="KoPub돋움체 Medium"/>
            </a:endParaRPr>
          </a:p>
          <a:p>
            <a:pPr>
              <a:lnSpc>
                <a:spcPct val="150000"/>
              </a:lnSpc>
              <a:spcBef>
                <a:spcPts val="250"/>
              </a:spcBef>
              <a:defRPr sz="780">
                <a:solidFill>
                  <a:srgbClr val="0F172A"/>
                </a:solidFill>
                <a:latin typeface="KoPub돋움체 Medium"/>
              </a:defRPr>
            </a:pPr>
            <a:r>
              <a:rPr sz="1000" dirty="0">
                <a:latin typeface="KoPub돋움체 Medium"/>
              </a:rPr>
              <a:t>•  [</a:t>
            </a:r>
            <a:r>
              <a:rPr sz="1000" dirty="0" err="1">
                <a:latin typeface="KoPub돋움체 Medium"/>
              </a:rPr>
              <a:t>성공</a:t>
            </a:r>
            <a:r>
              <a:rPr sz="1000" dirty="0">
                <a:latin typeface="KoPub돋움체 Medium"/>
              </a:rPr>
              <a:t> 시 </a:t>
            </a:r>
            <a:r>
              <a:rPr sz="1000" dirty="0" err="1">
                <a:latin typeface="KoPub돋움체 Medium"/>
              </a:rPr>
              <a:t>복귀</a:t>
            </a:r>
            <a:r>
              <a:rPr sz="1000" dirty="0">
                <a:latin typeface="KoPub돋움체 Medium"/>
              </a:rPr>
              <a:t>] CLOSED </a:t>
            </a:r>
            <a:r>
              <a:rPr sz="1000" dirty="0" err="1">
                <a:latin typeface="KoPub돋움체 Medium"/>
              </a:rPr>
              <a:t>전이</a:t>
            </a:r>
            <a:r>
              <a:rPr sz="1000" dirty="0">
                <a:latin typeface="KoPub돋움체 Medium"/>
              </a:rPr>
              <a:t> + 2.0s </a:t>
            </a:r>
            <a:r>
              <a:rPr sz="1000" dirty="0" err="1">
                <a:latin typeface="KoPub돋움체 Medium"/>
              </a:rPr>
              <a:t>디바운스</a:t>
            </a:r>
            <a:r>
              <a:rPr sz="1000" dirty="0">
                <a:latin typeface="KoPub돋움체 Medium"/>
              </a:rPr>
              <a:t>(CB_DEBOUNCE_SEC) </a:t>
            </a:r>
            <a:r>
              <a:rPr sz="1000" dirty="0" err="1">
                <a:latin typeface="KoPub돋움체 Medium"/>
              </a:rPr>
              <a:t>적용</a:t>
            </a:r>
            <a:r>
              <a:rPr sz="1000" dirty="0">
                <a:latin typeface="KoPub돋움체 Medium"/>
              </a:rPr>
              <a:t> (</a:t>
            </a:r>
            <a:r>
              <a:rPr sz="1000" dirty="0" err="1">
                <a:latin typeface="KoPub돋움체 Medium"/>
              </a:rPr>
              <a:t>플래핑</a:t>
            </a:r>
            <a:r>
              <a:rPr sz="1000" dirty="0">
                <a:latin typeface="KoPub돋움체 Medium"/>
              </a:rPr>
              <a:t> </a:t>
            </a:r>
            <a:r>
              <a:rPr sz="1000" dirty="0" err="1">
                <a:latin typeface="KoPub돋움체 Medium"/>
              </a:rPr>
              <a:t>방어</a:t>
            </a:r>
            <a:r>
              <a:rPr sz="1000" dirty="0">
                <a:latin typeface="KoPub돋움체 Medium"/>
              </a:rPr>
              <a:t>)</a:t>
            </a:r>
          </a:p>
          <a:p>
            <a:pPr>
              <a:lnSpc>
                <a:spcPct val="150000"/>
              </a:lnSpc>
              <a:spcBef>
                <a:spcPts val="250"/>
              </a:spcBef>
              <a:defRPr sz="780">
                <a:solidFill>
                  <a:srgbClr val="0F172A"/>
                </a:solidFill>
                <a:latin typeface="KoPub돋움체 Medium"/>
              </a:defRPr>
            </a:pPr>
            <a:r>
              <a:rPr sz="1000" dirty="0">
                <a:latin typeface="KoPub돋움체 Medium"/>
              </a:rPr>
              <a:t>•  [</a:t>
            </a:r>
            <a:r>
              <a:rPr sz="1000" dirty="0" err="1">
                <a:latin typeface="KoPub돋움체 Medium"/>
              </a:rPr>
              <a:t>실패</a:t>
            </a:r>
            <a:r>
              <a:rPr sz="1000" dirty="0">
                <a:latin typeface="KoPub돋움체 Medium"/>
              </a:rPr>
              <a:t> 시 </a:t>
            </a:r>
            <a:r>
              <a:rPr sz="1000" dirty="0" err="1">
                <a:latin typeface="KoPub돋움체 Medium"/>
              </a:rPr>
              <a:t>재차단</a:t>
            </a:r>
            <a:r>
              <a:rPr sz="1000" dirty="0">
                <a:latin typeface="KoPub돋움체 Medium"/>
              </a:rPr>
              <a:t>] 단 1회라도 </a:t>
            </a:r>
            <a:r>
              <a:rPr sz="1000" dirty="0" err="1">
                <a:latin typeface="KoPub돋움체 Medium"/>
              </a:rPr>
              <a:t>실패</a:t>
            </a:r>
            <a:r>
              <a:rPr sz="1000" dirty="0">
                <a:latin typeface="KoPub돋움체 Medium"/>
              </a:rPr>
              <a:t> 시 </a:t>
            </a:r>
            <a:r>
              <a:rPr sz="1000" dirty="0" err="1">
                <a:latin typeface="KoPub돋움체 Medium"/>
              </a:rPr>
              <a:t>즉시</a:t>
            </a:r>
            <a:r>
              <a:rPr sz="1000" dirty="0">
                <a:latin typeface="KoPub돋움체 Medium"/>
              </a:rPr>
              <a:t> </a:t>
            </a:r>
            <a:r>
              <a:rPr sz="1000" dirty="0" err="1">
                <a:latin typeface="KoPub돋움체 Medium"/>
              </a:rPr>
              <a:t>다시</a:t>
            </a:r>
            <a:r>
              <a:rPr sz="1000" dirty="0">
                <a:latin typeface="KoPub돋움체 Medium"/>
              </a:rPr>
              <a:t> OPEN </a:t>
            </a:r>
            <a:r>
              <a:rPr sz="1000" dirty="0" err="1">
                <a:latin typeface="KoPub돋움체 Medium"/>
              </a:rPr>
              <a:t>상태로</a:t>
            </a:r>
            <a:r>
              <a:rPr sz="1000" dirty="0">
                <a:latin typeface="KoPub돋움체 Medium"/>
              </a:rPr>
              <a:t> </a:t>
            </a:r>
            <a:r>
              <a:rPr sz="1000" dirty="0" err="1">
                <a:latin typeface="KoPub돋움체 Medium"/>
              </a:rPr>
              <a:t>회귀</a:t>
            </a:r>
            <a:endParaRPr sz="1000" dirty="0">
              <a:latin typeface="KoPub돋움체 Medium"/>
            </a:endParaRPr>
          </a:p>
        </p:txBody>
      </p:sp>
      <p:sp>
        <p:nvSpPr>
          <p:cNvPr id="15" name="Rounded Rectangle 14"/>
          <p:cNvSpPr/>
          <p:nvPr/>
        </p:nvSpPr>
        <p:spPr>
          <a:xfrm>
            <a:off x="356760" y="3600000"/>
            <a:ext cx="4500000" cy="2358000"/>
          </a:xfrm>
          <a:prstGeom prst="roundRect">
            <a:avLst>
              <a:gd name="adj" fmla="val 6782"/>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86000" y="3735465"/>
            <a:ext cx="4248000" cy="288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50" b="1">
                <a:solidFill>
                  <a:srgbClr val="0E306D"/>
                </a:solidFill>
                <a:latin typeface="KoPub돋움체 Bold"/>
              </a:defRPr>
            </a:pPr>
            <a:r>
              <a:rPr sz="1000" dirty="0">
                <a:latin typeface="KoPub돋움체 Bold"/>
              </a:rPr>
              <a:t>2.0초 </a:t>
            </a:r>
            <a:r>
              <a:rPr sz="1000" dirty="0" err="1">
                <a:latin typeface="KoPub돋움체 Bold"/>
              </a:rPr>
              <a:t>디바운스</a:t>
            </a:r>
            <a:r>
              <a:rPr sz="1000" dirty="0">
                <a:latin typeface="KoPub돋움체 Bold"/>
              </a:rPr>
              <a:t> &amp; </a:t>
            </a:r>
            <a:r>
              <a:rPr sz="1000" dirty="0" err="1">
                <a:latin typeface="KoPub돋움체 Bold"/>
              </a:rPr>
              <a:t>선발대</a:t>
            </a:r>
            <a:r>
              <a:rPr sz="1000" dirty="0">
                <a:latin typeface="KoPub돋움체 Bold"/>
              </a:rPr>
              <a:t> </a:t>
            </a:r>
            <a:r>
              <a:rPr sz="1000" dirty="0" err="1">
                <a:latin typeface="KoPub돋움체 Bold"/>
              </a:rPr>
              <a:t>세마포어</a:t>
            </a:r>
            <a:r>
              <a:rPr sz="1000" dirty="0">
                <a:latin typeface="KoPub돋움체 Bold"/>
              </a:rPr>
              <a:t> (</a:t>
            </a:r>
            <a:r>
              <a:rPr sz="1000" dirty="0" err="1">
                <a:latin typeface="KoPub돋움체 Bold"/>
              </a:rPr>
              <a:t>플래핑</a:t>
            </a:r>
            <a:r>
              <a:rPr sz="1000" dirty="0">
                <a:latin typeface="KoPub돋움체 Bold"/>
              </a:rPr>
              <a:t> </a:t>
            </a:r>
            <a:r>
              <a:rPr sz="1000" dirty="0" err="1">
                <a:latin typeface="KoPub돋움체 Bold"/>
              </a:rPr>
              <a:t>방어</a:t>
            </a:r>
            <a:r>
              <a:rPr sz="1000" dirty="0">
                <a:latin typeface="KoPub돋움체 Bold"/>
              </a:rPr>
              <a:t>)</a:t>
            </a:r>
          </a:p>
        </p:txBody>
      </p:sp>
      <p:sp>
        <p:nvSpPr>
          <p:cNvPr id="17" name="TextBox 16"/>
          <p:cNvSpPr txBox="1"/>
          <p:nvPr/>
        </p:nvSpPr>
        <p:spPr>
          <a:xfrm>
            <a:off x="504000" y="4154734"/>
            <a:ext cx="4212000" cy="1631537"/>
          </a:xfrm>
          <a:prstGeom prst="rect">
            <a:avLst/>
          </a:prstGeom>
          <a:noFill/>
        </p:spPr>
        <p:txBody>
          <a:bodyPr wrap="square" lIns="0" tIns="0" rIns="0" bIns="0">
            <a:spAutoFit/>
          </a:bodyPr>
          <a:lstStyle/>
          <a:p>
            <a:pPr>
              <a:defRPr sz="1500" b="1">
                <a:solidFill>
                  <a:srgbClr val="009A93"/>
                </a:solidFill>
                <a:latin typeface="KoPub돋움체 Bold"/>
              </a:defRPr>
            </a:pPr>
            <a:r>
              <a:rPr dirty="0" err="1">
                <a:latin typeface="KoPub돋움체 Bold"/>
              </a:rPr>
              <a:t>플래핑</a:t>
            </a:r>
            <a:r>
              <a:rPr dirty="0">
                <a:latin typeface="KoPub돋움체 Bold"/>
              </a:rPr>
              <a:t>: 0회</a:t>
            </a:r>
          </a:p>
          <a:p>
            <a:pPr>
              <a:lnSpc>
                <a:spcPct val="150000"/>
              </a:lnSpc>
              <a:spcBef>
                <a:spcPts val="300"/>
              </a:spcBef>
              <a:defRPr sz="819">
                <a:solidFill>
                  <a:srgbClr val="0F172A"/>
                </a:solidFill>
                <a:latin typeface="KoPub돋움체 Medium"/>
              </a:defRPr>
            </a:pPr>
            <a:r>
              <a:rPr sz="1000" dirty="0">
                <a:latin typeface="KoPub돋움체 Medium"/>
              </a:rPr>
              <a:t>• </a:t>
            </a:r>
            <a:r>
              <a:rPr sz="1000" dirty="0" err="1">
                <a:latin typeface="KoPub돋움체 Medium"/>
              </a:rPr>
              <a:t>기존</a:t>
            </a:r>
            <a:r>
              <a:rPr sz="1000" dirty="0">
                <a:latin typeface="KoPub돋움체 Medium"/>
              </a:rPr>
              <a:t> </a:t>
            </a:r>
            <a:r>
              <a:rPr sz="1000" dirty="0" err="1">
                <a:latin typeface="KoPub돋움체 Medium"/>
              </a:rPr>
              <a:t>문제</a:t>
            </a:r>
            <a:r>
              <a:rPr sz="1000" dirty="0">
                <a:latin typeface="KoPub돋움체 Medium"/>
              </a:rPr>
              <a:t>: </a:t>
            </a:r>
            <a:r>
              <a:rPr sz="1000" dirty="0" err="1">
                <a:latin typeface="KoPub돋움체 Medium"/>
              </a:rPr>
              <a:t>복구</a:t>
            </a:r>
            <a:r>
              <a:rPr sz="1000" dirty="0">
                <a:latin typeface="KoPub돋움체 Medium"/>
              </a:rPr>
              <a:t> </a:t>
            </a:r>
            <a:r>
              <a:rPr sz="1000" dirty="0" err="1">
                <a:latin typeface="KoPub돋움체 Medium"/>
              </a:rPr>
              <a:t>직후</a:t>
            </a:r>
            <a:r>
              <a:rPr sz="1000" dirty="0">
                <a:latin typeface="KoPub돋움체 Medium"/>
              </a:rPr>
              <a:t> </a:t>
            </a:r>
            <a:r>
              <a:rPr sz="1000" dirty="0" err="1">
                <a:latin typeface="KoPub돋움체 Medium"/>
              </a:rPr>
              <a:t>스레드</a:t>
            </a:r>
            <a:r>
              <a:rPr sz="1000" dirty="0">
                <a:latin typeface="KoPub돋움체 Medium"/>
              </a:rPr>
              <a:t> </a:t>
            </a:r>
            <a:r>
              <a:rPr sz="1000" dirty="0" err="1">
                <a:latin typeface="KoPub돋움체 Medium"/>
              </a:rPr>
              <a:t>풀에</a:t>
            </a:r>
            <a:r>
              <a:rPr sz="1000" dirty="0">
                <a:latin typeface="KoPub돋움체 Medium"/>
              </a:rPr>
              <a:t> </a:t>
            </a:r>
            <a:r>
              <a:rPr sz="1000" dirty="0" err="1">
                <a:latin typeface="KoPub돋움체 Medium"/>
              </a:rPr>
              <a:t>지연</a:t>
            </a:r>
            <a:r>
              <a:rPr sz="1000" dirty="0">
                <a:latin typeface="KoPub돋움체 Medium"/>
              </a:rPr>
              <a:t> </a:t>
            </a:r>
            <a:r>
              <a:rPr sz="1000" dirty="0" err="1">
                <a:latin typeface="KoPub돋움체 Medium"/>
              </a:rPr>
              <a:t>적체된</a:t>
            </a:r>
            <a:r>
              <a:rPr sz="1000" dirty="0">
                <a:latin typeface="KoPub돋움체 Medium"/>
              </a:rPr>
              <a:t> </a:t>
            </a:r>
            <a:r>
              <a:rPr sz="1000" dirty="0" err="1">
                <a:latin typeface="KoPub돋움체 Medium"/>
              </a:rPr>
              <a:t>이전</a:t>
            </a:r>
            <a:r>
              <a:rPr sz="1000" dirty="0">
                <a:latin typeface="KoPub돋움체 Medium"/>
              </a:rPr>
              <a:t> </a:t>
            </a:r>
            <a:r>
              <a:rPr sz="1000" dirty="0" err="1">
                <a:latin typeface="KoPub돋움체 Medium"/>
              </a:rPr>
              <a:t>요청이</a:t>
            </a:r>
            <a:r>
              <a:rPr sz="1000" dirty="0">
                <a:latin typeface="KoPub돋움체 Medium"/>
              </a:rPr>
              <a:t> </a:t>
            </a:r>
            <a:r>
              <a:rPr sz="1000" dirty="0" err="1">
                <a:latin typeface="KoPub돋움체 Medium"/>
              </a:rPr>
              <a:t>타임아웃</a:t>
            </a:r>
            <a:r>
              <a:rPr sz="1000" dirty="0">
                <a:latin typeface="KoPub돋움체 Medium"/>
              </a:rPr>
              <a:t>(1.0s) </a:t>
            </a:r>
            <a:r>
              <a:rPr sz="1000" dirty="0" err="1">
                <a:latin typeface="KoPub돋움체 Medium"/>
              </a:rPr>
              <a:t>실패를</a:t>
            </a:r>
            <a:r>
              <a:rPr sz="1000" dirty="0">
                <a:latin typeface="KoPub돋움체 Medium"/>
              </a:rPr>
              <a:t> </a:t>
            </a:r>
            <a:r>
              <a:rPr sz="1000" dirty="0" err="1">
                <a:latin typeface="KoPub돋움체 Medium"/>
              </a:rPr>
              <a:t>뒤늦게</a:t>
            </a:r>
            <a:r>
              <a:rPr sz="1000" dirty="0">
                <a:latin typeface="KoPub돋움체 Medium"/>
              </a:rPr>
              <a:t> </a:t>
            </a:r>
            <a:r>
              <a:rPr sz="1000" dirty="0" err="1">
                <a:latin typeface="KoPub돋움체 Medium"/>
              </a:rPr>
              <a:t>반환하여</a:t>
            </a:r>
            <a:r>
              <a:rPr sz="1000" dirty="0">
                <a:latin typeface="KoPub돋움체 Medium"/>
              </a:rPr>
              <a:t> </a:t>
            </a:r>
            <a:r>
              <a:rPr sz="1000" dirty="0" err="1">
                <a:latin typeface="KoPub돋움체 Medium"/>
              </a:rPr>
              <a:t>서킷이</a:t>
            </a:r>
            <a:r>
              <a:rPr sz="1000" dirty="0">
                <a:latin typeface="KoPub돋움체 Medium"/>
              </a:rPr>
              <a:t> </a:t>
            </a:r>
            <a:r>
              <a:rPr sz="1000" dirty="0" err="1">
                <a:latin typeface="KoPub돋움체 Medium"/>
              </a:rPr>
              <a:t>즉시</a:t>
            </a:r>
            <a:r>
              <a:rPr sz="1000" dirty="0">
                <a:latin typeface="KoPub돋움체 Medium"/>
              </a:rPr>
              <a:t> </a:t>
            </a:r>
            <a:r>
              <a:rPr sz="1000" dirty="0" err="1">
                <a:latin typeface="KoPub돋움체 Medium"/>
              </a:rPr>
              <a:t>다시</a:t>
            </a:r>
            <a:r>
              <a:rPr sz="1000" dirty="0">
                <a:latin typeface="KoPub돋움체 Medium"/>
              </a:rPr>
              <a:t> </a:t>
            </a:r>
            <a:r>
              <a:rPr sz="1000" dirty="0" err="1">
                <a:latin typeface="KoPub돋움체 Medium"/>
              </a:rPr>
              <a:t>열리는</a:t>
            </a:r>
            <a:r>
              <a:rPr sz="1000" dirty="0">
                <a:latin typeface="KoPub돋움체 Medium"/>
              </a:rPr>
              <a:t> </a:t>
            </a:r>
            <a:r>
              <a:rPr sz="1000" dirty="0" err="1">
                <a:latin typeface="KoPub돋움체 Medium"/>
              </a:rPr>
              <a:t>플래핑</a:t>
            </a:r>
            <a:r>
              <a:rPr sz="1000" dirty="0">
                <a:latin typeface="KoPub돋움체 Medium"/>
              </a:rPr>
              <a:t> </a:t>
            </a:r>
            <a:r>
              <a:rPr sz="1000" dirty="0" err="1">
                <a:latin typeface="KoPub돋움체 Medium"/>
              </a:rPr>
              <a:t>발생</a:t>
            </a:r>
            <a:br>
              <a:rPr sz="1000" dirty="0"/>
            </a:br>
            <a:r>
              <a:rPr sz="1000" dirty="0">
                <a:latin typeface="KoPub돋움체 Medium"/>
              </a:rPr>
              <a:t>• 2.0s </a:t>
            </a:r>
            <a:r>
              <a:rPr sz="1000" dirty="0" err="1">
                <a:latin typeface="KoPub돋움체 Medium"/>
              </a:rPr>
              <a:t>디바운스</a:t>
            </a:r>
            <a:r>
              <a:rPr sz="1000" dirty="0">
                <a:latin typeface="KoPub돋움체 Medium"/>
              </a:rPr>
              <a:t>: CLOSED </a:t>
            </a:r>
            <a:r>
              <a:rPr sz="1000" dirty="0" err="1">
                <a:latin typeface="KoPub돋움체 Medium"/>
              </a:rPr>
              <a:t>전이</a:t>
            </a:r>
            <a:r>
              <a:rPr sz="1000" dirty="0">
                <a:latin typeface="KoPub돋움체 Medium"/>
              </a:rPr>
              <a:t> 후 2.0초 </a:t>
            </a:r>
            <a:r>
              <a:rPr sz="1000" dirty="0" err="1">
                <a:latin typeface="KoPub돋움체 Medium"/>
              </a:rPr>
              <a:t>동안</a:t>
            </a:r>
            <a:r>
              <a:rPr sz="1000" dirty="0">
                <a:latin typeface="KoPub돋움체 Medium"/>
              </a:rPr>
              <a:t> </a:t>
            </a:r>
            <a:r>
              <a:rPr sz="1000" dirty="0" err="1">
                <a:latin typeface="KoPub돋움체 Medium"/>
              </a:rPr>
              <a:t>이전</a:t>
            </a:r>
            <a:r>
              <a:rPr sz="1000" dirty="0">
                <a:latin typeface="KoPub돋움체 Medium"/>
              </a:rPr>
              <a:t> </a:t>
            </a:r>
            <a:r>
              <a:rPr sz="1000" dirty="0" err="1">
                <a:latin typeface="KoPub돋움체 Medium"/>
              </a:rPr>
              <a:t>실패</a:t>
            </a:r>
            <a:r>
              <a:rPr sz="1000" dirty="0">
                <a:latin typeface="KoPub돋움체 Medium"/>
              </a:rPr>
              <a:t> </a:t>
            </a:r>
            <a:r>
              <a:rPr sz="1000" dirty="0" err="1">
                <a:latin typeface="KoPub돋움체 Medium"/>
              </a:rPr>
              <a:t>집계를</a:t>
            </a:r>
            <a:r>
              <a:rPr sz="1000" dirty="0">
                <a:latin typeface="KoPub돋움체 Medium"/>
              </a:rPr>
              <a:t> </a:t>
            </a:r>
            <a:r>
              <a:rPr sz="1000" dirty="0" err="1">
                <a:latin typeface="KoPub돋움체 Medium"/>
              </a:rPr>
              <a:t>무시하여</a:t>
            </a:r>
            <a:r>
              <a:rPr sz="1000" dirty="0">
                <a:latin typeface="KoPub돋움체 Medium"/>
              </a:rPr>
              <a:t> </a:t>
            </a:r>
            <a:r>
              <a:rPr sz="1000" dirty="0" err="1">
                <a:latin typeface="KoPub돋움체 Medium"/>
              </a:rPr>
              <a:t>플래핑</a:t>
            </a:r>
            <a:r>
              <a:rPr sz="1000" dirty="0">
                <a:latin typeface="KoPub돋움체 Medium"/>
              </a:rPr>
              <a:t> </a:t>
            </a:r>
            <a:r>
              <a:rPr sz="1000" dirty="0" err="1">
                <a:latin typeface="KoPub돋움체 Medium"/>
              </a:rPr>
              <a:t>원천</a:t>
            </a:r>
            <a:r>
              <a:rPr sz="1000" dirty="0">
                <a:latin typeface="KoPub돋움체 Medium"/>
              </a:rPr>
              <a:t> </a:t>
            </a:r>
            <a:r>
              <a:rPr sz="1000" dirty="0" err="1">
                <a:latin typeface="KoPub돋움체 Medium"/>
              </a:rPr>
              <a:t>차단</a:t>
            </a:r>
            <a:br>
              <a:rPr sz="1000" dirty="0"/>
            </a:br>
            <a:r>
              <a:rPr sz="1000" dirty="0">
                <a:latin typeface="KoPub돋움체 Medium"/>
              </a:rPr>
              <a:t>• </a:t>
            </a:r>
            <a:r>
              <a:rPr sz="1000" dirty="0" err="1">
                <a:latin typeface="KoPub돋움체 Medium"/>
              </a:rPr>
              <a:t>단일</a:t>
            </a:r>
            <a:r>
              <a:rPr sz="1000" dirty="0">
                <a:latin typeface="KoPub돋움체 Medium"/>
              </a:rPr>
              <a:t> </a:t>
            </a:r>
            <a:r>
              <a:rPr sz="1000" dirty="0" err="1">
                <a:latin typeface="KoPub돋움체 Medium"/>
              </a:rPr>
              <a:t>프로브</a:t>
            </a:r>
            <a:r>
              <a:rPr sz="1000" dirty="0">
                <a:latin typeface="KoPub돋움체 Medium"/>
              </a:rPr>
              <a:t> </a:t>
            </a:r>
            <a:r>
              <a:rPr sz="1000" dirty="0" err="1">
                <a:latin typeface="KoPub돋움체 Medium"/>
              </a:rPr>
              <a:t>세마포어</a:t>
            </a:r>
            <a:r>
              <a:rPr sz="1000" dirty="0">
                <a:latin typeface="KoPub돋움체 Medium"/>
              </a:rPr>
              <a:t>: </a:t>
            </a:r>
            <a:r>
              <a:rPr sz="1000" dirty="0" err="1">
                <a:latin typeface="KoPub돋움체 Medium"/>
              </a:rPr>
              <a:t>probe_semaphore로</a:t>
            </a:r>
            <a:r>
              <a:rPr sz="1000" dirty="0">
                <a:latin typeface="KoPub돋움체 Medium"/>
              </a:rPr>
              <a:t> </a:t>
            </a:r>
            <a:r>
              <a:rPr sz="1000" dirty="0" err="1">
                <a:latin typeface="KoPub돋움체 Medium"/>
              </a:rPr>
              <a:t>복구</a:t>
            </a:r>
            <a:r>
              <a:rPr sz="1000" dirty="0">
                <a:latin typeface="KoPub돋움체 Medium"/>
              </a:rPr>
              <a:t> </a:t>
            </a:r>
            <a:r>
              <a:rPr sz="1000" dirty="0" err="1">
                <a:latin typeface="KoPub돋움체 Medium"/>
              </a:rPr>
              <a:t>검증</a:t>
            </a:r>
            <a:r>
              <a:rPr sz="1000" dirty="0">
                <a:latin typeface="KoPub돋움체 Medium"/>
              </a:rPr>
              <a:t> 시 단 1건의 </a:t>
            </a:r>
            <a:r>
              <a:rPr sz="1000" dirty="0" err="1">
                <a:latin typeface="KoPub돋움체 Medium"/>
              </a:rPr>
              <a:t>요청만</a:t>
            </a:r>
            <a:r>
              <a:rPr sz="1000" dirty="0">
                <a:latin typeface="KoPub돋움체 Medium"/>
              </a:rPr>
              <a:t> </a:t>
            </a:r>
            <a:r>
              <a:rPr sz="1000" dirty="0" err="1">
                <a:latin typeface="KoPub돋움체 Medium"/>
              </a:rPr>
              <a:t>DB로</a:t>
            </a:r>
            <a:r>
              <a:rPr sz="1000" dirty="0">
                <a:latin typeface="KoPub돋움체 Medium"/>
              </a:rPr>
              <a:t> </a:t>
            </a:r>
            <a:r>
              <a:rPr sz="1000" dirty="0" err="1">
                <a:latin typeface="KoPub돋움체 Medium"/>
              </a:rPr>
              <a:t>허용</a:t>
            </a:r>
            <a:endParaRPr sz="1000" dirty="0">
              <a:latin typeface="KoPub돋움체 Medium"/>
            </a:endParaRPr>
          </a:p>
        </p:txBody>
      </p:sp>
      <p:sp>
        <p:nvSpPr>
          <p:cNvPr id="18" name="Rounded Rectangle 17"/>
          <p:cNvSpPr/>
          <p:nvPr/>
        </p:nvSpPr>
        <p:spPr>
          <a:xfrm>
            <a:off x="5055480" y="3617968"/>
            <a:ext cx="4500000" cy="2340031"/>
          </a:xfrm>
          <a:prstGeom prst="roundRect">
            <a:avLst>
              <a:gd name="adj" fmla="val 5078"/>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5184000" y="3735465"/>
            <a:ext cx="4248000" cy="288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50" b="1">
                <a:solidFill>
                  <a:srgbClr val="0E306D"/>
                </a:solidFill>
                <a:latin typeface="KoPub돋움체 Bold"/>
              </a:defRPr>
            </a:pPr>
            <a:r>
              <a:rPr sz="1000" dirty="0" err="1">
                <a:latin typeface="KoPub돋움체 Bold"/>
              </a:rPr>
              <a:t>보안</a:t>
            </a:r>
            <a:r>
              <a:rPr sz="1000" dirty="0">
                <a:latin typeface="KoPub돋움체 Bold"/>
              </a:rPr>
              <a:t> </a:t>
            </a:r>
            <a:r>
              <a:rPr sz="1000" dirty="0" err="1">
                <a:latin typeface="KoPub돋움체 Bold"/>
              </a:rPr>
              <a:t>인가</a:t>
            </a:r>
            <a:r>
              <a:rPr sz="1000" dirty="0">
                <a:latin typeface="KoPub돋움체 Bold"/>
              </a:rPr>
              <a:t> </a:t>
            </a:r>
            <a:r>
              <a:rPr sz="1000" dirty="0" err="1">
                <a:latin typeface="KoPub돋움체 Bold"/>
              </a:rPr>
              <a:t>예외</a:t>
            </a:r>
            <a:r>
              <a:rPr sz="1000" dirty="0">
                <a:latin typeface="KoPub돋움체 Bold"/>
              </a:rPr>
              <a:t>: </a:t>
            </a:r>
            <a:r>
              <a:rPr sz="1000" dirty="0" err="1">
                <a:latin typeface="KoPub돋움체 Bold"/>
              </a:rPr>
              <a:t>PoP</a:t>
            </a:r>
            <a:r>
              <a:rPr sz="1000" dirty="0">
                <a:latin typeface="KoPub돋움체 Bold"/>
              </a:rPr>
              <a:t> </a:t>
            </a:r>
            <a:r>
              <a:rPr sz="1000" dirty="0" err="1">
                <a:latin typeface="KoPub돋움체 Bold"/>
              </a:rPr>
              <a:t>공개키</a:t>
            </a:r>
            <a:r>
              <a:rPr sz="1000" dirty="0">
                <a:latin typeface="KoPub돋움체 Bold"/>
              </a:rPr>
              <a:t> Fail-Closed </a:t>
            </a:r>
            <a:r>
              <a:rPr sz="1000" dirty="0" err="1">
                <a:latin typeface="KoPub돋움체 Bold"/>
              </a:rPr>
              <a:t>격리</a:t>
            </a:r>
            <a:endParaRPr sz="1000" dirty="0">
              <a:latin typeface="KoPub돋움체 Bold"/>
            </a:endParaRPr>
          </a:p>
        </p:txBody>
      </p:sp>
      <p:sp>
        <p:nvSpPr>
          <p:cNvPr id="20" name="TextBox 19"/>
          <p:cNvSpPr txBox="1"/>
          <p:nvPr/>
        </p:nvSpPr>
        <p:spPr>
          <a:xfrm>
            <a:off x="5184000" y="4154734"/>
            <a:ext cx="4212000" cy="1400704"/>
          </a:xfrm>
          <a:prstGeom prst="rect">
            <a:avLst/>
          </a:prstGeom>
          <a:noFill/>
        </p:spPr>
        <p:txBody>
          <a:bodyPr wrap="square" lIns="0" tIns="0" rIns="0" bIns="0">
            <a:spAutoFit/>
          </a:bodyPr>
          <a:lstStyle/>
          <a:p>
            <a:pPr>
              <a:defRPr sz="1500" b="1">
                <a:solidFill>
                  <a:srgbClr val="B91C1C"/>
                </a:solidFill>
                <a:latin typeface="KoPub돋움체 Bold"/>
              </a:defRPr>
            </a:pPr>
            <a:r>
              <a:rPr dirty="0" err="1">
                <a:latin typeface="KoPub돋움체 Bold"/>
              </a:rPr>
              <a:t>공개키</a:t>
            </a:r>
            <a:r>
              <a:rPr dirty="0">
                <a:latin typeface="KoPub돋움체 Bold"/>
              </a:rPr>
              <a:t> </a:t>
            </a:r>
            <a:r>
              <a:rPr dirty="0" err="1">
                <a:latin typeface="KoPub돋움체 Bold"/>
              </a:rPr>
              <a:t>미스</a:t>
            </a:r>
            <a:r>
              <a:rPr dirty="0">
                <a:latin typeface="KoPub돋움체 Bold"/>
              </a:rPr>
              <a:t>: 503 Fail-Closed </a:t>
            </a:r>
            <a:r>
              <a:rPr dirty="0" err="1">
                <a:latin typeface="KoPub돋움체 Bold"/>
              </a:rPr>
              <a:t>차단</a:t>
            </a:r>
            <a:endParaRPr dirty="0">
              <a:latin typeface="KoPub돋움체 Bold"/>
            </a:endParaRPr>
          </a:p>
          <a:p>
            <a:pPr>
              <a:lnSpc>
                <a:spcPct val="150000"/>
              </a:lnSpc>
              <a:spcBef>
                <a:spcPts val="300"/>
              </a:spcBef>
              <a:defRPr sz="819">
                <a:solidFill>
                  <a:srgbClr val="0F172A"/>
                </a:solidFill>
                <a:latin typeface="KoPub돋움체 Medium"/>
              </a:defRPr>
            </a:pPr>
            <a:r>
              <a:rPr sz="1000" dirty="0">
                <a:latin typeface="KoPub돋움체 Medium"/>
              </a:rPr>
              <a:t>• </a:t>
            </a:r>
            <a:r>
              <a:rPr sz="1000" dirty="0" err="1">
                <a:latin typeface="KoPub돋움체 Medium"/>
              </a:rPr>
              <a:t>일반</a:t>
            </a:r>
            <a:r>
              <a:rPr sz="1000" dirty="0">
                <a:latin typeface="KoPub돋움체 Medium"/>
              </a:rPr>
              <a:t> </a:t>
            </a:r>
            <a:r>
              <a:rPr sz="1000" dirty="0" err="1">
                <a:latin typeface="KoPub돋움체 Medium"/>
              </a:rPr>
              <a:t>정책</a:t>
            </a:r>
            <a:r>
              <a:rPr sz="1000" dirty="0">
                <a:latin typeface="KoPub돋움체 Medium"/>
              </a:rPr>
              <a:t> </a:t>
            </a:r>
            <a:r>
              <a:rPr sz="1000" dirty="0" err="1">
                <a:latin typeface="KoPub돋움체 Medium"/>
              </a:rPr>
              <a:t>캐시</a:t>
            </a:r>
            <a:r>
              <a:rPr sz="1000" dirty="0">
                <a:latin typeface="KoPub돋움체 Medium"/>
              </a:rPr>
              <a:t> </a:t>
            </a:r>
            <a:r>
              <a:rPr sz="1000" dirty="0" err="1">
                <a:latin typeface="KoPub돋움체 Medium"/>
              </a:rPr>
              <a:t>미스</a:t>
            </a:r>
            <a:r>
              <a:rPr sz="1000" dirty="0">
                <a:latin typeface="KoPub돋움체 Medium"/>
              </a:rPr>
              <a:t>: </a:t>
            </a:r>
            <a:r>
              <a:rPr sz="1000" dirty="0" err="1">
                <a:latin typeface="KoPub돋움체 Medium"/>
              </a:rPr>
              <a:t>degraded_allow</a:t>
            </a:r>
            <a:r>
              <a:rPr sz="1000" dirty="0">
                <a:latin typeface="KoPub돋움체 Medium"/>
              </a:rPr>
              <a:t> </a:t>
            </a:r>
            <a:r>
              <a:rPr sz="1000" dirty="0" err="1">
                <a:latin typeface="KoPub돋움체 Medium"/>
              </a:rPr>
              <a:t>응답으로</a:t>
            </a:r>
            <a:r>
              <a:rPr sz="1000" dirty="0">
                <a:latin typeface="KoPub돋움체 Medium"/>
              </a:rPr>
              <a:t> </a:t>
            </a:r>
            <a:r>
              <a:rPr sz="1000" dirty="0" err="1">
                <a:latin typeface="KoPub돋움체 Medium"/>
              </a:rPr>
              <a:t>비즈니스</a:t>
            </a:r>
            <a:r>
              <a:rPr sz="1000" dirty="0">
                <a:latin typeface="KoPub돋움체 Medium"/>
              </a:rPr>
              <a:t> </a:t>
            </a:r>
            <a:r>
              <a:rPr sz="1000" dirty="0" err="1">
                <a:latin typeface="KoPub돋움체 Medium"/>
              </a:rPr>
              <a:t>가용성</a:t>
            </a:r>
            <a:r>
              <a:rPr sz="1000" dirty="0">
                <a:latin typeface="KoPub돋움체 Medium"/>
              </a:rPr>
              <a:t> </a:t>
            </a:r>
            <a:r>
              <a:rPr sz="1000" dirty="0" err="1">
                <a:latin typeface="KoPub돋움체 Medium"/>
              </a:rPr>
              <a:t>유지</a:t>
            </a:r>
            <a:br>
              <a:rPr sz="1000" dirty="0"/>
            </a:br>
            <a:r>
              <a:rPr sz="1000" dirty="0">
                <a:latin typeface="KoPub돋움체 Medium"/>
              </a:rPr>
              <a:t>• </a:t>
            </a:r>
            <a:r>
              <a:rPr sz="1000" dirty="0" err="1">
                <a:latin typeface="KoPub돋움체 Medium"/>
              </a:rPr>
              <a:t>PoP</a:t>
            </a:r>
            <a:r>
              <a:rPr sz="1000" dirty="0">
                <a:latin typeface="KoPub돋움체 Medium"/>
              </a:rPr>
              <a:t> </a:t>
            </a:r>
            <a:r>
              <a:rPr sz="1000" dirty="0" err="1">
                <a:latin typeface="KoPub돋움체 Medium"/>
              </a:rPr>
              <a:t>공개키</a:t>
            </a:r>
            <a:r>
              <a:rPr sz="1000" dirty="0">
                <a:latin typeface="KoPub돋움체 Medium"/>
              </a:rPr>
              <a:t> </a:t>
            </a:r>
            <a:r>
              <a:rPr sz="1000" dirty="0" err="1">
                <a:latin typeface="KoPub돋움체 Medium"/>
              </a:rPr>
              <a:t>조회</a:t>
            </a:r>
            <a:r>
              <a:rPr sz="1000" dirty="0">
                <a:latin typeface="KoPub돋움체 Medium"/>
              </a:rPr>
              <a:t> </a:t>
            </a:r>
            <a:r>
              <a:rPr sz="1000" dirty="0" err="1">
                <a:latin typeface="KoPub돋움체 Medium"/>
              </a:rPr>
              <a:t>미스</a:t>
            </a:r>
            <a:r>
              <a:rPr sz="1000" dirty="0">
                <a:latin typeface="KoPub돋움체 Medium"/>
              </a:rPr>
              <a:t>: </a:t>
            </a:r>
            <a:r>
              <a:rPr sz="1000" dirty="0" err="1">
                <a:latin typeface="KoPub돋움체 Medium"/>
              </a:rPr>
              <a:t>서킷</a:t>
            </a:r>
            <a:r>
              <a:rPr sz="1000" dirty="0">
                <a:latin typeface="KoPub돋움체 Medium"/>
              </a:rPr>
              <a:t> </a:t>
            </a:r>
            <a:r>
              <a:rPr sz="1000" dirty="0" err="1">
                <a:latin typeface="KoPub돋움체 Medium"/>
              </a:rPr>
              <a:t>오픈</a:t>
            </a:r>
            <a:r>
              <a:rPr sz="1000" dirty="0">
                <a:latin typeface="KoPub돋움체 Medium"/>
              </a:rPr>
              <a:t> </a:t>
            </a:r>
            <a:r>
              <a:rPr sz="1000" dirty="0" err="1">
                <a:latin typeface="KoPub돋움체 Medium"/>
              </a:rPr>
              <a:t>시에도</a:t>
            </a:r>
            <a:r>
              <a:rPr sz="1000" dirty="0">
                <a:latin typeface="KoPub돋움체 Medium"/>
              </a:rPr>
              <a:t> </a:t>
            </a:r>
            <a:r>
              <a:rPr sz="1000" dirty="0" err="1">
                <a:latin typeface="KoPub돋움체 Medium"/>
              </a:rPr>
              <a:t>반드시</a:t>
            </a:r>
            <a:r>
              <a:rPr sz="1000" dirty="0">
                <a:latin typeface="KoPub돋움체 Medium"/>
              </a:rPr>
              <a:t> 503으로 </a:t>
            </a:r>
            <a:r>
              <a:rPr sz="1000" dirty="0" err="1">
                <a:latin typeface="KoPub돋움체 Medium"/>
              </a:rPr>
              <a:t>차단하여</a:t>
            </a:r>
            <a:r>
              <a:rPr sz="1000" dirty="0">
                <a:latin typeface="KoPub돋움체 Medium"/>
              </a:rPr>
              <a:t> </a:t>
            </a:r>
            <a:r>
              <a:rPr sz="1000" dirty="0" err="1">
                <a:latin typeface="KoPub돋움체 Medium"/>
              </a:rPr>
              <a:t>미인가</a:t>
            </a:r>
            <a:r>
              <a:rPr sz="1000" dirty="0">
                <a:latin typeface="KoPub돋움체 Medium"/>
              </a:rPr>
              <a:t> </a:t>
            </a:r>
            <a:r>
              <a:rPr sz="1000" dirty="0" err="1">
                <a:latin typeface="KoPub돋움체 Medium"/>
              </a:rPr>
              <a:t>통과</a:t>
            </a:r>
            <a:r>
              <a:rPr sz="1000" dirty="0">
                <a:latin typeface="KoPub돋움체 Medium"/>
              </a:rPr>
              <a:t> </a:t>
            </a:r>
            <a:r>
              <a:rPr sz="1000" dirty="0" err="1">
                <a:latin typeface="KoPub돋움체 Medium"/>
              </a:rPr>
              <a:t>방지</a:t>
            </a:r>
            <a:br>
              <a:rPr sz="1000" dirty="0"/>
            </a:br>
            <a:r>
              <a:rPr sz="1000" dirty="0">
                <a:latin typeface="KoPub돋움체 Medium"/>
              </a:rPr>
              <a:t>• </a:t>
            </a:r>
            <a:r>
              <a:rPr sz="1000" dirty="0" err="1">
                <a:latin typeface="KoPub돋움체 Medium"/>
              </a:rPr>
              <a:t>보안성과</a:t>
            </a:r>
            <a:r>
              <a:rPr sz="1000" dirty="0">
                <a:latin typeface="KoPub돋움체 Medium"/>
              </a:rPr>
              <a:t> </a:t>
            </a:r>
            <a:r>
              <a:rPr sz="1000" dirty="0" err="1">
                <a:latin typeface="KoPub돋움체 Medium"/>
              </a:rPr>
              <a:t>가용성의</a:t>
            </a:r>
            <a:r>
              <a:rPr sz="1000" dirty="0">
                <a:latin typeface="KoPub돋움체 Medium"/>
              </a:rPr>
              <a:t> </a:t>
            </a:r>
            <a:r>
              <a:rPr sz="1000" dirty="0" err="1">
                <a:latin typeface="KoPub돋움체 Medium"/>
              </a:rPr>
              <a:t>분리</a:t>
            </a:r>
            <a:r>
              <a:rPr sz="1000" dirty="0">
                <a:latin typeface="KoPub돋움체 Medium"/>
              </a:rPr>
              <a:t>: </a:t>
            </a:r>
            <a:r>
              <a:rPr sz="1000" dirty="0" err="1">
                <a:latin typeface="KoPub돋움체 Medium"/>
              </a:rPr>
              <a:t>pubkey_circuit_blocked</a:t>
            </a:r>
            <a:r>
              <a:rPr sz="1000" dirty="0">
                <a:latin typeface="KoPub돋움체 Medium"/>
              </a:rPr>
              <a:t> </a:t>
            </a:r>
            <a:r>
              <a:rPr sz="1000" dirty="0" err="1">
                <a:latin typeface="KoPub돋움체 Medium"/>
              </a:rPr>
              <a:t>카운터로</a:t>
            </a:r>
            <a:r>
              <a:rPr sz="1000" dirty="0">
                <a:latin typeface="KoPub돋움체 Medium"/>
              </a:rPr>
              <a:t> </a:t>
            </a:r>
            <a:r>
              <a:rPr sz="1000" dirty="0" err="1">
                <a:latin typeface="KoPub돋움체 Medium"/>
              </a:rPr>
              <a:t>별도</a:t>
            </a:r>
            <a:r>
              <a:rPr sz="1000" dirty="0">
                <a:latin typeface="KoPub돋움체 Medium"/>
              </a:rPr>
              <a:t> </a:t>
            </a:r>
            <a:r>
              <a:rPr sz="1000" dirty="0" err="1">
                <a:latin typeface="KoPub돋움체 Medium"/>
              </a:rPr>
              <a:t>관측</a:t>
            </a:r>
            <a:br>
              <a:rPr sz="1000" dirty="0"/>
            </a:br>
            <a:r>
              <a:rPr sz="1000" dirty="0">
                <a:latin typeface="KoPub돋움체 Medium"/>
              </a:rPr>
              <a:t>• L1/L2 </a:t>
            </a:r>
            <a:r>
              <a:rPr sz="1000" dirty="0" err="1">
                <a:latin typeface="KoPub돋움체 Medium"/>
              </a:rPr>
              <a:t>공개키</a:t>
            </a:r>
            <a:r>
              <a:rPr sz="1000" dirty="0">
                <a:latin typeface="KoPub돋움체 Medium"/>
              </a:rPr>
              <a:t> </a:t>
            </a:r>
            <a:r>
              <a:rPr sz="1000" dirty="0" err="1">
                <a:latin typeface="KoPub돋움체 Medium"/>
              </a:rPr>
              <a:t>적재</a:t>
            </a:r>
            <a:r>
              <a:rPr sz="1000" dirty="0">
                <a:latin typeface="KoPub돋움체 Medium"/>
              </a:rPr>
              <a:t> </a:t>
            </a:r>
            <a:r>
              <a:rPr sz="1000" dirty="0" err="1">
                <a:latin typeface="KoPub돋움체 Medium"/>
              </a:rPr>
              <a:t>성공</a:t>
            </a:r>
            <a:r>
              <a:rPr sz="1000" dirty="0">
                <a:latin typeface="KoPub돋움체 Medium"/>
              </a:rPr>
              <a:t> </a:t>
            </a:r>
            <a:r>
              <a:rPr sz="1000" dirty="0" err="1">
                <a:latin typeface="KoPub돋움체 Medium"/>
              </a:rPr>
              <a:t>시에만</a:t>
            </a:r>
            <a:r>
              <a:rPr sz="1000" dirty="0">
                <a:latin typeface="KoPub돋움체 Medium"/>
              </a:rPr>
              <a:t> ECDSA P-256 </a:t>
            </a:r>
            <a:r>
              <a:rPr sz="1000" dirty="0" err="1">
                <a:latin typeface="KoPub돋움체 Medium"/>
              </a:rPr>
              <a:t>비대칭</a:t>
            </a:r>
            <a:r>
              <a:rPr sz="1000" dirty="0">
                <a:latin typeface="KoPub돋움체 Medium"/>
              </a:rPr>
              <a:t> </a:t>
            </a:r>
            <a:r>
              <a:rPr sz="1000" dirty="0" err="1">
                <a:latin typeface="KoPub돋움체 Medium"/>
              </a:rPr>
              <a:t>서명</a:t>
            </a:r>
            <a:r>
              <a:rPr sz="1000" dirty="0">
                <a:latin typeface="KoPub돋움체 Medium"/>
              </a:rPr>
              <a:t> </a:t>
            </a:r>
            <a:r>
              <a:rPr sz="1000" dirty="0" err="1">
                <a:latin typeface="KoPub돋움체 Medium"/>
              </a:rPr>
              <a:t>검증을</a:t>
            </a:r>
            <a:r>
              <a:rPr sz="1000" dirty="0">
                <a:latin typeface="KoPub돋움체 Medium"/>
              </a:rPr>
              <a:t> </a:t>
            </a:r>
            <a:r>
              <a:rPr sz="1000" dirty="0" err="1">
                <a:latin typeface="KoPub돋움체 Medium"/>
              </a:rPr>
              <a:t>승인</a:t>
            </a:r>
            <a:endParaRPr sz="1000" dirty="0">
              <a:latin typeface="KoPub돋움체 Medium"/>
            </a:endParaRPr>
          </a:p>
        </p:txBody>
      </p:sp>
      <p:sp>
        <p:nvSpPr>
          <p:cNvPr id="21" name="Rounded Rectangle 20"/>
          <p:cNvSpPr/>
          <p:nvPr/>
        </p:nvSpPr>
        <p:spPr>
          <a:xfrm>
            <a:off x="356760" y="6048000"/>
            <a:ext cx="9198720" cy="342000"/>
          </a:xfrm>
          <a:prstGeom prst="roundRect">
            <a:avLst/>
          </a:prstGeom>
          <a:solidFill>
            <a:srgbClr val="F1F1F1"/>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721346" y="6142056"/>
            <a:ext cx="6463308" cy="153888"/>
          </a:xfrm>
          <a:prstGeom prst="rect">
            <a:avLst/>
          </a:prstGeom>
          <a:noFill/>
        </p:spPr>
        <p:txBody>
          <a:bodyPr wrap="none" lIns="0" tIns="0" rIns="0" bIns="0" anchor="ctr">
            <a:spAutoFit/>
          </a:bodyPr>
          <a:lstStyle/>
          <a:p>
            <a:pPr>
              <a:defRPr sz="900" b="1">
                <a:solidFill>
                  <a:srgbClr val="0F172A"/>
                </a:solidFill>
                <a:latin typeface="KoPub돋움체 Bold"/>
              </a:defRPr>
            </a:pPr>
            <a:r>
              <a:rPr sz="1000" dirty="0" err="1">
                <a:latin typeface="KoPub돋움체 Bold"/>
              </a:rPr>
              <a:t>policy_circuit_blocked</a:t>
            </a:r>
            <a:r>
              <a:rPr sz="1000" dirty="0">
                <a:latin typeface="KoPub돋움체 Bold"/>
              </a:rPr>
              <a:t> = </a:t>
            </a:r>
            <a:r>
              <a:rPr sz="1000" dirty="0" err="1">
                <a:latin typeface="KoPub돋움체 Bold"/>
              </a:rPr>
              <a:t>circuit_blocked</a:t>
            </a:r>
            <a:r>
              <a:rPr sz="1000" dirty="0">
                <a:latin typeface="KoPub돋움체 Bold"/>
              </a:rPr>
              <a:t> - </a:t>
            </a:r>
            <a:r>
              <a:rPr sz="1000" dirty="0" err="1">
                <a:latin typeface="KoPub돋움체 Bold"/>
              </a:rPr>
              <a:t>pubkey_circuit_blocked</a:t>
            </a:r>
            <a:r>
              <a:rPr sz="1000" dirty="0">
                <a:latin typeface="KoPub돋움체 Bold"/>
              </a:rPr>
              <a:t> (</a:t>
            </a:r>
            <a:r>
              <a:rPr sz="1000" dirty="0" err="1">
                <a:latin typeface="KoPub돋움체 Bold"/>
              </a:rPr>
              <a:t>서킷</a:t>
            </a:r>
            <a:r>
              <a:rPr sz="1000" dirty="0">
                <a:latin typeface="KoPub돋움체 Bold"/>
              </a:rPr>
              <a:t> </a:t>
            </a:r>
            <a:r>
              <a:rPr sz="1000" dirty="0" err="1">
                <a:latin typeface="KoPub돋움체 Bold"/>
              </a:rPr>
              <a:t>차단</a:t>
            </a:r>
            <a:r>
              <a:rPr sz="1000" dirty="0">
                <a:latin typeface="KoPub돋움체 Bold"/>
              </a:rPr>
              <a:t> </a:t>
            </a:r>
            <a:r>
              <a:rPr sz="1000" dirty="0" err="1">
                <a:latin typeface="KoPub돋움체 Bold"/>
              </a:rPr>
              <a:t>요청도</a:t>
            </a:r>
            <a:r>
              <a:rPr sz="1000" dirty="0">
                <a:latin typeface="KoPub돋움체 Bold"/>
              </a:rPr>
              <a:t> Invariant 2 </a:t>
            </a:r>
            <a:r>
              <a:rPr sz="1000" dirty="0" err="1">
                <a:latin typeface="KoPub돋움체 Bold"/>
              </a:rPr>
              <a:t>방정식에</a:t>
            </a:r>
            <a:r>
              <a:rPr sz="1000" dirty="0">
                <a:latin typeface="KoPub돋움체 Bold"/>
              </a:rPr>
              <a:t> 100% </a:t>
            </a:r>
            <a:r>
              <a:rPr sz="1000" dirty="0" err="1">
                <a:latin typeface="KoPub돋움체 Bold"/>
              </a:rPr>
              <a:t>합산</a:t>
            </a:r>
            <a:r>
              <a:rPr sz="1000" dirty="0">
                <a:latin typeface="KoPub돋움체 Bold"/>
              </a:rPr>
              <a:t>)</a:t>
            </a:r>
          </a:p>
        </p:txBody>
      </p:sp>
      <p:sp>
        <p:nvSpPr>
          <p:cNvPr id="24" name="TextBox 23"/>
          <p:cNvSpPr txBox="1"/>
          <p:nvPr/>
        </p:nvSpPr>
        <p:spPr>
          <a:xfrm>
            <a:off x="8723520" y="6537960"/>
            <a:ext cx="831960" cy="246960"/>
          </a:xfrm>
          <a:prstGeom prst="rect">
            <a:avLst/>
          </a:prstGeom>
          <a:noFill/>
        </p:spPr>
        <p:txBody>
          <a:bodyPr wrap="none" lIns="0" tIns="0" rIns="0" bIns="0">
            <a:spAutoFit/>
          </a:bodyPr>
          <a:lstStyle/>
          <a:p>
            <a:pPr algn="r">
              <a:defRPr sz="1000" b="1">
                <a:solidFill>
                  <a:srgbClr val="6B7280"/>
                </a:solidFill>
                <a:latin typeface="KoPub돋움체 Bold"/>
              </a:defRPr>
            </a:pPr>
            <a:r>
              <a:rPr>
                <a:latin typeface="KoPub돋움체 Bold"/>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9FAFD"/>
        </a:solidFill>
        <a:effectLst/>
      </p:bgPr>
    </p:bg>
    <p:spTree>
      <p:nvGrpSpPr>
        <p:cNvPr id="1" name=""/>
        <p:cNvGrpSpPr/>
        <p:nvPr/>
      </p:nvGrpSpPr>
      <p:grpSpPr>
        <a:xfrm>
          <a:off x="0" y="0"/>
          <a:ext cx="0" cy="0"/>
          <a:chOff x="0" y="0"/>
          <a:chExt cx="0" cy="0"/>
        </a:xfrm>
      </p:grpSpPr>
      <p:sp>
        <p:nvSpPr>
          <p:cNvPr id="2" name="Rounded Rectangle 1"/>
          <p:cNvSpPr/>
          <p:nvPr/>
        </p:nvSpPr>
        <p:spPr>
          <a:xfrm>
            <a:off x="356760" y="292680"/>
            <a:ext cx="9198720" cy="493920"/>
          </a:xfrm>
          <a:prstGeom prst="roundRect">
            <a:avLst/>
          </a:prstGeom>
          <a:solidFill>
            <a:srgbClr val="0E306D"/>
          </a:solidFill>
          <a:ln w="12700">
            <a:solidFill>
              <a:srgbClr val="0E30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80"/>
            <a:ext cx="8778240" cy="493920"/>
          </a:xfrm>
          <a:prstGeom prst="rect">
            <a:avLst/>
          </a:prstGeom>
          <a:noFill/>
        </p:spPr>
        <p:txBody>
          <a:bodyPr wrap="square" lIns="0" tIns="0" rIns="0" bIns="0" anchor="ctr">
            <a:spAutoFit/>
          </a:bodyPr>
          <a:lstStyle/>
          <a:p>
            <a:pPr>
              <a:defRPr sz="2000" b="1">
                <a:solidFill>
                  <a:srgbClr val="FFFFFF"/>
                </a:solidFill>
                <a:latin typeface="KoPub돋움체 Bold"/>
              </a:defRPr>
            </a:pPr>
            <a:r>
              <a:rPr>
                <a:latin typeface="KoPub돋움체 Bold"/>
              </a:rPr>
              <a:t>03. Redis Streams 3단계 완독과 캐시 정합성 100% 복원</a:t>
            </a:r>
          </a:p>
        </p:txBody>
      </p:sp>
      <p:sp>
        <p:nvSpPr>
          <p:cNvPr id="4" name="Rounded Rectangle 3"/>
          <p:cNvSpPr/>
          <p:nvPr/>
        </p:nvSpPr>
        <p:spPr>
          <a:xfrm>
            <a:off x="356760" y="914400"/>
            <a:ext cx="9198720" cy="347400"/>
          </a:xfrm>
          <a:prstGeom prst="roundRect">
            <a:avLst/>
          </a:prstGeom>
          <a:solidFill>
            <a:srgbClr val="F1F1F1"/>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011156"/>
            <a:ext cx="9052560" cy="153888"/>
          </a:xfrm>
          <a:prstGeom prst="rect">
            <a:avLst/>
          </a:prstGeom>
          <a:noFill/>
        </p:spPr>
        <p:txBody>
          <a:bodyPr wrap="square" lIns="0" tIns="0" rIns="0" bIns="0" anchor="ctr">
            <a:spAutoFit/>
          </a:bodyPr>
          <a:lstStyle/>
          <a:p>
            <a:pPr>
              <a:defRPr sz="1050" b="1">
                <a:solidFill>
                  <a:srgbClr val="0E306D"/>
                </a:solidFill>
                <a:latin typeface="KoPub돋움체 Bold"/>
              </a:defRPr>
            </a:pPr>
            <a:r>
              <a:rPr sz="1000" dirty="0">
                <a:latin typeface="KoPub돋움체 Bold"/>
              </a:rPr>
              <a:t>Pub/</a:t>
            </a:r>
            <a:r>
              <a:rPr sz="1000" dirty="0" err="1">
                <a:latin typeface="KoPub돋움체 Bold"/>
              </a:rPr>
              <a:t>Sub의</a:t>
            </a:r>
            <a:r>
              <a:rPr sz="1000" dirty="0">
                <a:latin typeface="KoPub돋움체 Bold"/>
              </a:rPr>
              <a:t> </a:t>
            </a:r>
            <a:r>
              <a:rPr sz="1000" dirty="0" err="1">
                <a:latin typeface="KoPub돋움체 Bold"/>
              </a:rPr>
              <a:t>네트워크</a:t>
            </a:r>
            <a:r>
              <a:rPr sz="1000" dirty="0">
                <a:latin typeface="KoPub돋움체 Bold"/>
              </a:rPr>
              <a:t> </a:t>
            </a:r>
            <a:r>
              <a:rPr sz="1000" dirty="0" err="1">
                <a:latin typeface="KoPub돋움체 Bold"/>
              </a:rPr>
              <a:t>단절</a:t>
            </a:r>
            <a:r>
              <a:rPr sz="1000" dirty="0">
                <a:latin typeface="KoPub돋움체 Bold"/>
              </a:rPr>
              <a:t> 시 </a:t>
            </a:r>
            <a:r>
              <a:rPr sz="1000" dirty="0" err="1">
                <a:latin typeface="KoPub돋움체 Bold"/>
              </a:rPr>
              <a:t>메시지</a:t>
            </a:r>
            <a:r>
              <a:rPr sz="1000" dirty="0">
                <a:latin typeface="KoPub돋움체 Bold"/>
              </a:rPr>
              <a:t> </a:t>
            </a:r>
            <a:r>
              <a:rPr sz="1000" dirty="0" err="1">
                <a:latin typeface="KoPub돋움체 Bold"/>
              </a:rPr>
              <a:t>유실</a:t>
            </a:r>
            <a:r>
              <a:rPr sz="1000" dirty="0">
                <a:latin typeface="KoPub돋움체 Bold"/>
              </a:rPr>
              <a:t> </a:t>
            </a:r>
            <a:r>
              <a:rPr sz="1000" dirty="0" err="1">
                <a:latin typeface="KoPub돋움체 Bold"/>
              </a:rPr>
              <a:t>한계를</a:t>
            </a:r>
            <a:r>
              <a:rPr sz="1000" dirty="0">
                <a:latin typeface="KoPub돋움체 Bold"/>
              </a:rPr>
              <a:t> </a:t>
            </a:r>
            <a:r>
              <a:rPr sz="1000" dirty="0" err="1">
                <a:latin typeface="KoPub돋움체 Bold"/>
              </a:rPr>
              <a:t>극복하고</a:t>
            </a:r>
            <a:r>
              <a:rPr sz="1000" dirty="0">
                <a:latin typeface="KoPub돋움체 Bold"/>
              </a:rPr>
              <a:t>, PEL </a:t>
            </a:r>
            <a:r>
              <a:rPr sz="1000" dirty="0" err="1">
                <a:latin typeface="KoPub돋움체 Bold"/>
              </a:rPr>
              <a:t>기반</a:t>
            </a:r>
            <a:r>
              <a:rPr sz="1000" dirty="0">
                <a:latin typeface="KoPub돋움체 Bold"/>
              </a:rPr>
              <a:t> 3단계 </a:t>
            </a:r>
            <a:r>
              <a:rPr sz="1000" dirty="0" err="1">
                <a:latin typeface="KoPub돋움체 Bold"/>
              </a:rPr>
              <a:t>복구로</a:t>
            </a:r>
            <a:r>
              <a:rPr sz="1000" dirty="0">
                <a:latin typeface="KoPub돋움체 Bold"/>
              </a:rPr>
              <a:t> </a:t>
            </a:r>
            <a:r>
              <a:rPr sz="1000" dirty="0" err="1">
                <a:latin typeface="KoPub돋움체 Bold"/>
              </a:rPr>
              <a:t>스플릿</a:t>
            </a:r>
            <a:r>
              <a:rPr sz="1000" dirty="0">
                <a:latin typeface="KoPub돋움체 Bold"/>
              </a:rPr>
              <a:t> </a:t>
            </a:r>
            <a:r>
              <a:rPr sz="1000" dirty="0" err="1">
                <a:latin typeface="KoPub돋움체 Bold"/>
              </a:rPr>
              <a:t>브레인</a:t>
            </a:r>
            <a:r>
              <a:rPr sz="1000" dirty="0">
                <a:latin typeface="KoPub돋움체 Bold"/>
              </a:rPr>
              <a:t> </a:t>
            </a:r>
            <a:r>
              <a:rPr sz="1000" dirty="0" err="1">
                <a:latin typeface="KoPub돋움체 Bold"/>
              </a:rPr>
              <a:t>원천</a:t>
            </a:r>
            <a:r>
              <a:rPr sz="1000" dirty="0">
                <a:latin typeface="KoPub돋움체 Bold"/>
              </a:rPr>
              <a:t> </a:t>
            </a:r>
            <a:r>
              <a:rPr sz="1000" dirty="0" err="1">
                <a:latin typeface="KoPub돋움체 Bold"/>
              </a:rPr>
              <a:t>방지</a:t>
            </a:r>
            <a:endParaRPr sz="1000" dirty="0">
              <a:latin typeface="KoPub돋움체 Bold"/>
            </a:endParaRPr>
          </a:p>
        </p:txBody>
      </p:sp>
      <p:sp>
        <p:nvSpPr>
          <p:cNvPr id="6" name="Rounded Rectangle 5"/>
          <p:cNvSpPr/>
          <p:nvPr/>
        </p:nvSpPr>
        <p:spPr>
          <a:xfrm>
            <a:off x="356760" y="1350000"/>
            <a:ext cx="9198720" cy="2340000"/>
          </a:xfrm>
          <a:prstGeom prst="roundRect">
            <a:avLst>
              <a:gd name="adj" fmla="val 7260"/>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86000" y="1476000"/>
            <a:ext cx="8939520" cy="288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50" b="1">
                <a:solidFill>
                  <a:srgbClr val="0E306D"/>
                </a:solidFill>
                <a:latin typeface="KoPub돋움체 Bold"/>
              </a:defRPr>
            </a:pPr>
            <a:r>
              <a:rPr sz="1000" dirty="0" err="1">
                <a:latin typeface="KoPub돋움체 Bold"/>
              </a:rPr>
              <a:t>네트워크</a:t>
            </a:r>
            <a:r>
              <a:rPr sz="1000" dirty="0">
                <a:latin typeface="KoPub돋움체 Bold"/>
              </a:rPr>
              <a:t> </a:t>
            </a:r>
            <a:r>
              <a:rPr sz="1000" dirty="0" err="1">
                <a:latin typeface="KoPub돋움체 Bold"/>
              </a:rPr>
              <a:t>단절</a:t>
            </a:r>
            <a:r>
              <a:rPr sz="1000" dirty="0">
                <a:latin typeface="KoPub돋움체 Bold"/>
              </a:rPr>
              <a:t> 시 </a:t>
            </a:r>
            <a:r>
              <a:rPr sz="1000" dirty="0" err="1">
                <a:latin typeface="KoPub돋움체 Bold"/>
              </a:rPr>
              <a:t>캐시</a:t>
            </a:r>
            <a:r>
              <a:rPr sz="1000" dirty="0">
                <a:latin typeface="KoPub돋움체 Bold"/>
              </a:rPr>
              <a:t> </a:t>
            </a:r>
            <a:r>
              <a:rPr sz="1000" dirty="0" err="1">
                <a:latin typeface="KoPub돋움체 Bold"/>
              </a:rPr>
              <a:t>동기화</a:t>
            </a:r>
            <a:r>
              <a:rPr sz="1000" dirty="0">
                <a:latin typeface="KoPub돋움체 Bold"/>
              </a:rPr>
              <a:t> </a:t>
            </a:r>
            <a:r>
              <a:rPr sz="1000" dirty="0" err="1">
                <a:latin typeface="KoPub돋움체 Bold"/>
              </a:rPr>
              <a:t>타임라인</a:t>
            </a:r>
            <a:r>
              <a:rPr sz="1000" dirty="0">
                <a:latin typeface="KoPub돋움체 Bold"/>
              </a:rPr>
              <a:t> </a:t>
            </a:r>
            <a:r>
              <a:rPr sz="1000" dirty="0" err="1">
                <a:latin typeface="KoPub돋움체 Bold"/>
              </a:rPr>
              <a:t>비교</a:t>
            </a:r>
            <a:r>
              <a:rPr sz="1000" dirty="0">
                <a:latin typeface="KoPub돋움체 Bold"/>
              </a:rPr>
              <a:t> (</a:t>
            </a:r>
            <a:r>
              <a:rPr sz="1000" dirty="0" err="1">
                <a:latin typeface="KoPub돋움체 Bold"/>
              </a:rPr>
              <a:t>기존</a:t>
            </a:r>
            <a:r>
              <a:rPr sz="1000" dirty="0">
                <a:latin typeface="KoPub돋움체 Bold"/>
              </a:rPr>
              <a:t> Pub/Sub vs </a:t>
            </a:r>
            <a:r>
              <a:rPr sz="1000" dirty="0" err="1">
                <a:latin typeface="KoPub돋움체 Bold"/>
              </a:rPr>
              <a:t>PoP</a:t>
            </a:r>
            <a:r>
              <a:rPr sz="1000" dirty="0">
                <a:latin typeface="KoPub돋움체 Bold"/>
              </a:rPr>
              <a:t>-Sync Streams)</a:t>
            </a:r>
          </a:p>
        </p:txBody>
      </p:sp>
      <p:sp>
        <p:nvSpPr>
          <p:cNvPr id="8" name="Rounded Rectangle 7"/>
          <p:cNvSpPr/>
          <p:nvPr/>
        </p:nvSpPr>
        <p:spPr>
          <a:xfrm>
            <a:off x="486000" y="1854000"/>
            <a:ext cx="8939520" cy="792000"/>
          </a:xfrm>
          <a:prstGeom prst="roundRect">
            <a:avLst/>
          </a:prstGeom>
          <a:solidFill>
            <a:srgbClr val="FEF2F2"/>
          </a:solidFill>
          <a:ln>
            <a:solidFill>
              <a:srgbClr val="FECDD3"/>
            </a:solidFill>
          </a:ln>
        </p:spPr>
        <p:style>
          <a:lnRef idx="1">
            <a:schemeClr val="accent1"/>
          </a:lnRef>
          <a:fillRef idx="3">
            <a:schemeClr val="accent1"/>
          </a:fillRef>
          <a:effectRef idx="2">
            <a:schemeClr val="accent1"/>
          </a:effectRef>
          <a:fontRef idx="minor">
            <a:schemeClr val="lt1"/>
          </a:fontRef>
        </p:style>
        <p:txBody>
          <a:bodyPr wrap="square" lIns="108000" tIns="72000" rtlCol="0" anchor="ctr"/>
          <a:lstStyle/>
          <a:p>
            <a:pPr algn="ctr">
              <a:lnSpc>
                <a:spcPct val="150000"/>
              </a:lnSpc>
              <a:defRPr sz="850" b="1">
                <a:solidFill>
                  <a:srgbClr val="B91C1C"/>
                </a:solidFill>
                <a:latin typeface="KoPub돋움체 Bold"/>
              </a:defRPr>
            </a:pPr>
            <a:r>
              <a:rPr sz="1000" dirty="0">
                <a:latin typeface="KoPub돋움체 Bold"/>
              </a:rPr>
              <a:t>[</a:t>
            </a:r>
            <a:r>
              <a:rPr sz="1000" dirty="0" err="1">
                <a:latin typeface="KoPub돋움체 Bold"/>
              </a:rPr>
              <a:t>기존</a:t>
            </a:r>
            <a:r>
              <a:rPr sz="1000" dirty="0">
                <a:latin typeface="KoPub돋움체 Bold"/>
              </a:rPr>
              <a:t> Redis Pub/Sub </a:t>
            </a:r>
            <a:r>
              <a:rPr sz="1000" dirty="0" err="1">
                <a:latin typeface="KoPub돋움체 Bold"/>
              </a:rPr>
              <a:t>방식</a:t>
            </a:r>
            <a:r>
              <a:rPr sz="1000" dirty="0">
                <a:latin typeface="KoPub돋움체 Bold"/>
              </a:rPr>
              <a:t>]  </a:t>
            </a:r>
            <a:r>
              <a:rPr sz="1000" dirty="0" err="1">
                <a:latin typeface="KoPub돋움체 Bold"/>
              </a:rPr>
              <a:t>유실</a:t>
            </a:r>
            <a:r>
              <a:rPr sz="1000" dirty="0">
                <a:latin typeface="KoPub돋움체 Bold"/>
              </a:rPr>
              <a:t> 및 </a:t>
            </a:r>
            <a:r>
              <a:rPr sz="1000" dirty="0" err="1">
                <a:latin typeface="KoPub돋움체 Bold"/>
              </a:rPr>
              <a:t>스플릿</a:t>
            </a:r>
            <a:r>
              <a:rPr sz="1000" dirty="0">
                <a:latin typeface="KoPub돋움체 Bold"/>
              </a:rPr>
              <a:t> </a:t>
            </a:r>
            <a:r>
              <a:rPr sz="1000" dirty="0" err="1">
                <a:latin typeface="KoPub돋움체 Bold"/>
              </a:rPr>
              <a:t>브레인</a:t>
            </a:r>
            <a:r>
              <a:rPr sz="1000" dirty="0">
                <a:latin typeface="KoPub돋움체 Bold"/>
              </a:rPr>
              <a:t> </a:t>
            </a:r>
            <a:r>
              <a:rPr sz="1000" dirty="0" err="1">
                <a:latin typeface="KoPub돋움체 Bold"/>
              </a:rPr>
              <a:t>발생</a:t>
            </a:r>
            <a:endParaRPr sz="1000" dirty="0">
              <a:latin typeface="KoPub돋움체 Bold"/>
            </a:endParaRPr>
          </a:p>
          <a:p>
            <a:pPr algn="ctr">
              <a:lnSpc>
                <a:spcPct val="150000"/>
              </a:lnSpc>
              <a:defRPr sz="780">
                <a:solidFill>
                  <a:srgbClr val="0F172A"/>
                </a:solidFill>
                <a:latin typeface="KoPub돋움체 Medium"/>
              </a:defRPr>
            </a:pPr>
            <a:r>
              <a:rPr sz="1000" dirty="0">
                <a:latin typeface="KoPub돋움체 Medium"/>
              </a:rPr>
              <a:t>0.0s (</a:t>
            </a:r>
            <a:r>
              <a:rPr sz="1000" dirty="0" err="1">
                <a:latin typeface="KoPub돋움체 Medium"/>
              </a:rPr>
              <a:t>정상</a:t>
            </a:r>
            <a:r>
              <a:rPr sz="1000" dirty="0">
                <a:latin typeface="KoPub돋움체 Medium"/>
              </a:rPr>
              <a:t> </a:t>
            </a:r>
            <a:r>
              <a:rPr sz="1000" dirty="0" err="1">
                <a:latin typeface="KoPub돋움체 Medium"/>
              </a:rPr>
              <a:t>동작</a:t>
            </a:r>
            <a:r>
              <a:rPr sz="1000" dirty="0">
                <a:latin typeface="KoPub돋움체 Medium"/>
              </a:rPr>
              <a:t>: L1 </a:t>
            </a:r>
            <a:r>
              <a:rPr sz="1000" dirty="0" err="1">
                <a:latin typeface="KoPub돋움체 Medium"/>
              </a:rPr>
              <a:t>무효화</a:t>
            </a:r>
            <a:r>
              <a:rPr sz="1000" dirty="0">
                <a:latin typeface="KoPub돋움체 Medium"/>
              </a:rPr>
              <a:t>) → 10.0s (</a:t>
            </a:r>
            <a:r>
              <a:rPr sz="1000" dirty="0" err="1">
                <a:latin typeface="KoPub돋움체 Medium"/>
              </a:rPr>
              <a:t>네트워크</a:t>
            </a:r>
            <a:r>
              <a:rPr sz="1000" dirty="0">
                <a:latin typeface="KoPub돋움체 Medium"/>
              </a:rPr>
              <a:t> </a:t>
            </a:r>
            <a:r>
              <a:rPr sz="1000" dirty="0" err="1">
                <a:latin typeface="KoPub돋움체 Medium"/>
              </a:rPr>
              <a:t>단절</a:t>
            </a:r>
            <a:r>
              <a:rPr sz="1000" dirty="0">
                <a:latin typeface="KoPub돋움체 Medium"/>
              </a:rPr>
              <a:t>: </a:t>
            </a:r>
            <a:r>
              <a:rPr sz="1000" dirty="0" err="1">
                <a:latin typeface="KoPub돋움체 Medium"/>
              </a:rPr>
              <a:t>통신</a:t>
            </a:r>
            <a:r>
              <a:rPr sz="1000" dirty="0">
                <a:latin typeface="KoPub돋움체 Medium"/>
              </a:rPr>
              <a:t> </a:t>
            </a:r>
            <a:r>
              <a:rPr sz="1000" dirty="0" err="1">
                <a:latin typeface="KoPub돋움체 Medium"/>
              </a:rPr>
              <a:t>두절</a:t>
            </a:r>
            <a:r>
              <a:rPr sz="1000" dirty="0">
                <a:latin typeface="KoPub돋움체 Medium"/>
              </a:rPr>
              <a:t> 중 </a:t>
            </a:r>
            <a:r>
              <a:rPr sz="1000" dirty="0" err="1">
                <a:latin typeface="KoPub돋움체 Medium"/>
              </a:rPr>
              <a:t>무효화</a:t>
            </a:r>
            <a:r>
              <a:rPr sz="1000" dirty="0">
                <a:latin typeface="KoPub돋움체 Medium"/>
              </a:rPr>
              <a:t> </a:t>
            </a:r>
            <a:r>
              <a:rPr sz="1000" dirty="0" err="1">
                <a:latin typeface="KoPub돋움체 Medium"/>
              </a:rPr>
              <a:t>발행</a:t>
            </a:r>
            <a:r>
              <a:rPr sz="1000" dirty="0">
                <a:latin typeface="KoPub돋움체 Medium"/>
              </a:rPr>
              <a:t>) → </a:t>
            </a:r>
            <a:endParaRPr lang="en-US" sz="1000" dirty="0">
              <a:latin typeface="KoPub돋움체 Medium"/>
            </a:endParaRPr>
          </a:p>
          <a:p>
            <a:pPr algn="ctr">
              <a:lnSpc>
                <a:spcPct val="150000"/>
              </a:lnSpc>
              <a:defRPr sz="780">
                <a:solidFill>
                  <a:srgbClr val="0F172A"/>
                </a:solidFill>
                <a:latin typeface="KoPub돋움체 Medium"/>
              </a:defRPr>
            </a:pPr>
            <a:r>
              <a:rPr sz="1000" dirty="0">
                <a:latin typeface="KoPub돋움체 Medium"/>
              </a:rPr>
              <a:t>[Fire-and-Forget </a:t>
            </a:r>
            <a:r>
              <a:rPr sz="1000" dirty="0" err="1">
                <a:latin typeface="KoPub돋움체 Medium"/>
              </a:rPr>
              <a:t>유실</a:t>
            </a:r>
            <a:r>
              <a:rPr sz="1000" dirty="0">
                <a:latin typeface="KoPub돋움체 Medium"/>
              </a:rPr>
              <a:t>: </a:t>
            </a:r>
            <a:r>
              <a:rPr sz="1000" dirty="0" err="1">
                <a:latin typeface="KoPub돋움체 Medium"/>
              </a:rPr>
              <a:t>큐가</a:t>
            </a:r>
            <a:r>
              <a:rPr sz="1000" dirty="0">
                <a:latin typeface="KoPub돋움체 Medium"/>
              </a:rPr>
              <a:t> </a:t>
            </a:r>
            <a:r>
              <a:rPr sz="1000" dirty="0" err="1">
                <a:latin typeface="KoPub돋움체 Medium"/>
              </a:rPr>
              <a:t>없어</a:t>
            </a:r>
            <a:r>
              <a:rPr sz="1000" dirty="0">
                <a:latin typeface="KoPub돋움체 Medium"/>
              </a:rPr>
              <a:t> </a:t>
            </a:r>
            <a:r>
              <a:rPr sz="1000" dirty="0" err="1">
                <a:latin typeface="KoPub돋움체 Medium"/>
              </a:rPr>
              <a:t>영구</a:t>
            </a:r>
            <a:r>
              <a:rPr sz="1000" dirty="0">
                <a:latin typeface="KoPub돋움체 Medium"/>
              </a:rPr>
              <a:t> </a:t>
            </a:r>
            <a:r>
              <a:rPr sz="1000" dirty="0" err="1">
                <a:latin typeface="KoPub돋움체 Medium"/>
              </a:rPr>
              <a:t>소실</a:t>
            </a:r>
            <a:r>
              <a:rPr sz="1000" dirty="0">
                <a:latin typeface="KoPub돋움체 Medium"/>
              </a:rPr>
              <a:t>] → 40.0s (</a:t>
            </a:r>
            <a:r>
              <a:rPr sz="1000" dirty="0" err="1">
                <a:latin typeface="KoPub돋움체 Medium"/>
              </a:rPr>
              <a:t>복구</a:t>
            </a:r>
            <a:r>
              <a:rPr sz="1000" dirty="0">
                <a:latin typeface="KoPub돋움체 Medium"/>
              </a:rPr>
              <a:t> </a:t>
            </a:r>
            <a:r>
              <a:rPr sz="1000" dirty="0" err="1">
                <a:latin typeface="KoPub돋움체 Medium"/>
              </a:rPr>
              <a:t>후에도</a:t>
            </a:r>
            <a:r>
              <a:rPr sz="1000" dirty="0">
                <a:latin typeface="KoPub돋움체 Medium"/>
              </a:rPr>
              <a:t> </a:t>
            </a:r>
            <a:r>
              <a:rPr sz="1000" dirty="0" err="1">
                <a:latin typeface="KoPub돋움체 Medium"/>
              </a:rPr>
              <a:t>낡은</a:t>
            </a:r>
            <a:r>
              <a:rPr sz="1000" dirty="0">
                <a:latin typeface="KoPub돋움체 Medium"/>
              </a:rPr>
              <a:t> </a:t>
            </a:r>
            <a:r>
              <a:rPr sz="1000" dirty="0" err="1">
                <a:latin typeface="KoPub돋움체 Medium"/>
              </a:rPr>
              <a:t>캐시로</a:t>
            </a:r>
            <a:r>
              <a:rPr sz="1000" dirty="0">
                <a:latin typeface="KoPub돋움체 Medium"/>
              </a:rPr>
              <a:t> </a:t>
            </a:r>
            <a:r>
              <a:rPr sz="1000" dirty="0" err="1">
                <a:latin typeface="KoPub돋움체 Medium"/>
              </a:rPr>
              <a:t>권한</a:t>
            </a:r>
            <a:r>
              <a:rPr sz="1000" dirty="0">
                <a:latin typeface="KoPub돋움체 Medium"/>
              </a:rPr>
              <a:t> </a:t>
            </a:r>
            <a:r>
              <a:rPr sz="1000" dirty="0" err="1">
                <a:latin typeface="KoPub돋움체 Medium"/>
              </a:rPr>
              <a:t>무단</a:t>
            </a:r>
            <a:r>
              <a:rPr sz="1000" dirty="0">
                <a:latin typeface="KoPub돋움체 Medium"/>
              </a:rPr>
              <a:t> </a:t>
            </a:r>
            <a:r>
              <a:rPr sz="1000" dirty="0" err="1">
                <a:latin typeface="KoPub돋움체 Medium"/>
              </a:rPr>
              <a:t>승인</a:t>
            </a:r>
            <a:r>
              <a:rPr sz="1000" dirty="0">
                <a:latin typeface="KoPub돋움체 Medium"/>
              </a:rPr>
              <a:t>)</a:t>
            </a:r>
          </a:p>
        </p:txBody>
      </p:sp>
      <p:sp>
        <p:nvSpPr>
          <p:cNvPr id="9" name="Rounded Rectangle 8"/>
          <p:cNvSpPr/>
          <p:nvPr/>
        </p:nvSpPr>
        <p:spPr>
          <a:xfrm>
            <a:off x="486000" y="2736000"/>
            <a:ext cx="8939520" cy="864000"/>
          </a:xfrm>
          <a:prstGeom prst="roundRect">
            <a:avLst/>
          </a:prstGeom>
          <a:solidFill>
            <a:srgbClr val="E3F3F2"/>
          </a:solidFill>
          <a:ln>
            <a:solidFill>
              <a:srgbClr val="A7F3D0"/>
            </a:solidFill>
          </a:ln>
        </p:spPr>
        <p:style>
          <a:lnRef idx="1">
            <a:schemeClr val="accent1"/>
          </a:lnRef>
          <a:fillRef idx="3">
            <a:schemeClr val="accent1"/>
          </a:fillRef>
          <a:effectRef idx="2">
            <a:schemeClr val="accent1"/>
          </a:effectRef>
          <a:fontRef idx="minor">
            <a:schemeClr val="lt1"/>
          </a:fontRef>
        </p:style>
        <p:txBody>
          <a:bodyPr wrap="square" lIns="108000" tIns="72000" rtlCol="0" anchor="ctr"/>
          <a:lstStyle/>
          <a:p>
            <a:pPr algn="ctr">
              <a:lnSpc>
                <a:spcPct val="150000"/>
              </a:lnSpc>
              <a:defRPr sz="850" b="1">
                <a:solidFill>
                  <a:srgbClr val="009A93"/>
                </a:solidFill>
                <a:latin typeface="KoPub돋움체 Bold"/>
              </a:defRPr>
            </a:pPr>
            <a:r>
              <a:rPr sz="1000" dirty="0">
                <a:latin typeface="KoPub돋움체 Bold"/>
              </a:rPr>
              <a:t>[</a:t>
            </a:r>
            <a:r>
              <a:rPr sz="1000" dirty="0" err="1">
                <a:latin typeface="KoPub돋움체 Bold"/>
              </a:rPr>
              <a:t>PoP</a:t>
            </a:r>
            <a:r>
              <a:rPr sz="1000" dirty="0">
                <a:latin typeface="KoPub돋움체 Bold"/>
              </a:rPr>
              <a:t>-Sync Redis Streams </a:t>
            </a:r>
            <a:r>
              <a:rPr sz="1000" dirty="0" err="1">
                <a:latin typeface="KoPub돋움체 Bold"/>
              </a:rPr>
              <a:t>방식</a:t>
            </a:r>
            <a:r>
              <a:rPr sz="1000" dirty="0">
                <a:latin typeface="KoPub돋움체 Bold"/>
              </a:rPr>
              <a:t>]  3단계 </a:t>
            </a:r>
            <a:r>
              <a:rPr sz="1000" dirty="0" err="1">
                <a:latin typeface="KoPub돋움체 Bold"/>
              </a:rPr>
              <a:t>완독으로</a:t>
            </a:r>
            <a:r>
              <a:rPr sz="1000" dirty="0">
                <a:latin typeface="KoPub돋움체 Bold"/>
              </a:rPr>
              <a:t> 8ms 내 </a:t>
            </a:r>
            <a:r>
              <a:rPr sz="1000" dirty="0" err="1">
                <a:latin typeface="KoPub돋움체 Bold"/>
              </a:rPr>
              <a:t>캐시</a:t>
            </a:r>
            <a:r>
              <a:rPr sz="1000" dirty="0">
                <a:latin typeface="KoPub돋움체 Bold"/>
              </a:rPr>
              <a:t> </a:t>
            </a:r>
            <a:r>
              <a:rPr sz="1000" dirty="0" err="1">
                <a:latin typeface="KoPub돋움체 Bold"/>
              </a:rPr>
              <a:t>정합성</a:t>
            </a:r>
            <a:r>
              <a:rPr sz="1000" dirty="0">
                <a:latin typeface="KoPub돋움체 Bold"/>
              </a:rPr>
              <a:t> 100% </a:t>
            </a:r>
            <a:r>
              <a:rPr sz="1000" dirty="0" err="1">
                <a:latin typeface="KoPub돋움체 Bold"/>
              </a:rPr>
              <a:t>복원</a:t>
            </a:r>
            <a:endParaRPr sz="1000" dirty="0">
              <a:latin typeface="KoPub돋움체 Bold"/>
            </a:endParaRPr>
          </a:p>
          <a:p>
            <a:pPr algn="ctr">
              <a:lnSpc>
                <a:spcPct val="150000"/>
              </a:lnSpc>
              <a:defRPr sz="780">
                <a:solidFill>
                  <a:srgbClr val="0F172A"/>
                </a:solidFill>
                <a:latin typeface="KoPub돋움체 Medium"/>
              </a:defRPr>
            </a:pPr>
            <a:r>
              <a:rPr sz="1000" dirty="0">
                <a:latin typeface="KoPub돋움체 Medium"/>
              </a:rPr>
              <a:t>10.0s (</a:t>
            </a:r>
            <a:r>
              <a:rPr sz="1000" dirty="0" err="1">
                <a:latin typeface="KoPub돋움체 Medium"/>
              </a:rPr>
              <a:t>단절</a:t>
            </a:r>
            <a:r>
              <a:rPr sz="1000" dirty="0">
                <a:latin typeface="KoPub돋움체 Medium"/>
              </a:rPr>
              <a:t> </a:t>
            </a:r>
            <a:r>
              <a:rPr sz="1000" dirty="0" err="1">
                <a:latin typeface="KoPub돋움체 Medium"/>
              </a:rPr>
              <a:t>감지</a:t>
            </a:r>
            <a:r>
              <a:rPr sz="1000" dirty="0">
                <a:latin typeface="KoPub돋움체 Medium"/>
              </a:rPr>
              <a:t> </a:t>
            </a:r>
            <a:r>
              <a:rPr sz="1000" dirty="0" err="1">
                <a:latin typeface="KoPub돋움체 Medium"/>
              </a:rPr>
              <a:t>즉시</a:t>
            </a:r>
            <a:r>
              <a:rPr sz="1000" dirty="0">
                <a:latin typeface="KoPub돋움체 Medium"/>
              </a:rPr>
              <a:t> 503 Fail-Closed </a:t>
            </a:r>
            <a:r>
              <a:rPr sz="1000" dirty="0" err="1">
                <a:latin typeface="KoPub돋움체 Medium"/>
              </a:rPr>
              <a:t>격리</a:t>
            </a:r>
            <a:r>
              <a:rPr sz="1000" dirty="0">
                <a:latin typeface="KoPub돋움체 Medium"/>
              </a:rPr>
              <a:t>) → [1단계: PEL </a:t>
            </a:r>
            <a:r>
              <a:rPr sz="1000" dirty="0" err="1">
                <a:latin typeface="KoPub돋움체 Medium"/>
              </a:rPr>
              <a:t>미확인</a:t>
            </a:r>
            <a:r>
              <a:rPr sz="1000" dirty="0">
                <a:latin typeface="KoPub돋움체 Medium"/>
              </a:rPr>
              <a:t> </a:t>
            </a:r>
            <a:r>
              <a:rPr sz="1000" dirty="0" err="1">
                <a:latin typeface="KoPub돋움체 Medium"/>
              </a:rPr>
              <a:t>메시지</a:t>
            </a:r>
            <a:r>
              <a:rPr sz="1000" dirty="0">
                <a:latin typeface="KoPub돋움체 Medium"/>
              </a:rPr>
              <a:t> </a:t>
            </a:r>
            <a:r>
              <a:rPr sz="1000" dirty="0" err="1">
                <a:latin typeface="KoPub돋움체 Medium"/>
              </a:rPr>
              <a:t>완독</a:t>
            </a:r>
            <a:r>
              <a:rPr sz="1000" dirty="0">
                <a:latin typeface="KoPub돋움체 Medium"/>
              </a:rPr>
              <a:t>] → </a:t>
            </a:r>
            <a:endParaRPr lang="en-US" sz="1000" dirty="0">
              <a:latin typeface="KoPub돋움체 Medium"/>
            </a:endParaRPr>
          </a:p>
          <a:p>
            <a:pPr algn="ctr">
              <a:lnSpc>
                <a:spcPct val="150000"/>
              </a:lnSpc>
              <a:defRPr sz="780">
                <a:solidFill>
                  <a:srgbClr val="0F172A"/>
                </a:solidFill>
                <a:latin typeface="KoPub돋움체 Medium"/>
              </a:defRPr>
            </a:pPr>
            <a:r>
              <a:rPr sz="1000" dirty="0">
                <a:latin typeface="KoPub돋움체 Medium"/>
              </a:rPr>
              <a:t>[2단계: XAUTOCLAIM </a:t>
            </a:r>
            <a:r>
              <a:rPr sz="1000" dirty="0" err="1">
                <a:latin typeface="KoPub돋움체 Medium"/>
              </a:rPr>
              <a:t>소유권</a:t>
            </a:r>
            <a:r>
              <a:rPr sz="1000" dirty="0">
                <a:latin typeface="KoPub돋움체 Medium"/>
              </a:rPr>
              <a:t> </a:t>
            </a:r>
            <a:r>
              <a:rPr sz="1000" dirty="0" err="1">
                <a:latin typeface="KoPub돋움체 Medium"/>
              </a:rPr>
              <a:t>회수</a:t>
            </a:r>
            <a:r>
              <a:rPr sz="1000" dirty="0">
                <a:latin typeface="KoPub돋움체 Medium"/>
              </a:rPr>
              <a:t>] → [3단계: </a:t>
            </a:r>
            <a:r>
              <a:rPr sz="1000" dirty="0" err="1">
                <a:latin typeface="KoPub돋움체 Medium"/>
              </a:rPr>
              <a:t>누적</a:t>
            </a:r>
            <a:r>
              <a:rPr sz="1000" dirty="0">
                <a:latin typeface="KoPub돋움체 Medium"/>
              </a:rPr>
              <a:t> </a:t>
            </a:r>
            <a:r>
              <a:rPr sz="1000" dirty="0" err="1">
                <a:latin typeface="KoPub돋움체 Medium"/>
              </a:rPr>
              <a:t>이벤트</a:t>
            </a:r>
            <a:r>
              <a:rPr sz="1000" dirty="0">
                <a:latin typeface="KoPub돋움체 Medium"/>
              </a:rPr>
              <a:t> </a:t>
            </a:r>
            <a:r>
              <a:rPr sz="1000" dirty="0" err="1">
                <a:latin typeface="KoPub돋움체 Medium"/>
              </a:rPr>
              <a:t>실시간</a:t>
            </a:r>
            <a:r>
              <a:rPr sz="1000" dirty="0">
                <a:latin typeface="KoPub돋움체 Medium"/>
              </a:rPr>
              <a:t> </a:t>
            </a:r>
            <a:r>
              <a:rPr sz="1000" dirty="0" err="1">
                <a:latin typeface="KoPub돋움체 Medium"/>
              </a:rPr>
              <a:t>완독</a:t>
            </a:r>
            <a:r>
              <a:rPr sz="1000" dirty="0">
                <a:latin typeface="KoPub돋움체 Medium"/>
              </a:rPr>
              <a:t>] → [</a:t>
            </a:r>
            <a:r>
              <a:rPr sz="1000" dirty="0" err="1">
                <a:latin typeface="KoPub돋움체 Medium"/>
              </a:rPr>
              <a:t>정합성</a:t>
            </a:r>
            <a:r>
              <a:rPr sz="1000" dirty="0">
                <a:latin typeface="KoPub돋움체 Medium"/>
              </a:rPr>
              <a:t> 100% </a:t>
            </a:r>
            <a:r>
              <a:rPr sz="1000" dirty="0" err="1">
                <a:latin typeface="KoPub돋움체 Medium"/>
              </a:rPr>
              <a:t>회복</a:t>
            </a:r>
            <a:r>
              <a:rPr sz="1000" dirty="0">
                <a:latin typeface="KoPub돋움체 Medium"/>
              </a:rPr>
              <a:t> (</a:t>
            </a:r>
            <a:r>
              <a:rPr sz="1000" dirty="0" err="1">
                <a:latin typeface="KoPub돋움체 Medium"/>
              </a:rPr>
              <a:t>누락</a:t>
            </a:r>
            <a:r>
              <a:rPr sz="1000" dirty="0">
                <a:latin typeface="KoPub돋움체 Medium"/>
              </a:rPr>
              <a:t> 0건)]</a:t>
            </a:r>
          </a:p>
        </p:txBody>
      </p:sp>
      <p:sp>
        <p:nvSpPr>
          <p:cNvPr id="10" name="Rounded Rectangle 9"/>
          <p:cNvSpPr/>
          <p:nvPr/>
        </p:nvSpPr>
        <p:spPr>
          <a:xfrm>
            <a:off x="356760" y="3780000"/>
            <a:ext cx="4500000" cy="2178000"/>
          </a:xfrm>
          <a:prstGeom prst="roundRect">
            <a:avLst>
              <a:gd name="adj" fmla="val 6171"/>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86000" y="3906000"/>
            <a:ext cx="4248000" cy="288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0E306D"/>
                </a:solidFill>
                <a:latin typeface="KoPub돋움체 Bold"/>
              </a:defRPr>
            </a:pPr>
            <a:r>
              <a:rPr dirty="0" err="1">
                <a:latin typeface="KoPub돋움체 Bold"/>
              </a:rPr>
              <a:t>통신</a:t>
            </a:r>
            <a:r>
              <a:rPr dirty="0">
                <a:latin typeface="KoPub돋움체 Bold"/>
              </a:rPr>
              <a:t> </a:t>
            </a:r>
            <a:r>
              <a:rPr dirty="0" err="1">
                <a:latin typeface="KoPub돋움체 Bold"/>
              </a:rPr>
              <a:t>복구</a:t>
            </a:r>
            <a:r>
              <a:rPr dirty="0">
                <a:latin typeface="KoPub돋움체 Bold"/>
              </a:rPr>
              <a:t> 후 </a:t>
            </a:r>
            <a:r>
              <a:rPr dirty="0" err="1">
                <a:latin typeface="KoPub돋움체 Bold"/>
              </a:rPr>
              <a:t>캐시</a:t>
            </a:r>
            <a:r>
              <a:rPr dirty="0">
                <a:latin typeface="KoPub돋움체 Bold"/>
              </a:rPr>
              <a:t> </a:t>
            </a:r>
            <a:r>
              <a:rPr dirty="0" err="1">
                <a:latin typeface="KoPub돋움체 Bold"/>
              </a:rPr>
              <a:t>정합성</a:t>
            </a:r>
            <a:r>
              <a:rPr dirty="0">
                <a:latin typeface="KoPub돋움체 Bold"/>
              </a:rPr>
              <a:t> </a:t>
            </a:r>
            <a:r>
              <a:rPr dirty="0" err="1">
                <a:latin typeface="KoPub돋움체 Bold"/>
              </a:rPr>
              <a:t>실측</a:t>
            </a:r>
            <a:r>
              <a:rPr dirty="0">
                <a:latin typeface="KoPub돋움체 Bold"/>
              </a:rPr>
              <a:t> </a:t>
            </a:r>
            <a:r>
              <a:rPr dirty="0" err="1">
                <a:latin typeface="KoPub돋움체 Bold"/>
              </a:rPr>
              <a:t>지표</a:t>
            </a:r>
            <a:endParaRPr dirty="0">
              <a:latin typeface="KoPub돋움체 Bold"/>
            </a:endParaRPr>
          </a:p>
        </p:txBody>
      </p:sp>
      <p:sp>
        <p:nvSpPr>
          <p:cNvPr id="12" name="TextBox 11"/>
          <p:cNvSpPr txBox="1"/>
          <p:nvPr/>
        </p:nvSpPr>
        <p:spPr>
          <a:xfrm>
            <a:off x="504000" y="4266000"/>
            <a:ext cx="4212000" cy="1141659"/>
          </a:xfrm>
          <a:prstGeom prst="rect">
            <a:avLst/>
          </a:prstGeom>
          <a:noFill/>
        </p:spPr>
        <p:txBody>
          <a:bodyPr wrap="square" lIns="0" tIns="0" rIns="0" bIns="0">
            <a:spAutoFit/>
          </a:bodyPr>
          <a:lstStyle/>
          <a:p>
            <a:pPr>
              <a:defRPr sz="1400" b="1">
                <a:solidFill>
                  <a:srgbClr val="009A93"/>
                </a:solidFill>
                <a:latin typeface="KoPub돋움체 Bold"/>
              </a:defRPr>
            </a:pPr>
            <a:r>
              <a:rPr dirty="0" err="1">
                <a:latin typeface="KoPub돋움체 Bold"/>
              </a:rPr>
              <a:t>캐시</a:t>
            </a:r>
            <a:r>
              <a:rPr dirty="0">
                <a:latin typeface="KoPub돋움체 Bold"/>
              </a:rPr>
              <a:t> </a:t>
            </a:r>
            <a:r>
              <a:rPr dirty="0" err="1">
                <a:latin typeface="KoPub돋움체 Bold"/>
              </a:rPr>
              <a:t>정합성</a:t>
            </a:r>
            <a:r>
              <a:rPr dirty="0">
                <a:latin typeface="KoPub돋움체 Bold"/>
              </a:rPr>
              <a:t> 100% (</a:t>
            </a:r>
            <a:r>
              <a:rPr dirty="0" err="1">
                <a:latin typeface="KoPub돋움체 Bold"/>
              </a:rPr>
              <a:t>오차</a:t>
            </a:r>
            <a:r>
              <a:rPr dirty="0">
                <a:latin typeface="KoPub돋움체 Bold"/>
              </a:rPr>
              <a:t> 0건)</a:t>
            </a:r>
          </a:p>
          <a:p>
            <a:pPr>
              <a:lnSpc>
                <a:spcPct val="150000"/>
              </a:lnSpc>
              <a:spcBef>
                <a:spcPts val="200"/>
              </a:spcBef>
              <a:defRPr sz="780">
                <a:solidFill>
                  <a:srgbClr val="0F172A"/>
                </a:solidFill>
                <a:latin typeface="KoPub돋움체 Medium"/>
              </a:defRPr>
            </a:pPr>
            <a:r>
              <a:rPr sz="1000" dirty="0">
                <a:latin typeface="KoPub돋움체 Medium"/>
              </a:rPr>
              <a:t>• </a:t>
            </a:r>
            <a:r>
              <a:rPr sz="1000" dirty="0" err="1">
                <a:latin typeface="KoPub돋움체 Medium"/>
              </a:rPr>
              <a:t>last_catchup.pel_drained</a:t>
            </a:r>
            <a:r>
              <a:rPr sz="1000" dirty="0">
                <a:latin typeface="KoPub돋움체 Medium"/>
              </a:rPr>
              <a:t>: </a:t>
            </a:r>
            <a:r>
              <a:rPr sz="1000" dirty="0" err="1">
                <a:latin typeface="KoPub돋움체 Medium"/>
              </a:rPr>
              <a:t>단절</a:t>
            </a:r>
            <a:r>
              <a:rPr sz="1000" dirty="0">
                <a:latin typeface="KoPub돋움체 Medium"/>
              </a:rPr>
              <a:t> </a:t>
            </a:r>
            <a:r>
              <a:rPr sz="1000" dirty="0" err="1">
                <a:latin typeface="KoPub돋움체 Medium"/>
              </a:rPr>
              <a:t>직전</a:t>
            </a:r>
            <a:r>
              <a:rPr sz="1000" dirty="0">
                <a:latin typeface="KoPub돋움체 Medium"/>
              </a:rPr>
              <a:t> </a:t>
            </a:r>
            <a:r>
              <a:rPr sz="1000" dirty="0" err="1">
                <a:latin typeface="KoPub돋움체 Medium"/>
              </a:rPr>
              <a:t>미확인</a:t>
            </a:r>
            <a:r>
              <a:rPr sz="1000" dirty="0">
                <a:latin typeface="KoPub돋움체 Medium"/>
              </a:rPr>
              <a:t> </a:t>
            </a:r>
            <a:r>
              <a:rPr sz="1000" dirty="0" err="1">
                <a:latin typeface="KoPub돋움체 Medium"/>
              </a:rPr>
              <a:t>메시지</a:t>
            </a:r>
            <a:r>
              <a:rPr sz="1000" dirty="0">
                <a:latin typeface="KoPub돋움체 Medium"/>
              </a:rPr>
              <a:t>(PEL) </a:t>
            </a:r>
            <a:r>
              <a:rPr sz="1000" dirty="0" err="1">
                <a:latin typeface="KoPub돋움체 Medium"/>
              </a:rPr>
              <a:t>완독</a:t>
            </a:r>
            <a:r>
              <a:rPr sz="1000" dirty="0">
                <a:latin typeface="KoPub돋움체 Medium"/>
              </a:rPr>
              <a:t> </a:t>
            </a:r>
            <a:r>
              <a:rPr sz="1000" dirty="0" err="1">
                <a:latin typeface="KoPub돋움체 Medium"/>
              </a:rPr>
              <a:t>건수</a:t>
            </a:r>
            <a:br>
              <a:rPr sz="1000" dirty="0"/>
            </a:br>
            <a:r>
              <a:rPr sz="1000" dirty="0">
                <a:latin typeface="KoPub돋움체 Medium"/>
              </a:rPr>
              <a:t>• </a:t>
            </a:r>
            <a:r>
              <a:rPr sz="1000" dirty="0" err="1">
                <a:latin typeface="KoPub돋움체 Medium"/>
              </a:rPr>
              <a:t>last_catchup.autoclaimed</a:t>
            </a:r>
            <a:r>
              <a:rPr sz="1000" dirty="0">
                <a:latin typeface="KoPub돋움체 Medium"/>
              </a:rPr>
              <a:t>: 60초 </a:t>
            </a:r>
            <a:r>
              <a:rPr sz="1000" dirty="0" err="1">
                <a:latin typeface="KoPub돋움체 Medium"/>
              </a:rPr>
              <a:t>이상</a:t>
            </a:r>
            <a:r>
              <a:rPr sz="1000" dirty="0">
                <a:latin typeface="KoPub돋움체 Medium"/>
              </a:rPr>
              <a:t> </a:t>
            </a:r>
            <a:r>
              <a:rPr sz="1000" dirty="0" err="1">
                <a:latin typeface="KoPub돋움체 Medium"/>
              </a:rPr>
              <a:t>방치된</a:t>
            </a:r>
            <a:r>
              <a:rPr sz="1000" dirty="0">
                <a:latin typeface="KoPub돋움체 Medium"/>
              </a:rPr>
              <a:t> </a:t>
            </a:r>
            <a:r>
              <a:rPr sz="1000" dirty="0" err="1">
                <a:latin typeface="KoPub돋움체 Medium"/>
              </a:rPr>
              <a:t>미확인</a:t>
            </a:r>
            <a:r>
              <a:rPr sz="1000" dirty="0">
                <a:latin typeface="KoPub돋움체 Medium"/>
              </a:rPr>
              <a:t> </a:t>
            </a:r>
            <a:r>
              <a:rPr sz="1000" dirty="0" err="1">
                <a:latin typeface="KoPub돋움체 Medium"/>
              </a:rPr>
              <a:t>메시지</a:t>
            </a:r>
            <a:r>
              <a:rPr sz="1000" dirty="0">
                <a:latin typeface="KoPub돋움체 Medium"/>
              </a:rPr>
              <a:t> </a:t>
            </a:r>
            <a:r>
              <a:rPr sz="1000" dirty="0" err="1">
                <a:latin typeface="KoPub돋움체 Medium"/>
              </a:rPr>
              <a:t>자동</a:t>
            </a:r>
            <a:r>
              <a:rPr sz="1000" dirty="0">
                <a:latin typeface="KoPub돋움체 Medium"/>
              </a:rPr>
              <a:t> </a:t>
            </a:r>
            <a:r>
              <a:rPr sz="1000" dirty="0" err="1">
                <a:latin typeface="KoPub돋움체 Medium"/>
              </a:rPr>
              <a:t>회수</a:t>
            </a:r>
            <a:br>
              <a:rPr sz="1000" dirty="0"/>
            </a:br>
            <a:r>
              <a:rPr sz="1000" dirty="0">
                <a:latin typeface="KoPub돋움체 Medium"/>
              </a:rPr>
              <a:t>• </a:t>
            </a:r>
            <a:r>
              <a:rPr sz="1000" dirty="0" err="1">
                <a:latin typeface="KoPub돋움체 Medium"/>
              </a:rPr>
              <a:t>last_catchup.new_drained</a:t>
            </a:r>
            <a:r>
              <a:rPr sz="1000" dirty="0">
                <a:latin typeface="KoPub돋움체 Medium"/>
              </a:rPr>
              <a:t>: </a:t>
            </a:r>
            <a:r>
              <a:rPr sz="1000" dirty="0" err="1">
                <a:latin typeface="KoPub돋움체 Medium"/>
              </a:rPr>
              <a:t>단절</a:t>
            </a:r>
            <a:r>
              <a:rPr sz="1000" dirty="0">
                <a:latin typeface="KoPub돋움체 Medium"/>
              </a:rPr>
              <a:t> </a:t>
            </a:r>
            <a:r>
              <a:rPr sz="1000" dirty="0" err="1">
                <a:latin typeface="KoPub돋움체 Medium"/>
              </a:rPr>
              <a:t>기간</a:t>
            </a:r>
            <a:r>
              <a:rPr sz="1000" dirty="0">
                <a:latin typeface="KoPub돋움체 Medium"/>
              </a:rPr>
              <a:t> </a:t>
            </a:r>
            <a:r>
              <a:rPr sz="1000" dirty="0" err="1">
                <a:latin typeface="KoPub돋움체 Medium"/>
              </a:rPr>
              <a:t>동안</a:t>
            </a:r>
            <a:r>
              <a:rPr sz="1000" dirty="0">
                <a:latin typeface="KoPub돋움체 Medium"/>
              </a:rPr>
              <a:t> </a:t>
            </a:r>
            <a:r>
              <a:rPr sz="1000" dirty="0" err="1">
                <a:latin typeface="KoPub돋움체 Medium"/>
              </a:rPr>
              <a:t>누적된</a:t>
            </a:r>
            <a:r>
              <a:rPr sz="1000" dirty="0">
                <a:latin typeface="KoPub돋움체 Medium"/>
              </a:rPr>
              <a:t> </a:t>
            </a:r>
            <a:r>
              <a:rPr sz="1000" dirty="0" err="1">
                <a:latin typeface="KoPub돋움체 Medium"/>
              </a:rPr>
              <a:t>신규</a:t>
            </a:r>
            <a:r>
              <a:rPr sz="1000" dirty="0">
                <a:latin typeface="KoPub돋움체 Medium"/>
              </a:rPr>
              <a:t> </a:t>
            </a:r>
            <a:r>
              <a:rPr sz="1000" dirty="0" err="1">
                <a:latin typeface="KoPub돋움체 Medium"/>
              </a:rPr>
              <a:t>무효화</a:t>
            </a:r>
            <a:r>
              <a:rPr sz="1000" dirty="0">
                <a:latin typeface="KoPub돋움체 Medium"/>
              </a:rPr>
              <a:t> </a:t>
            </a:r>
            <a:r>
              <a:rPr sz="1000" dirty="0" err="1">
                <a:latin typeface="KoPub돋움체 Medium"/>
              </a:rPr>
              <a:t>처리</a:t>
            </a:r>
            <a:br>
              <a:rPr sz="1000" dirty="0"/>
            </a:br>
            <a:r>
              <a:rPr sz="1000" dirty="0">
                <a:latin typeface="KoPub돋움체 Medium"/>
              </a:rPr>
              <a:t>• </a:t>
            </a:r>
            <a:r>
              <a:rPr sz="1000" dirty="0" err="1">
                <a:latin typeface="KoPub돋움체 Medium"/>
              </a:rPr>
              <a:t>last_catchup.duration_ms</a:t>
            </a:r>
            <a:r>
              <a:rPr sz="1000" dirty="0">
                <a:latin typeface="KoPub돋움체 Medium"/>
              </a:rPr>
              <a:t>: </a:t>
            </a:r>
            <a:r>
              <a:rPr sz="1000" dirty="0" err="1">
                <a:latin typeface="KoPub돋움체 Medium"/>
              </a:rPr>
              <a:t>복구</a:t>
            </a:r>
            <a:r>
              <a:rPr sz="1000" dirty="0">
                <a:latin typeface="KoPub돋움체 Medium"/>
              </a:rPr>
              <a:t> </a:t>
            </a:r>
            <a:r>
              <a:rPr sz="1000" dirty="0" err="1">
                <a:latin typeface="KoPub돋움체 Medium"/>
              </a:rPr>
              <a:t>동기화</a:t>
            </a:r>
            <a:r>
              <a:rPr sz="1000" dirty="0">
                <a:latin typeface="KoPub돋움체 Medium"/>
              </a:rPr>
              <a:t> </a:t>
            </a:r>
            <a:r>
              <a:rPr sz="1000" dirty="0" err="1">
                <a:latin typeface="KoPub돋움체 Medium"/>
              </a:rPr>
              <a:t>소요</a:t>
            </a:r>
            <a:r>
              <a:rPr sz="1000" dirty="0">
                <a:latin typeface="KoPub돋움체 Medium"/>
              </a:rPr>
              <a:t> </a:t>
            </a:r>
            <a:r>
              <a:rPr sz="1000" dirty="0" err="1">
                <a:latin typeface="KoPub돋움체 Medium"/>
              </a:rPr>
              <a:t>시간</a:t>
            </a:r>
            <a:r>
              <a:rPr sz="1000" dirty="0">
                <a:latin typeface="KoPub돋움체 Medium"/>
              </a:rPr>
              <a:t> (~8ms)</a:t>
            </a:r>
          </a:p>
        </p:txBody>
      </p:sp>
      <p:sp>
        <p:nvSpPr>
          <p:cNvPr id="13" name="Rounded Rectangle 12"/>
          <p:cNvSpPr/>
          <p:nvPr/>
        </p:nvSpPr>
        <p:spPr>
          <a:xfrm>
            <a:off x="5055480" y="3780000"/>
            <a:ext cx="4500000" cy="2178000"/>
          </a:xfrm>
          <a:prstGeom prst="roundRect">
            <a:avLst>
              <a:gd name="adj" fmla="val 5005"/>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184000" y="3906000"/>
            <a:ext cx="4248000" cy="288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0E306D"/>
                </a:solidFill>
                <a:latin typeface="KoPub돋움체 Bold"/>
              </a:defRPr>
            </a:pPr>
            <a:r>
              <a:rPr dirty="0" err="1">
                <a:latin typeface="KoPub돋움체 Bold"/>
              </a:rPr>
              <a:t>고립</a:t>
            </a:r>
            <a:r>
              <a:rPr dirty="0">
                <a:latin typeface="KoPub돋움체 Bold"/>
              </a:rPr>
              <a:t> </a:t>
            </a:r>
            <a:r>
              <a:rPr dirty="0" err="1">
                <a:latin typeface="KoPub돋움체 Bold"/>
              </a:rPr>
              <a:t>노드</a:t>
            </a:r>
            <a:r>
              <a:rPr dirty="0">
                <a:latin typeface="KoPub돋움체 Bold"/>
              </a:rPr>
              <a:t> </a:t>
            </a:r>
            <a:r>
              <a:rPr dirty="0" err="1">
                <a:latin typeface="KoPub돋움체 Bold"/>
              </a:rPr>
              <a:t>즉시</a:t>
            </a:r>
            <a:r>
              <a:rPr dirty="0">
                <a:latin typeface="KoPub돋움체 Bold"/>
              </a:rPr>
              <a:t> 503 </a:t>
            </a:r>
            <a:r>
              <a:rPr dirty="0" err="1">
                <a:latin typeface="KoPub돋움체 Bold"/>
              </a:rPr>
              <a:t>격리</a:t>
            </a:r>
            <a:r>
              <a:rPr dirty="0">
                <a:latin typeface="KoPub돋움체 Bold"/>
              </a:rPr>
              <a:t> &amp; </a:t>
            </a:r>
            <a:r>
              <a:rPr dirty="0" err="1">
                <a:latin typeface="KoPub돋움체 Bold"/>
              </a:rPr>
              <a:t>페일오버</a:t>
            </a:r>
            <a:endParaRPr dirty="0">
              <a:latin typeface="KoPub돋움체 Bold"/>
            </a:endParaRPr>
          </a:p>
        </p:txBody>
      </p:sp>
      <p:sp>
        <p:nvSpPr>
          <p:cNvPr id="15" name="TextBox 14"/>
          <p:cNvSpPr txBox="1"/>
          <p:nvPr/>
        </p:nvSpPr>
        <p:spPr>
          <a:xfrm>
            <a:off x="5184000" y="4266000"/>
            <a:ext cx="4212000" cy="1372492"/>
          </a:xfrm>
          <a:prstGeom prst="rect">
            <a:avLst/>
          </a:prstGeom>
          <a:noFill/>
        </p:spPr>
        <p:txBody>
          <a:bodyPr wrap="square" lIns="0" tIns="0" rIns="0" bIns="0">
            <a:spAutoFit/>
          </a:bodyPr>
          <a:lstStyle/>
          <a:p>
            <a:pPr>
              <a:defRPr sz="1400" b="1">
                <a:solidFill>
                  <a:srgbClr val="0E306D"/>
                </a:solidFill>
                <a:latin typeface="KoPub돋움체 Bold"/>
              </a:defRPr>
            </a:pPr>
            <a:r>
              <a:rPr dirty="0" err="1">
                <a:latin typeface="KoPub돋움체 Bold"/>
              </a:rPr>
              <a:t>고립</a:t>
            </a:r>
            <a:r>
              <a:rPr dirty="0">
                <a:latin typeface="KoPub돋움체 Bold"/>
              </a:rPr>
              <a:t> </a:t>
            </a:r>
            <a:r>
              <a:rPr dirty="0" err="1">
                <a:latin typeface="KoPub돋움체 Bold"/>
              </a:rPr>
              <a:t>감지</a:t>
            </a:r>
            <a:r>
              <a:rPr dirty="0">
                <a:latin typeface="KoPub돋움체 Bold"/>
              </a:rPr>
              <a:t> </a:t>
            </a:r>
            <a:r>
              <a:rPr dirty="0" err="1">
                <a:latin typeface="KoPub돋움체 Bold"/>
              </a:rPr>
              <a:t>즉시</a:t>
            </a:r>
            <a:r>
              <a:rPr dirty="0">
                <a:latin typeface="KoPub돋움체 Bold"/>
              </a:rPr>
              <a:t> 503 </a:t>
            </a:r>
            <a:r>
              <a:rPr dirty="0" err="1">
                <a:latin typeface="KoPub돋움체 Bold"/>
              </a:rPr>
              <a:t>격리</a:t>
            </a:r>
            <a:r>
              <a:rPr dirty="0">
                <a:latin typeface="KoPub돋움체 Bold"/>
              </a:rPr>
              <a:t> </a:t>
            </a:r>
            <a:r>
              <a:rPr dirty="0" err="1">
                <a:latin typeface="KoPub돋움체 Bold"/>
              </a:rPr>
              <a:t>반환</a:t>
            </a:r>
            <a:endParaRPr dirty="0">
              <a:latin typeface="KoPub돋움체 Bold"/>
            </a:endParaRPr>
          </a:p>
          <a:p>
            <a:pPr>
              <a:lnSpc>
                <a:spcPct val="150000"/>
              </a:lnSpc>
              <a:spcBef>
                <a:spcPts val="200"/>
              </a:spcBef>
              <a:defRPr sz="780">
                <a:solidFill>
                  <a:srgbClr val="0F172A"/>
                </a:solidFill>
                <a:latin typeface="KoPub돋움체 Medium"/>
              </a:defRPr>
            </a:pPr>
            <a:r>
              <a:rPr sz="1000" dirty="0">
                <a:latin typeface="KoPub돋움체 Medium"/>
              </a:rPr>
              <a:t>• </a:t>
            </a:r>
            <a:r>
              <a:rPr sz="1000" dirty="0" err="1">
                <a:latin typeface="KoPub돋움체 Medium"/>
              </a:rPr>
              <a:t>is_partitioned</a:t>
            </a:r>
            <a:r>
              <a:rPr sz="1000" dirty="0">
                <a:latin typeface="KoPub돋움체 Medium"/>
              </a:rPr>
              <a:t> </a:t>
            </a:r>
            <a:r>
              <a:rPr sz="1000" dirty="0" err="1">
                <a:latin typeface="KoPub돋움체 Medium"/>
              </a:rPr>
              <a:t>감지</a:t>
            </a:r>
            <a:r>
              <a:rPr sz="1000" dirty="0">
                <a:latin typeface="KoPub돋움체 Medium"/>
              </a:rPr>
              <a:t> </a:t>
            </a:r>
            <a:r>
              <a:rPr sz="1000" dirty="0" err="1">
                <a:latin typeface="KoPub돋움체 Medium"/>
              </a:rPr>
              <a:t>즉시</a:t>
            </a:r>
            <a:r>
              <a:rPr sz="1000" dirty="0">
                <a:latin typeface="KoPub돋움체 Medium"/>
              </a:rPr>
              <a:t> </a:t>
            </a:r>
            <a:r>
              <a:rPr sz="1000" dirty="0" err="1">
                <a:latin typeface="KoPub돋움체 Medium"/>
              </a:rPr>
              <a:t>유입</a:t>
            </a:r>
            <a:r>
              <a:rPr sz="1000" dirty="0">
                <a:latin typeface="KoPub돋움체 Medium"/>
              </a:rPr>
              <a:t> </a:t>
            </a:r>
            <a:r>
              <a:rPr sz="1000" dirty="0" err="1">
                <a:latin typeface="KoPub돋움체 Medium"/>
              </a:rPr>
              <a:t>요청</a:t>
            </a:r>
            <a:r>
              <a:rPr sz="1000" dirty="0">
                <a:latin typeface="KoPub돋움체 Medium"/>
              </a:rPr>
              <a:t> </a:t>
            </a:r>
            <a:r>
              <a:rPr sz="1000" dirty="0" err="1">
                <a:latin typeface="KoPub돋움체 Medium"/>
              </a:rPr>
              <a:t>전량</a:t>
            </a:r>
            <a:r>
              <a:rPr sz="1000" dirty="0">
                <a:latin typeface="KoPub돋움체 Medium"/>
              </a:rPr>
              <a:t> 503 </a:t>
            </a:r>
            <a:r>
              <a:rPr sz="1000" dirty="0" err="1">
                <a:latin typeface="KoPub돋움체 Medium"/>
              </a:rPr>
              <a:t>즉시</a:t>
            </a:r>
            <a:r>
              <a:rPr sz="1000" dirty="0">
                <a:latin typeface="KoPub돋움체 Medium"/>
              </a:rPr>
              <a:t> </a:t>
            </a:r>
            <a:r>
              <a:rPr sz="1000" dirty="0" err="1">
                <a:latin typeface="KoPub돋움체 Medium"/>
              </a:rPr>
              <a:t>반환</a:t>
            </a:r>
            <a:r>
              <a:rPr sz="1000" dirty="0">
                <a:latin typeface="KoPub돋움체 Medium"/>
              </a:rPr>
              <a:t> (</a:t>
            </a:r>
            <a:r>
              <a:rPr sz="1000" dirty="0" err="1">
                <a:latin typeface="KoPub돋움체 Medium"/>
              </a:rPr>
              <a:t>스플릿</a:t>
            </a:r>
            <a:r>
              <a:rPr sz="1000" dirty="0">
                <a:latin typeface="KoPub돋움체 Medium"/>
              </a:rPr>
              <a:t> </a:t>
            </a:r>
            <a:r>
              <a:rPr sz="1000" dirty="0" err="1">
                <a:latin typeface="KoPub돋움체 Medium"/>
              </a:rPr>
              <a:t>브레인</a:t>
            </a:r>
            <a:r>
              <a:rPr sz="1000" dirty="0">
                <a:latin typeface="KoPub돋움체 Medium"/>
              </a:rPr>
              <a:t> </a:t>
            </a:r>
            <a:r>
              <a:rPr sz="1000" dirty="0" err="1">
                <a:latin typeface="KoPub돋움체 Medium"/>
              </a:rPr>
              <a:t>방지</a:t>
            </a:r>
            <a:r>
              <a:rPr sz="1000" dirty="0">
                <a:latin typeface="KoPub돋움체 Medium"/>
              </a:rPr>
              <a:t>)</a:t>
            </a:r>
            <a:br>
              <a:rPr sz="1000" dirty="0"/>
            </a:br>
            <a:r>
              <a:rPr sz="1000" dirty="0">
                <a:latin typeface="KoPub돋움체 Medium"/>
              </a:rPr>
              <a:t>• 딥 </a:t>
            </a:r>
            <a:r>
              <a:rPr sz="1000" dirty="0" err="1">
                <a:latin typeface="KoPub돋움체 Medium"/>
              </a:rPr>
              <a:t>헬스체크</a:t>
            </a:r>
            <a:r>
              <a:rPr sz="1000" dirty="0">
                <a:latin typeface="KoPub돋움체 Medium"/>
              </a:rPr>
              <a:t>(GET /health)</a:t>
            </a:r>
            <a:r>
              <a:rPr sz="1000" dirty="0" err="1">
                <a:latin typeface="KoPub돋움체 Medium"/>
              </a:rPr>
              <a:t>에서</a:t>
            </a:r>
            <a:r>
              <a:rPr sz="1000" dirty="0">
                <a:latin typeface="KoPub돋움체 Medium"/>
              </a:rPr>
              <a:t> 503 </a:t>
            </a:r>
            <a:r>
              <a:rPr sz="1000" dirty="0" err="1">
                <a:latin typeface="KoPub돋움체 Medium"/>
              </a:rPr>
              <a:t>반환</a:t>
            </a:r>
            <a:r>
              <a:rPr sz="1000" dirty="0">
                <a:latin typeface="KoPub돋움체 Medium"/>
              </a:rPr>
              <a:t> → </a:t>
            </a:r>
            <a:r>
              <a:rPr sz="1000" dirty="0" err="1">
                <a:latin typeface="KoPub돋움체 Medium"/>
              </a:rPr>
              <a:t>상위</a:t>
            </a:r>
            <a:r>
              <a:rPr sz="1000" dirty="0">
                <a:latin typeface="KoPub돋움체 Medium"/>
              </a:rPr>
              <a:t> GSLB/ALB </a:t>
            </a:r>
            <a:r>
              <a:rPr sz="1000" dirty="0" err="1">
                <a:latin typeface="KoPub돋움체 Medium"/>
              </a:rPr>
              <a:t>자동</a:t>
            </a:r>
            <a:r>
              <a:rPr sz="1000" dirty="0">
                <a:latin typeface="KoPub돋움체 Medium"/>
              </a:rPr>
              <a:t> </a:t>
            </a:r>
            <a:r>
              <a:rPr sz="1000" dirty="0" err="1">
                <a:latin typeface="KoPub돋움체 Medium"/>
              </a:rPr>
              <a:t>페일오버</a:t>
            </a:r>
            <a:r>
              <a:rPr sz="1000" dirty="0">
                <a:latin typeface="KoPub돋움체 Medium"/>
              </a:rPr>
              <a:t> </a:t>
            </a:r>
            <a:r>
              <a:rPr sz="1000" dirty="0" err="1">
                <a:latin typeface="KoPub돋움체 Medium"/>
              </a:rPr>
              <a:t>유도</a:t>
            </a:r>
            <a:br>
              <a:rPr sz="1000" dirty="0"/>
            </a:br>
            <a:r>
              <a:rPr sz="1000" dirty="0">
                <a:latin typeface="KoPub돋움체 Medium"/>
              </a:rPr>
              <a:t>• </a:t>
            </a:r>
            <a:r>
              <a:rPr sz="1000" dirty="0" err="1">
                <a:latin typeface="KoPub돋움체 Medium"/>
              </a:rPr>
              <a:t>복구</a:t>
            </a:r>
            <a:r>
              <a:rPr sz="1000" dirty="0">
                <a:latin typeface="KoPub돋움체 Medium"/>
              </a:rPr>
              <a:t> </a:t>
            </a:r>
            <a:r>
              <a:rPr sz="1000" dirty="0" err="1">
                <a:latin typeface="KoPub돋움체 Medium"/>
              </a:rPr>
              <a:t>완료</a:t>
            </a:r>
            <a:r>
              <a:rPr sz="1000" dirty="0">
                <a:latin typeface="KoPub돋움체 Medium"/>
              </a:rPr>
              <a:t> 후 3단계 </a:t>
            </a:r>
            <a:r>
              <a:rPr sz="1000" dirty="0" err="1">
                <a:latin typeface="KoPub돋움체 Medium"/>
              </a:rPr>
              <a:t>동기화가</a:t>
            </a:r>
            <a:r>
              <a:rPr sz="1000" dirty="0">
                <a:latin typeface="KoPub돋움체 Medium"/>
              </a:rPr>
              <a:t> </a:t>
            </a:r>
            <a:r>
              <a:rPr sz="1000" dirty="0" err="1">
                <a:latin typeface="KoPub돋움체 Medium"/>
              </a:rPr>
              <a:t>끝나면</a:t>
            </a:r>
            <a:r>
              <a:rPr sz="1000" dirty="0">
                <a:latin typeface="KoPub돋움체 Medium"/>
              </a:rPr>
              <a:t> </a:t>
            </a:r>
            <a:r>
              <a:rPr sz="1000" dirty="0" err="1">
                <a:latin typeface="KoPub돋움체 Medium"/>
              </a:rPr>
              <a:t>정상</a:t>
            </a:r>
            <a:r>
              <a:rPr sz="1000" dirty="0">
                <a:latin typeface="KoPub돋움체 Medium"/>
              </a:rPr>
              <a:t> 200 </a:t>
            </a:r>
            <a:r>
              <a:rPr sz="1000" dirty="0" err="1">
                <a:latin typeface="KoPub돋움체 Medium"/>
              </a:rPr>
              <a:t>트래픽</a:t>
            </a:r>
            <a:r>
              <a:rPr sz="1000" dirty="0">
                <a:latin typeface="KoPub돋움체 Medium"/>
              </a:rPr>
              <a:t> </a:t>
            </a:r>
            <a:r>
              <a:rPr sz="1000" dirty="0" err="1">
                <a:latin typeface="KoPub돋움체 Medium"/>
              </a:rPr>
              <a:t>수용</a:t>
            </a:r>
            <a:r>
              <a:rPr sz="1000" dirty="0">
                <a:latin typeface="KoPub돋움체 Medium"/>
              </a:rPr>
              <a:t> </a:t>
            </a:r>
            <a:r>
              <a:rPr sz="1000" dirty="0" err="1">
                <a:latin typeface="KoPub돋움체 Medium"/>
              </a:rPr>
              <a:t>복귀</a:t>
            </a:r>
            <a:br>
              <a:rPr sz="1000" dirty="0"/>
            </a:br>
            <a:r>
              <a:rPr sz="1000" dirty="0">
                <a:latin typeface="KoPub돋움체 Medium"/>
              </a:rPr>
              <a:t>• </a:t>
            </a:r>
            <a:r>
              <a:rPr sz="1000" dirty="0" err="1">
                <a:latin typeface="KoPub돋움체 Medium"/>
              </a:rPr>
              <a:t>클러스터</a:t>
            </a:r>
            <a:r>
              <a:rPr sz="1000" dirty="0">
                <a:latin typeface="KoPub돋움체 Medium"/>
              </a:rPr>
              <a:t> 3개 </a:t>
            </a:r>
            <a:r>
              <a:rPr sz="1000" dirty="0" err="1">
                <a:latin typeface="KoPub돋움체 Medium"/>
              </a:rPr>
              <a:t>노드</a:t>
            </a:r>
            <a:r>
              <a:rPr sz="1000" dirty="0">
                <a:latin typeface="KoPub돋움체 Medium"/>
              </a:rPr>
              <a:t> </a:t>
            </a:r>
            <a:r>
              <a:rPr sz="1000" dirty="0" err="1">
                <a:latin typeface="KoPub돋움체 Medium"/>
              </a:rPr>
              <a:t>전체에서</a:t>
            </a:r>
            <a:r>
              <a:rPr sz="1000" dirty="0">
                <a:latin typeface="KoPub돋움체 Medium"/>
              </a:rPr>
              <a:t> </a:t>
            </a:r>
            <a:r>
              <a:rPr sz="1000" dirty="0" err="1">
                <a:latin typeface="KoPub돋움체 Medium"/>
              </a:rPr>
              <a:t>데이터</a:t>
            </a:r>
            <a:r>
              <a:rPr sz="1000" dirty="0">
                <a:latin typeface="KoPub돋움체 Medium"/>
              </a:rPr>
              <a:t> </a:t>
            </a:r>
            <a:r>
              <a:rPr sz="1000" dirty="0" err="1">
                <a:latin typeface="KoPub돋움체 Medium"/>
              </a:rPr>
              <a:t>불일치</a:t>
            </a:r>
            <a:r>
              <a:rPr sz="1000" dirty="0">
                <a:latin typeface="KoPub돋움체 Medium"/>
              </a:rPr>
              <a:t> 0건 </a:t>
            </a:r>
            <a:r>
              <a:rPr sz="1000" dirty="0" err="1">
                <a:latin typeface="KoPub돋움체 Medium"/>
              </a:rPr>
              <a:t>보장</a:t>
            </a:r>
            <a:endParaRPr sz="1000" dirty="0">
              <a:latin typeface="KoPub돋움체 Medium"/>
            </a:endParaRPr>
          </a:p>
        </p:txBody>
      </p:sp>
      <p:sp>
        <p:nvSpPr>
          <p:cNvPr id="16" name="Rounded Rectangle 15"/>
          <p:cNvSpPr/>
          <p:nvPr/>
        </p:nvSpPr>
        <p:spPr>
          <a:xfrm>
            <a:off x="356760" y="6048000"/>
            <a:ext cx="9198720" cy="342000"/>
          </a:xfrm>
          <a:prstGeom prst="roundRect">
            <a:avLst/>
          </a:prstGeom>
          <a:solidFill>
            <a:srgbClr val="F1F1F1"/>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255146" y="6142056"/>
            <a:ext cx="5395708" cy="153888"/>
          </a:xfrm>
          <a:prstGeom prst="rect">
            <a:avLst/>
          </a:prstGeom>
          <a:noFill/>
        </p:spPr>
        <p:txBody>
          <a:bodyPr wrap="none" lIns="0" tIns="0" rIns="0" bIns="0" anchor="ctr">
            <a:spAutoFit/>
          </a:bodyPr>
          <a:lstStyle/>
          <a:p>
            <a:pPr>
              <a:defRPr sz="900" b="1">
                <a:solidFill>
                  <a:srgbClr val="0F172A"/>
                </a:solidFill>
                <a:latin typeface="KoPub돋움체 Bold"/>
              </a:defRPr>
            </a:pPr>
            <a:r>
              <a:rPr sz="1000" dirty="0" err="1">
                <a:latin typeface="KoPub돋움체 Bold"/>
              </a:rPr>
              <a:t>overall_invariant_pass</a:t>
            </a:r>
            <a:r>
              <a:rPr sz="1000" dirty="0">
                <a:latin typeface="KoPub돋움체 Bold"/>
              </a:rPr>
              <a:t> == true (</a:t>
            </a:r>
            <a:r>
              <a:rPr sz="1000" dirty="0" err="1">
                <a:latin typeface="KoPub돋움체 Bold"/>
              </a:rPr>
              <a:t>네트워크</a:t>
            </a:r>
            <a:r>
              <a:rPr sz="1000" dirty="0">
                <a:latin typeface="KoPub돋움체 Bold"/>
              </a:rPr>
              <a:t> </a:t>
            </a:r>
            <a:r>
              <a:rPr sz="1000" dirty="0" err="1">
                <a:latin typeface="KoPub돋움체 Bold"/>
              </a:rPr>
              <a:t>단절</a:t>
            </a:r>
            <a:r>
              <a:rPr sz="1000" dirty="0">
                <a:latin typeface="KoPub돋움체 Bold"/>
              </a:rPr>
              <a:t> 및 3단계 </a:t>
            </a:r>
            <a:r>
              <a:rPr sz="1000" dirty="0" err="1">
                <a:latin typeface="KoPub돋움체 Bold"/>
              </a:rPr>
              <a:t>복구</a:t>
            </a:r>
            <a:r>
              <a:rPr sz="1000" dirty="0">
                <a:latin typeface="KoPub돋움체 Bold"/>
              </a:rPr>
              <a:t> 전 </a:t>
            </a:r>
            <a:r>
              <a:rPr sz="1000" dirty="0" err="1">
                <a:latin typeface="KoPub돋움체 Bold"/>
              </a:rPr>
              <a:t>구간에서</a:t>
            </a:r>
            <a:r>
              <a:rPr sz="1000" dirty="0">
                <a:latin typeface="KoPub돋움체 Bold"/>
              </a:rPr>
              <a:t> </a:t>
            </a:r>
            <a:r>
              <a:rPr sz="1000" dirty="0" err="1">
                <a:latin typeface="KoPub돋움체 Bold"/>
              </a:rPr>
              <a:t>클러스터</a:t>
            </a:r>
            <a:r>
              <a:rPr sz="1000" dirty="0">
                <a:latin typeface="KoPub돋움체 Bold"/>
              </a:rPr>
              <a:t> </a:t>
            </a:r>
            <a:r>
              <a:rPr sz="1000" dirty="0" err="1">
                <a:latin typeface="KoPub돋움체 Bold"/>
              </a:rPr>
              <a:t>불변식</a:t>
            </a:r>
            <a:r>
              <a:rPr sz="1000" dirty="0">
                <a:latin typeface="KoPub돋움체 Bold"/>
              </a:rPr>
              <a:t> 100% </a:t>
            </a:r>
            <a:r>
              <a:rPr sz="1000" dirty="0" err="1">
                <a:latin typeface="KoPub돋움체 Bold"/>
              </a:rPr>
              <a:t>일치</a:t>
            </a:r>
            <a:r>
              <a:rPr sz="1000" dirty="0">
                <a:latin typeface="KoPub돋움체 Bold"/>
              </a:rPr>
              <a:t>)</a:t>
            </a:r>
          </a:p>
        </p:txBody>
      </p:sp>
      <p:sp>
        <p:nvSpPr>
          <p:cNvPr id="19" name="TextBox 18"/>
          <p:cNvSpPr txBox="1"/>
          <p:nvPr/>
        </p:nvSpPr>
        <p:spPr>
          <a:xfrm>
            <a:off x="8723520" y="6537960"/>
            <a:ext cx="831960" cy="246960"/>
          </a:xfrm>
          <a:prstGeom prst="rect">
            <a:avLst/>
          </a:prstGeom>
          <a:noFill/>
        </p:spPr>
        <p:txBody>
          <a:bodyPr wrap="none" lIns="0" tIns="0" rIns="0" bIns="0">
            <a:spAutoFit/>
          </a:bodyPr>
          <a:lstStyle/>
          <a:p>
            <a:pPr algn="r">
              <a:defRPr sz="1000" b="1">
                <a:solidFill>
                  <a:srgbClr val="6B7280"/>
                </a:solidFill>
                <a:latin typeface="KoPub돋움체 Bold"/>
              </a:defRPr>
            </a:pPr>
            <a:r>
              <a:rPr>
                <a:latin typeface="KoPub돋움체 Bold"/>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9FAFD"/>
        </a:solidFill>
        <a:effectLst/>
      </p:bgPr>
    </p:bg>
    <p:spTree>
      <p:nvGrpSpPr>
        <p:cNvPr id="1" name=""/>
        <p:cNvGrpSpPr/>
        <p:nvPr/>
      </p:nvGrpSpPr>
      <p:grpSpPr>
        <a:xfrm>
          <a:off x="0" y="0"/>
          <a:ext cx="0" cy="0"/>
          <a:chOff x="0" y="0"/>
          <a:chExt cx="0" cy="0"/>
        </a:xfrm>
      </p:grpSpPr>
      <p:sp>
        <p:nvSpPr>
          <p:cNvPr id="2" name="Rounded Rectangle 1"/>
          <p:cNvSpPr/>
          <p:nvPr/>
        </p:nvSpPr>
        <p:spPr>
          <a:xfrm>
            <a:off x="356760" y="292680"/>
            <a:ext cx="9198720" cy="493920"/>
          </a:xfrm>
          <a:prstGeom prst="roundRect">
            <a:avLst/>
          </a:prstGeom>
          <a:solidFill>
            <a:srgbClr val="0E306D"/>
          </a:solidFill>
          <a:ln w="12700">
            <a:solidFill>
              <a:srgbClr val="0E30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80"/>
            <a:ext cx="8778240" cy="493920"/>
          </a:xfrm>
          <a:prstGeom prst="rect">
            <a:avLst/>
          </a:prstGeom>
          <a:noFill/>
        </p:spPr>
        <p:txBody>
          <a:bodyPr wrap="square" lIns="0" tIns="0" rIns="0" bIns="0" anchor="ctr">
            <a:spAutoFit/>
          </a:bodyPr>
          <a:lstStyle/>
          <a:p>
            <a:pPr>
              <a:defRPr sz="2000" b="1">
                <a:solidFill>
                  <a:srgbClr val="FFFFFF"/>
                </a:solidFill>
                <a:latin typeface="KoPub돋움체 Bold"/>
              </a:defRPr>
            </a:pPr>
            <a:r>
              <a:rPr>
                <a:latin typeface="KoPub돋움체 Bold"/>
              </a:rPr>
              <a:t>03. 중앙 Redis 마비 시 가용성 vs 보안 이원화 의사결정 트리</a:t>
            </a:r>
          </a:p>
        </p:txBody>
      </p:sp>
      <p:sp>
        <p:nvSpPr>
          <p:cNvPr id="4" name="Rounded Rectangle 3"/>
          <p:cNvSpPr/>
          <p:nvPr/>
        </p:nvSpPr>
        <p:spPr>
          <a:xfrm>
            <a:off x="356760" y="914400"/>
            <a:ext cx="9198720" cy="347400"/>
          </a:xfrm>
          <a:prstGeom prst="roundRect">
            <a:avLst/>
          </a:prstGeom>
          <a:solidFill>
            <a:srgbClr val="F1F1F1"/>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011156"/>
            <a:ext cx="9052560" cy="153888"/>
          </a:xfrm>
          <a:prstGeom prst="rect">
            <a:avLst/>
          </a:prstGeom>
          <a:noFill/>
        </p:spPr>
        <p:txBody>
          <a:bodyPr wrap="square" lIns="0" tIns="0" rIns="0" bIns="0" anchor="ctr">
            <a:spAutoFit/>
          </a:bodyPr>
          <a:lstStyle/>
          <a:p>
            <a:pPr>
              <a:defRPr sz="1050" b="1">
                <a:solidFill>
                  <a:srgbClr val="0E306D"/>
                </a:solidFill>
                <a:latin typeface="KoPub돋움체 Bold"/>
              </a:defRPr>
            </a:pPr>
            <a:r>
              <a:rPr sz="1000" dirty="0" err="1">
                <a:latin typeface="KoPub돋움체 Bold"/>
              </a:rPr>
              <a:t>유량</a:t>
            </a:r>
            <a:r>
              <a:rPr sz="1000" dirty="0">
                <a:latin typeface="KoPub돋움체 Bold"/>
              </a:rPr>
              <a:t> </a:t>
            </a:r>
            <a:r>
              <a:rPr sz="1000" dirty="0" err="1">
                <a:latin typeface="KoPub돋움체 Bold"/>
              </a:rPr>
              <a:t>제어는</a:t>
            </a:r>
            <a:r>
              <a:rPr sz="1000" dirty="0">
                <a:latin typeface="KoPub돋움체 Bold"/>
              </a:rPr>
              <a:t> </a:t>
            </a:r>
            <a:r>
              <a:rPr sz="1000" dirty="0" err="1">
                <a:latin typeface="KoPub돋움체 Bold"/>
              </a:rPr>
              <a:t>로컬</a:t>
            </a:r>
            <a:r>
              <a:rPr sz="1000" dirty="0">
                <a:latin typeface="KoPub돋움체 Bold"/>
              </a:rPr>
              <a:t> LRU </a:t>
            </a:r>
            <a:r>
              <a:rPr sz="1000" dirty="0" err="1">
                <a:latin typeface="KoPub돋움체 Bold"/>
              </a:rPr>
              <a:t>카운터로</a:t>
            </a:r>
            <a:r>
              <a:rPr sz="1000" dirty="0">
                <a:latin typeface="KoPub돋움체 Bold"/>
              </a:rPr>
              <a:t> </a:t>
            </a:r>
            <a:r>
              <a:rPr sz="1000" dirty="0" err="1">
                <a:latin typeface="KoPub돋움체 Bold"/>
              </a:rPr>
              <a:t>가용성</a:t>
            </a:r>
            <a:r>
              <a:rPr sz="1000" dirty="0">
                <a:latin typeface="KoPub돋움체 Bold"/>
              </a:rPr>
              <a:t>(429)을 </a:t>
            </a:r>
            <a:r>
              <a:rPr sz="1000" dirty="0" err="1">
                <a:latin typeface="KoPub돋움체 Bold"/>
              </a:rPr>
              <a:t>방어하고</a:t>
            </a:r>
            <a:r>
              <a:rPr sz="1000" dirty="0">
                <a:latin typeface="KoPub돋움체 Bold"/>
              </a:rPr>
              <a:t>, Nonce </a:t>
            </a:r>
            <a:r>
              <a:rPr sz="1000" dirty="0" err="1">
                <a:latin typeface="KoPub돋움체 Bold"/>
              </a:rPr>
              <a:t>검증은</a:t>
            </a:r>
            <a:r>
              <a:rPr sz="1000" dirty="0">
                <a:latin typeface="KoPub돋움체 Bold"/>
              </a:rPr>
              <a:t> Fail-Closed(503)로 </a:t>
            </a:r>
            <a:r>
              <a:rPr sz="1000" dirty="0" err="1">
                <a:latin typeface="KoPub돋움체 Bold"/>
              </a:rPr>
              <a:t>데이터</a:t>
            </a:r>
            <a:r>
              <a:rPr sz="1000" dirty="0">
                <a:latin typeface="KoPub돋움체 Bold"/>
              </a:rPr>
              <a:t> </a:t>
            </a:r>
            <a:r>
              <a:rPr sz="1000" dirty="0" err="1">
                <a:latin typeface="KoPub돋움체 Bold"/>
              </a:rPr>
              <a:t>오염</a:t>
            </a:r>
            <a:r>
              <a:rPr sz="1000" dirty="0">
                <a:latin typeface="KoPub돋움체 Bold"/>
              </a:rPr>
              <a:t> </a:t>
            </a:r>
            <a:r>
              <a:rPr sz="1000" dirty="0" err="1">
                <a:latin typeface="KoPub돋움체 Bold"/>
              </a:rPr>
              <a:t>원천</a:t>
            </a:r>
            <a:r>
              <a:rPr sz="1000" dirty="0">
                <a:latin typeface="KoPub돋움체 Bold"/>
              </a:rPr>
              <a:t> </a:t>
            </a:r>
            <a:r>
              <a:rPr sz="1000" dirty="0" err="1">
                <a:latin typeface="KoPub돋움체 Bold"/>
              </a:rPr>
              <a:t>차단</a:t>
            </a:r>
            <a:endParaRPr sz="1000" dirty="0">
              <a:latin typeface="KoPub돋움체 Bold"/>
            </a:endParaRPr>
          </a:p>
        </p:txBody>
      </p:sp>
      <p:sp>
        <p:nvSpPr>
          <p:cNvPr id="6" name="Rounded Rectangle 5"/>
          <p:cNvSpPr/>
          <p:nvPr/>
        </p:nvSpPr>
        <p:spPr>
          <a:xfrm>
            <a:off x="356760" y="1350000"/>
            <a:ext cx="9198720" cy="396000"/>
          </a:xfrm>
          <a:prstGeom prst="roundRect">
            <a:avLst/>
          </a:prstGeom>
          <a:solidFill>
            <a:srgbClr val="E8EDF6"/>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0E306D"/>
                </a:solidFill>
                <a:latin typeface="KoPub돋움체 Bold"/>
              </a:defRPr>
            </a:pPr>
            <a:r>
              <a:rPr dirty="0" err="1">
                <a:latin typeface="KoPub돋움체 Bold"/>
              </a:rPr>
              <a:t>중앙</a:t>
            </a:r>
            <a:r>
              <a:rPr dirty="0">
                <a:latin typeface="KoPub돋움체 Bold"/>
              </a:rPr>
              <a:t> Redis </a:t>
            </a:r>
            <a:r>
              <a:rPr dirty="0" err="1">
                <a:latin typeface="KoPub돋움체 Bold"/>
              </a:rPr>
              <a:t>마비</a:t>
            </a:r>
            <a:r>
              <a:rPr dirty="0">
                <a:latin typeface="KoPub돋움체 Bold"/>
              </a:rPr>
              <a:t> </a:t>
            </a:r>
            <a:r>
              <a:rPr dirty="0" err="1">
                <a:latin typeface="KoPub돋움체 Bold"/>
              </a:rPr>
              <a:t>감지</a:t>
            </a:r>
            <a:r>
              <a:rPr dirty="0">
                <a:latin typeface="KoPub돋움체 Bold"/>
              </a:rPr>
              <a:t> (</a:t>
            </a:r>
            <a:r>
              <a:rPr dirty="0" err="1">
                <a:latin typeface="KoPub돋움체 Bold"/>
              </a:rPr>
              <a:t>RedisConnectionError</a:t>
            </a:r>
            <a:r>
              <a:rPr dirty="0">
                <a:latin typeface="KoPub돋움체 Bold"/>
              </a:rPr>
              <a:t> / Timeout </a:t>
            </a:r>
            <a:r>
              <a:rPr dirty="0" err="1">
                <a:latin typeface="KoPub돋움체 Bold"/>
              </a:rPr>
              <a:t>발생</a:t>
            </a:r>
            <a:r>
              <a:rPr dirty="0">
                <a:latin typeface="KoPub돋움체 Bold"/>
              </a:rPr>
              <a:t>) → </a:t>
            </a:r>
            <a:r>
              <a:rPr dirty="0" err="1">
                <a:latin typeface="KoPub돋움체 Bold"/>
              </a:rPr>
              <a:t>요청</a:t>
            </a:r>
            <a:r>
              <a:rPr dirty="0">
                <a:latin typeface="KoPub돋움체 Bold"/>
              </a:rPr>
              <a:t> </a:t>
            </a:r>
            <a:r>
              <a:rPr dirty="0" err="1">
                <a:latin typeface="KoPub돋움체 Bold"/>
              </a:rPr>
              <a:t>성격에</a:t>
            </a:r>
            <a:r>
              <a:rPr dirty="0">
                <a:latin typeface="KoPub돋움체 Bold"/>
              </a:rPr>
              <a:t> </a:t>
            </a:r>
            <a:r>
              <a:rPr dirty="0" err="1">
                <a:latin typeface="KoPub돋움체 Bold"/>
              </a:rPr>
              <a:t>따른</a:t>
            </a:r>
            <a:r>
              <a:rPr dirty="0">
                <a:latin typeface="KoPub돋움체 Bold"/>
              </a:rPr>
              <a:t> </a:t>
            </a:r>
            <a:r>
              <a:rPr dirty="0" err="1">
                <a:latin typeface="KoPub돋움체 Bold"/>
              </a:rPr>
              <a:t>이원화</a:t>
            </a:r>
            <a:r>
              <a:rPr dirty="0">
                <a:latin typeface="KoPub돋움체 Bold"/>
              </a:rPr>
              <a:t> </a:t>
            </a:r>
            <a:r>
              <a:rPr dirty="0" err="1">
                <a:latin typeface="KoPub돋움체 Bold"/>
              </a:rPr>
              <a:t>분기</a:t>
            </a:r>
            <a:endParaRPr dirty="0">
              <a:latin typeface="KoPub돋움체 Bold"/>
            </a:endParaRPr>
          </a:p>
        </p:txBody>
      </p:sp>
      <p:sp>
        <p:nvSpPr>
          <p:cNvPr id="7" name="Rounded Rectangle 6"/>
          <p:cNvSpPr/>
          <p:nvPr/>
        </p:nvSpPr>
        <p:spPr>
          <a:xfrm>
            <a:off x="356760" y="1854000"/>
            <a:ext cx="4500000" cy="2448000"/>
          </a:xfrm>
          <a:prstGeom prst="roundRect">
            <a:avLst>
              <a:gd name="adj" fmla="val 6983"/>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86000" y="1980000"/>
            <a:ext cx="4248000" cy="288000"/>
          </a:xfrm>
          <a:prstGeom prst="roundRect">
            <a:avLst/>
          </a:prstGeom>
          <a:solidFill>
            <a:srgbClr val="E3F3F2"/>
          </a:solidFill>
          <a:ln>
            <a:solidFill>
              <a:srgbClr val="A7F3D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009A93"/>
                </a:solidFill>
                <a:latin typeface="KoPub돋움체 Bold"/>
              </a:defRPr>
            </a:pPr>
            <a:r>
              <a:rPr dirty="0">
                <a:latin typeface="KoPub돋움체 Bold"/>
              </a:rPr>
              <a:t>[</a:t>
            </a:r>
            <a:r>
              <a:rPr dirty="0" err="1">
                <a:latin typeface="KoPub돋움체 Bold"/>
              </a:rPr>
              <a:t>가용성</a:t>
            </a:r>
            <a:r>
              <a:rPr dirty="0">
                <a:latin typeface="KoPub돋움체 Bold"/>
              </a:rPr>
              <a:t> </a:t>
            </a:r>
            <a:r>
              <a:rPr dirty="0" err="1">
                <a:latin typeface="KoPub돋움체 Bold"/>
              </a:rPr>
              <a:t>우선</a:t>
            </a:r>
            <a:r>
              <a:rPr dirty="0">
                <a:latin typeface="KoPub돋움체 Bold"/>
              </a:rPr>
              <a:t> </a:t>
            </a:r>
            <a:r>
              <a:rPr dirty="0" err="1">
                <a:latin typeface="KoPub돋움체 Bold"/>
              </a:rPr>
              <a:t>경로</a:t>
            </a:r>
            <a:r>
              <a:rPr dirty="0">
                <a:latin typeface="KoPub돋움체 Bold"/>
              </a:rPr>
              <a:t>]  </a:t>
            </a:r>
            <a:r>
              <a:rPr dirty="0" err="1">
                <a:latin typeface="KoPub돋움체 Bold"/>
              </a:rPr>
              <a:t>유량</a:t>
            </a:r>
            <a:r>
              <a:rPr dirty="0">
                <a:latin typeface="KoPub돋움체 Bold"/>
              </a:rPr>
              <a:t> </a:t>
            </a:r>
            <a:r>
              <a:rPr dirty="0" err="1">
                <a:latin typeface="KoPub돋움체 Bold"/>
              </a:rPr>
              <a:t>제어</a:t>
            </a:r>
            <a:r>
              <a:rPr dirty="0">
                <a:latin typeface="KoPub돋움체 Bold"/>
              </a:rPr>
              <a:t> (Step 2: Rate Limit)</a:t>
            </a:r>
          </a:p>
        </p:txBody>
      </p:sp>
      <p:sp>
        <p:nvSpPr>
          <p:cNvPr id="9" name="TextBox 8"/>
          <p:cNvSpPr txBox="1"/>
          <p:nvPr/>
        </p:nvSpPr>
        <p:spPr>
          <a:xfrm>
            <a:off x="504000" y="2340000"/>
            <a:ext cx="4212000" cy="669735"/>
          </a:xfrm>
          <a:prstGeom prst="rect">
            <a:avLst/>
          </a:prstGeom>
          <a:noFill/>
        </p:spPr>
        <p:txBody>
          <a:bodyPr wrap="square" lIns="0" tIns="0" rIns="0" bIns="0">
            <a:spAutoFit/>
          </a:bodyPr>
          <a:lstStyle/>
          <a:p>
            <a:pPr>
              <a:lnSpc>
                <a:spcPct val="150000"/>
              </a:lnSpc>
              <a:defRPr sz="800">
                <a:solidFill>
                  <a:srgbClr val="0F172A"/>
                </a:solidFill>
                <a:latin typeface="KoPub돋움체 Medium"/>
              </a:defRPr>
            </a:pPr>
            <a:r>
              <a:rPr sz="1000" dirty="0">
                <a:latin typeface="KoPub돋움체 Medium"/>
              </a:rPr>
              <a:t>• </a:t>
            </a:r>
            <a:r>
              <a:rPr sz="1000" dirty="0" err="1">
                <a:latin typeface="KoPub돋움체 Medium"/>
              </a:rPr>
              <a:t>의사결정</a:t>
            </a:r>
            <a:r>
              <a:rPr sz="1000" dirty="0">
                <a:latin typeface="KoPub돋움체 Medium"/>
              </a:rPr>
              <a:t> </a:t>
            </a:r>
            <a:r>
              <a:rPr sz="1000" dirty="0" err="1">
                <a:latin typeface="KoPub돋움체 Medium"/>
              </a:rPr>
              <a:t>원칙</a:t>
            </a:r>
            <a:r>
              <a:rPr sz="1000" dirty="0">
                <a:latin typeface="KoPub돋움체 Medium"/>
              </a:rPr>
              <a:t>: '</a:t>
            </a:r>
            <a:r>
              <a:rPr sz="1000" dirty="0" err="1">
                <a:latin typeface="KoPub돋움체 Medium"/>
              </a:rPr>
              <a:t>중앙</a:t>
            </a:r>
            <a:r>
              <a:rPr sz="1000" dirty="0">
                <a:latin typeface="KoPub돋움체 Medium"/>
              </a:rPr>
              <a:t> </a:t>
            </a:r>
            <a:r>
              <a:rPr sz="1000" dirty="0" err="1">
                <a:latin typeface="KoPub돋움체 Medium"/>
              </a:rPr>
              <a:t>통제실이</a:t>
            </a:r>
            <a:r>
              <a:rPr sz="1000" dirty="0">
                <a:latin typeface="KoPub돋움체 Medium"/>
              </a:rPr>
              <a:t> </a:t>
            </a:r>
            <a:r>
              <a:rPr sz="1000" dirty="0" err="1">
                <a:latin typeface="KoPub돋움체 Medium"/>
              </a:rPr>
              <a:t>죽어도</a:t>
            </a:r>
            <a:r>
              <a:rPr sz="1000" dirty="0">
                <a:latin typeface="KoPub돋움체 Medium"/>
              </a:rPr>
              <a:t> </a:t>
            </a:r>
            <a:r>
              <a:rPr sz="1000" dirty="0" err="1">
                <a:latin typeface="KoPub돋움체 Medium"/>
              </a:rPr>
              <a:t>서비스</a:t>
            </a:r>
            <a:r>
              <a:rPr sz="1000" dirty="0">
                <a:latin typeface="KoPub돋움체 Medium"/>
              </a:rPr>
              <a:t> </a:t>
            </a:r>
            <a:r>
              <a:rPr sz="1000" dirty="0" err="1">
                <a:latin typeface="KoPub돋움체 Medium"/>
              </a:rPr>
              <a:t>전면</a:t>
            </a:r>
            <a:r>
              <a:rPr sz="1000" dirty="0">
                <a:latin typeface="KoPub돋움체 Medium"/>
              </a:rPr>
              <a:t> </a:t>
            </a:r>
            <a:r>
              <a:rPr sz="1000" dirty="0" err="1">
                <a:latin typeface="KoPub돋움체 Medium"/>
              </a:rPr>
              <a:t>중단은</a:t>
            </a:r>
            <a:r>
              <a:rPr sz="1000" dirty="0">
                <a:latin typeface="KoPub돋움체 Medium"/>
              </a:rPr>
              <a:t> </a:t>
            </a:r>
            <a:r>
              <a:rPr sz="1000" dirty="0" err="1">
                <a:latin typeface="KoPub돋움체 Medium"/>
              </a:rPr>
              <a:t>방지</a:t>
            </a:r>
            <a:r>
              <a:rPr sz="1000" dirty="0">
                <a:latin typeface="KoPub돋움체 Medium"/>
              </a:rPr>
              <a:t>'</a:t>
            </a:r>
            <a:br>
              <a:rPr sz="1000" dirty="0"/>
            </a:br>
            <a:r>
              <a:rPr sz="1000" dirty="0">
                <a:latin typeface="KoPub돋움체 Medium"/>
              </a:rPr>
              <a:t>• </a:t>
            </a:r>
            <a:r>
              <a:rPr sz="1000" dirty="0" err="1">
                <a:latin typeface="KoPub돋움체 Medium"/>
              </a:rPr>
              <a:t>폴백</a:t>
            </a:r>
            <a:r>
              <a:rPr sz="1000" dirty="0">
                <a:latin typeface="KoPub돋움체 Medium"/>
              </a:rPr>
              <a:t> </a:t>
            </a:r>
            <a:r>
              <a:rPr sz="1000" dirty="0" err="1">
                <a:latin typeface="KoPub돋움체 Medium"/>
              </a:rPr>
              <a:t>동작</a:t>
            </a:r>
            <a:r>
              <a:rPr sz="1000" dirty="0">
                <a:latin typeface="KoPub돋움체 Medium"/>
              </a:rPr>
              <a:t>: 각 </a:t>
            </a:r>
            <a:r>
              <a:rPr sz="1000" dirty="0" err="1">
                <a:latin typeface="KoPub돋움체 Medium"/>
              </a:rPr>
              <a:t>노드의</a:t>
            </a:r>
            <a:r>
              <a:rPr sz="1000" dirty="0">
                <a:latin typeface="KoPub돋움체 Medium"/>
              </a:rPr>
              <a:t> </a:t>
            </a:r>
            <a:r>
              <a:rPr sz="1000" dirty="0" err="1">
                <a:latin typeface="KoPub돋움체 Medium"/>
              </a:rPr>
              <a:t>프로세스</a:t>
            </a:r>
            <a:r>
              <a:rPr sz="1000" dirty="0">
                <a:latin typeface="KoPub돋움체 Medium"/>
              </a:rPr>
              <a:t> </a:t>
            </a:r>
            <a:r>
              <a:rPr sz="1000" dirty="0" err="1">
                <a:latin typeface="KoPub돋움체 Medium"/>
              </a:rPr>
              <a:t>로컬</a:t>
            </a:r>
            <a:r>
              <a:rPr sz="1000" dirty="0">
                <a:latin typeface="KoPub돋움체 Medium"/>
              </a:rPr>
              <a:t> LRU </a:t>
            </a:r>
            <a:r>
              <a:rPr sz="1000" dirty="0" err="1">
                <a:latin typeface="KoPub돋움체 Medium"/>
              </a:rPr>
              <a:t>카운터로</a:t>
            </a:r>
            <a:r>
              <a:rPr sz="1000" dirty="0">
                <a:latin typeface="KoPub돋움체 Medium"/>
              </a:rPr>
              <a:t> </a:t>
            </a:r>
            <a:r>
              <a:rPr sz="1000" dirty="0" err="1">
                <a:latin typeface="KoPub돋움체 Medium"/>
              </a:rPr>
              <a:t>자동</a:t>
            </a:r>
            <a:r>
              <a:rPr sz="1000" dirty="0">
                <a:latin typeface="KoPub돋움체 Medium"/>
              </a:rPr>
              <a:t> </a:t>
            </a:r>
            <a:r>
              <a:rPr sz="1000" dirty="0" err="1">
                <a:latin typeface="KoPub돋움체 Medium"/>
              </a:rPr>
              <a:t>전환</a:t>
            </a:r>
            <a:br>
              <a:rPr sz="1000" dirty="0"/>
            </a:br>
            <a:r>
              <a:rPr sz="1000" dirty="0">
                <a:latin typeface="KoPub돋움체 Medium"/>
              </a:rPr>
              <a:t>• </a:t>
            </a:r>
            <a:r>
              <a:rPr sz="1000" dirty="0" err="1">
                <a:latin typeface="KoPub돋움체 Medium"/>
              </a:rPr>
              <a:t>비상</a:t>
            </a:r>
            <a:r>
              <a:rPr sz="1000" dirty="0">
                <a:latin typeface="KoPub돋움체 Medium"/>
              </a:rPr>
              <a:t> </a:t>
            </a:r>
            <a:r>
              <a:rPr sz="1000" dirty="0" err="1">
                <a:latin typeface="KoPub돋움체 Medium"/>
              </a:rPr>
              <a:t>한도</a:t>
            </a:r>
            <a:r>
              <a:rPr sz="1000" dirty="0">
                <a:latin typeface="KoPub돋움체 Medium"/>
              </a:rPr>
              <a:t>: </a:t>
            </a:r>
            <a:r>
              <a:rPr sz="1000" dirty="0" err="1">
                <a:latin typeface="KoPub돋움체 Medium"/>
              </a:rPr>
              <a:t>클러스터</a:t>
            </a:r>
            <a:r>
              <a:rPr sz="1000" dirty="0">
                <a:latin typeface="KoPub돋움체 Medium"/>
              </a:rPr>
              <a:t> </a:t>
            </a:r>
            <a:r>
              <a:rPr sz="1000" dirty="0" err="1">
                <a:latin typeface="KoPub돋움체 Medium"/>
              </a:rPr>
              <a:t>전역</a:t>
            </a:r>
            <a:r>
              <a:rPr sz="1000" dirty="0">
                <a:latin typeface="KoPub돋움체 Medium"/>
              </a:rPr>
              <a:t> 50건 → </a:t>
            </a:r>
            <a:r>
              <a:rPr sz="1000" dirty="0" err="1">
                <a:latin typeface="KoPub돋움체 Medium"/>
              </a:rPr>
              <a:t>노드당</a:t>
            </a:r>
            <a:r>
              <a:rPr sz="1000" dirty="0">
                <a:latin typeface="KoPub돋움체 Medium"/>
              </a:rPr>
              <a:t> 10초 15건으로 </a:t>
            </a:r>
            <a:r>
              <a:rPr sz="1000" dirty="0" err="1">
                <a:latin typeface="KoPub돋움체 Medium"/>
              </a:rPr>
              <a:t>축소</a:t>
            </a:r>
            <a:endParaRPr sz="1000" dirty="0">
              <a:latin typeface="KoPub돋움체 Medium"/>
            </a:endParaRPr>
          </a:p>
        </p:txBody>
      </p:sp>
      <p:sp>
        <p:nvSpPr>
          <p:cNvPr id="10" name="Rounded Rectangle 9"/>
          <p:cNvSpPr/>
          <p:nvPr/>
        </p:nvSpPr>
        <p:spPr>
          <a:xfrm>
            <a:off x="504000" y="3416265"/>
            <a:ext cx="4212000" cy="669735"/>
          </a:xfrm>
          <a:prstGeom prst="roundRect">
            <a:avLst/>
          </a:prstGeom>
          <a:solidFill>
            <a:srgbClr val="F1F1F1"/>
          </a:solidFill>
          <a:ln>
            <a:solidFill>
              <a:srgbClr val="CBD5E6"/>
            </a:solidFill>
          </a:ln>
        </p:spPr>
        <p:style>
          <a:lnRef idx="1">
            <a:schemeClr val="accent1"/>
          </a:lnRef>
          <a:fillRef idx="3">
            <a:schemeClr val="accent1"/>
          </a:fillRef>
          <a:effectRef idx="2">
            <a:schemeClr val="accent1"/>
          </a:effectRef>
          <a:fontRef idx="minor">
            <a:schemeClr val="lt1"/>
          </a:fontRef>
        </p:style>
        <p:txBody>
          <a:bodyPr lIns="108000" tIns="72000" rtlCol="0" anchor="ctr"/>
          <a:lstStyle/>
          <a:p>
            <a:pPr algn="ctr">
              <a:defRPr sz="850" b="1">
                <a:solidFill>
                  <a:srgbClr val="0E306D"/>
                </a:solidFill>
                <a:latin typeface="KoPub돋움체 Bold"/>
              </a:defRPr>
            </a:pPr>
            <a:r>
              <a:rPr sz="1000" dirty="0" err="1">
                <a:latin typeface="KoPub돋움체 Bold"/>
              </a:rPr>
              <a:t>분기</a:t>
            </a:r>
            <a:r>
              <a:rPr sz="1000" dirty="0">
                <a:latin typeface="KoPub돋움체 Bold"/>
              </a:rPr>
              <a:t> </a:t>
            </a:r>
            <a:r>
              <a:rPr sz="1000" dirty="0" err="1">
                <a:latin typeface="KoPub돋움체 Bold"/>
              </a:rPr>
              <a:t>결과</a:t>
            </a:r>
            <a:r>
              <a:rPr sz="1000" dirty="0">
                <a:latin typeface="KoPub돋움체 Bold"/>
              </a:rPr>
              <a:t>: </a:t>
            </a:r>
            <a:r>
              <a:rPr sz="1000" dirty="0" err="1">
                <a:latin typeface="KoPub돋움체 Bold"/>
              </a:rPr>
              <a:t>한도</a:t>
            </a:r>
            <a:r>
              <a:rPr sz="1000" dirty="0">
                <a:latin typeface="KoPub돋움체 Bold"/>
              </a:rPr>
              <a:t> </a:t>
            </a:r>
            <a:r>
              <a:rPr sz="1000" dirty="0" err="1">
                <a:latin typeface="KoPub돋움체 Bold"/>
              </a:rPr>
              <a:t>초과</a:t>
            </a:r>
            <a:r>
              <a:rPr sz="1000" dirty="0">
                <a:latin typeface="KoPub돋움체 Bold"/>
              </a:rPr>
              <a:t> 시 429 Too Many Requests </a:t>
            </a:r>
            <a:r>
              <a:rPr sz="1000" dirty="0" err="1">
                <a:latin typeface="KoPub돋움체 Bold"/>
              </a:rPr>
              <a:t>거부</a:t>
            </a:r>
            <a:endParaRPr sz="1000" dirty="0">
              <a:latin typeface="KoPub돋움체 Bold"/>
            </a:endParaRPr>
          </a:p>
          <a:p>
            <a:pPr>
              <a:defRPr sz="750">
                <a:solidFill>
                  <a:srgbClr val="6B7280"/>
                </a:solidFill>
                <a:latin typeface="KoPub돋움체 Medium"/>
              </a:defRPr>
            </a:pPr>
            <a:endParaRPr lang="en-US" sz="900" dirty="0">
              <a:latin typeface="KoPub돋움체 Medium"/>
            </a:endParaRPr>
          </a:p>
          <a:p>
            <a:pPr>
              <a:defRPr sz="750">
                <a:solidFill>
                  <a:srgbClr val="6B7280"/>
                </a:solidFill>
                <a:latin typeface="KoPub돋움체 Medium"/>
              </a:defRPr>
            </a:pPr>
            <a:r>
              <a:rPr sz="900" dirty="0" err="1">
                <a:latin typeface="KoPub돋움체 Medium"/>
              </a:rPr>
              <a:t>초과</a:t>
            </a:r>
            <a:r>
              <a:rPr sz="900" dirty="0">
                <a:latin typeface="KoPub돋움체 Medium"/>
              </a:rPr>
              <a:t> </a:t>
            </a:r>
            <a:r>
              <a:rPr sz="900" dirty="0" err="1">
                <a:latin typeface="KoPub돋움체 Medium"/>
              </a:rPr>
              <a:t>트래픽은</a:t>
            </a:r>
            <a:r>
              <a:rPr sz="900" dirty="0">
                <a:latin typeface="KoPub돋움체 Medium"/>
              </a:rPr>
              <a:t> </a:t>
            </a:r>
            <a:r>
              <a:rPr sz="900" dirty="0" err="1">
                <a:latin typeface="KoPub돋움체 Medium"/>
              </a:rPr>
              <a:t>노드</a:t>
            </a:r>
            <a:r>
              <a:rPr sz="900" dirty="0">
                <a:latin typeface="KoPub돋움체 Medium"/>
              </a:rPr>
              <a:t> </a:t>
            </a:r>
            <a:r>
              <a:rPr sz="900" dirty="0" err="1">
                <a:latin typeface="KoPub돋움체 Medium"/>
              </a:rPr>
              <a:t>내부에서</a:t>
            </a:r>
            <a:r>
              <a:rPr sz="900" dirty="0">
                <a:latin typeface="KoPub돋움체 Medium"/>
              </a:rPr>
              <a:t> 429로 </a:t>
            </a:r>
            <a:r>
              <a:rPr sz="900" dirty="0" err="1">
                <a:latin typeface="KoPub돋움체 Medium"/>
              </a:rPr>
              <a:t>거부하고</a:t>
            </a:r>
            <a:r>
              <a:rPr sz="900" dirty="0">
                <a:latin typeface="KoPub돋움체 Medium"/>
              </a:rPr>
              <a:t>, </a:t>
            </a:r>
            <a:endParaRPr lang="en-US" sz="900" dirty="0">
              <a:latin typeface="KoPub돋움체 Medium"/>
            </a:endParaRPr>
          </a:p>
          <a:p>
            <a:pPr>
              <a:defRPr sz="750">
                <a:solidFill>
                  <a:srgbClr val="6B7280"/>
                </a:solidFill>
                <a:latin typeface="KoPub돋움체 Medium"/>
              </a:defRPr>
            </a:pPr>
            <a:r>
              <a:rPr sz="900" dirty="0">
                <a:latin typeface="KoPub돋움체 Medium"/>
              </a:rPr>
              <a:t>15건 </a:t>
            </a:r>
            <a:r>
              <a:rPr sz="900" dirty="0" err="1">
                <a:latin typeface="KoPub돋움체 Medium"/>
              </a:rPr>
              <a:t>한도</a:t>
            </a:r>
            <a:r>
              <a:rPr sz="900" dirty="0">
                <a:latin typeface="KoPub돋움체 Medium"/>
              </a:rPr>
              <a:t> 내 </a:t>
            </a:r>
            <a:r>
              <a:rPr sz="900" dirty="0" err="1">
                <a:latin typeface="KoPub돋움체 Medium"/>
              </a:rPr>
              <a:t>요청만</a:t>
            </a:r>
            <a:r>
              <a:rPr sz="900" dirty="0">
                <a:latin typeface="KoPub돋움체 Medium"/>
              </a:rPr>
              <a:t> </a:t>
            </a:r>
            <a:r>
              <a:rPr sz="900" dirty="0" err="1">
                <a:latin typeface="KoPub돋움체 Medium"/>
              </a:rPr>
              <a:t>다음</a:t>
            </a:r>
            <a:r>
              <a:rPr sz="900" dirty="0">
                <a:latin typeface="KoPub돋움체 Medium"/>
              </a:rPr>
              <a:t> </a:t>
            </a:r>
            <a:r>
              <a:rPr sz="900" dirty="0" err="1">
                <a:latin typeface="KoPub돋움체 Medium"/>
              </a:rPr>
              <a:t>단계</a:t>
            </a:r>
            <a:r>
              <a:rPr sz="900" dirty="0">
                <a:latin typeface="KoPub돋움체 Medium"/>
              </a:rPr>
              <a:t>(Step 3 Nonce)로 </a:t>
            </a:r>
            <a:r>
              <a:rPr sz="900" dirty="0" err="1">
                <a:latin typeface="KoPub돋움체 Medium"/>
              </a:rPr>
              <a:t>전달</a:t>
            </a:r>
            <a:endParaRPr sz="900" dirty="0">
              <a:latin typeface="KoPub돋움체 Medium"/>
            </a:endParaRPr>
          </a:p>
        </p:txBody>
      </p:sp>
      <p:sp>
        <p:nvSpPr>
          <p:cNvPr id="11" name="Rounded Rectangle 10"/>
          <p:cNvSpPr/>
          <p:nvPr/>
        </p:nvSpPr>
        <p:spPr>
          <a:xfrm>
            <a:off x="5055480" y="1854000"/>
            <a:ext cx="4500000" cy="2448000"/>
          </a:xfrm>
          <a:prstGeom prst="roundRect">
            <a:avLst>
              <a:gd name="adj" fmla="val 4216"/>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184000" y="1980000"/>
            <a:ext cx="4248000" cy="288000"/>
          </a:xfrm>
          <a:prstGeom prst="roundRect">
            <a:avLst/>
          </a:prstGeom>
          <a:solidFill>
            <a:srgbClr val="FEF2F2"/>
          </a:solidFill>
          <a:ln>
            <a:solidFill>
              <a:srgbClr val="FECDD3"/>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B91C1C"/>
                </a:solidFill>
                <a:latin typeface="KoPub돋움체 Bold"/>
              </a:defRPr>
            </a:pPr>
            <a:r>
              <a:rPr dirty="0">
                <a:latin typeface="KoPub돋움체 Bold"/>
              </a:rPr>
              <a:t>[</a:t>
            </a:r>
            <a:r>
              <a:rPr dirty="0" err="1">
                <a:latin typeface="KoPub돋움체 Bold"/>
              </a:rPr>
              <a:t>보안</a:t>
            </a:r>
            <a:r>
              <a:rPr dirty="0">
                <a:latin typeface="KoPub돋움체 Bold"/>
              </a:rPr>
              <a:t> </a:t>
            </a:r>
            <a:r>
              <a:rPr dirty="0" err="1">
                <a:latin typeface="KoPub돋움체 Bold"/>
              </a:rPr>
              <a:t>최우선</a:t>
            </a:r>
            <a:r>
              <a:rPr dirty="0">
                <a:latin typeface="KoPub돋움체 Bold"/>
              </a:rPr>
              <a:t> </a:t>
            </a:r>
            <a:r>
              <a:rPr dirty="0" err="1">
                <a:latin typeface="KoPub돋움체 Bold"/>
              </a:rPr>
              <a:t>경로</a:t>
            </a:r>
            <a:r>
              <a:rPr dirty="0">
                <a:latin typeface="KoPub돋움체 Bold"/>
              </a:rPr>
              <a:t>]  Nonce </a:t>
            </a:r>
            <a:r>
              <a:rPr dirty="0" err="1">
                <a:latin typeface="KoPub돋움체 Bold"/>
              </a:rPr>
              <a:t>검증</a:t>
            </a:r>
            <a:r>
              <a:rPr dirty="0">
                <a:latin typeface="KoPub돋움체 Bold"/>
              </a:rPr>
              <a:t> (Step 3: Nonce Verification)</a:t>
            </a:r>
          </a:p>
        </p:txBody>
      </p:sp>
      <p:sp>
        <p:nvSpPr>
          <p:cNvPr id="13" name="TextBox 12"/>
          <p:cNvSpPr txBox="1"/>
          <p:nvPr/>
        </p:nvSpPr>
        <p:spPr>
          <a:xfrm>
            <a:off x="5184000" y="2340000"/>
            <a:ext cx="4212000" cy="900568"/>
          </a:xfrm>
          <a:prstGeom prst="rect">
            <a:avLst/>
          </a:prstGeom>
          <a:noFill/>
        </p:spPr>
        <p:txBody>
          <a:bodyPr wrap="square" lIns="0" tIns="0" rIns="0" bIns="0">
            <a:spAutoFit/>
          </a:bodyPr>
          <a:lstStyle/>
          <a:p>
            <a:pPr>
              <a:lnSpc>
                <a:spcPct val="150000"/>
              </a:lnSpc>
              <a:defRPr sz="800">
                <a:solidFill>
                  <a:srgbClr val="0F172A"/>
                </a:solidFill>
                <a:latin typeface="KoPub돋움체 Medium"/>
              </a:defRPr>
            </a:pPr>
            <a:r>
              <a:rPr sz="1000" dirty="0">
                <a:latin typeface="KoPub돋움체 Medium"/>
              </a:rPr>
              <a:t>• </a:t>
            </a:r>
            <a:r>
              <a:rPr sz="1000" dirty="0" err="1">
                <a:latin typeface="KoPub돋움체 Medium"/>
              </a:rPr>
              <a:t>의사결정</a:t>
            </a:r>
            <a:r>
              <a:rPr sz="1000" dirty="0">
                <a:latin typeface="KoPub돋움체 Medium"/>
              </a:rPr>
              <a:t> </a:t>
            </a:r>
            <a:r>
              <a:rPr sz="1000" dirty="0" err="1">
                <a:latin typeface="KoPub돋움체 Medium"/>
              </a:rPr>
              <a:t>원칙</a:t>
            </a:r>
            <a:r>
              <a:rPr sz="1000" dirty="0">
                <a:latin typeface="KoPub돋움체 Medium"/>
              </a:rPr>
              <a:t>: '</a:t>
            </a:r>
            <a:r>
              <a:rPr sz="1000" dirty="0" err="1">
                <a:latin typeface="KoPub돋움체 Medium"/>
              </a:rPr>
              <a:t>미검증</a:t>
            </a:r>
            <a:r>
              <a:rPr sz="1000" dirty="0">
                <a:latin typeface="KoPub돋움체 Medium"/>
              </a:rPr>
              <a:t> </a:t>
            </a:r>
            <a:r>
              <a:rPr sz="1000" dirty="0" err="1">
                <a:latin typeface="KoPub돋움체 Medium"/>
              </a:rPr>
              <a:t>상태로</a:t>
            </a:r>
            <a:r>
              <a:rPr sz="1000" dirty="0">
                <a:latin typeface="KoPub돋움체 Medium"/>
              </a:rPr>
              <a:t> </a:t>
            </a:r>
            <a:r>
              <a:rPr sz="1000" dirty="0" err="1">
                <a:latin typeface="KoPub돋움체 Medium"/>
              </a:rPr>
              <a:t>통과시키면</a:t>
            </a:r>
            <a:r>
              <a:rPr sz="1000" dirty="0">
                <a:latin typeface="KoPub돋움체 Medium"/>
              </a:rPr>
              <a:t> </a:t>
            </a:r>
            <a:r>
              <a:rPr sz="1000" dirty="0" err="1">
                <a:latin typeface="KoPub돋움체 Medium"/>
              </a:rPr>
              <a:t>리플레이</a:t>
            </a:r>
            <a:r>
              <a:rPr sz="1000" dirty="0">
                <a:latin typeface="KoPub돋움체 Medium"/>
              </a:rPr>
              <a:t> </a:t>
            </a:r>
            <a:r>
              <a:rPr sz="1000" dirty="0" err="1">
                <a:latin typeface="KoPub돋움체 Medium"/>
              </a:rPr>
              <a:t>공격으로</a:t>
            </a:r>
            <a:r>
              <a:rPr sz="1000" dirty="0">
                <a:latin typeface="KoPub돋움체 Medium"/>
              </a:rPr>
              <a:t> </a:t>
            </a:r>
            <a:r>
              <a:rPr sz="1000" dirty="0" err="1">
                <a:latin typeface="KoPub돋움체 Medium"/>
              </a:rPr>
              <a:t>데이터</a:t>
            </a:r>
            <a:r>
              <a:rPr sz="1000" dirty="0">
                <a:latin typeface="KoPub돋움체 Medium"/>
              </a:rPr>
              <a:t> </a:t>
            </a:r>
            <a:r>
              <a:rPr sz="1000" dirty="0" err="1">
                <a:latin typeface="KoPub돋움체 Medium"/>
              </a:rPr>
              <a:t>오염</a:t>
            </a:r>
            <a:r>
              <a:rPr sz="1000" dirty="0">
                <a:latin typeface="KoPub돋움체 Medium"/>
              </a:rPr>
              <a:t>'</a:t>
            </a:r>
            <a:br>
              <a:rPr sz="1000" dirty="0"/>
            </a:br>
            <a:r>
              <a:rPr sz="1000" dirty="0">
                <a:latin typeface="KoPub돋움체 Medium"/>
              </a:rPr>
              <a:t>• </a:t>
            </a:r>
            <a:r>
              <a:rPr sz="1000" dirty="0" err="1">
                <a:latin typeface="KoPub돋움체 Medium"/>
              </a:rPr>
              <a:t>격리</a:t>
            </a:r>
            <a:r>
              <a:rPr sz="1000" dirty="0">
                <a:latin typeface="KoPub돋움체 Medium"/>
              </a:rPr>
              <a:t> </a:t>
            </a:r>
            <a:r>
              <a:rPr sz="1000" dirty="0" err="1">
                <a:latin typeface="KoPub돋움체 Medium"/>
              </a:rPr>
              <a:t>동작</a:t>
            </a:r>
            <a:r>
              <a:rPr sz="1000" dirty="0">
                <a:latin typeface="KoPub돋움체 Medium"/>
              </a:rPr>
              <a:t>: Step 2 </a:t>
            </a:r>
            <a:r>
              <a:rPr sz="1000" dirty="0" err="1">
                <a:latin typeface="KoPub돋움체 Medium"/>
              </a:rPr>
              <a:t>통과</a:t>
            </a:r>
            <a:r>
              <a:rPr sz="1000" dirty="0">
                <a:latin typeface="KoPub돋움체 Medium"/>
              </a:rPr>
              <a:t> 후 Redis </a:t>
            </a:r>
            <a:r>
              <a:rPr sz="1000" dirty="0" err="1">
                <a:latin typeface="KoPub돋움체 Medium"/>
              </a:rPr>
              <a:t>다운</a:t>
            </a:r>
            <a:r>
              <a:rPr sz="1000" dirty="0">
                <a:latin typeface="KoPub돋움체 Medium"/>
              </a:rPr>
              <a:t> </a:t>
            </a:r>
            <a:r>
              <a:rPr sz="1000" dirty="0" err="1">
                <a:latin typeface="KoPub돋움체 Medium"/>
              </a:rPr>
              <a:t>감지</a:t>
            </a:r>
            <a:r>
              <a:rPr sz="1000" dirty="0">
                <a:latin typeface="KoPub돋움체 Medium"/>
              </a:rPr>
              <a:t> → 503 Fail-Closed </a:t>
            </a:r>
            <a:r>
              <a:rPr sz="1000" dirty="0" err="1">
                <a:latin typeface="KoPub돋움체 Medium"/>
              </a:rPr>
              <a:t>즉시</a:t>
            </a:r>
            <a:r>
              <a:rPr sz="1000" dirty="0">
                <a:latin typeface="KoPub돋움체 Medium"/>
              </a:rPr>
              <a:t> </a:t>
            </a:r>
            <a:r>
              <a:rPr sz="1000" dirty="0" err="1">
                <a:latin typeface="KoPub돋움체 Medium"/>
              </a:rPr>
              <a:t>발동</a:t>
            </a:r>
            <a:br>
              <a:rPr sz="1000" dirty="0"/>
            </a:br>
            <a:r>
              <a:rPr sz="1000" dirty="0">
                <a:latin typeface="KoPub돋움체 Medium"/>
              </a:rPr>
              <a:t>• </a:t>
            </a:r>
            <a:r>
              <a:rPr sz="1000" dirty="0" err="1">
                <a:latin typeface="KoPub돋움체 Medium"/>
              </a:rPr>
              <a:t>예외</a:t>
            </a:r>
            <a:r>
              <a:rPr sz="1000" dirty="0">
                <a:latin typeface="KoPub돋움체 Medium"/>
              </a:rPr>
              <a:t> </a:t>
            </a:r>
            <a:r>
              <a:rPr sz="1000" dirty="0" err="1">
                <a:latin typeface="KoPub돋움체 Medium"/>
              </a:rPr>
              <a:t>처리</a:t>
            </a:r>
            <a:r>
              <a:rPr sz="1000" dirty="0">
                <a:latin typeface="KoPub돋움체 Medium"/>
              </a:rPr>
              <a:t>: 1건의 </a:t>
            </a:r>
            <a:r>
              <a:rPr sz="1000" dirty="0" err="1">
                <a:latin typeface="KoPub돋움체 Medium"/>
              </a:rPr>
              <a:t>서명</a:t>
            </a:r>
            <a:r>
              <a:rPr sz="1000" dirty="0">
                <a:latin typeface="KoPub돋움체 Medium"/>
              </a:rPr>
              <a:t> </a:t>
            </a:r>
            <a:r>
              <a:rPr sz="1000" dirty="0" err="1">
                <a:latin typeface="KoPub돋움체 Medium"/>
              </a:rPr>
              <a:t>요청도</a:t>
            </a:r>
            <a:r>
              <a:rPr sz="1000" dirty="0">
                <a:latin typeface="KoPub돋움체 Medium"/>
              </a:rPr>
              <a:t> </a:t>
            </a:r>
            <a:r>
              <a:rPr sz="1000" dirty="0" err="1">
                <a:latin typeface="KoPub돋움체 Medium"/>
              </a:rPr>
              <a:t>미검증</a:t>
            </a:r>
            <a:r>
              <a:rPr sz="1000" dirty="0">
                <a:latin typeface="KoPub돋움체 Medium"/>
              </a:rPr>
              <a:t> </a:t>
            </a:r>
            <a:r>
              <a:rPr sz="1000" dirty="0" err="1">
                <a:latin typeface="KoPub돋움체 Medium"/>
              </a:rPr>
              <a:t>상태로</a:t>
            </a:r>
            <a:r>
              <a:rPr sz="1000" dirty="0">
                <a:latin typeface="KoPub돋움체 Medium"/>
              </a:rPr>
              <a:t> </a:t>
            </a:r>
            <a:r>
              <a:rPr sz="1000" dirty="0" err="1">
                <a:latin typeface="KoPub돋움체 Medium"/>
              </a:rPr>
              <a:t>백엔드</a:t>
            </a:r>
            <a:r>
              <a:rPr sz="1000" dirty="0">
                <a:latin typeface="KoPub돋움체 Medium"/>
              </a:rPr>
              <a:t> </a:t>
            </a:r>
            <a:r>
              <a:rPr sz="1000" dirty="0" err="1">
                <a:latin typeface="KoPub돋움체 Medium"/>
              </a:rPr>
              <a:t>도달</a:t>
            </a:r>
            <a:r>
              <a:rPr sz="1000" dirty="0">
                <a:latin typeface="KoPub돋움체 Medium"/>
              </a:rPr>
              <a:t> </a:t>
            </a:r>
            <a:r>
              <a:rPr sz="1000" dirty="0" err="1">
                <a:latin typeface="KoPub돋움체 Medium"/>
              </a:rPr>
              <a:t>금지</a:t>
            </a:r>
            <a:r>
              <a:rPr sz="1000" dirty="0">
                <a:latin typeface="KoPub돋움체 Medium"/>
              </a:rPr>
              <a:t> (</a:t>
            </a:r>
            <a:r>
              <a:rPr sz="1000" dirty="0" err="1">
                <a:latin typeface="KoPub돋움체 Medium"/>
              </a:rPr>
              <a:t>redis_outage_blocked</a:t>
            </a:r>
            <a:r>
              <a:rPr sz="1000" dirty="0">
                <a:latin typeface="KoPub돋움체 Medium"/>
              </a:rPr>
              <a:t> +1)</a:t>
            </a:r>
          </a:p>
        </p:txBody>
      </p:sp>
      <p:sp>
        <p:nvSpPr>
          <p:cNvPr id="14" name="Rounded Rectangle 13"/>
          <p:cNvSpPr/>
          <p:nvPr/>
        </p:nvSpPr>
        <p:spPr>
          <a:xfrm>
            <a:off x="5184000" y="3438000"/>
            <a:ext cx="4212000" cy="648000"/>
          </a:xfrm>
          <a:prstGeom prst="roundRect">
            <a:avLst/>
          </a:prstGeom>
          <a:solidFill>
            <a:srgbClr val="FEF2F2"/>
          </a:solidFill>
          <a:ln>
            <a:solidFill>
              <a:srgbClr val="FECDD3"/>
            </a:solidFill>
          </a:ln>
        </p:spPr>
        <p:style>
          <a:lnRef idx="1">
            <a:schemeClr val="accent1"/>
          </a:lnRef>
          <a:fillRef idx="3">
            <a:schemeClr val="accent1"/>
          </a:fillRef>
          <a:effectRef idx="2">
            <a:schemeClr val="accent1"/>
          </a:effectRef>
          <a:fontRef idx="minor">
            <a:schemeClr val="lt1"/>
          </a:fontRef>
        </p:style>
        <p:txBody>
          <a:bodyPr lIns="108000" tIns="72000" rtlCol="0" anchor="ctr"/>
          <a:lstStyle/>
          <a:p>
            <a:pPr algn="ctr">
              <a:defRPr sz="850" b="1">
                <a:solidFill>
                  <a:srgbClr val="B91C1C"/>
                </a:solidFill>
                <a:latin typeface="KoPub돋움체 Bold"/>
              </a:defRPr>
            </a:pPr>
            <a:r>
              <a:rPr sz="1000" dirty="0" err="1">
                <a:latin typeface="KoPub돋움체 Bold"/>
              </a:rPr>
              <a:t>분기</a:t>
            </a:r>
            <a:r>
              <a:rPr sz="1000" dirty="0">
                <a:latin typeface="KoPub돋움체 Bold"/>
              </a:rPr>
              <a:t> </a:t>
            </a:r>
            <a:r>
              <a:rPr sz="1000" dirty="0" err="1">
                <a:latin typeface="KoPub돋움체 Bold"/>
              </a:rPr>
              <a:t>결과</a:t>
            </a:r>
            <a:r>
              <a:rPr sz="1000" dirty="0">
                <a:latin typeface="KoPub돋움체 Bold"/>
              </a:rPr>
              <a:t>: 503 Service Unavailable (Fail-Closed </a:t>
            </a:r>
            <a:r>
              <a:rPr sz="1000" dirty="0" err="1">
                <a:latin typeface="KoPub돋움체 Bold"/>
              </a:rPr>
              <a:t>안전</a:t>
            </a:r>
            <a:r>
              <a:rPr sz="1000" dirty="0">
                <a:latin typeface="KoPub돋움체 Bold"/>
              </a:rPr>
              <a:t> </a:t>
            </a:r>
            <a:r>
              <a:rPr sz="1000" dirty="0" err="1">
                <a:latin typeface="KoPub돋움체 Bold"/>
              </a:rPr>
              <a:t>차단</a:t>
            </a:r>
            <a:r>
              <a:rPr sz="1000" dirty="0">
                <a:latin typeface="KoPub돋움체 Bold"/>
              </a:rPr>
              <a:t>)</a:t>
            </a:r>
            <a:endParaRPr lang="en-US" sz="1000" dirty="0">
              <a:latin typeface="KoPub돋움체 Bold"/>
            </a:endParaRPr>
          </a:p>
          <a:p>
            <a:pPr algn="ctr">
              <a:defRPr sz="850" b="1">
                <a:solidFill>
                  <a:srgbClr val="B91C1C"/>
                </a:solidFill>
                <a:latin typeface="KoPub돋움체 Bold"/>
              </a:defRPr>
            </a:pPr>
            <a:endParaRPr sz="1000" dirty="0">
              <a:latin typeface="KoPub돋움체 Bold"/>
            </a:endParaRPr>
          </a:p>
          <a:p>
            <a:pPr>
              <a:defRPr sz="750">
                <a:solidFill>
                  <a:srgbClr val="6B7280"/>
                </a:solidFill>
                <a:latin typeface="KoPub돋움체 Medium"/>
              </a:defRPr>
            </a:pPr>
            <a:r>
              <a:rPr sz="900" dirty="0" err="1">
                <a:latin typeface="KoPub돋움체 Medium"/>
              </a:rPr>
              <a:t>유입된</a:t>
            </a:r>
            <a:r>
              <a:rPr sz="900" dirty="0">
                <a:latin typeface="KoPub돋움체 Medium"/>
              </a:rPr>
              <a:t> </a:t>
            </a:r>
            <a:r>
              <a:rPr sz="900" dirty="0" err="1">
                <a:latin typeface="KoPub돋움체 Medium"/>
              </a:rPr>
              <a:t>요청</a:t>
            </a:r>
            <a:r>
              <a:rPr sz="900" dirty="0">
                <a:latin typeface="KoPub돋움체 Medium"/>
              </a:rPr>
              <a:t> </a:t>
            </a:r>
            <a:r>
              <a:rPr sz="900" dirty="0" err="1">
                <a:latin typeface="KoPub돋움체 Medium"/>
              </a:rPr>
              <a:t>전원</a:t>
            </a:r>
            <a:r>
              <a:rPr sz="900" dirty="0">
                <a:latin typeface="KoPub돋움체 Medium"/>
              </a:rPr>
              <a:t> 503 </a:t>
            </a:r>
            <a:r>
              <a:rPr sz="900" dirty="0" err="1">
                <a:latin typeface="KoPub돋움체 Medium"/>
              </a:rPr>
              <a:t>즉시</a:t>
            </a:r>
            <a:r>
              <a:rPr sz="900" dirty="0">
                <a:latin typeface="KoPub돋움체 Medium"/>
              </a:rPr>
              <a:t> </a:t>
            </a:r>
            <a:r>
              <a:rPr sz="900" dirty="0" err="1">
                <a:latin typeface="KoPub돋움체 Medium"/>
              </a:rPr>
              <a:t>반환</a:t>
            </a:r>
            <a:r>
              <a:rPr sz="900" dirty="0">
                <a:latin typeface="KoPub돋움체 Medium"/>
              </a:rPr>
              <a:t> (</a:t>
            </a:r>
            <a:r>
              <a:rPr sz="900" dirty="0" err="1">
                <a:latin typeface="KoPub돋움체 Medium"/>
              </a:rPr>
              <a:t>관측</a:t>
            </a:r>
            <a:r>
              <a:rPr sz="900" dirty="0">
                <a:latin typeface="KoPub돋움체 Medium"/>
              </a:rPr>
              <a:t> </a:t>
            </a:r>
            <a:r>
              <a:rPr sz="900" dirty="0" err="1">
                <a:latin typeface="KoPub돋움체 Medium"/>
              </a:rPr>
              <a:t>카운터</a:t>
            </a:r>
            <a:r>
              <a:rPr sz="900" dirty="0">
                <a:latin typeface="KoPub돋움체 Medium"/>
              </a:rPr>
              <a:t>: </a:t>
            </a:r>
            <a:r>
              <a:rPr sz="900" dirty="0" err="1">
                <a:latin typeface="KoPub돋움체 Medium"/>
              </a:rPr>
              <a:t>redis_outage_blocked</a:t>
            </a:r>
            <a:r>
              <a:rPr sz="900" dirty="0">
                <a:latin typeface="KoPub돋움체 Medium"/>
              </a:rPr>
              <a:t> +15)</a:t>
            </a:r>
          </a:p>
        </p:txBody>
      </p:sp>
      <p:sp>
        <p:nvSpPr>
          <p:cNvPr id="15" name="Rounded Rectangle 14"/>
          <p:cNvSpPr/>
          <p:nvPr/>
        </p:nvSpPr>
        <p:spPr>
          <a:xfrm>
            <a:off x="356760" y="4410000"/>
            <a:ext cx="9198720" cy="1548000"/>
          </a:xfrm>
          <a:prstGeom prst="roundRect">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86000" y="4518000"/>
            <a:ext cx="8939520" cy="270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50" b="1">
                <a:solidFill>
                  <a:srgbClr val="0E306D"/>
                </a:solidFill>
                <a:latin typeface="KoPub돋움체 Bold"/>
              </a:defRPr>
            </a:pPr>
            <a:r>
              <a:rPr sz="1000" dirty="0">
                <a:latin typeface="KoPub돋움체 Bold"/>
              </a:rPr>
              <a:t>20건 </a:t>
            </a:r>
            <a:r>
              <a:rPr sz="1000" dirty="0" err="1">
                <a:latin typeface="KoPub돋움체 Bold"/>
              </a:rPr>
              <a:t>동시</a:t>
            </a:r>
            <a:r>
              <a:rPr sz="1000" dirty="0">
                <a:latin typeface="KoPub돋움체 Bold"/>
              </a:rPr>
              <a:t> Redis </a:t>
            </a:r>
            <a:r>
              <a:rPr sz="1000" dirty="0" err="1">
                <a:latin typeface="KoPub돋움체 Bold"/>
              </a:rPr>
              <a:t>장애</a:t>
            </a:r>
            <a:r>
              <a:rPr sz="1000" dirty="0">
                <a:latin typeface="KoPub돋움체 Bold"/>
              </a:rPr>
              <a:t> </a:t>
            </a:r>
            <a:r>
              <a:rPr sz="1000" dirty="0" err="1">
                <a:latin typeface="KoPub돋움체 Bold"/>
              </a:rPr>
              <a:t>실측</a:t>
            </a:r>
            <a:r>
              <a:rPr sz="1000" dirty="0">
                <a:latin typeface="KoPub돋움체 Bold"/>
              </a:rPr>
              <a:t> </a:t>
            </a:r>
            <a:r>
              <a:rPr sz="1000" dirty="0" err="1">
                <a:latin typeface="KoPub돋움체 Bold"/>
              </a:rPr>
              <a:t>검증</a:t>
            </a:r>
            <a:r>
              <a:rPr sz="1000" dirty="0">
                <a:latin typeface="KoPub돋움체 Bold"/>
              </a:rPr>
              <a:t> (Scenario 4: </a:t>
            </a:r>
            <a:r>
              <a:rPr sz="1000" dirty="0" err="1">
                <a:latin typeface="KoPub돋움체 Bold"/>
              </a:rPr>
              <a:t>test_redis_failure_fail_closed</a:t>
            </a:r>
            <a:r>
              <a:rPr sz="1000" dirty="0">
                <a:latin typeface="KoPub돋움체 Bold"/>
              </a:rPr>
              <a:t>)</a:t>
            </a:r>
          </a:p>
        </p:txBody>
      </p:sp>
      <p:sp>
        <p:nvSpPr>
          <p:cNvPr id="17" name="TextBox 16"/>
          <p:cNvSpPr txBox="1"/>
          <p:nvPr/>
        </p:nvSpPr>
        <p:spPr>
          <a:xfrm>
            <a:off x="504000" y="4842000"/>
            <a:ext cx="8892000" cy="669735"/>
          </a:xfrm>
          <a:prstGeom prst="rect">
            <a:avLst/>
          </a:prstGeom>
          <a:noFill/>
        </p:spPr>
        <p:txBody>
          <a:bodyPr wrap="square" lIns="0" tIns="0" rIns="0" bIns="0">
            <a:spAutoFit/>
          </a:bodyPr>
          <a:lstStyle/>
          <a:p>
            <a:pPr>
              <a:lnSpc>
                <a:spcPct val="150000"/>
              </a:lnSpc>
              <a:defRPr sz="800">
                <a:solidFill>
                  <a:srgbClr val="0F172A"/>
                </a:solidFill>
                <a:latin typeface="KoPub돋움체 Medium"/>
              </a:defRPr>
            </a:pPr>
            <a:r>
              <a:rPr sz="1000" dirty="0">
                <a:latin typeface="KoPub돋움체 Medium"/>
              </a:rPr>
              <a:t>• </a:t>
            </a:r>
            <a:r>
              <a:rPr sz="1000" dirty="0" err="1">
                <a:latin typeface="KoPub돋움체 Medium"/>
              </a:rPr>
              <a:t>테스트</a:t>
            </a:r>
            <a:r>
              <a:rPr sz="1000" dirty="0">
                <a:latin typeface="KoPub돋움체 Medium"/>
              </a:rPr>
              <a:t> </a:t>
            </a:r>
            <a:r>
              <a:rPr sz="1000" dirty="0" err="1">
                <a:latin typeface="KoPub돋움체 Medium"/>
              </a:rPr>
              <a:t>조건</a:t>
            </a:r>
            <a:r>
              <a:rPr sz="1000" dirty="0">
                <a:latin typeface="KoPub돋움체 Medium"/>
              </a:rPr>
              <a:t>: </a:t>
            </a:r>
            <a:r>
              <a:rPr sz="1000" dirty="0" err="1">
                <a:latin typeface="KoPub돋움체 Medium"/>
              </a:rPr>
              <a:t>중앙</a:t>
            </a:r>
            <a:r>
              <a:rPr sz="1000" dirty="0">
                <a:latin typeface="KoPub돋움체 Medium"/>
              </a:rPr>
              <a:t> Redis </a:t>
            </a:r>
            <a:r>
              <a:rPr sz="1000" dirty="0" err="1">
                <a:latin typeface="KoPub돋움체 Medium"/>
              </a:rPr>
              <a:t>마비</a:t>
            </a:r>
            <a:r>
              <a:rPr sz="1000" dirty="0">
                <a:latin typeface="KoPub돋움체 Medium"/>
              </a:rPr>
              <a:t> </a:t>
            </a:r>
            <a:r>
              <a:rPr sz="1000" dirty="0" err="1">
                <a:latin typeface="KoPub돋움체 Medium"/>
              </a:rPr>
              <a:t>주입</a:t>
            </a:r>
            <a:r>
              <a:rPr sz="1000" dirty="0">
                <a:latin typeface="KoPub돋움체 Medium"/>
              </a:rPr>
              <a:t> 후 </a:t>
            </a:r>
            <a:r>
              <a:rPr sz="1000" dirty="0" err="1">
                <a:latin typeface="KoPub돋움체 Medium"/>
              </a:rPr>
              <a:t>동일</a:t>
            </a:r>
            <a:r>
              <a:rPr sz="1000" dirty="0">
                <a:latin typeface="KoPub돋움체 Medium"/>
              </a:rPr>
              <a:t> </a:t>
            </a:r>
            <a:r>
              <a:rPr sz="1000" dirty="0" err="1">
                <a:latin typeface="KoPub돋움체 Medium"/>
              </a:rPr>
              <a:t>노드로</a:t>
            </a:r>
            <a:r>
              <a:rPr sz="1000" dirty="0">
                <a:latin typeface="KoPub돋움체 Medium"/>
              </a:rPr>
              <a:t> </a:t>
            </a:r>
            <a:r>
              <a:rPr sz="1000" dirty="0" err="1">
                <a:latin typeface="KoPub돋움체 Medium"/>
              </a:rPr>
              <a:t>동시</a:t>
            </a:r>
            <a:r>
              <a:rPr sz="1000" dirty="0">
                <a:latin typeface="KoPub돋움체 Medium"/>
              </a:rPr>
              <a:t> 20건의 /auth </a:t>
            </a:r>
            <a:r>
              <a:rPr sz="1000" dirty="0" err="1">
                <a:latin typeface="KoPub돋움체 Medium"/>
              </a:rPr>
              <a:t>인가</a:t>
            </a:r>
            <a:r>
              <a:rPr sz="1000" dirty="0">
                <a:latin typeface="KoPub돋움체 Medium"/>
              </a:rPr>
              <a:t> </a:t>
            </a:r>
            <a:r>
              <a:rPr sz="1000" dirty="0" err="1">
                <a:latin typeface="KoPub돋움체 Medium"/>
              </a:rPr>
              <a:t>요청</a:t>
            </a:r>
            <a:r>
              <a:rPr sz="1000" dirty="0">
                <a:latin typeface="KoPub돋움체 Medium"/>
              </a:rPr>
              <a:t> </a:t>
            </a:r>
            <a:r>
              <a:rPr sz="1000" dirty="0" err="1">
                <a:latin typeface="KoPub돋움체 Medium"/>
              </a:rPr>
              <a:t>집중</a:t>
            </a:r>
            <a:r>
              <a:rPr sz="1000" dirty="0">
                <a:latin typeface="KoPub돋움체 Medium"/>
              </a:rPr>
              <a:t> </a:t>
            </a:r>
            <a:r>
              <a:rPr sz="1000" dirty="0" err="1">
                <a:latin typeface="KoPub돋움체 Medium"/>
              </a:rPr>
              <a:t>전송</a:t>
            </a:r>
            <a:r>
              <a:rPr sz="1000" dirty="0">
                <a:latin typeface="KoPub돋움체 Medium"/>
              </a:rPr>
              <a:t> (Redis Sentinel HA </a:t>
            </a:r>
            <a:r>
              <a:rPr sz="1000" dirty="0" err="1">
                <a:latin typeface="KoPub돋움체 Medium"/>
              </a:rPr>
              <a:t>마스터</a:t>
            </a:r>
            <a:r>
              <a:rPr sz="1000" dirty="0">
                <a:latin typeface="KoPub돋움체 Medium"/>
              </a:rPr>
              <a:t> </a:t>
            </a:r>
            <a:r>
              <a:rPr sz="1000" dirty="0" err="1">
                <a:latin typeface="KoPub돋움체 Medium"/>
              </a:rPr>
              <a:t>자동</a:t>
            </a:r>
            <a:r>
              <a:rPr sz="1000" dirty="0">
                <a:latin typeface="KoPub돋움체 Medium"/>
              </a:rPr>
              <a:t> </a:t>
            </a:r>
            <a:r>
              <a:rPr sz="1000" dirty="0" err="1">
                <a:latin typeface="KoPub돋움체 Medium"/>
              </a:rPr>
              <a:t>페일오버</a:t>
            </a:r>
            <a:r>
              <a:rPr sz="1000" dirty="0">
                <a:latin typeface="KoPub돋움체 Medium"/>
              </a:rPr>
              <a:t> </a:t>
            </a:r>
            <a:r>
              <a:rPr sz="1000" dirty="0" err="1">
                <a:latin typeface="KoPub돋움체 Medium"/>
              </a:rPr>
              <a:t>지원</a:t>
            </a:r>
            <a:r>
              <a:rPr sz="1000" dirty="0">
                <a:latin typeface="KoPub돋움체 Medium"/>
              </a:rPr>
              <a:t>)</a:t>
            </a:r>
            <a:br>
              <a:rPr sz="1000" dirty="0"/>
            </a:br>
            <a:r>
              <a:rPr sz="1000" dirty="0">
                <a:latin typeface="KoPub돋움체 Medium"/>
              </a:rPr>
              <a:t>• </a:t>
            </a:r>
            <a:r>
              <a:rPr sz="1000" dirty="0" err="1">
                <a:latin typeface="KoPub돋움체 Medium"/>
              </a:rPr>
              <a:t>단계별</a:t>
            </a:r>
            <a:r>
              <a:rPr sz="1000" dirty="0">
                <a:latin typeface="KoPub돋움체 Medium"/>
              </a:rPr>
              <a:t> </a:t>
            </a:r>
            <a:r>
              <a:rPr sz="1000" dirty="0" err="1">
                <a:latin typeface="KoPub돋움체 Medium"/>
              </a:rPr>
              <a:t>분리</a:t>
            </a:r>
            <a:r>
              <a:rPr sz="1000" dirty="0">
                <a:latin typeface="KoPub돋움체 Medium"/>
              </a:rPr>
              <a:t> </a:t>
            </a:r>
            <a:r>
              <a:rPr sz="1000" dirty="0" err="1">
                <a:latin typeface="KoPub돋움체 Medium"/>
              </a:rPr>
              <a:t>대응</a:t>
            </a:r>
            <a:r>
              <a:rPr sz="1000" dirty="0">
                <a:latin typeface="KoPub돋움체 Medium"/>
              </a:rPr>
              <a:t> </a:t>
            </a:r>
            <a:r>
              <a:rPr sz="1000" dirty="0" err="1">
                <a:latin typeface="KoPub돋움체 Medium"/>
              </a:rPr>
              <a:t>실측</a:t>
            </a:r>
            <a:r>
              <a:rPr sz="1000" dirty="0">
                <a:latin typeface="KoPub돋움체 Medium"/>
              </a:rPr>
              <a:t>: 1) Step 2 </a:t>
            </a:r>
            <a:r>
              <a:rPr sz="1000" dirty="0" err="1">
                <a:latin typeface="KoPub돋움체 Medium"/>
              </a:rPr>
              <a:t>유량</a:t>
            </a:r>
            <a:r>
              <a:rPr sz="1000" dirty="0">
                <a:latin typeface="KoPub돋움체 Medium"/>
              </a:rPr>
              <a:t> </a:t>
            </a:r>
            <a:r>
              <a:rPr sz="1000" dirty="0" err="1">
                <a:latin typeface="KoPub돋움체 Medium"/>
              </a:rPr>
              <a:t>제어에서</a:t>
            </a:r>
            <a:r>
              <a:rPr sz="1000" dirty="0">
                <a:latin typeface="KoPub돋움체 Medium"/>
              </a:rPr>
              <a:t> </a:t>
            </a:r>
            <a:r>
              <a:rPr sz="1000" dirty="0" err="1">
                <a:latin typeface="KoPub돋움체 Medium"/>
              </a:rPr>
              <a:t>로컬</a:t>
            </a:r>
            <a:r>
              <a:rPr sz="1000" dirty="0">
                <a:latin typeface="KoPub돋움체 Medium"/>
              </a:rPr>
              <a:t> </a:t>
            </a:r>
            <a:r>
              <a:rPr sz="1000" dirty="0" err="1">
                <a:latin typeface="KoPub돋움체 Medium"/>
              </a:rPr>
              <a:t>한도</a:t>
            </a:r>
            <a:r>
              <a:rPr sz="1000" dirty="0">
                <a:latin typeface="KoPub돋움체 Medium"/>
              </a:rPr>
              <a:t>(15건) </a:t>
            </a:r>
            <a:r>
              <a:rPr sz="1000" dirty="0" err="1">
                <a:latin typeface="KoPub돋움체 Medium"/>
              </a:rPr>
              <a:t>초과한</a:t>
            </a:r>
            <a:r>
              <a:rPr sz="1000" dirty="0">
                <a:latin typeface="KoPub돋움체 Medium"/>
              </a:rPr>
              <a:t> 5건 429 </a:t>
            </a:r>
            <a:r>
              <a:rPr sz="1000" dirty="0" err="1">
                <a:latin typeface="KoPub돋움체 Medium"/>
              </a:rPr>
              <a:t>차단</a:t>
            </a:r>
            <a:r>
              <a:rPr sz="1000" dirty="0">
                <a:latin typeface="KoPub돋움체 Medium"/>
              </a:rPr>
              <a:t> → 2) </a:t>
            </a:r>
            <a:r>
              <a:rPr sz="1000" dirty="0" err="1">
                <a:latin typeface="KoPub돋움체 Medium"/>
              </a:rPr>
              <a:t>한도</a:t>
            </a:r>
            <a:r>
              <a:rPr sz="1000" dirty="0">
                <a:latin typeface="KoPub돋움체 Medium"/>
              </a:rPr>
              <a:t> 내 15건은 Step 3 </a:t>
            </a:r>
            <a:r>
              <a:rPr sz="1000" dirty="0" err="1">
                <a:latin typeface="KoPub돋움체 Medium"/>
              </a:rPr>
              <a:t>Nonce에서</a:t>
            </a:r>
            <a:r>
              <a:rPr sz="1000" dirty="0">
                <a:latin typeface="KoPub돋움체 Medium"/>
              </a:rPr>
              <a:t> 503 Fail-Closed </a:t>
            </a:r>
            <a:r>
              <a:rPr sz="1000" dirty="0" err="1">
                <a:latin typeface="KoPub돋움체 Medium"/>
              </a:rPr>
              <a:t>차단</a:t>
            </a:r>
            <a:br>
              <a:rPr sz="1000" dirty="0"/>
            </a:br>
            <a:r>
              <a:rPr sz="1000" dirty="0">
                <a:latin typeface="KoPub돋움체 Medium"/>
              </a:rPr>
              <a:t>• </a:t>
            </a:r>
            <a:r>
              <a:rPr sz="1000" dirty="0" err="1">
                <a:latin typeface="KoPub돋움체 Medium"/>
              </a:rPr>
              <a:t>핵심</a:t>
            </a:r>
            <a:r>
              <a:rPr sz="1000" dirty="0">
                <a:latin typeface="KoPub돋움체 Medium"/>
              </a:rPr>
              <a:t> </a:t>
            </a:r>
            <a:r>
              <a:rPr sz="1000" dirty="0" err="1">
                <a:latin typeface="KoPub돋움체 Medium"/>
              </a:rPr>
              <a:t>엔지니어링</a:t>
            </a:r>
            <a:r>
              <a:rPr sz="1000" dirty="0">
                <a:latin typeface="KoPub돋움체 Medium"/>
              </a:rPr>
              <a:t> </a:t>
            </a:r>
            <a:r>
              <a:rPr sz="1000" dirty="0" err="1">
                <a:latin typeface="KoPub돋움체 Medium"/>
              </a:rPr>
              <a:t>가치</a:t>
            </a:r>
            <a:r>
              <a:rPr sz="1000" dirty="0">
                <a:latin typeface="KoPub돋움체 Medium"/>
              </a:rPr>
              <a:t>: </a:t>
            </a:r>
            <a:r>
              <a:rPr sz="1000" dirty="0" err="1">
                <a:latin typeface="KoPub돋움체 Medium"/>
              </a:rPr>
              <a:t>가용성은</a:t>
            </a:r>
            <a:r>
              <a:rPr sz="1000" dirty="0">
                <a:latin typeface="KoPub돋움체 Medium"/>
              </a:rPr>
              <a:t> </a:t>
            </a:r>
            <a:r>
              <a:rPr sz="1000" dirty="0" err="1">
                <a:latin typeface="KoPub돋움체 Medium"/>
              </a:rPr>
              <a:t>로컬</a:t>
            </a:r>
            <a:r>
              <a:rPr sz="1000" dirty="0">
                <a:latin typeface="KoPub돋움체 Medium"/>
              </a:rPr>
              <a:t> </a:t>
            </a:r>
            <a:r>
              <a:rPr sz="1000" dirty="0" err="1">
                <a:latin typeface="KoPub돋움체 Medium"/>
              </a:rPr>
              <a:t>방어</a:t>
            </a:r>
            <a:r>
              <a:rPr sz="1000" dirty="0">
                <a:latin typeface="KoPub돋움체 Medium"/>
              </a:rPr>
              <a:t>(429), </a:t>
            </a:r>
            <a:r>
              <a:rPr sz="1000" dirty="0" err="1">
                <a:latin typeface="KoPub돋움체 Medium"/>
              </a:rPr>
              <a:t>보안은</a:t>
            </a:r>
            <a:r>
              <a:rPr sz="1000" dirty="0">
                <a:latin typeface="KoPub돋움체 Medium"/>
              </a:rPr>
              <a:t> </a:t>
            </a:r>
            <a:r>
              <a:rPr sz="1000" dirty="0" err="1">
                <a:latin typeface="KoPub돋움체 Medium"/>
              </a:rPr>
              <a:t>안전</a:t>
            </a:r>
            <a:r>
              <a:rPr sz="1000" dirty="0">
                <a:latin typeface="KoPub돋움체 Medium"/>
              </a:rPr>
              <a:t> </a:t>
            </a:r>
            <a:r>
              <a:rPr sz="1000" dirty="0" err="1">
                <a:latin typeface="KoPub돋움체 Medium"/>
              </a:rPr>
              <a:t>차단</a:t>
            </a:r>
            <a:r>
              <a:rPr sz="1000" dirty="0">
                <a:latin typeface="KoPub돋움체 Medium"/>
              </a:rPr>
              <a:t>(503)</a:t>
            </a:r>
            <a:r>
              <a:rPr sz="1000" dirty="0" err="1">
                <a:latin typeface="KoPub돋움체 Medium"/>
              </a:rPr>
              <a:t>으로</a:t>
            </a:r>
            <a:r>
              <a:rPr sz="1000" dirty="0">
                <a:latin typeface="KoPub돋움체 Medium"/>
              </a:rPr>
              <a:t> </a:t>
            </a:r>
            <a:r>
              <a:rPr sz="1000" dirty="0" err="1">
                <a:latin typeface="KoPub돋움체 Medium"/>
              </a:rPr>
              <a:t>오인가</a:t>
            </a:r>
            <a:r>
              <a:rPr sz="1000" dirty="0">
                <a:latin typeface="KoPub돋움체 Medium"/>
              </a:rPr>
              <a:t> 및 </a:t>
            </a:r>
            <a:r>
              <a:rPr sz="1000" dirty="0" err="1">
                <a:latin typeface="KoPub돋움체 Medium"/>
              </a:rPr>
              <a:t>데이터</a:t>
            </a:r>
            <a:r>
              <a:rPr sz="1000" dirty="0">
                <a:latin typeface="KoPub돋움체 Medium"/>
              </a:rPr>
              <a:t> </a:t>
            </a:r>
            <a:r>
              <a:rPr sz="1000" dirty="0" err="1">
                <a:latin typeface="KoPub돋움체 Medium"/>
              </a:rPr>
              <a:t>오염</a:t>
            </a:r>
            <a:r>
              <a:rPr sz="1000" dirty="0">
                <a:latin typeface="KoPub돋움체 Medium"/>
              </a:rPr>
              <a:t> 0건 </a:t>
            </a:r>
            <a:r>
              <a:rPr sz="1000" dirty="0" err="1">
                <a:latin typeface="KoPub돋움체 Medium"/>
              </a:rPr>
              <a:t>달성</a:t>
            </a:r>
            <a:endParaRPr sz="1000" dirty="0">
              <a:latin typeface="KoPub돋움체 Medium"/>
            </a:endParaRPr>
          </a:p>
        </p:txBody>
      </p:sp>
      <p:sp>
        <p:nvSpPr>
          <p:cNvPr id="18" name="Rounded Rectangle 17"/>
          <p:cNvSpPr/>
          <p:nvPr/>
        </p:nvSpPr>
        <p:spPr>
          <a:xfrm>
            <a:off x="356760" y="6048000"/>
            <a:ext cx="9198720" cy="342000"/>
          </a:xfrm>
          <a:prstGeom prst="roundRect">
            <a:avLst/>
          </a:prstGeom>
          <a:solidFill>
            <a:srgbClr val="F1F1F1"/>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047557" y="6142056"/>
            <a:ext cx="5810886" cy="153888"/>
          </a:xfrm>
          <a:prstGeom prst="rect">
            <a:avLst/>
          </a:prstGeom>
          <a:noFill/>
        </p:spPr>
        <p:txBody>
          <a:bodyPr wrap="none" lIns="0" tIns="0" rIns="0" bIns="0" anchor="ctr">
            <a:spAutoFit/>
          </a:bodyPr>
          <a:lstStyle/>
          <a:p>
            <a:pPr>
              <a:defRPr sz="900" b="1">
                <a:solidFill>
                  <a:srgbClr val="0F172A"/>
                </a:solidFill>
                <a:latin typeface="KoPub돋움체 Bold"/>
              </a:defRPr>
            </a:pPr>
            <a:r>
              <a:rPr sz="1000" dirty="0">
                <a:latin typeface="KoPub돋움체 Bold"/>
              </a:rPr>
              <a:t>[requests (20) == </a:t>
            </a:r>
            <a:r>
              <a:rPr sz="1000" dirty="0" err="1">
                <a:latin typeface="KoPub돋움체 Bold"/>
              </a:rPr>
              <a:t>rate_limited</a:t>
            </a:r>
            <a:r>
              <a:rPr sz="1000" dirty="0">
                <a:latin typeface="KoPub돋움체 Bold"/>
              </a:rPr>
              <a:t> (5) + </a:t>
            </a:r>
            <a:r>
              <a:rPr sz="1000" dirty="0" err="1">
                <a:latin typeface="KoPub돋움체 Bold"/>
              </a:rPr>
              <a:t>redis_outage_blocked</a:t>
            </a:r>
            <a:r>
              <a:rPr sz="1000" dirty="0">
                <a:latin typeface="KoPub돋움체 Bold"/>
              </a:rPr>
              <a:t> (15) (Redis </a:t>
            </a:r>
            <a:r>
              <a:rPr sz="1000" dirty="0" err="1">
                <a:latin typeface="KoPub돋움체 Bold"/>
              </a:rPr>
              <a:t>마비</a:t>
            </a:r>
            <a:r>
              <a:rPr sz="1000" dirty="0">
                <a:latin typeface="KoPub돋움체 Bold"/>
              </a:rPr>
              <a:t> </a:t>
            </a:r>
            <a:r>
              <a:rPr sz="1000" dirty="0" err="1">
                <a:latin typeface="KoPub돋움체 Bold"/>
              </a:rPr>
              <a:t>시에도</a:t>
            </a:r>
            <a:r>
              <a:rPr sz="1000" dirty="0">
                <a:latin typeface="KoPub돋움체 Bold"/>
              </a:rPr>
              <a:t> 20건 </a:t>
            </a:r>
            <a:r>
              <a:rPr sz="1000" dirty="0" err="1">
                <a:latin typeface="KoPub돋움체 Bold"/>
              </a:rPr>
              <a:t>전원</a:t>
            </a:r>
            <a:r>
              <a:rPr sz="1000" dirty="0">
                <a:latin typeface="KoPub돋움체 Bold"/>
              </a:rPr>
              <a:t> 100% </a:t>
            </a:r>
            <a:r>
              <a:rPr sz="1000" dirty="0" err="1">
                <a:latin typeface="KoPub돋움체 Bold"/>
              </a:rPr>
              <a:t>분류</a:t>
            </a:r>
            <a:r>
              <a:rPr sz="1000" dirty="0">
                <a:latin typeface="KoPub돋움체 Bold"/>
              </a:rPr>
              <a:t>)</a:t>
            </a:r>
          </a:p>
        </p:txBody>
      </p:sp>
      <p:sp>
        <p:nvSpPr>
          <p:cNvPr id="21" name="TextBox 20"/>
          <p:cNvSpPr txBox="1"/>
          <p:nvPr/>
        </p:nvSpPr>
        <p:spPr>
          <a:xfrm>
            <a:off x="8723520" y="6537960"/>
            <a:ext cx="831960" cy="246960"/>
          </a:xfrm>
          <a:prstGeom prst="rect">
            <a:avLst/>
          </a:prstGeom>
          <a:noFill/>
        </p:spPr>
        <p:txBody>
          <a:bodyPr wrap="none" lIns="0" tIns="0" rIns="0" bIns="0">
            <a:spAutoFit/>
          </a:bodyPr>
          <a:lstStyle/>
          <a:p>
            <a:pPr algn="r">
              <a:defRPr sz="1000" b="1">
                <a:solidFill>
                  <a:srgbClr val="6B7280"/>
                </a:solidFill>
                <a:latin typeface="KoPub돋움체 Bold"/>
              </a:defRPr>
            </a:pPr>
            <a:r>
              <a:rPr>
                <a:latin typeface="KoPub돋움체 Bold"/>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9FAFD"/>
        </a:solidFill>
        <a:effectLst/>
      </p:bgPr>
    </p:bg>
    <p:spTree>
      <p:nvGrpSpPr>
        <p:cNvPr id="1" name=""/>
        <p:cNvGrpSpPr/>
        <p:nvPr/>
      </p:nvGrpSpPr>
      <p:grpSpPr>
        <a:xfrm>
          <a:off x="0" y="0"/>
          <a:ext cx="0" cy="0"/>
          <a:chOff x="0" y="0"/>
          <a:chExt cx="0" cy="0"/>
        </a:xfrm>
      </p:grpSpPr>
      <p:sp>
        <p:nvSpPr>
          <p:cNvPr id="2" name="Rounded Rectangle 1"/>
          <p:cNvSpPr/>
          <p:nvPr/>
        </p:nvSpPr>
        <p:spPr>
          <a:xfrm>
            <a:off x="356760" y="292680"/>
            <a:ext cx="9198720" cy="493920"/>
          </a:xfrm>
          <a:prstGeom prst="roundRect">
            <a:avLst/>
          </a:prstGeom>
          <a:solidFill>
            <a:srgbClr val="0E306D"/>
          </a:solidFill>
          <a:ln w="12700">
            <a:solidFill>
              <a:srgbClr val="0E30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80"/>
            <a:ext cx="8778240" cy="493920"/>
          </a:xfrm>
          <a:prstGeom prst="rect">
            <a:avLst/>
          </a:prstGeom>
          <a:noFill/>
        </p:spPr>
        <p:txBody>
          <a:bodyPr wrap="square" lIns="0" tIns="0" rIns="0" bIns="0" anchor="ctr">
            <a:spAutoFit/>
          </a:bodyPr>
          <a:lstStyle/>
          <a:p>
            <a:pPr>
              <a:defRPr sz="2000" b="1">
                <a:solidFill>
                  <a:srgbClr val="FFFFFF"/>
                </a:solidFill>
                <a:latin typeface="KoPub돋움체 Bold"/>
              </a:defRPr>
            </a:pPr>
            <a:r>
              <a:rPr>
                <a:latin typeface="KoPub돋움체 Bold"/>
              </a:rPr>
              <a:t>03. 네트워크 파티션 격리와 Redis Streams 3단계 시간축 복구 흐름도</a:t>
            </a:r>
          </a:p>
        </p:txBody>
      </p:sp>
      <p:sp>
        <p:nvSpPr>
          <p:cNvPr id="4" name="Rounded Rectangle 3"/>
          <p:cNvSpPr/>
          <p:nvPr/>
        </p:nvSpPr>
        <p:spPr>
          <a:xfrm>
            <a:off x="356760" y="914400"/>
            <a:ext cx="9198720" cy="347400"/>
          </a:xfrm>
          <a:prstGeom prst="roundRect">
            <a:avLst/>
          </a:prstGeom>
          <a:solidFill>
            <a:srgbClr val="F1F1F1"/>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011156"/>
            <a:ext cx="9052560" cy="153888"/>
          </a:xfrm>
          <a:prstGeom prst="rect">
            <a:avLst/>
          </a:prstGeom>
          <a:noFill/>
        </p:spPr>
        <p:txBody>
          <a:bodyPr wrap="square" lIns="0" tIns="0" rIns="0" bIns="0" anchor="ctr">
            <a:spAutoFit/>
          </a:bodyPr>
          <a:lstStyle/>
          <a:p>
            <a:pPr>
              <a:defRPr sz="1050" b="1">
                <a:solidFill>
                  <a:srgbClr val="0E306D"/>
                </a:solidFill>
                <a:latin typeface="KoPub돋움체 Bold"/>
              </a:defRPr>
            </a:pPr>
            <a:r>
              <a:rPr sz="1000" dirty="0" err="1">
                <a:latin typeface="KoPub돋움체 Bold"/>
              </a:rPr>
              <a:t>고립</a:t>
            </a:r>
            <a:r>
              <a:rPr sz="1000" dirty="0">
                <a:latin typeface="KoPub돋움체 Bold"/>
              </a:rPr>
              <a:t> </a:t>
            </a:r>
            <a:r>
              <a:rPr sz="1000" dirty="0" err="1">
                <a:latin typeface="KoPub돋움체 Bold"/>
              </a:rPr>
              <a:t>감지</a:t>
            </a:r>
            <a:r>
              <a:rPr sz="1000" dirty="0">
                <a:latin typeface="KoPub돋움체 Bold"/>
              </a:rPr>
              <a:t> </a:t>
            </a:r>
            <a:r>
              <a:rPr sz="1000" dirty="0" err="1">
                <a:latin typeface="KoPub돋움체 Bold"/>
              </a:rPr>
              <a:t>즉시</a:t>
            </a:r>
            <a:r>
              <a:rPr sz="1000" dirty="0">
                <a:latin typeface="KoPub돋움체 Bold"/>
              </a:rPr>
              <a:t> 503 </a:t>
            </a:r>
            <a:r>
              <a:rPr sz="1000" dirty="0" err="1">
                <a:latin typeface="KoPub돋움체 Bold"/>
              </a:rPr>
              <a:t>격리로</a:t>
            </a:r>
            <a:r>
              <a:rPr sz="1000" dirty="0">
                <a:latin typeface="KoPub돋움체 Bold"/>
              </a:rPr>
              <a:t> </a:t>
            </a:r>
            <a:r>
              <a:rPr sz="1000" dirty="0" err="1">
                <a:latin typeface="KoPub돋움체 Bold"/>
              </a:rPr>
              <a:t>스플릿</a:t>
            </a:r>
            <a:r>
              <a:rPr sz="1000" dirty="0">
                <a:latin typeface="KoPub돋움체 Bold"/>
              </a:rPr>
              <a:t> </a:t>
            </a:r>
            <a:r>
              <a:rPr sz="1000" dirty="0" err="1">
                <a:latin typeface="KoPub돋움체 Bold"/>
              </a:rPr>
              <a:t>브레인을</a:t>
            </a:r>
            <a:r>
              <a:rPr sz="1000" dirty="0">
                <a:latin typeface="KoPub돋움체 Bold"/>
              </a:rPr>
              <a:t> </a:t>
            </a:r>
            <a:r>
              <a:rPr sz="1000" dirty="0" err="1">
                <a:latin typeface="KoPub돋움체 Bold"/>
              </a:rPr>
              <a:t>방지하고</a:t>
            </a:r>
            <a:r>
              <a:rPr sz="1000" dirty="0">
                <a:latin typeface="KoPub돋움체 Bold"/>
              </a:rPr>
              <a:t>, </a:t>
            </a:r>
            <a:r>
              <a:rPr sz="1000" dirty="0" err="1">
                <a:latin typeface="KoPub돋움체 Bold"/>
              </a:rPr>
              <a:t>통신</a:t>
            </a:r>
            <a:r>
              <a:rPr sz="1000" dirty="0">
                <a:latin typeface="KoPub돋움체 Bold"/>
              </a:rPr>
              <a:t> </a:t>
            </a:r>
            <a:r>
              <a:rPr sz="1000" dirty="0" err="1">
                <a:latin typeface="KoPub돋움체 Bold"/>
              </a:rPr>
              <a:t>복구</a:t>
            </a:r>
            <a:r>
              <a:rPr sz="1000" dirty="0">
                <a:latin typeface="KoPub돋움체 Bold"/>
              </a:rPr>
              <a:t> </a:t>
            </a:r>
            <a:r>
              <a:rPr sz="1000" dirty="0" err="1">
                <a:latin typeface="KoPub돋움체 Bold"/>
              </a:rPr>
              <a:t>즉시</a:t>
            </a:r>
            <a:r>
              <a:rPr sz="1000" dirty="0">
                <a:latin typeface="KoPub돋움체 Bold"/>
              </a:rPr>
              <a:t> PEL </a:t>
            </a:r>
            <a:r>
              <a:rPr sz="1000" dirty="0" err="1">
                <a:latin typeface="KoPub돋움체 Bold"/>
              </a:rPr>
              <a:t>완독을</a:t>
            </a:r>
            <a:r>
              <a:rPr sz="1000" dirty="0">
                <a:latin typeface="KoPub돋움체 Bold"/>
              </a:rPr>
              <a:t> </a:t>
            </a:r>
            <a:r>
              <a:rPr sz="1000" dirty="0" err="1">
                <a:latin typeface="KoPub돋움체 Bold"/>
              </a:rPr>
              <a:t>통해</a:t>
            </a:r>
            <a:r>
              <a:rPr sz="1000" dirty="0">
                <a:latin typeface="KoPub돋움체 Bold"/>
              </a:rPr>
              <a:t> </a:t>
            </a:r>
            <a:r>
              <a:rPr sz="1000" dirty="0" err="1">
                <a:latin typeface="KoPub돋움체 Bold"/>
              </a:rPr>
              <a:t>정합성</a:t>
            </a:r>
            <a:r>
              <a:rPr sz="1000" dirty="0">
                <a:latin typeface="KoPub돋움체 Bold"/>
              </a:rPr>
              <a:t> 100% </a:t>
            </a:r>
            <a:r>
              <a:rPr sz="1000" dirty="0" err="1">
                <a:latin typeface="KoPub돋움체 Bold"/>
              </a:rPr>
              <a:t>회복</a:t>
            </a:r>
            <a:endParaRPr sz="1000" dirty="0">
              <a:latin typeface="KoPub돋움체 Bold"/>
            </a:endParaRPr>
          </a:p>
        </p:txBody>
      </p:sp>
      <p:sp>
        <p:nvSpPr>
          <p:cNvPr id="6" name="Rounded Rectangle 5"/>
          <p:cNvSpPr/>
          <p:nvPr/>
        </p:nvSpPr>
        <p:spPr>
          <a:xfrm>
            <a:off x="356760" y="1350000"/>
            <a:ext cx="2926080" cy="2340000"/>
          </a:xfrm>
          <a:prstGeom prst="roundRect">
            <a:avLst>
              <a:gd name="adj" fmla="val 6898"/>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64760" y="1458000"/>
            <a:ext cx="2710080" cy="468000"/>
          </a:xfrm>
          <a:prstGeom prst="roundRect">
            <a:avLst/>
          </a:prstGeom>
          <a:solidFill>
            <a:srgbClr val="E3F3F2"/>
          </a:solidFill>
          <a:ln>
            <a:solidFill>
              <a:srgbClr val="A7F3D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00" b="1">
                <a:solidFill>
                  <a:srgbClr val="009A93"/>
                </a:solidFill>
                <a:latin typeface="KoPub돋움체 Bold"/>
              </a:defRPr>
            </a:pPr>
            <a:r>
              <a:rPr sz="1000" dirty="0">
                <a:latin typeface="KoPub돋움체 Bold"/>
              </a:rPr>
              <a:t>Phase 1: </a:t>
            </a:r>
            <a:r>
              <a:rPr sz="1000" dirty="0" err="1">
                <a:latin typeface="KoPub돋움체 Bold"/>
              </a:rPr>
              <a:t>정상</a:t>
            </a:r>
            <a:r>
              <a:rPr sz="1000" dirty="0">
                <a:latin typeface="KoPub돋움체 Bold"/>
              </a:rPr>
              <a:t> </a:t>
            </a:r>
            <a:r>
              <a:rPr sz="1000" dirty="0" err="1">
                <a:latin typeface="KoPub돋움체 Bold"/>
              </a:rPr>
              <a:t>운영</a:t>
            </a:r>
            <a:r>
              <a:rPr sz="1000" dirty="0">
                <a:latin typeface="KoPub돋움체 Bold"/>
              </a:rPr>
              <a:t> </a:t>
            </a:r>
            <a:r>
              <a:rPr sz="1000" dirty="0" err="1">
                <a:latin typeface="KoPub돋움체 Bold"/>
              </a:rPr>
              <a:t>단계</a:t>
            </a:r>
            <a:r>
              <a:rPr sz="1000" dirty="0">
                <a:latin typeface="KoPub돋움체 Bold"/>
              </a:rPr>
              <a:t> (0.0s ~ 10.0s)</a:t>
            </a:r>
          </a:p>
          <a:p>
            <a:pPr algn="ctr">
              <a:defRPr sz="750" b="1">
                <a:solidFill>
                  <a:srgbClr val="0F172A"/>
                </a:solidFill>
                <a:latin typeface="KoPub돋움체 Bold"/>
              </a:defRPr>
            </a:pPr>
            <a:r>
              <a:rPr sz="1000" dirty="0" err="1">
                <a:latin typeface="KoPub돋움체 Bold"/>
              </a:rPr>
              <a:t>처리량</a:t>
            </a:r>
            <a:r>
              <a:rPr sz="1000" dirty="0">
                <a:latin typeface="KoPub돋움체 Bold"/>
              </a:rPr>
              <a:t>: 100% </a:t>
            </a:r>
            <a:r>
              <a:rPr sz="1000" dirty="0" err="1">
                <a:latin typeface="KoPub돋움체 Bold"/>
              </a:rPr>
              <a:t>정상</a:t>
            </a:r>
            <a:r>
              <a:rPr sz="1000" dirty="0">
                <a:latin typeface="KoPub돋움체 Bold"/>
              </a:rPr>
              <a:t> </a:t>
            </a:r>
            <a:r>
              <a:rPr sz="1000" dirty="0" err="1">
                <a:latin typeface="KoPub돋움체 Bold"/>
              </a:rPr>
              <a:t>수락</a:t>
            </a:r>
            <a:r>
              <a:rPr sz="1000" dirty="0">
                <a:latin typeface="KoPub돋움체 Bold"/>
              </a:rPr>
              <a:t> | </a:t>
            </a:r>
            <a:r>
              <a:rPr sz="1000" dirty="0" err="1">
                <a:latin typeface="KoPub돋움체 Bold"/>
              </a:rPr>
              <a:t>에러율</a:t>
            </a:r>
            <a:r>
              <a:rPr sz="1000" dirty="0">
                <a:latin typeface="KoPub돋움체 Bold"/>
              </a:rPr>
              <a:t>: 0.00%</a:t>
            </a:r>
          </a:p>
        </p:txBody>
      </p:sp>
      <p:sp>
        <p:nvSpPr>
          <p:cNvPr id="8" name="TextBox 7"/>
          <p:cNvSpPr txBox="1"/>
          <p:nvPr/>
        </p:nvSpPr>
        <p:spPr>
          <a:xfrm>
            <a:off x="482760" y="2022335"/>
            <a:ext cx="2674080" cy="1439177"/>
          </a:xfrm>
          <a:prstGeom prst="rect">
            <a:avLst/>
          </a:prstGeom>
          <a:noFill/>
        </p:spPr>
        <p:txBody>
          <a:bodyPr wrap="square" lIns="0" tIns="0" rIns="0" bIns="0">
            <a:spAutoFit/>
          </a:bodyPr>
          <a:lstStyle/>
          <a:p>
            <a:pPr>
              <a:lnSpc>
                <a:spcPct val="150000"/>
              </a:lnSpc>
              <a:defRPr sz="780">
                <a:solidFill>
                  <a:srgbClr val="0F172A"/>
                </a:solidFill>
                <a:latin typeface="KoPub돋움체 Medium"/>
              </a:defRPr>
            </a:pPr>
            <a:r>
              <a:rPr sz="1000" dirty="0">
                <a:latin typeface="KoPub돋움체 Medium"/>
              </a:rPr>
              <a:t>•  [</a:t>
            </a:r>
            <a:r>
              <a:rPr sz="1000" dirty="0" err="1">
                <a:latin typeface="KoPub돋움체 Medium"/>
              </a:rPr>
              <a:t>실시간</a:t>
            </a:r>
            <a:r>
              <a:rPr sz="1000" dirty="0">
                <a:latin typeface="KoPub돋움체 Medium"/>
              </a:rPr>
              <a:t> </a:t>
            </a:r>
            <a:r>
              <a:rPr sz="1000" dirty="0" err="1">
                <a:latin typeface="KoPub돋움체 Medium"/>
              </a:rPr>
              <a:t>인가</a:t>
            </a:r>
            <a:r>
              <a:rPr sz="1000" dirty="0">
                <a:latin typeface="KoPub돋움체 Medium"/>
              </a:rPr>
              <a:t> </a:t>
            </a:r>
            <a:r>
              <a:rPr sz="1000" dirty="0" err="1">
                <a:latin typeface="KoPub돋움체 Medium"/>
              </a:rPr>
              <a:t>처리</a:t>
            </a:r>
            <a:r>
              <a:rPr sz="1000" dirty="0">
                <a:latin typeface="KoPub돋움체 Medium"/>
              </a:rPr>
              <a:t>] </a:t>
            </a:r>
            <a:r>
              <a:rPr sz="1000" dirty="0" err="1">
                <a:latin typeface="KoPub돋움체 Medium"/>
              </a:rPr>
              <a:t>mTLS</a:t>
            </a:r>
            <a:r>
              <a:rPr sz="1000" dirty="0">
                <a:latin typeface="KoPub돋움체 Medium"/>
              </a:rPr>
              <a:t>, Nonce, </a:t>
            </a:r>
            <a:r>
              <a:rPr sz="1000" dirty="0" err="1">
                <a:latin typeface="KoPub돋움체 Medium"/>
              </a:rPr>
              <a:t>유량제어</a:t>
            </a:r>
            <a:r>
              <a:rPr sz="1000" dirty="0">
                <a:latin typeface="KoPub돋움체 Medium"/>
              </a:rPr>
              <a:t>, </a:t>
            </a:r>
            <a:r>
              <a:rPr sz="1000" dirty="0" err="1">
                <a:latin typeface="KoPub돋움체 Medium"/>
              </a:rPr>
              <a:t>캐시</a:t>
            </a:r>
            <a:r>
              <a:rPr sz="1000" dirty="0">
                <a:latin typeface="KoPub돋움체 Medium"/>
              </a:rPr>
              <a:t> </a:t>
            </a:r>
            <a:r>
              <a:rPr sz="1000" dirty="0" err="1">
                <a:latin typeface="KoPub돋움체 Medium"/>
              </a:rPr>
              <a:t>정상</a:t>
            </a:r>
            <a:r>
              <a:rPr sz="1000" dirty="0">
                <a:latin typeface="KoPub돋움체 Medium"/>
              </a:rPr>
              <a:t> </a:t>
            </a:r>
            <a:r>
              <a:rPr sz="1000" dirty="0" err="1">
                <a:latin typeface="KoPub돋움체 Medium"/>
              </a:rPr>
              <a:t>파이프라인</a:t>
            </a:r>
            <a:r>
              <a:rPr sz="1000" dirty="0">
                <a:latin typeface="KoPub돋움체 Medium"/>
              </a:rPr>
              <a:t> </a:t>
            </a:r>
            <a:r>
              <a:rPr sz="1000" dirty="0" err="1">
                <a:latin typeface="KoPub돋움체 Medium"/>
              </a:rPr>
              <a:t>수행</a:t>
            </a:r>
            <a:endParaRPr sz="1000" dirty="0">
              <a:latin typeface="KoPub돋움체 Medium"/>
            </a:endParaRPr>
          </a:p>
          <a:p>
            <a:pPr>
              <a:lnSpc>
                <a:spcPct val="150000"/>
              </a:lnSpc>
              <a:spcBef>
                <a:spcPts val="250"/>
              </a:spcBef>
              <a:defRPr sz="780">
                <a:solidFill>
                  <a:srgbClr val="0F172A"/>
                </a:solidFill>
                <a:latin typeface="KoPub돋움체 Medium"/>
              </a:defRPr>
            </a:pPr>
            <a:r>
              <a:rPr sz="1000" dirty="0">
                <a:latin typeface="KoPub돋움체 Medium"/>
              </a:rPr>
              <a:t>•  [</a:t>
            </a:r>
            <a:r>
              <a:rPr sz="1000" dirty="0" err="1">
                <a:latin typeface="KoPub돋움체 Medium"/>
              </a:rPr>
              <a:t>스트림</a:t>
            </a:r>
            <a:r>
              <a:rPr sz="1000" dirty="0">
                <a:latin typeface="KoPub돋움체 Medium"/>
              </a:rPr>
              <a:t> </a:t>
            </a:r>
            <a:r>
              <a:rPr sz="1000" dirty="0" err="1">
                <a:latin typeface="KoPub돋움체 Medium"/>
              </a:rPr>
              <a:t>무효화</a:t>
            </a:r>
            <a:r>
              <a:rPr sz="1000" dirty="0">
                <a:latin typeface="KoPub돋움체 Medium"/>
              </a:rPr>
              <a:t> </a:t>
            </a:r>
            <a:r>
              <a:rPr sz="1000" dirty="0" err="1">
                <a:latin typeface="KoPub돋움체 Medium"/>
              </a:rPr>
              <a:t>반영</a:t>
            </a:r>
            <a:r>
              <a:rPr sz="1000" dirty="0">
                <a:latin typeface="KoPub돋움체 Medium"/>
              </a:rPr>
              <a:t>] </a:t>
            </a:r>
            <a:r>
              <a:rPr sz="1000" dirty="0" err="1">
                <a:latin typeface="KoPub돋움체 Medium"/>
              </a:rPr>
              <a:t>중앙</a:t>
            </a:r>
            <a:r>
              <a:rPr sz="1000" dirty="0">
                <a:latin typeface="KoPub돋움체 Medium"/>
              </a:rPr>
              <a:t> Redis </a:t>
            </a:r>
            <a:r>
              <a:rPr sz="1000" dirty="0" err="1">
                <a:latin typeface="KoPub돋움체 Medium"/>
              </a:rPr>
              <a:t>Streams의</a:t>
            </a:r>
            <a:r>
              <a:rPr sz="1000" dirty="0">
                <a:latin typeface="KoPub돋움체 Medium"/>
              </a:rPr>
              <a:t> </a:t>
            </a:r>
            <a:r>
              <a:rPr sz="1000" dirty="0" err="1">
                <a:latin typeface="KoPub돋움체 Medium"/>
              </a:rPr>
              <a:t>정책</a:t>
            </a:r>
            <a:r>
              <a:rPr sz="1000" dirty="0">
                <a:latin typeface="KoPub돋움체 Medium"/>
              </a:rPr>
              <a:t> </a:t>
            </a:r>
            <a:r>
              <a:rPr sz="1000" dirty="0" err="1">
                <a:latin typeface="KoPub돋움체 Medium"/>
              </a:rPr>
              <a:t>무효화</a:t>
            </a:r>
            <a:r>
              <a:rPr sz="1000" dirty="0">
                <a:latin typeface="KoPub돋움체 Medium"/>
              </a:rPr>
              <a:t> </a:t>
            </a:r>
            <a:r>
              <a:rPr sz="1000" dirty="0" err="1">
                <a:latin typeface="KoPub돋움체 Medium"/>
              </a:rPr>
              <a:t>이벤트를</a:t>
            </a:r>
            <a:r>
              <a:rPr sz="1000" dirty="0">
                <a:latin typeface="KoPub돋움체 Medium"/>
              </a:rPr>
              <a:t> </a:t>
            </a:r>
            <a:r>
              <a:rPr sz="1000" dirty="0" err="1">
                <a:latin typeface="KoPub돋움체 Medium"/>
              </a:rPr>
              <a:t>실시간</a:t>
            </a:r>
            <a:r>
              <a:rPr sz="1000" dirty="0">
                <a:latin typeface="KoPub돋움체 Medium"/>
              </a:rPr>
              <a:t> </a:t>
            </a:r>
            <a:r>
              <a:rPr sz="1000" dirty="0" err="1">
                <a:latin typeface="KoPub돋움체 Medium"/>
              </a:rPr>
              <a:t>수신</a:t>
            </a:r>
            <a:endParaRPr sz="1000" dirty="0">
              <a:latin typeface="KoPub돋움체 Medium"/>
            </a:endParaRPr>
          </a:p>
          <a:p>
            <a:pPr>
              <a:lnSpc>
                <a:spcPct val="150000"/>
              </a:lnSpc>
              <a:spcBef>
                <a:spcPts val="250"/>
              </a:spcBef>
              <a:defRPr sz="780">
                <a:solidFill>
                  <a:srgbClr val="0F172A"/>
                </a:solidFill>
                <a:latin typeface="KoPub돋움체 Medium"/>
              </a:defRPr>
            </a:pPr>
            <a:r>
              <a:rPr sz="1000" dirty="0">
                <a:latin typeface="KoPub돋움체 Medium"/>
              </a:rPr>
              <a:t>•  [</a:t>
            </a:r>
            <a:r>
              <a:rPr sz="1000" dirty="0" err="1">
                <a:latin typeface="KoPub돋움체 Medium"/>
              </a:rPr>
              <a:t>클러스터</a:t>
            </a:r>
            <a:r>
              <a:rPr sz="1000" dirty="0">
                <a:latin typeface="KoPub돋움체 Medium"/>
              </a:rPr>
              <a:t> </a:t>
            </a:r>
            <a:r>
              <a:rPr sz="1000" dirty="0" err="1">
                <a:latin typeface="KoPub돋움체 Medium"/>
              </a:rPr>
              <a:t>동기화</a:t>
            </a:r>
            <a:r>
              <a:rPr sz="1000" dirty="0">
                <a:latin typeface="KoPub돋움체 Medium"/>
              </a:rPr>
              <a:t>] 3개 </a:t>
            </a:r>
            <a:r>
              <a:rPr sz="1000" dirty="0" err="1">
                <a:latin typeface="KoPub돋움체 Medium"/>
              </a:rPr>
              <a:t>노드</a:t>
            </a:r>
            <a:r>
              <a:rPr sz="1000" dirty="0">
                <a:latin typeface="KoPub돋움체 Medium"/>
              </a:rPr>
              <a:t> </a:t>
            </a:r>
            <a:r>
              <a:rPr sz="1000" dirty="0" err="1">
                <a:latin typeface="KoPub돋움체 Medium"/>
              </a:rPr>
              <a:t>모두</a:t>
            </a:r>
            <a:r>
              <a:rPr sz="1000" dirty="0">
                <a:latin typeface="KoPub돋움체 Medium"/>
              </a:rPr>
              <a:t> </a:t>
            </a:r>
            <a:r>
              <a:rPr sz="1000" dirty="0" err="1">
                <a:latin typeface="KoPub돋움체 Medium"/>
              </a:rPr>
              <a:t>캐시</a:t>
            </a:r>
            <a:r>
              <a:rPr sz="1000" dirty="0">
                <a:latin typeface="KoPub돋움체 Medium"/>
              </a:rPr>
              <a:t> </a:t>
            </a:r>
            <a:r>
              <a:rPr sz="1000" dirty="0" err="1">
                <a:latin typeface="KoPub돋움체 Medium"/>
              </a:rPr>
              <a:t>정합성</a:t>
            </a:r>
            <a:r>
              <a:rPr sz="1000" dirty="0">
                <a:latin typeface="KoPub돋움체 Medium"/>
              </a:rPr>
              <a:t> 100% </a:t>
            </a:r>
            <a:r>
              <a:rPr sz="1000" dirty="0" err="1">
                <a:latin typeface="KoPub돋움체 Medium"/>
              </a:rPr>
              <a:t>유지</a:t>
            </a:r>
            <a:r>
              <a:rPr sz="1000" dirty="0">
                <a:latin typeface="KoPub돋움체 Medium"/>
              </a:rPr>
              <a:t> (</a:t>
            </a:r>
            <a:r>
              <a:rPr sz="1000" dirty="0" err="1">
                <a:latin typeface="KoPub돋움체 Medium"/>
              </a:rPr>
              <a:t>지연</a:t>
            </a:r>
            <a:r>
              <a:rPr sz="1000" dirty="0">
                <a:latin typeface="KoPub돋움체 Medium"/>
              </a:rPr>
              <a:t> &lt; 1ms)</a:t>
            </a:r>
          </a:p>
        </p:txBody>
      </p:sp>
      <p:sp>
        <p:nvSpPr>
          <p:cNvPr id="9" name="Rounded Rectangle 8"/>
          <p:cNvSpPr/>
          <p:nvPr/>
        </p:nvSpPr>
        <p:spPr>
          <a:xfrm>
            <a:off x="3441385" y="1350000"/>
            <a:ext cx="3019319" cy="2340000"/>
          </a:xfrm>
          <a:prstGeom prst="roundRect">
            <a:avLst>
              <a:gd name="adj" fmla="val 6536"/>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591720" y="1458000"/>
            <a:ext cx="2818080" cy="468000"/>
          </a:xfrm>
          <a:prstGeom prst="roundRect">
            <a:avLst/>
          </a:prstGeom>
          <a:solidFill>
            <a:srgbClr val="FEF2F2"/>
          </a:solidFill>
          <a:ln>
            <a:solidFill>
              <a:srgbClr val="FECDD3"/>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00" b="1">
                <a:solidFill>
                  <a:srgbClr val="B91C1C"/>
                </a:solidFill>
                <a:latin typeface="KoPub돋움체 Bold"/>
              </a:defRPr>
            </a:pPr>
            <a:r>
              <a:rPr sz="1000" dirty="0">
                <a:latin typeface="KoPub돋움체 Bold"/>
              </a:rPr>
              <a:t>Phase 2: </a:t>
            </a:r>
            <a:r>
              <a:rPr sz="1000" dirty="0" err="1">
                <a:latin typeface="KoPub돋움체 Bold"/>
              </a:rPr>
              <a:t>단절</a:t>
            </a:r>
            <a:r>
              <a:rPr sz="1000" dirty="0">
                <a:latin typeface="KoPub돋움체 Bold"/>
              </a:rPr>
              <a:t> 및 </a:t>
            </a:r>
            <a:r>
              <a:rPr sz="1000" dirty="0" err="1">
                <a:latin typeface="KoPub돋움체 Bold"/>
              </a:rPr>
              <a:t>안전</a:t>
            </a:r>
            <a:r>
              <a:rPr sz="1000" dirty="0">
                <a:latin typeface="KoPub돋움체 Bold"/>
              </a:rPr>
              <a:t> </a:t>
            </a:r>
            <a:r>
              <a:rPr sz="1000" dirty="0" err="1">
                <a:latin typeface="KoPub돋움체 Bold"/>
              </a:rPr>
              <a:t>격리</a:t>
            </a:r>
            <a:r>
              <a:rPr sz="1000" dirty="0">
                <a:latin typeface="KoPub돋움체 Bold"/>
              </a:rPr>
              <a:t> (10.0s ~ 40.0s, 30초간)</a:t>
            </a:r>
          </a:p>
          <a:p>
            <a:pPr algn="ctr">
              <a:defRPr sz="750" b="1">
                <a:solidFill>
                  <a:srgbClr val="0F172A"/>
                </a:solidFill>
                <a:latin typeface="KoPub돋움체 Bold"/>
              </a:defRPr>
            </a:pPr>
            <a:r>
              <a:rPr sz="1000" dirty="0" err="1">
                <a:latin typeface="KoPub돋움체 Bold"/>
              </a:rPr>
              <a:t>처리량</a:t>
            </a:r>
            <a:r>
              <a:rPr sz="1000" dirty="0">
                <a:latin typeface="KoPub돋움체 Bold"/>
              </a:rPr>
              <a:t>: 0% (</a:t>
            </a:r>
            <a:r>
              <a:rPr sz="1000" dirty="0" err="1">
                <a:latin typeface="KoPub돋움체 Bold"/>
              </a:rPr>
              <a:t>안전</a:t>
            </a:r>
            <a:r>
              <a:rPr sz="1000" dirty="0">
                <a:latin typeface="KoPub돋움체 Bold"/>
              </a:rPr>
              <a:t> </a:t>
            </a:r>
            <a:r>
              <a:rPr sz="1000" dirty="0" err="1">
                <a:latin typeface="KoPub돋움체 Bold"/>
              </a:rPr>
              <a:t>차단</a:t>
            </a:r>
            <a:r>
              <a:rPr sz="1000" dirty="0">
                <a:latin typeface="KoPub돋움체 Bold"/>
              </a:rPr>
              <a:t>) | </a:t>
            </a:r>
            <a:r>
              <a:rPr sz="1000" dirty="0" err="1">
                <a:latin typeface="KoPub돋움체 Bold"/>
              </a:rPr>
              <a:t>에러율</a:t>
            </a:r>
            <a:r>
              <a:rPr sz="1000" dirty="0">
                <a:latin typeface="KoPub돋움체 Bold"/>
              </a:rPr>
              <a:t>: 100% 503</a:t>
            </a:r>
          </a:p>
        </p:txBody>
      </p:sp>
      <p:sp>
        <p:nvSpPr>
          <p:cNvPr id="11" name="TextBox 10"/>
          <p:cNvSpPr txBox="1"/>
          <p:nvPr/>
        </p:nvSpPr>
        <p:spPr>
          <a:xfrm>
            <a:off x="3609720" y="2022335"/>
            <a:ext cx="2674080" cy="1439177"/>
          </a:xfrm>
          <a:prstGeom prst="rect">
            <a:avLst/>
          </a:prstGeom>
          <a:noFill/>
        </p:spPr>
        <p:txBody>
          <a:bodyPr wrap="square" lIns="0" tIns="0" rIns="0" bIns="0">
            <a:spAutoFit/>
          </a:bodyPr>
          <a:lstStyle/>
          <a:p>
            <a:pPr>
              <a:lnSpc>
                <a:spcPct val="150000"/>
              </a:lnSpc>
              <a:defRPr sz="780">
                <a:solidFill>
                  <a:srgbClr val="0F172A"/>
                </a:solidFill>
                <a:latin typeface="KoPub돋움체 Medium"/>
              </a:defRPr>
            </a:pPr>
            <a:r>
              <a:rPr sz="1000" dirty="0">
                <a:latin typeface="KoPub돋움체 Medium"/>
              </a:rPr>
              <a:t>•  [</a:t>
            </a:r>
            <a:r>
              <a:rPr sz="1000" dirty="0" err="1">
                <a:latin typeface="KoPub돋움체 Medium"/>
              </a:rPr>
              <a:t>is_partitioned</a:t>
            </a:r>
            <a:r>
              <a:rPr sz="1000" dirty="0">
                <a:latin typeface="KoPub돋움체 Medium"/>
              </a:rPr>
              <a:t> </a:t>
            </a:r>
            <a:r>
              <a:rPr sz="1000" dirty="0" err="1">
                <a:latin typeface="KoPub돋움체 Medium"/>
              </a:rPr>
              <a:t>플래그</a:t>
            </a:r>
            <a:r>
              <a:rPr sz="1000" dirty="0">
                <a:latin typeface="KoPub돋움체 Medium"/>
              </a:rPr>
              <a:t>] </a:t>
            </a:r>
            <a:r>
              <a:rPr sz="1000" dirty="0" err="1">
                <a:latin typeface="KoPub돋움체 Medium"/>
              </a:rPr>
              <a:t>통신</a:t>
            </a:r>
            <a:r>
              <a:rPr sz="1000" dirty="0">
                <a:latin typeface="KoPub돋움체 Medium"/>
              </a:rPr>
              <a:t> </a:t>
            </a:r>
            <a:r>
              <a:rPr sz="1000" dirty="0" err="1">
                <a:latin typeface="KoPub돋움체 Medium"/>
              </a:rPr>
              <a:t>두절</a:t>
            </a:r>
            <a:r>
              <a:rPr sz="1000" dirty="0">
                <a:latin typeface="KoPub돋움체 Medium"/>
              </a:rPr>
              <a:t> </a:t>
            </a:r>
            <a:r>
              <a:rPr sz="1000" dirty="0" err="1">
                <a:latin typeface="KoPub돋움체 Medium"/>
              </a:rPr>
              <a:t>감지</a:t>
            </a:r>
            <a:r>
              <a:rPr sz="1000" dirty="0">
                <a:latin typeface="KoPub돋움체 Medium"/>
              </a:rPr>
              <a:t> </a:t>
            </a:r>
            <a:r>
              <a:rPr sz="1000" dirty="0" err="1">
                <a:latin typeface="KoPub돋움체 Medium"/>
              </a:rPr>
              <a:t>즉시</a:t>
            </a:r>
            <a:r>
              <a:rPr sz="1000" dirty="0">
                <a:latin typeface="KoPub돋움체 Medium"/>
              </a:rPr>
              <a:t> </a:t>
            </a:r>
            <a:r>
              <a:rPr sz="1000" dirty="0" err="1">
                <a:latin typeface="KoPub돋움체 Medium"/>
              </a:rPr>
              <a:t>노드</a:t>
            </a:r>
            <a:r>
              <a:rPr sz="1000" dirty="0">
                <a:latin typeface="KoPub돋움체 Medium"/>
              </a:rPr>
              <a:t> </a:t>
            </a:r>
            <a:r>
              <a:rPr sz="1000" dirty="0" err="1">
                <a:latin typeface="KoPub돋움체 Medium"/>
              </a:rPr>
              <a:t>고립</a:t>
            </a:r>
            <a:r>
              <a:rPr sz="1000" dirty="0">
                <a:latin typeface="KoPub돋움체 Medium"/>
              </a:rPr>
              <a:t> </a:t>
            </a:r>
            <a:r>
              <a:rPr sz="1000" dirty="0" err="1">
                <a:latin typeface="KoPub돋움체 Medium"/>
              </a:rPr>
              <a:t>상태</a:t>
            </a:r>
            <a:r>
              <a:rPr sz="1000" dirty="0">
                <a:latin typeface="KoPub돋움체 Medium"/>
              </a:rPr>
              <a:t> </a:t>
            </a:r>
            <a:r>
              <a:rPr sz="1000" dirty="0" err="1">
                <a:latin typeface="KoPub돋움체 Medium"/>
              </a:rPr>
              <a:t>원자적</a:t>
            </a:r>
            <a:r>
              <a:rPr sz="1000" dirty="0">
                <a:latin typeface="KoPub돋움체 Medium"/>
              </a:rPr>
              <a:t> </a:t>
            </a:r>
            <a:r>
              <a:rPr sz="1000" dirty="0" err="1">
                <a:latin typeface="KoPub돋움체 Medium"/>
              </a:rPr>
              <a:t>활성화</a:t>
            </a:r>
            <a:endParaRPr sz="1000" dirty="0">
              <a:latin typeface="KoPub돋움체 Medium"/>
            </a:endParaRPr>
          </a:p>
          <a:p>
            <a:pPr>
              <a:lnSpc>
                <a:spcPct val="150000"/>
              </a:lnSpc>
              <a:spcBef>
                <a:spcPts val="250"/>
              </a:spcBef>
              <a:defRPr sz="780">
                <a:solidFill>
                  <a:srgbClr val="0F172A"/>
                </a:solidFill>
                <a:latin typeface="KoPub돋움체 Medium"/>
              </a:defRPr>
            </a:pPr>
            <a:r>
              <a:rPr sz="1000" dirty="0">
                <a:latin typeface="KoPub돋움체 Medium"/>
              </a:rPr>
              <a:t>•  [503 Fail-Closed </a:t>
            </a:r>
            <a:r>
              <a:rPr sz="1000" dirty="0" err="1">
                <a:latin typeface="KoPub돋움체 Medium"/>
              </a:rPr>
              <a:t>격리</a:t>
            </a:r>
            <a:r>
              <a:rPr sz="1000" dirty="0">
                <a:latin typeface="KoPub돋움체 Medium"/>
              </a:rPr>
              <a:t>] </a:t>
            </a:r>
            <a:r>
              <a:rPr sz="1000" dirty="0" err="1">
                <a:latin typeface="KoPub돋움체 Medium"/>
              </a:rPr>
              <a:t>유입</a:t>
            </a:r>
            <a:r>
              <a:rPr sz="1000" dirty="0">
                <a:latin typeface="KoPub돋움체 Medium"/>
              </a:rPr>
              <a:t> </a:t>
            </a:r>
            <a:r>
              <a:rPr sz="1000" dirty="0" err="1">
                <a:latin typeface="KoPub돋움체 Medium"/>
              </a:rPr>
              <a:t>요청</a:t>
            </a:r>
            <a:r>
              <a:rPr sz="1000" dirty="0">
                <a:latin typeface="KoPub돋움체 Medium"/>
              </a:rPr>
              <a:t> </a:t>
            </a:r>
            <a:r>
              <a:rPr sz="1000" dirty="0" err="1">
                <a:latin typeface="KoPub돋움체 Medium"/>
              </a:rPr>
              <a:t>전량</a:t>
            </a:r>
            <a:r>
              <a:rPr sz="1000" dirty="0">
                <a:latin typeface="KoPub돋움체 Medium"/>
              </a:rPr>
              <a:t> 503 </a:t>
            </a:r>
            <a:r>
              <a:rPr sz="1000" dirty="0" err="1">
                <a:latin typeface="KoPub돋움체 Medium"/>
              </a:rPr>
              <a:t>반환</a:t>
            </a:r>
            <a:r>
              <a:rPr sz="1000" dirty="0">
                <a:latin typeface="KoPub돋움체 Medium"/>
              </a:rPr>
              <a:t> → </a:t>
            </a:r>
            <a:r>
              <a:rPr sz="1000" dirty="0" err="1">
                <a:latin typeface="KoPub돋움체 Medium"/>
              </a:rPr>
              <a:t>낡은</a:t>
            </a:r>
            <a:r>
              <a:rPr sz="1000" dirty="0">
                <a:latin typeface="KoPub돋움체 Medium"/>
              </a:rPr>
              <a:t> L1 </a:t>
            </a:r>
            <a:r>
              <a:rPr sz="1000" dirty="0" err="1">
                <a:latin typeface="KoPub돋움체 Medium"/>
              </a:rPr>
              <a:t>캐시</a:t>
            </a:r>
            <a:r>
              <a:rPr sz="1000" dirty="0">
                <a:latin typeface="KoPub돋움체 Medium"/>
              </a:rPr>
              <a:t> </a:t>
            </a:r>
            <a:r>
              <a:rPr sz="1000" dirty="0" err="1">
                <a:latin typeface="KoPub돋움체 Medium"/>
              </a:rPr>
              <a:t>오승인</a:t>
            </a:r>
            <a:r>
              <a:rPr sz="1000" dirty="0">
                <a:latin typeface="KoPub돋움체 Medium"/>
              </a:rPr>
              <a:t> </a:t>
            </a:r>
            <a:r>
              <a:rPr sz="1000" dirty="0" err="1">
                <a:latin typeface="KoPub돋움체 Medium"/>
              </a:rPr>
              <a:t>원천</a:t>
            </a:r>
            <a:r>
              <a:rPr sz="1000" dirty="0">
                <a:latin typeface="KoPub돋움체 Medium"/>
              </a:rPr>
              <a:t> </a:t>
            </a:r>
            <a:r>
              <a:rPr sz="1000" dirty="0" err="1">
                <a:latin typeface="KoPub돋움체 Medium"/>
              </a:rPr>
              <a:t>차단</a:t>
            </a:r>
            <a:endParaRPr sz="1000" dirty="0">
              <a:latin typeface="KoPub돋움체 Medium"/>
            </a:endParaRPr>
          </a:p>
          <a:p>
            <a:pPr>
              <a:lnSpc>
                <a:spcPct val="150000"/>
              </a:lnSpc>
              <a:spcBef>
                <a:spcPts val="250"/>
              </a:spcBef>
              <a:defRPr sz="780">
                <a:solidFill>
                  <a:srgbClr val="0F172A"/>
                </a:solidFill>
                <a:latin typeface="KoPub돋움체 Medium"/>
              </a:defRPr>
            </a:pPr>
            <a:r>
              <a:rPr sz="1000" dirty="0">
                <a:latin typeface="KoPub돋움체 Medium"/>
              </a:rPr>
              <a:t>•  [GSLB </a:t>
            </a:r>
            <a:r>
              <a:rPr sz="1000" dirty="0" err="1">
                <a:latin typeface="KoPub돋움체 Medium"/>
              </a:rPr>
              <a:t>자동</a:t>
            </a:r>
            <a:r>
              <a:rPr sz="1000" dirty="0">
                <a:latin typeface="KoPub돋움체 Medium"/>
              </a:rPr>
              <a:t> </a:t>
            </a:r>
            <a:r>
              <a:rPr sz="1000" dirty="0" err="1">
                <a:latin typeface="KoPub돋움체 Medium"/>
              </a:rPr>
              <a:t>페일오버</a:t>
            </a:r>
            <a:r>
              <a:rPr sz="1000" dirty="0">
                <a:latin typeface="KoPub돋움체 Medium"/>
              </a:rPr>
              <a:t>] GET /health 503 </a:t>
            </a:r>
            <a:r>
              <a:rPr sz="1000" dirty="0" err="1">
                <a:latin typeface="KoPub돋움체 Medium"/>
              </a:rPr>
              <a:t>반환</a:t>
            </a:r>
            <a:r>
              <a:rPr sz="1000" dirty="0">
                <a:latin typeface="KoPub돋움체 Medium"/>
              </a:rPr>
              <a:t> → </a:t>
            </a:r>
            <a:r>
              <a:rPr sz="1000" dirty="0" err="1">
                <a:latin typeface="KoPub돋움체 Medium"/>
              </a:rPr>
              <a:t>외부</a:t>
            </a:r>
            <a:r>
              <a:rPr sz="1000" dirty="0">
                <a:latin typeface="KoPub돋움체 Medium"/>
              </a:rPr>
              <a:t> </a:t>
            </a:r>
            <a:r>
              <a:rPr sz="1000" dirty="0" err="1">
                <a:latin typeface="KoPub돋움체 Medium"/>
              </a:rPr>
              <a:t>로드밸런서가</a:t>
            </a:r>
            <a:r>
              <a:rPr sz="1000" dirty="0">
                <a:latin typeface="KoPub돋움체 Medium"/>
              </a:rPr>
              <a:t> </a:t>
            </a:r>
            <a:r>
              <a:rPr sz="1000" dirty="0" err="1">
                <a:latin typeface="KoPub돋움체 Medium"/>
              </a:rPr>
              <a:t>트래픽</a:t>
            </a:r>
            <a:r>
              <a:rPr sz="1000" dirty="0">
                <a:latin typeface="KoPub돋움체 Medium"/>
              </a:rPr>
              <a:t> </a:t>
            </a:r>
            <a:r>
              <a:rPr sz="1000" dirty="0" err="1">
                <a:latin typeface="KoPub돋움체 Medium"/>
              </a:rPr>
              <a:t>우회</a:t>
            </a:r>
            <a:endParaRPr sz="1000" dirty="0">
              <a:latin typeface="KoPub돋움체 Medium"/>
            </a:endParaRPr>
          </a:p>
        </p:txBody>
      </p:sp>
      <p:sp>
        <p:nvSpPr>
          <p:cNvPr id="12" name="Rounded Rectangle 11"/>
          <p:cNvSpPr/>
          <p:nvPr/>
        </p:nvSpPr>
        <p:spPr>
          <a:xfrm>
            <a:off x="6611039" y="1350000"/>
            <a:ext cx="2926080" cy="2340000"/>
          </a:xfrm>
          <a:prstGeom prst="roundRect">
            <a:avLst>
              <a:gd name="adj" fmla="val 4003"/>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719039" y="1458000"/>
            <a:ext cx="2710080" cy="468000"/>
          </a:xfrm>
          <a:prstGeom prst="roundRect">
            <a:avLst/>
          </a:prstGeom>
          <a:solidFill>
            <a:srgbClr val="EEF5FF"/>
          </a:solidFill>
          <a:ln>
            <a:solidFill>
              <a:srgbClr val="C7DBFE"/>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00" b="1">
                <a:solidFill>
                  <a:srgbClr val="0E306D"/>
                </a:solidFill>
                <a:latin typeface="KoPub돋움체 Bold"/>
              </a:defRPr>
            </a:pPr>
            <a:r>
              <a:rPr sz="1000" dirty="0">
                <a:latin typeface="KoPub돋움체 Bold"/>
              </a:rPr>
              <a:t>Phase 3: </a:t>
            </a:r>
            <a:r>
              <a:rPr sz="1000" dirty="0" err="1">
                <a:latin typeface="KoPub돋움체 Bold"/>
              </a:rPr>
              <a:t>복구</a:t>
            </a:r>
            <a:r>
              <a:rPr sz="1000" dirty="0">
                <a:latin typeface="KoPub돋움체 Bold"/>
              </a:rPr>
              <a:t> &amp; </a:t>
            </a:r>
            <a:r>
              <a:rPr sz="1000" dirty="0" err="1">
                <a:latin typeface="KoPub돋움체 Bold"/>
              </a:rPr>
              <a:t>재동기화</a:t>
            </a:r>
            <a:r>
              <a:rPr sz="1000" dirty="0">
                <a:latin typeface="KoPub돋움체 Bold"/>
              </a:rPr>
              <a:t> (40.0s ~ 40.5s)</a:t>
            </a:r>
          </a:p>
          <a:p>
            <a:pPr algn="ctr">
              <a:defRPr sz="750" b="1">
                <a:solidFill>
                  <a:srgbClr val="0F172A"/>
                </a:solidFill>
                <a:latin typeface="KoPub돋움체 Bold"/>
              </a:defRPr>
            </a:pPr>
            <a:r>
              <a:rPr sz="1000" dirty="0" err="1">
                <a:latin typeface="KoPub돋움체 Bold"/>
              </a:rPr>
              <a:t>처리량</a:t>
            </a:r>
            <a:r>
              <a:rPr sz="1000" dirty="0">
                <a:latin typeface="KoPub돋움체 Bold"/>
              </a:rPr>
              <a:t>: 100% </a:t>
            </a:r>
            <a:r>
              <a:rPr sz="1000" dirty="0" err="1">
                <a:latin typeface="KoPub돋움체 Bold"/>
              </a:rPr>
              <a:t>복귀</a:t>
            </a:r>
            <a:r>
              <a:rPr sz="1000" dirty="0">
                <a:latin typeface="KoPub돋움체 Bold"/>
              </a:rPr>
              <a:t> | </a:t>
            </a:r>
            <a:r>
              <a:rPr sz="1000" dirty="0" err="1">
                <a:latin typeface="KoPub돋움체 Bold"/>
              </a:rPr>
              <a:t>동기화</a:t>
            </a:r>
            <a:r>
              <a:rPr sz="1000" dirty="0">
                <a:latin typeface="KoPub돋움체 Bold"/>
              </a:rPr>
              <a:t> </a:t>
            </a:r>
            <a:r>
              <a:rPr sz="1000" dirty="0" err="1">
                <a:latin typeface="KoPub돋움체 Bold"/>
              </a:rPr>
              <a:t>시간</a:t>
            </a:r>
            <a:r>
              <a:rPr sz="1000" dirty="0">
                <a:latin typeface="KoPub돋움체 Bold"/>
              </a:rPr>
              <a:t>: ~8ms</a:t>
            </a:r>
          </a:p>
        </p:txBody>
      </p:sp>
      <p:sp>
        <p:nvSpPr>
          <p:cNvPr id="14" name="TextBox 13"/>
          <p:cNvSpPr txBox="1"/>
          <p:nvPr/>
        </p:nvSpPr>
        <p:spPr>
          <a:xfrm>
            <a:off x="6737039" y="2022335"/>
            <a:ext cx="2674080" cy="1439177"/>
          </a:xfrm>
          <a:prstGeom prst="rect">
            <a:avLst/>
          </a:prstGeom>
          <a:noFill/>
        </p:spPr>
        <p:txBody>
          <a:bodyPr wrap="square" lIns="0" tIns="0" rIns="0" bIns="0">
            <a:spAutoFit/>
          </a:bodyPr>
          <a:lstStyle/>
          <a:p>
            <a:pPr>
              <a:lnSpc>
                <a:spcPct val="150000"/>
              </a:lnSpc>
              <a:defRPr sz="780">
                <a:solidFill>
                  <a:srgbClr val="0F172A"/>
                </a:solidFill>
                <a:latin typeface="KoPub돋움체 Medium"/>
              </a:defRPr>
            </a:pPr>
            <a:r>
              <a:rPr sz="1000" dirty="0">
                <a:latin typeface="KoPub돋움체 Medium"/>
              </a:rPr>
              <a:t>•  [1단계: PEL </a:t>
            </a:r>
            <a:r>
              <a:rPr sz="1000" dirty="0" err="1">
                <a:latin typeface="KoPub돋움체 Medium"/>
              </a:rPr>
              <a:t>미확인</a:t>
            </a:r>
            <a:r>
              <a:rPr sz="1000" dirty="0">
                <a:latin typeface="KoPub돋움체 Medium"/>
              </a:rPr>
              <a:t> </a:t>
            </a:r>
            <a:r>
              <a:rPr sz="1000" dirty="0" err="1">
                <a:latin typeface="KoPub돋움체 Medium"/>
              </a:rPr>
              <a:t>완독</a:t>
            </a:r>
            <a:r>
              <a:rPr sz="1000" dirty="0">
                <a:latin typeface="KoPub돋움체 Medium"/>
              </a:rPr>
              <a:t>] XREADGROUP '0'으로 </a:t>
            </a:r>
            <a:r>
              <a:rPr sz="1000" dirty="0" err="1">
                <a:latin typeface="KoPub돋움체 Medium"/>
              </a:rPr>
              <a:t>단절</a:t>
            </a:r>
            <a:r>
              <a:rPr sz="1000" dirty="0">
                <a:latin typeface="KoPub돋움체 Medium"/>
              </a:rPr>
              <a:t> </a:t>
            </a:r>
            <a:r>
              <a:rPr sz="1000" dirty="0" err="1">
                <a:latin typeface="KoPub돋움체 Medium"/>
              </a:rPr>
              <a:t>직전</a:t>
            </a:r>
            <a:r>
              <a:rPr sz="1000" dirty="0">
                <a:latin typeface="KoPub돋움체 Medium"/>
              </a:rPr>
              <a:t> </a:t>
            </a:r>
            <a:r>
              <a:rPr sz="1000" dirty="0" err="1">
                <a:latin typeface="KoPub돋움체 Medium"/>
              </a:rPr>
              <a:t>미확인</a:t>
            </a:r>
            <a:r>
              <a:rPr sz="1000" dirty="0">
                <a:latin typeface="KoPub돋움체 Medium"/>
              </a:rPr>
              <a:t> </a:t>
            </a:r>
            <a:r>
              <a:rPr sz="1000" dirty="0" err="1">
                <a:latin typeface="KoPub돋움체 Medium"/>
              </a:rPr>
              <a:t>전량</a:t>
            </a:r>
            <a:r>
              <a:rPr sz="1000" dirty="0">
                <a:latin typeface="KoPub돋움체 Medium"/>
              </a:rPr>
              <a:t> </a:t>
            </a:r>
            <a:r>
              <a:rPr sz="1000" dirty="0" err="1">
                <a:latin typeface="KoPub돋움체 Medium"/>
              </a:rPr>
              <a:t>소진</a:t>
            </a:r>
            <a:endParaRPr sz="1000" dirty="0">
              <a:latin typeface="KoPub돋움체 Medium"/>
            </a:endParaRPr>
          </a:p>
          <a:p>
            <a:pPr>
              <a:lnSpc>
                <a:spcPct val="150000"/>
              </a:lnSpc>
              <a:spcBef>
                <a:spcPts val="250"/>
              </a:spcBef>
              <a:defRPr sz="780">
                <a:solidFill>
                  <a:srgbClr val="0F172A"/>
                </a:solidFill>
                <a:latin typeface="KoPub돋움체 Medium"/>
              </a:defRPr>
            </a:pPr>
            <a:r>
              <a:rPr sz="1000" dirty="0">
                <a:latin typeface="KoPub돋움체 Medium"/>
              </a:rPr>
              <a:t>•  [2단계: XAUTOCLAIM </a:t>
            </a:r>
            <a:r>
              <a:rPr sz="1000" dirty="0" err="1">
                <a:latin typeface="KoPub돋움체 Medium"/>
              </a:rPr>
              <a:t>회수</a:t>
            </a:r>
            <a:r>
              <a:rPr sz="1000" dirty="0">
                <a:latin typeface="KoPub돋움체 Medium"/>
              </a:rPr>
              <a:t>] 60초 </a:t>
            </a:r>
            <a:r>
              <a:rPr sz="1000" dirty="0" err="1">
                <a:latin typeface="KoPub돋움체 Medium"/>
              </a:rPr>
              <a:t>이상</a:t>
            </a:r>
            <a:r>
              <a:rPr sz="1000" dirty="0">
                <a:latin typeface="KoPub돋움체 Medium"/>
              </a:rPr>
              <a:t> </a:t>
            </a:r>
            <a:r>
              <a:rPr sz="1000" dirty="0" err="1">
                <a:latin typeface="KoPub돋움체 Medium"/>
              </a:rPr>
              <a:t>방치된</a:t>
            </a:r>
            <a:r>
              <a:rPr sz="1000" dirty="0">
                <a:latin typeface="KoPub돋움체 Medium"/>
              </a:rPr>
              <a:t> 타 </a:t>
            </a:r>
            <a:r>
              <a:rPr sz="1000" dirty="0" err="1">
                <a:latin typeface="KoPub돋움체 Medium"/>
              </a:rPr>
              <a:t>노드</a:t>
            </a:r>
            <a:r>
              <a:rPr sz="1000" dirty="0">
                <a:latin typeface="KoPub돋움체 Medium"/>
              </a:rPr>
              <a:t> </a:t>
            </a:r>
            <a:r>
              <a:rPr sz="1000" dirty="0" err="1">
                <a:latin typeface="KoPub돋움체 Medium"/>
              </a:rPr>
              <a:t>미확인</a:t>
            </a:r>
            <a:r>
              <a:rPr sz="1000" dirty="0">
                <a:latin typeface="KoPub돋움체 Medium"/>
              </a:rPr>
              <a:t> </a:t>
            </a:r>
            <a:r>
              <a:rPr sz="1000" dirty="0" err="1">
                <a:latin typeface="KoPub돋움체 Medium"/>
              </a:rPr>
              <a:t>소유권</a:t>
            </a:r>
            <a:r>
              <a:rPr sz="1000" dirty="0">
                <a:latin typeface="KoPub돋움체 Medium"/>
              </a:rPr>
              <a:t> </a:t>
            </a:r>
            <a:r>
              <a:rPr sz="1000" dirty="0" err="1">
                <a:latin typeface="KoPub돋움체 Medium"/>
              </a:rPr>
              <a:t>자동</a:t>
            </a:r>
            <a:r>
              <a:rPr sz="1000" dirty="0">
                <a:latin typeface="KoPub돋움체 Medium"/>
              </a:rPr>
              <a:t> </a:t>
            </a:r>
            <a:r>
              <a:rPr sz="1000" dirty="0" err="1">
                <a:latin typeface="KoPub돋움체 Medium"/>
              </a:rPr>
              <a:t>이전</a:t>
            </a:r>
            <a:endParaRPr sz="1000" dirty="0">
              <a:latin typeface="KoPub돋움체 Medium"/>
            </a:endParaRPr>
          </a:p>
          <a:p>
            <a:pPr>
              <a:lnSpc>
                <a:spcPct val="150000"/>
              </a:lnSpc>
              <a:spcBef>
                <a:spcPts val="250"/>
              </a:spcBef>
              <a:defRPr sz="780">
                <a:solidFill>
                  <a:srgbClr val="0F172A"/>
                </a:solidFill>
                <a:latin typeface="KoPub돋움체 Medium"/>
              </a:defRPr>
            </a:pPr>
            <a:r>
              <a:rPr sz="1000" dirty="0">
                <a:latin typeface="KoPub돋움체 Medium"/>
              </a:rPr>
              <a:t>•  [3단계: </a:t>
            </a:r>
            <a:r>
              <a:rPr sz="1000" dirty="0" err="1">
                <a:latin typeface="KoPub돋움체 Medium"/>
              </a:rPr>
              <a:t>최신</a:t>
            </a:r>
            <a:r>
              <a:rPr sz="1000" dirty="0">
                <a:latin typeface="KoPub돋움체 Medium"/>
              </a:rPr>
              <a:t> </a:t>
            </a:r>
            <a:r>
              <a:rPr sz="1000" dirty="0" err="1">
                <a:latin typeface="KoPub돋움체 Medium"/>
              </a:rPr>
              <a:t>이벤트</a:t>
            </a:r>
            <a:r>
              <a:rPr sz="1000" dirty="0">
                <a:latin typeface="KoPub돋움체 Medium"/>
              </a:rPr>
              <a:t> </a:t>
            </a:r>
            <a:r>
              <a:rPr sz="1000" dirty="0" err="1">
                <a:latin typeface="KoPub돋움체 Medium"/>
              </a:rPr>
              <a:t>완독</a:t>
            </a:r>
            <a:r>
              <a:rPr sz="1000" dirty="0">
                <a:latin typeface="KoPub돋움체 Medium"/>
              </a:rPr>
              <a:t>] </a:t>
            </a:r>
            <a:r>
              <a:rPr sz="1000" dirty="0" err="1">
                <a:latin typeface="KoPub돋움체 Medium"/>
              </a:rPr>
              <a:t>단절</a:t>
            </a:r>
            <a:r>
              <a:rPr sz="1000" dirty="0">
                <a:latin typeface="KoPub돋움체 Medium"/>
              </a:rPr>
              <a:t> </a:t>
            </a:r>
            <a:r>
              <a:rPr sz="1000" dirty="0" err="1">
                <a:latin typeface="KoPub돋움체 Medium"/>
              </a:rPr>
              <a:t>기간</a:t>
            </a:r>
            <a:r>
              <a:rPr sz="1000" dirty="0">
                <a:latin typeface="KoPub돋움체 Medium"/>
              </a:rPr>
              <a:t> </a:t>
            </a:r>
            <a:r>
              <a:rPr sz="1000" dirty="0" err="1">
                <a:latin typeface="KoPub돋움체 Medium"/>
              </a:rPr>
              <a:t>누적된</a:t>
            </a:r>
            <a:r>
              <a:rPr sz="1000" dirty="0">
                <a:latin typeface="KoPub돋움체 Medium"/>
              </a:rPr>
              <a:t> </a:t>
            </a:r>
            <a:r>
              <a:rPr sz="1000" dirty="0" err="1">
                <a:latin typeface="KoPub돋움체 Medium"/>
              </a:rPr>
              <a:t>최신</a:t>
            </a:r>
            <a:r>
              <a:rPr sz="1000" dirty="0">
                <a:latin typeface="KoPub돋움체 Medium"/>
              </a:rPr>
              <a:t> </a:t>
            </a:r>
            <a:r>
              <a:rPr sz="1000" dirty="0" err="1">
                <a:latin typeface="KoPub돋움체 Medium"/>
              </a:rPr>
              <a:t>이벤트</a:t>
            </a:r>
            <a:r>
              <a:rPr sz="1000" dirty="0">
                <a:latin typeface="KoPub돋움체 Medium"/>
              </a:rPr>
              <a:t> </a:t>
            </a:r>
            <a:r>
              <a:rPr sz="1000" dirty="0" err="1">
                <a:latin typeface="KoPub돋움체 Medium"/>
              </a:rPr>
              <a:t>전량</a:t>
            </a:r>
            <a:r>
              <a:rPr sz="1000" dirty="0">
                <a:latin typeface="KoPub돋움체 Medium"/>
              </a:rPr>
              <a:t> </a:t>
            </a:r>
            <a:r>
              <a:rPr sz="1000" dirty="0" err="1">
                <a:latin typeface="KoPub돋움체 Medium"/>
              </a:rPr>
              <a:t>반영</a:t>
            </a:r>
            <a:r>
              <a:rPr sz="1000" dirty="0">
                <a:latin typeface="KoPub돋움체 Medium"/>
              </a:rPr>
              <a:t> (</a:t>
            </a:r>
            <a:r>
              <a:rPr sz="1000" dirty="0" err="1">
                <a:latin typeface="KoPub돋움체 Medium"/>
              </a:rPr>
              <a:t>정합성</a:t>
            </a:r>
            <a:r>
              <a:rPr sz="1000" dirty="0">
                <a:latin typeface="KoPub돋움체 Medium"/>
              </a:rPr>
              <a:t> 100%)</a:t>
            </a:r>
          </a:p>
        </p:txBody>
      </p:sp>
      <p:sp>
        <p:nvSpPr>
          <p:cNvPr id="15" name="Rounded Rectangle 14"/>
          <p:cNvSpPr/>
          <p:nvPr/>
        </p:nvSpPr>
        <p:spPr>
          <a:xfrm>
            <a:off x="356760" y="3798000"/>
            <a:ext cx="9198720" cy="2160000"/>
          </a:xfrm>
          <a:prstGeom prst="roundRect">
            <a:avLst>
              <a:gd name="adj" fmla="val 6084"/>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86000" y="3924000"/>
            <a:ext cx="8939520" cy="288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0E306D"/>
                </a:solidFill>
                <a:latin typeface="KoPub돋움체 Bold"/>
              </a:defRPr>
            </a:pPr>
            <a:r>
              <a:rPr dirty="0" err="1">
                <a:latin typeface="KoPub돋움체 Bold"/>
              </a:rPr>
              <a:t>복구</a:t>
            </a:r>
            <a:r>
              <a:rPr dirty="0">
                <a:latin typeface="KoPub돋움체 Bold"/>
              </a:rPr>
              <a:t> 후 </a:t>
            </a:r>
            <a:r>
              <a:rPr dirty="0" err="1">
                <a:latin typeface="KoPub돋움체 Bold"/>
              </a:rPr>
              <a:t>캐시</a:t>
            </a:r>
            <a:r>
              <a:rPr dirty="0">
                <a:latin typeface="KoPub돋움체 Bold"/>
              </a:rPr>
              <a:t> </a:t>
            </a:r>
            <a:r>
              <a:rPr dirty="0" err="1">
                <a:latin typeface="KoPub돋움체 Bold"/>
              </a:rPr>
              <a:t>정합성</a:t>
            </a:r>
            <a:r>
              <a:rPr dirty="0">
                <a:latin typeface="KoPub돋움체 Bold"/>
              </a:rPr>
              <a:t> 100% </a:t>
            </a:r>
            <a:r>
              <a:rPr dirty="0" err="1">
                <a:latin typeface="KoPub돋움체 Bold"/>
              </a:rPr>
              <a:t>입증</a:t>
            </a:r>
            <a:r>
              <a:rPr dirty="0">
                <a:latin typeface="KoPub돋움체 Bold"/>
              </a:rPr>
              <a:t> 및 </a:t>
            </a:r>
            <a:r>
              <a:rPr dirty="0" err="1">
                <a:latin typeface="KoPub돋움체 Bold"/>
              </a:rPr>
              <a:t>last_catchup</a:t>
            </a:r>
            <a:r>
              <a:rPr dirty="0">
                <a:latin typeface="KoPub돋움체 Bold"/>
              </a:rPr>
              <a:t> </a:t>
            </a:r>
            <a:r>
              <a:rPr dirty="0" err="1">
                <a:latin typeface="KoPub돋움체 Bold"/>
              </a:rPr>
              <a:t>관측</a:t>
            </a:r>
            <a:r>
              <a:rPr dirty="0">
                <a:latin typeface="KoPub돋움체 Bold"/>
              </a:rPr>
              <a:t> </a:t>
            </a:r>
            <a:r>
              <a:rPr dirty="0" err="1">
                <a:latin typeface="KoPub돋움체 Bold"/>
              </a:rPr>
              <a:t>지표</a:t>
            </a:r>
            <a:endParaRPr dirty="0">
              <a:latin typeface="KoPub돋움체 Bold"/>
            </a:endParaRPr>
          </a:p>
        </p:txBody>
      </p:sp>
      <p:sp>
        <p:nvSpPr>
          <p:cNvPr id="17" name="TextBox 16"/>
          <p:cNvSpPr txBox="1"/>
          <p:nvPr/>
        </p:nvSpPr>
        <p:spPr>
          <a:xfrm>
            <a:off x="504000" y="4300934"/>
            <a:ext cx="8892000" cy="900568"/>
          </a:xfrm>
          <a:prstGeom prst="rect">
            <a:avLst/>
          </a:prstGeom>
          <a:noFill/>
        </p:spPr>
        <p:txBody>
          <a:bodyPr wrap="square" lIns="0" tIns="0" rIns="0" bIns="0">
            <a:spAutoFit/>
          </a:bodyPr>
          <a:lstStyle/>
          <a:p>
            <a:pPr>
              <a:lnSpc>
                <a:spcPct val="150000"/>
              </a:lnSpc>
              <a:defRPr sz="819">
                <a:solidFill>
                  <a:srgbClr val="0F172A"/>
                </a:solidFill>
                <a:latin typeface="KoPub돋움체 Medium"/>
              </a:defRPr>
            </a:pPr>
            <a:r>
              <a:rPr sz="1000" dirty="0">
                <a:latin typeface="KoPub돋움체 Medium"/>
              </a:rPr>
              <a:t>• PEL </a:t>
            </a:r>
            <a:r>
              <a:rPr sz="1000" dirty="0" err="1">
                <a:latin typeface="KoPub돋움체 Medium"/>
              </a:rPr>
              <a:t>완독</a:t>
            </a:r>
            <a:r>
              <a:rPr sz="1000" dirty="0">
                <a:latin typeface="KoPub돋움체 Medium"/>
              </a:rPr>
              <a:t> </a:t>
            </a:r>
            <a:r>
              <a:rPr sz="1000" dirty="0" err="1">
                <a:latin typeface="KoPub돋움체 Medium"/>
              </a:rPr>
              <a:t>메트릭</a:t>
            </a:r>
            <a:r>
              <a:rPr sz="1000" dirty="0">
                <a:latin typeface="KoPub돋움체 Medium"/>
              </a:rPr>
              <a:t> (</a:t>
            </a:r>
            <a:r>
              <a:rPr sz="1000" dirty="0" err="1">
                <a:latin typeface="KoPub돋움체 Medium"/>
              </a:rPr>
              <a:t>pel_drained</a:t>
            </a:r>
            <a:r>
              <a:rPr sz="1000" dirty="0">
                <a:latin typeface="KoPub돋움체 Medium"/>
              </a:rPr>
              <a:t>): </a:t>
            </a:r>
            <a:r>
              <a:rPr sz="1000" dirty="0" err="1">
                <a:latin typeface="KoPub돋움체 Medium"/>
              </a:rPr>
              <a:t>단절</a:t>
            </a:r>
            <a:r>
              <a:rPr sz="1000" dirty="0">
                <a:latin typeface="KoPub돋움체 Medium"/>
              </a:rPr>
              <a:t> </a:t>
            </a:r>
            <a:r>
              <a:rPr sz="1000" dirty="0" err="1">
                <a:latin typeface="KoPub돋움체 Medium"/>
              </a:rPr>
              <a:t>직전</a:t>
            </a:r>
            <a:r>
              <a:rPr sz="1000" dirty="0">
                <a:latin typeface="KoPub돋움체 Medium"/>
              </a:rPr>
              <a:t> </a:t>
            </a:r>
            <a:r>
              <a:rPr sz="1000" dirty="0" err="1">
                <a:latin typeface="KoPub돋움체 Medium"/>
              </a:rPr>
              <a:t>미확인</a:t>
            </a:r>
            <a:r>
              <a:rPr sz="1000" dirty="0">
                <a:latin typeface="KoPub돋움체 Medium"/>
              </a:rPr>
              <a:t> </a:t>
            </a:r>
            <a:r>
              <a:rPr sz="1000" dirty="0" err="1">
                <a:latin typeface="KoPub돋움체 Medium"/>
              </a:rPr>
              <a:t>상태였던</a:t>
            </a:r>
            <a:r>
              <a:rPr sz="1000" dirty="0">
                <a:latin typeface="KoPub돋움체 Medium"/>
              </a:rPr>
              <a:t> </a:t>
            </a:r>
            <a:r>
              <a:rPr sz="1000" dirty="0" err="1">
                <a:latin typeface="KoPub돋움체 Medium"/>
              </a:rPr>
              <a:t>메시지를</a:t>
            </a:r>
            <a:r>
              <a:rPr sz="1000" dirty="0">
                <a:latin typeface="KoPub돋움체 Medium"/>
              </a:rPr>
              <a:t> </a:t>
            </a:r>
            <a:r>
              <a:rPr sz="1000" dirty="0" err="1">
                <a:latin typeface="KoPub돋움체 Medium"/>
              </a:rPr>
              <a:t>반복</a:t>
            </a:r>
            <a:r>
              <a:rPr sz="1000" dirty="0">
                <a:latin typeface="KoPub돋움체 Medium"/>
              </a:rPr>
              <a:t> </a:t>
            </a:r>
            <a:r>
              <a:rPr sz="1000" dirty="0" err="1">
                <a:latin typeface="KoPub돋움체 Medium"/>
              </a:rPr>
              <a:t>조회로</a:t>
            </a:r>
            <a:r>
              <a:rPr sz="1000" dirty="0">
                <a:latin typeface="KoPub돋움체 Medium"/>
              </a:rPr>
              <a:t> 단 1건도 </a:t>
            </a:r>
            <a:r>
              <a:rPr sz="1000" dirty="0" err="1">
                <a:latin typeface="KoPub돋움체 Medium"/>
              </a:rPr>
              <a:t>남김없이</a:t>
            </a:r>
            <a:r>
              <a:rPr sz="1000" dirty="0">
                <a:latin typeface="KoPub돋움체 Medium"/>
              </a:rPr>
              <a:t> </a:t>
            </a:r>
            <a:r>
              <a:rPr sz="1000" dirty="0" err="1">
                <a:latin typeface="KoPub돋움체 Medium"/>
              </a:rPr>
              <a:t>전량</a:t>
            </a:r>
            <a:r>
              <a:rPr sz="1000" dirty="0">
                <a:latin typeface="KoPub돋움체 Medium"/>
              </a:rPr>
              <a:t> </a:t>
            </a:r>
            <a:r>
              <a:rPr sz="1000" dirty="0" err="1">
                <a:latin typeface="KoPub돋움체 Medium"/>
              </a:rPr>
              <a:t>처리</a:t>
            </a:r>
            <a:r>
              <a:rPr sz="1000" dirty="0">
                <a:latin typeface="KoPub돋움체 Medium"/>
              </a:rPr>
              <a:t> </a:t>
            </a:r>
            <a:r>
              <a:rPr sz="1000" dirty="0" err="1">
                <a:latin typeface="KoPub돋움체 Medium"/>
              </a:rPr>
              <a:t>완료</a:t>
            </a:r>
            <a:br>
              <a:rPr sz="1000" dirty="0"/>
            </a:br>
            <a:r>
              <a:rPr sz="1000" dirty="0">
                <a:latin typeface="KoPub돋움체 Medium"/>
              </a:rPr>
              <a:t>• </a:t>
            </a:r>
            <a:r>
              <a:rPr sz="1000" dirty="0" err="1">
                <a:latin typeface="KoPub돋움체 Medium"/>
              </a:rPr>
              <a:t>방치</a:t>
            </a:r>
            <a:r>
              <a:rPr sz="1000" dirty="0">
                <a:latin typeface="KoPub돋움체 Medium"/>
              </a:rPr>
              <a:t> </a:t>
            </a:r>
            <a:r>
              <a:rPr sz="1000" dirty="0" err="1">
                <a:latin typeface="KoPub돋움체 Medium"/>
              </a:rPr>
              <a:t>메시지</a:t>
            </a:r>
            <a:r>
              <a:rPr sz="1000" dirty="0">
                <a:latin typeface="KoPub돋움체 Medium"/>
              </a:rPr>
              <a:t> </a:t>
            </a:r>
            <a:r>
              <a:rPr sz="1000" dirty="0" err="1">
                <a:latin typeface="KoPub돋움체 Medium"/>
              </a:rPr>
              <a:t>회수</a:t>
            </a:r>
            <a:r>
              <a:rPr sz="1000" dirty="0">
                <a:latin typeface="KoPub돋움체 Medium"/>
              </a:rPr>
              <a:t> (</a:t>
            </a:r>
            <a:r>
              <a:rPr sz="1000" dirty="0" err="1">
                <a:latin typeface="KoPub돋움체 Medium"/>
              </a:rPr>
              <a:t>autoclaimed</a:t>
            </a:r>
            <a:r>
              <a:rPr sz="1000" dirty="0">
                <a:latin typeface="KoPub돋움체 Medium"/>
              </a:rPr>
              <a:t>): </a:t>
            </a:r>
            <a:r>
              <a:rPr sz="1000" dirty="0" err="1">
                <a:latin typeface="KoPub돋움체 Medium"/>
              </a:rPr>
              <a:t>XAUTOCLAIM으로</a:t>
            </a:r>
            <a:r>
              <a:rPr sz="1000" dirty="0">
                <a:latin typeface="KoPub돋움체 Medium"/>
              </a:rPr>
              <a:t> 60초 </a:t>
            </a:r>
            <a:r>
              <a:rPr sz="1000" dirty="0" err="1">
                <a:latin typeface="KoPub돋움체 Medium"/>
              </a:rPr>
              <a:t>이상</a:t>
            </a:r>
            <a:r>
              <a:rPr sz="1000" dirty="0">
                <a:latin typeface="KoPub돋움체 Medium"/>
              </a:rPr>
              <a:t> </a:t>
            </a:r>
            <a:r>
              <a:rPr sz="1000" dirty="0" err="1">
                <a:latin typeface="KoPub돋움체 Medium"/>
              </a:rPr>
              <a:t>방치된</a:t>
            </a:r>
            <a:r>
              <a:rPr sz="1000" dirty="0">
                <a:latin typeface="KoPub돋움체 Medium"/>
              </a:rPr>
              <a:t> 타 </a:t>
            </a:r>
            <a:r>
              <a:rPr sz="1000" dirty="0" err="1">
                <a:latin typeface="KoPub돋움체 Medium"/>
              </a:rPr>
              <a:t>노드</a:t>
            </a:r>
            <a:r>
              <a:rPr sz="1000" dirty="0">
                <a:latin typeface="KoPub돋움체 Medium"/>
              </a:rPr>
              <a:t> </a:t>
            </a:r>
            <a:r>
              <a:rPr sz="1000" dirty="0" err="1">
                <a:latin typeface="KoPub돋움체 Medium"/>
              </a:rPr>
              <a:t>미확인</a:t>
            </a:r>
            <a:r>
              <a:rPr sz="1000" dirty="0">
                <a:latin typeface="KoPub돋움체 Medium"/>
              </a:rPr>
              <a:t> </a:t>
            </a:r>
            <a:r>
              <a:rPr sz="1000" dirty="0" err="1">
                <a:latin typeface="KoPub돋움체 Medium"/>
              </a:rPr>
              <a:t>메시지를</a:t>
            </a:r>
            <a:r>
              <a:rPr sz="1000" dirty="0">
                <a:latin typeface="KoPub돋움체 Medium"/>
              </a:rPr>
              <a:t> </a:t>
            </a:r>
            <a:r>
              <a:rPr sz="1000" dirty="0" err="1">
                <a:latin typeface="KoPub돋움체 Medium"/>
              </a:rPr>
              <a:t>회수하여</a:t>
            </a:r>
            <a:r>
              <a:rPr sz="1000" dirty="0">
                <a:latin typeface="KoPub돋움체 Medium"/>
              </a:rPr>
              <a:t> </a:t>
            </a:r>
            <a:r>
              <a:rPr sz="1000" dirty="0" err="1">
                <a:latin typeface="KoPub돋움체 Medium"/>
              </a:rPr>
              <a:t>클러스터</a:t>
            </a:r>
            <a:r>
              <a:rPr sz="1000" dirty="0">
                <a:latin typeface="KoPub돋움체 Medium"/>
              </a:rPr>
              <a:t> </a:t>
            </a:r>
            <a:r>
              <a:rPr sz="1000" dirty="0" err="1">
                <a:latin typeface="KoPub돋움체 Medium"/>
              </a:rPr>
              <a:t>불균형</a:t>
            </a:r>
            <a:r>
              <a:rPr sz="1000" dirty="0">
                <a:latin typeface="KoPub돋움체 Medium"/>
              </a:rPr>
              <a:t> </a:t>
            </a:r>
            <a:r>
              <a:rPr sz="1000" dirty="0" err="1">
                <a:latin typeface="KoPub돋움체 Medium"/>
              </a:rPr>
              <a:t>해소</a:t>
            </a:r>
            <a:br>
              <a:rPr sz="1000" dirty="0"/>
            </a:br>
            <a:r>
              <a:rPr sz="1000" dirty="0">
                <a:latin typeface="KoPub돋움체 Medium"/>
              </a:rPr>
              <a:t>• </a:t>
            </a:r>
            <a:r>
              <a:rPr sz="1000" dirty="0" err="1">
                <a:latin typeface="KoPub돋움체 Medium"/>
              </a:rPr>
              <a:t>정합성</a:t>
            </a:r>
            <a:r>
              <a:rPr sz="1000" dirty="0">
                <a:latin typeface="KoPub돋움체 Medium"/>
              </a:rPr>
              <a:t> </a:t>
            </a:r>
            <a:r>
              <a:rPr sz="1000" dirty="0" err="1">
                <a:latin typeface="KoPub돋움체 Medium"/>
              </a:rPr>
              <a:t>보장</a:t>
            </a:r>
            <a:r>
              <a:rPr sz="1000" dirty="0">
                <a:latin typeface="KoPub돋움체 Medium"/>
              </a:rPr>
              <a:t> (</a:t>
            </a:r>
            <a:r>
              <a:rPr sz="1000" dirty="0" err="1">
                <a:latin typeface="KoPub돋움체 Medium"/>
              </a:rPr>
              <a:t>overall_drift</a:t>
            </a:r>
            <a:r>
              <a:rPr sz="1000" dirty="0">
                <a:latin typeface="KoPub돋움체 Medium"/>
              </a:rPr>
              <a:t> = 0): </a:t>
            </a:r>
            <a:r>
              <a:rPr sz="1000" dirty="0" err="1">
                <a:latin typeface="KoPub돋움체 Medium"/>
              </a:rPr>
              <a:t>복구</a:t>
            </a:r>
            <a:r>
              <a:rPr sz="1000" dirty="0">
                <a:latin typeface="KoPub돋움체 Medium"/>
              </a:rPr>
              <a:t> </a:t>
            </a:r>
            <a:r>
              <a:rPr sz="1000" dirty="0" err="1">
                <a:latin typeface="KoPub돋움체 Medium"/>
              </a:rPr>
              <a:t>직후</a:t>
            </a:r>
            <a:r>
              <a:rPr sz="1000" dirty="0">
                <a:latin typeface="KoPub돋움체 Medium"/>
              </a:rPr>
              <a:t> </a:t>
            </a:r>
            <a:r>
              <a:rPr sz="1000" dirty="0" err="1">
                <a:latin typeface="KoPub돋움체 Medium"/>
              </a:rPr>
              <a:t>클러스터</a:t>
            </a:r>
            <a:r>
              <a:rPr sz="1000" dirty="0">
                <a:latin typeface="KoPub돋움체 Medium"/>
              </a:rPr>
              <a:t> </a:t>
            </a:r>
            <a:r>
              <a:rPr sz="1000" dirty="0" err="1">
                <a:latin typeface="KoPub돋움체 Medium"/>
              </a:rPr>
              <a:t>전체</a:t>
            </a:r>
            <a:r>
              <a:rPr sz="1000" dirty="0">
                <a:latin typeface="KoPub돋움체 Medium"/>
              </a:rPr>
              <a:t> </a:t>
            </a:r>
            <a:r>
              <a:rPr sz="1000" dirty="0" err="1">
                <a:latin typeface="KoPub돋움체 Medium"/>
              </a:rPr>
              <a:t>노드의</a:t>
            </a:r>
            <a:r>
              <a:rPr sz="1000" dirty="0">
                <a:latin typeface="KoPub돋움체 Medium"/>
              </a:rPr>
              <a:t> </a:t>
            </a:r>
            <a:r>
              <a:rPr sz="1000" dirty="0" err="1">
                <a:latin typeface="KoPub돋움체 Medium"/>
              </a:rPr>
              <a:t>캐시</a:t>
            </a:r>
            <a:r>
              <a:rPr sz="1000" dirty="0">
                <a:latin typeface="KoPub돋움체 Medium"/>
              </a:rPr>
              <a:t> </a:t>
            </a:r>
            <a:r>
              <a:rPr sz="1000" dirty="0" err="1">
                <a:latin typeface="KoPub돋움체 Medium"/>
              </a:rPr>
              <a:t>상태가</a:t>
            </a:r>
            <a:r>
              <a:rPr sz="1000" dirty="0">
                <a:latin typeface="KoPub돋움체 Medium"/>
              </a:rPr>
              <a:t> </a:t>
            </a:r>
            <a:r>
              <a:rPr sz="1000" dirty="0" err="1">
                <a:latin typeface="KoPub돋움체 Medium"/>
              </a:rPr>
              <a:t>중앙</a:t>
            </a:r>
            <a:r>
              <a:rPr sz="1000" dirty="0">
                <a:latin typeface="KoPub돋움체 Medium"/>
              </a:rPr>
              <a:t> Redis 및 </a:t>
            </a:r>
            <a:r>
              <a:rPr sz="1000" dirty="0" err="1">
                <a:latin typeface="KoPub돋움체 Medium"/>
              </a:rPr>
              <a:t>DB와</a:t>
            </a:r>
            <a:r>
              <a:rPr sz="1000" dirty="0">
                <a:latin typeface="KoPub돋움체 Medium"/>
              </a:rPr>
              <a:t> 100% </a:t>
            </a:r>
            <a:r>
              <a:rPr sz="1000" dirty="0" err="1">
                <a:latin typeface="KoPub돋움체 Medium"/>
              </a:rPr>
              <a:t>일치</a:t>
            </a:r>
            <a:r>
              <a:rPr sz="1000" dirty="0">
                <a:latin typeface="KoPub돋움체 Medium"/>
              </a:rPr>
              <a:t> </a:t>
            </a:r>
            <a:r>
              <a:rPr sz="1000" dirty="0" err="1">
                <a:latin typeface="KoPub돋움체 Medium"/>
              </a:rPr>
              <a:t>확인</a:t>
            </a:r>
            <a:r>
              <a:rPr sz="1000" dirty="0">
                <a:latin typeface="KoPub돋움체 Medium"/>
              </a:rPr>
              <a:t> (</a:t>
            </a:r>
            <a:r>
              <a:rPr sz="1000" dirty="0" err="1">
                <a:latin typeface="KoPub돋움체 Medium"/>
              </a:rPr>
              <a:t>누락</a:t>
            </a:r>
            <a:r>
              <a:rPr sz="1000" dirty="0">
                <a:latin typeface="KoPub돋움체 Medium"/>
              </a:rPr>
              <a:t> 0건)</a:t>
            </a:r>
            <a:br>
              <a:rPr sz="1000" dirty="0"/>
            </a:br>
            <a:r>
              <a:rPr sz="1000" dirty="0">
                <a:latin typeface="KoPub돋움체 Medium"/>
              </a:rPr>
              <a:t>• 8ms </a:t>
            </a:r>
            <a:r>
              <a:rPr sz="1000" dirty="0" err="1">
                <a:latin typeface="KoPub돋움체 Medium"/>
              </a:rPr>
              <a:t>초고속</a:t>
            </a:r>
            <a:r>
              <a:rPr sz="1000" dirty="0">
                <a:latin typeface="KoPub돋움체 Medium"/>
              </a:rPr>
              <a:t> </a:t>
            </a:r>
            <a:r>
              <a:rPr sz="1000" dirty="0" err="1">
                <a:latin typeface="KoPub돋움체 Medium"/>
              </a:rPr>
              <a:t>수렴</a:t>
            </a:r>
            <a:r>
              <a:rPr sz="1000" dirty="0">
                <a:latin typeface="KoPub돋움체 Medium"/>
              </a:rPr>
              <a:t>: </a:t>
            </a:r>
            <a:r>
              <a:rPr sz="1000" dirty="0" err="1">
                <a:latin typeface="KoPub돋움체 Medium"/>
              </a:rPr>
              <a:t>스트림</a:t>
            </a:r>
            <a:r>
              <a:rPr sz="1000" dirty="0">
                <a:latin typeface="KoPub돋움체 Medium"/>
              </a:rPr>
              <a:t> </a:t>
            </a:r>
            <a:r>
              <a:rPr sz="1000" dirty="0" err="1">
                <a:latin typeface="KoPub돋움체 Medium"/>
              </a:rPr>
              <a:t>기반</a:t>
            </a:r>
            <a:r>
              <a:rPr sz="1000" dirty="0">
                <a:latin typeface="KoPub돋움체 Medium"/>
              </a:rPr>
              <a:t> </a:t>
            </a:r>
            <a:r>
              <a:rPr sz="1000" dirty="0" err="1">
                <a:latin typeface="KoPub돋움체 Medium"/>
              </a:rPr>
              <a:t>증분</a:t>
            </a:r>
            <a:r>
              <a:rPr sz="1000" dirty="0">
                <a:latin typeface="KoPub돋움체 Medium"/>
              </a:rPr>
              <a:t> </a:t>
            </a:r>
            <a:r>
              <a:rPr sz="1000" dirty="0" err="1">
                <a:latin typeface="KoPub돋움체 Medium"/>
              </a:rPr>
              <a:t>동기화로</a:t>
            </a:r>
            <a:r>
              <a:rPr sz="1000" dirty="0">
                <a:latin typeface="KoPub돋움체 Medium"/>
              </a:rPr>
              <a:t> </a:t>
            </a:r>
            <a:r>
              <a:rPr sz="1000" dirty="0" err="1">
                <a:latin typeface="KoPub돋움체 Medium"/>
              </a:rPr>
              <a:t>서비스</a:t>
            </a:r>
            <a:r>
              <a:rPr sz="1000" dirty="0">
                <a:latin typeface="KoPub돋움체 Medium"/>
              </a:rPr>
              <a:t> </a:t>
            </a:r>
            <a:r>
              <a:rPr sz="1000" dirty="0" err="1">
                <a:latin typeface="KoPub돋움체 Medium"/>
              </a:rPr>
              <a:t>영향도</a:t>
            </a:r>
            <a:r>
              <a:rPr sz="1000" dirty="0">
                <a:latin typeface="KoPub돋움체 Medium"/>
              </a:rPr>
              <a:t> </a:t>
            </a:r>
            <a:r>
              <a:rPr sz="1000" dirty="0" err="1">
                <a:latin typeface="KoPub돋움체 Medium"/>
              </a:rPr>
              <a:t>없이</a:t>
            </a:r>
            <a:r>
              <a:rPr sz="1000" dirty="0">
                <a:latin typeface="KoPub돋움체 Medium"/>
              </a:rPr>
              <a:t> </a:t>
            </a:r>
            <a:r>
              <a:rPr sz="1000" dirty="0" err="1">
                <a:latin typeface="KoPub돋움체 Medium"/>
              </a:rPr>
              <a:t>순간적으로</a:t>
            </a:r>
            <a:r>
              <a:rPr sz="1000" dirty="0">
                <a:latin typeface="KoPub돋움체 Medium"/>
              </a:rPr>
              <a:t> </a:t>
            </a:r>
            <a:r>
              <a:rPr sz="1000" dirty="0" err="1">
                <a:latin typeface="KoPub돋움체 Medium"/>
              </a:rPr>
              <a:t>정상</a:t>
            </a:r>
            <a:r>
              <a:rPr sz="1000" dirty="0">
                <a:latin typeface="KoPub돋움체 Medium"/>
              </a:rPr>
              <a:t> </a:t>
            </a:r>
            <a:r>
              <a:rPr sz="1000" dirty="0" err="1">
                <a:latin typeface="KoPub돋움체 Medium"/>
              </a:rPr>
              <a:t>인가</a:t>
            </a:r>
            <a:r>
              <a:rPr sz="1000" dirty="0">
                <a:latin typeface="KoPub돋움체 Medium"/>
              </a:rPr>
              <a:t> </a:t>
            </a:r>
            <a:r>
              <a:rPr sz="1000" dirty="0" err="1">
                <a:latin typeface="KoPub돋움체 Medium"/>
              </a:rPr>
              <a:t>체계</a:t>
            </a:r>
            <a:r>
              <a:rPr sz="1000" dirty="0">
                <a:latin typeface="KoPub돋움체 Medium"/>
              </a:rPr>
              <a:t> </a:t>
            </a:r>
            <a:r>
              <a:rPr sz="1000" dirty="0" err="1">
                <a:latin typeface="KoPub돋움체 Medium"/>
              </a:rPr>
              <a:t>복귀</a:t>
            </a:r>
            <a:endParaRPr sz="1000" dirty="0">
              <a:latin typeface="KoPub돋움체 Medium"/>
            </a:endParaRPr>
          </a:p>
        </p:txBody>
      </p:sp>
      <p:sp>
        <p:nvSpPr>
          <p:cNvPr id="18" name="Rounded Rectangle 17"/>
          <p:cNvSpPr/>
          <p:nvPr/>
        </p:nvSpPr>
        <p:spPr>
          <a:xfrm>
            <a:off x="356760" y="6048000"/>
            <a:ext cx="9198720" cy="342000"/>
          </a:xfrm>
          <a:prstGeom prst="roundRect">
            <a:avLst/>
          </a:prstGeom>
          <a:solidFill>
            <a:srgbClr val="F1F1F1"/>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142936" y="6142056"/>
            <a:ext cx="5620128" cy="153888"/>
          </a:xfrm>
          <a:prstGeom prst="rect">
            <a:avLst/>
          </a:prstGeom>
          <a:noFill/>
        </p:spPr>
        <p:txBody>
          <a:bodyPr wrap="none" lIns="0" tIns="0" rIns="0" bIns="0" anchor="ctr">
            <a:spAutoFit/>
          </a:bodyPr>
          <a:lstStyle/>
          <a:p>
            <a:pPr>
              <a:defRPr sz="900" b="1">
                <a:solidFill>
                  <a:srgbClr val="0F172A"/>
                </a:solidFill>
                <a:latin typeface="KoPub돋움체 Bold"/>
              </a:defRPr>
            </a:pPr>
            <a:r>
              <a:rPr sz="1000" dirty="0" err="1">
                <a:latin typeface="KoPub돋움체 Bold"/>
              </a:rPr>
              <a:t>overall_invariant_pass</a:t>
            </a:r>
            <a:r>
              <a:rPr sz="1000" dirty="0">
                <a:latin typeface="KoPub돋움체 Bold"/>
              </a:rPr>
              <a:t> == true (</a:t>
            </a:r>
            <a:r>
              <a:rPr sz="1000" dirty="0" err="1">
                <a:latin typeface="KoPub돋움체 Bold"/>
              </a:rPr>
              <a:t>네트워크</a:t>
            </a:r>
            <a:r>
              <a:rPr sz="1000" dirty="0">
                <a:latin typeface="KoPub돋움체 Bold"/>
              </a:rPr>
              <a:t> </a:t>
            </a:r>
            <a:r>
              <a:rPr sz="1000" dirty="0" err="1">
                <a:latin typeface="KoPub돋움체 Bold"/>
              </a:rPr>
              <a:t>단절</a:t>
            </a:r>
            <a:r>
              <a:rPr sz="1000" dirty="0">
                <a:latin typeface="KoPub돋움체 Bold"/>
              </a:rPr>
              <a:t> </a:t>
            </a:r>
            <a:r>
              <a:rPr sz="1000" dirty="0" err="1">
                <a:latin typeface="KoPub돋움체 Bold"/>
              </a:rPr>
              <a:t>격리부터</a:t>
            </a:r>
            <a:r>
              <a:rPr sz="1000" dirty="0">
                <a:latin typeface="KoPub돋움체 Bold"/>
              </a:rPr>
              <a:t> 3단계 </a:t>
            </a:r>
            <a:r>
              <a:rPr sz="1000" dirty="0" err="1">
                <a:latin typeface="KoPub돋움체 Bold"/>
              </a:rPr>
              <a:t>스트림</a:t>
            </a:r>
            <a:r>
              <a:rPr sz="1000" dirty="0">
                <a:latin typeface="KoPub돋움체 Bold"/>
              </a:rPr>
              <a:t> </a:t>
            </a:r>
            <a:r>
              <a:rPr sz="1000" dirty="0" err="1">
                <a:latin typeface="KoPub돋움체 Bold"/>
              </a:rPr>
              <a:t>복구</a:t>
            </a:r>
            <a:r>
              <a:rPr sz="1000" dirty="0">
                <a:latin typeface="KoPub돋움체 Bold"/>
              </a:rPr>
              <a:t> 전 </a:t>
            </a:r>
            <a:r>
              <a:rPr sz="1000" dirty="0" err="1">
                <a:latin typeface="KoPub돋움체 Bold"/>
              </a:rPr>
              <a:t>구간에서</a:t>
            </a:r>
            <a:r>
              <a:rPr sz="1000" dirty="0">
                <a:latin typeface="KoPub돋움체 Bold"/>
              </a:rPr>
              <a:t> </a:t>
            </a:r>
            <a:r>
              <a:rPr sz="1000" dirty="0" err="1">
                <a:latin typeface="KoPub돋움체 Bold"/>
              </a:rPr>
              <a:t>불변식</a:t>
            </a:r>
            <a:r>
              <a:rPr sz="1000" dirty="0">
                <a:latin typeface="KoPub돋움체 Bold"/>
              </a:rPr>
              <a:t> 100% </a:t>
            </a:r>
            <a:r>
              <a:rPr sz="1000" dirty="0" err="1">
                <a:latin typeface="KoPub돋움체 Bold"/>
              </a:rPr>
              <a:t>유지</a:t>
            </a:r>
            <a:r>
              <a:rPr sz="1000" dirty="0">
                <a:latin typeface="KoPub돋움체 Bold"/>
              </a:rPr>
              <a:t>)</a:t>
            </a:r>
          </a:p>
        </p:txBody>
      </p:sp>
      <p:sp>
        <p:nvSpPr>
          <p:cNvPr id="21" name="TextBox 20"/>
          <p:cNvSpPr txBox="1"/>
          <p:nvPr/>
        </p:nvSpPr>
        <p:spPr>
          <a:xfrm>
            <a:off x="8723520" y="6537960"/>
            <a:ext cx="831960" cy="246960"/>
          </a:xfrm>
          <a:prstGeom prst="rect">
            <a:avLst/>
          </a:prstGeom>
          <a:noFill/>
        </p:spPr>
        <p:txBody>
          <a:bodyPr wrap="none" lIns="0" tIns="0" rIns="0" bIns="0">
            <a:spAutoFit/>
          </a:bodyPr>
          <a:lstStyle/>
          <a:p>
            <a:pPr algn="r">
              <a:defRPr sz="1000" b="1">
                <a:solidFill>
                  <a:srgbClr val="6B7280"/>
                </a:solidFill>
                <a:latin typeface="KoPub돋움체 Bold"/>
              </a:defRPr>
            </a:pPr>
            <a:r>
              <a:rPr>
                <a:latin typeface="KoPub돋움체 Bold"/>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9FAFD"/>
        </a:solidFill>
        <a:effectLst/>
      </p:bgPr>
    </p:bg>
    <p:spTree>
      <p:nvGrpSpPr>
        <p:cNvPr id="1" name=""/>
        <p:cNvGrpSpPr/>
        <p:nvPr/>
      </p:nvGrpSpPr>
      <p:grpSpPr>
        <a:xfrm>
          <a:off x="0" y="0"/>
          <a:ext cx="0" cy="0"/>
          <a:chOff x="0" y="0"/>
          <a:chExt cx="0" cy="0"/>
        </a:xfrm>
      </p:grpSpPr>
      <p:sp>
        <p:nvSpPr>
          <p:cNvPr id="2" name="Rounded Rectangle 1"/>
          <p:cNvSpPr/>
          <p:nvPr/>
        </p:nvSpPr>
        <p:spPr>
          <a:xfrm>
            <a:off x="356760" y="292680"/>
            <a:ext cx="9198720" cy="493920"/>
          </a:xfrm>
          <a:prstGeom prst="roundRect">
            <a:avLst/>
          </a:prstGeom>
          <a:solidFill>
            <a:srgbClr val="0E306D"/>
          </a:solidFill>
          <a:ln w="12700">
            <a:solidFill>
              <a:srgbClr val="0E30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80"/>
            <a:ext cx="8778240" cy="493920"/>
          </a:xfrm>
          <a:prstGeom prst="rect">
            <a:avLst/>
          </a:prstGeom>
          <a:noFill/>
        </p:spPr>
        <p:txBody>
          <a:bodyPr wrap="square" lIns="0" tIns="0" rIns="0" bIns="0" anchor="ctr">
            <a:spAutoFit/>
          </a:bodyPr>
          <a:lstStyle/>
          <a:p>
            <a:pPr>
              <a:defRPr sz="2000" b="1">
                <a:solidFill>
                  <a:srgbClr val="FFFFFF"/>
                </a:solidFill>
                <a:latin typeface="KoPub돋움체 Bold"/>
              </a:defRPr>
            </a:pPr>
            <a:r>
              <a:rPr>
                <a:latin typeface="KoPub돋움체 Bold"/>
              </a:rPr>
              <a:t>04. 4대 핵심 카오스 장애 시나리오 실측 종합 검증 매트릭스</a:t>
            </a:r>
          </a:p>
        </p:txBody>
      </p:sp>
      <p:sp>
        <p:nvSpPr>
          <p:cNvPr id="4" name="Rounded Rectangle 3"/>
          <p:cNvSpPr/>
          <p:nvPr/>
        </p:nvSpPr>
        <p:spPr>
          <a:xfrm>
            <a:off x="356760" y="914400"/>
            <a:ext cx="9198720" cy="347400"/>
          </a:xfrm>
          <a:prstGeom prst="roundRect">
            <a:avLst/>
          </a:prstGeom>
          <a:solidFill>
            <a:srgbClr val="F1F1F1"/>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011156"/>
            <a:ext cx="9052560" cy="153888"/>
          </a:xfrm>
          <a:prstGeom prst="rect">
            <a:avLst/>
          </a:prstGeom>
          <a:noFill/>
        </p:spPr>
        <p:txBody>
          <a:bodyPr wrap="square" lIns="0" tIns="0" rIns="0" bIns="0" anchor="ctr">
            <a:spAutoFit/>
          </a:bodyPr>
          <a:lstStyle/>
          <a:p>
            <a:pPr>
              <a:defRPr sz="1050" b="1">
                <a:solidFill>
                  <a:srgbClr val="0E306D"/>
                </a:solidFill>
                <a:latin typeface="KoPub돋움체 Bold"/>
              </a:defRPr>
            </a:pPr>
            <a:r>
              <a:rPr sz="1000" dirty="0">
                <a:latin typeface="KoPub돋움체 Bold"/>
              </a:rPr>
              <a:t>9종 </a:t>
            </a:r>
            <a:r>
              <a:rPr sz="1000" dirty="0" err="1">
                <a:latin typeface="KoPub돋움체 Bold"/>
              </a:rPr>
              <a:t>카오스</a:t>
            </a:r>
            <a:r>
              <a:rPr sz="1000" dirty="0">
                <a:latin typeface="KoPub돋움체 Bold"/>
              </a:rPr>
              <a:t> </a:t>
            </a:r>
            <a:r>
              <a:rPr sz="1000" dirty="0" err="1">
                <a:latin typeface="KoPub돋움체 Bold"/>
              </a:rPr>
              <a:t>시나리오</a:t>
            </a:r>
            <a:r>
              <a:rPr sz="1000" dirty="0">
                <a:latin typeface="KoPub돋움체 Bold"/>
              </a:rPr>
              <a:t> 중 4대 </a:t>
            </a:r>
            <a:r>
              <a:rPr sz="1000" dirty="0" err="1">
                <a:latin typeface="KoPub돋움체 Bold"/>
              </a:rPr>
              <a:t>극한</a:t>
            </a:r>
            <a:r>
              <a:rPr sz="1000" dirty="0">
                <a:latin typeface="KoPub돋움체 Bold"/>
              </a:rPr>
              <a:t> </a:t>
            </a:r>
            <a:r>
              <a:rPr sz="1000" dirty="0" err="1">
                <a:latin typeface="KoPub돋움체 Bold"/>
              </a:rPr>
              <a:t>장애</a:t>
            </a:r>
            <a:r>
              <a:rPr sz="1000" dirty="0">
                <a:latin typeface="KoPub돋움체 Bold"/>
              </a:rPr>
              <a:t> </a:t>
            </a:r>
            <a:r>
              <a:rPr sz="1000" dirty="0" err="1">
                <a:latin typeface="KoPub돋움체 Bold"/>
              </a:rPr>
              <a:t>환경에서</a:t>
            </a:r>
            <a:r>
              <a:rPr sz="1000" dirty="0">
                <a:latin typeface="KoPub돋움체 Bold"/>
              </a:rPr>
              <a:t> </a:t>
            </a:r>
            <a:r>
              <a:rPr sz="1000" dirty="0" err="1">
                <a:latin typeface="KoPub돋움체 Bold"/>
              </a:rPr>
              <a:t>미방어</a:t>
            </a:r>
            <a:r>
              <a:rPr sz="1000" dirty="0">
                <a:latin typeface="KoPub돋움체 Bold"/>
              </a:rPr>
              <a:t> 시 </a:t>
            </a:r>
            <a:r>
              <a:rPr sz="1000" dirty="0" err="1">
                <a:latin typeface="KoPub돋움체 Bold"/>
              </a:rPr>
              <a:t>위험과</a:t>
            </a:r>
            <a:r>
              <a:rPr sz="1000" dirty="0">
                <a:latin typeface="KoPub돋움체 Bold"/>
              </a:rPr>
              <a:t> </a:t>
            </a:r>
            <a:r>
              <a:rPr sz="1000" dirty="0" err="1">
                <a:latin typeface="KoPub돋움체 Bold"/>
              </a:rPr>
              <a:t>PoP-Sync의</a:t>
            </a:r>
            <a:r>
              <a:rPr sz="1000" dirty="0">
                <a:latin typeface="KoPub돋움체 Bold"/>
              </a:rPr>
              <a:t> </a:t>
            </a:r>
            <a:r>
              <a:rPr sz="1000" dirty="0" err="1">
                <a:latin typeface="KoPub돋움체 Bold"/>
              </a:rPr>
              <a:t>실측</a:t>
            </a:r>
            <a:r>
              <a:rPr sz="1000" dirty="0">
                <a:latin typeface="KoPub돋움체 Bold"/>
              </a:rPr>
              <a:t> </a:t>
            </a:r>
            <a:r>
              <a:rPr sz="1000" dirty="0" err="1">
                <a:latin typeface="KoPub돋움체 Bold"/>
              </a:rPr>
              <a:t>방어</a:t>
            </a:r>
            <a:r>
              <a:rPr sz="1000" dirty="0">
                <a:latin typeface="KoPub돋움체 Bold"/>
              </a:rPr>
              <a:t> </a:t>
            </a:r>
            <a:r>
              <a:rPr sz="1000" dirty="0" err="1">
                <a:latin typeface="KoPub돋움체 Bold"/>
              </a:rPr>
              <a:t>결과</a:t>
            </a:r>
            <a:r>
              <a:rPr sz="1000" dirty="0">
                <a:latin typeface="KoPub돋움체 Bold"/>
              </a:rPr>
              <a:t> 1:1 </a:t>
            </a:r>
            <a:r>
              <a:rPr sz="1000" dirty="0" err="1">
                <a:latin typeface="KoPub돋움체 Bold"/>
              </a:rPr>
              <a:t>비교</a:t>
            </a:r>
            <a:endParaRPr sz="1000" dirty="0">
              <a:latin typeface="KoPub돋움체 Bold"/>
            </a:endParaRPr>
          </a:p>
        </p:txBody>
      </p:sp>
      <p:sp>
        <p:nvSpPr>
          <p:cNvPr id="6" name="Rounded Rectangle 5"/>
          <p:cNvSpPr/>
          <p:nvPr/>
        </p:nvSpPr>
        <p:spPr>
          <a:xfrm>
            <a:off x="356760" y="1350000"/>
            <a:ext cx="9198720" cy="4572000"/>
          </a:xfrm>
          <a:prstGeom prst="roundRect">
            <a:avLst>
              <a:gd name="adj" fmla="val 2963"/>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32000" y="1440000"/>
            <a:ext cx="1908000" cy="270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00" b="1">
                <a:solidFill>
                  <a:srgbClr val="0E306D"/>
                </a:solidFill>
                <a:latin typeface="KoPub돋움체 Bold"/>
              </a:defRPr>
            </a:pPr>
            <a:r>
              <a:rPr sz="1000" dirty="0" err="1">
                <a:latin typeface="KoPub돋움체 Bold"/>
              </a:rPr>
              <a:t>장애</a:t>
            </a:r>
            <a:r>
              <a:rPr sz="1000" dirty="0">
                <a:latin typeface="KoPub돋움체 Bold"/>
              </a:rPr>
              <a:t> </a:t>
            </a:r>
            <a:r>
              <a:rPr sz="1000" dirty="0" err="1">
                <a:latin typeface="KoPub돋움체 Bold"/>
              </a:rPr>
              <a:t>시나리오</a:t>
            </a:r>
            <a:r>
              <a:rPr sz="1000" dirty="0">
                <a:latin typeface="KoPub돋움체 Bold"/>
              </a:rPr>
              <a:t> (Fault)</a:t>
            </a:r>
          </a:p>
        </p:txBody>
      </p:sp>
      <p:sp>
        <p:nvSpPr>
          <p:cNvPr id="8" name="Rounded Rectangle 7"/>
          <p:cNvSpPr/>
          <p:nvPr/>
        </p:nvSpPr>
        <p:spPr>
          <a:xfrm>
            <a:off x="2412000" y="1440000"/>
            <a:ext cx="1908000" cy="270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00" b="1">
                <a:solidFill>
                  <a:srgbClr val="0E306D"/>
                </a:solidFill>
                <a:latin typeface="KoPub돋움체 Bold"/>
              </a:defRPr>
            </a:pPr>
            <a:r>
              <a:rPr sz="1000" dirty="0" err="1">
                <a:latin typeface="KoPub돋움체 Bold"/>
              </a:rPr>
              <a:t>미방어</a:t>
            </a:r>
            <a:r>
              <a:rPr sz="1000" dirty="0">
                <a:latin typeface="KoPub돋움체 Bold"/>
              </a:rPr>
              <a:t> 시 </a:t>
            </a:r>
            <a:r>
              <a:rPr sz="1000" dirty="0" err="1">
                <a:latin typeface="KoPub돋움체 Bold"/>
              </a:rPr>
              <a:t>위험</a:t>
            </a:r>
            <a:r>
              <a:rPr sz="1000" dirty="0">
                <a:latin typeface="KoPub돋움체 Bold"/>
              </a:rPr>
              <a:t> (Without)</a:t>
            </a:r>
          </a:p>
        </p:txBody>
      </p:sp>
      <p:sp>
        <p:nvSpPr>
          <p:cNvPr id="9" name="Rounded Rectangle 8"/>
          <p:cNvSpPr/>
          <p:nvPr/>
        </p:nvSpPr>
        <p:spPr>
          <a:xfrm>
            <a:off x="4391999" y="1440000"/>
            <a:ext cx="2093265" cy="270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00" b="1">
                <a:solidFill>
                  <a:srgbClr val="0E306D"/>
                </a:solidFill>
                <a:latin typeface="KoPub돋움체 Bold"/>
              </a:defRPr>
            </a:pPr>
            <a:r>
              <a:rPr sz="1000" dirty="0" err="1">
                <a:latin typeface="KoPub돋움체 Bold"/>
              </a:rPr>
              <a:t>PoP</a:t>
            </a:r>
            <a:r>
              <a:rPr sz="1000" dirty="0">
                <a:latin typeface="KoPub돋움체 Bold"/>
              </a:rPr>
              <a:t>-Sync </a:t>
            </a:r>
            <a:r>
              <a:rPr sz="1000" dirty="0" err="1">
                <a:latin typeface="KoPub돋움체 Bold"/>
              </a:rPr>
              <a:t>핵심</a:t>
            </a:r>
            <a:r>
              <a:rPr sz="1000" dirty="0">
                <a:latin typeface="KoPub돋움체 Bold"/>
              </a:rPr>
              <a:t> </a:t>
            </a:r>
            <a:r>
              <a:rPr sz="1000" dirty="0" err="1">
                <a:latin typeface="KoPub돋움체 Bold"/>
              </a:rPr>
              <a:t>방어</a:t>
            </a:r>
            <a:r>
              <a:rPr sz="1000" dirty="0">
                <a:latin typeface="KoPub돋움체 Bold"/>
              </a:rPr>
              <a:t> </a:t>
            </a:r>
            <a:r>
              <a:rPr sz="1000" dirty="0" err="1">
                <a:latin typeface="KoPub돋움체 Bold"/>
              </a:rPr>
              <a:t>메커니즘</a:t>
            </a:r>
            <a:endParaRPr sz="1000" dirty="0">
              <a:latin typeface="KoPub돋움체 Bold"/>
            </a:endParaRPr>
          </a:p>
        </p:txBody>
      </p:sp>
      <p:sp>
        <p:nvSpPr>
          <p:cNvPr id="10" name="Rounded Rectangle 9"/>
          <p:cNvSpPr/>
          <p:nvPr/>
        </p:nvSpPr>
        <p:spPr>
          <a:xfrm>
            <a:off x="6557266" y="1440000"/>
            <a:ext cx="1989854" cy="270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00" b="1">
                <a:solidFill>
                  <a:srgbClr val="0E306D"/>
                </a:solidFill>
                <a:latin typeface="KoPub돋움체 Bold"/>
              </a:defRPr>
            </a:pPr>
            <a:r>
              <a:rPr sz="1000" dirty="0" err="1">
                <a:latin typeface="KoPub돋움체 Bold"/>
              </a:rPr>
              <a:t>실측</a:t>
            </a:r>
            <a:r>
              <a:rPr sz="1000" dirty="0">
                <a:latin typeface="KoPub돋움체 Bold"/>
              </a:rPr>
              <a:t> </a:t>
            </a:r>
            <a:r>
              <a:rPr sz="1000" dirty="0" err="1">
                <a:latin typeface="KoPub돋움체 Bold"/>
              </a:rPr>
              <a:t>검증</a:t>
            </a:r>
            <a:r>
              <a:rPr sz="1000" dirty="0">
                <a:latin typeface="KoPub돋움체 Bold"/>
              </a:rPr>
              <a:t> </a:t>
            </a:r>
            <a:r>
              <a:rPr sz="1000" dirty="0" err="1">
                <a:latin typeface="KoPub돋움체 Bold"/>
              </a:rPr>
              <a:t>결과</a:t>
            </a:r>
            <a:r>
              <a:rPr sz="1000" dirty="0">
                <a:latin typeface="KoPub돋움체 Bold"/>
              </a:rPr>
              <a:t> (With)</a:t>
            </a:r>
          </a:p>
        </p:txBody>
      </p:sp>
      <p:sp>
        <p:nvSpPr>
          <p:cNvPr id="11" name="Rounded Rectangle 10"/>
          <p:cNvSpPr/>
          <p:nvPr/>
        </p:nvSpPr>
        <p:spPr>
          <a:xfrm>
            <a:off x="8616466" y="1440000"/>
            <a:ext cx="762253" cy="270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00" b="1">
                <a:solidFill>
                  <a:srgbClr val="0E306D"/>
                </a:solidFill>
                <a:latin typeface="KoPub돋움체 Bold"/>
              </a:defRPr>
            </a:pPr>
            <a:r>
              <a:rPr sz="1000" dirty="0" err="1">
                <a:latin typeface="KoPub돋움체 Bold"/>
              </a:rPr>
              <a:t>불변식</a:t>
            </a:r>
            <a:r>
              <a:rPr sz="1000" dirty="0">
                <a:latin typeface="KoPub돋움체 Bold"/>
              </a:rPr>
              <a:t> </a:t>
            </a:r>
            <a:r>
              <a:rPr sz="1000" dirty="0" err="1">
                <a:latin typeface="KoPub돋움체 Bold"/>
              </a:rPr>
              <a:t>판정</a:t>
            </a:r>
            <a:endParaRPr sz="1000" dirty="0">
              <a:latin typeface="KoPub돋움체 Bold"/>
            </a:endParaRPr>
          </a:p>
        </p:txBody>
      </p:sp>
      <p:sp>
        <p:nvSpPr>
          <p:cNvPr id="12" name="Rounded Rectangle 11"/>
          <p:cNvSpPr/>
          <p:nvPr/>
        </p:nvSpPr>
        <p:spPr>
          <a:xfrm>
            <a:off x="432000" y="1764000"/>
            <a:ext cx="9054720" cy="954000"/>
          </a:xfrm>
          <a:prstGeom prst="roundRect">
            <a:avLst>
              <a:gd name="adj" fmla="val 11342"/>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8000" y="1818000"/>
            <a:ext cx="1872000" cy="521618"/>
          </a:xfrm>
          <a:prstGeom prst="rect">
            <a:avLst/>
          </a:prstGeom>
          <a:noFill/>
        </p:spPr>
        <p:txBody>
          <a:bodyPr wrap="square" lIns="0" tIns="0" rIns="0" bIns="0">
            <a:spAutoFit/>
          </a:bodyPr>
          <a:lstStyle/>
          <a:p>
            <a:pPr>
              <a:lnSpc>
                <a:spcPct val="115000"/>
              </a:lnSpc>
              <a:defRPr sz="720" b="1">
                <a:solidFill>
                  <a:srgbClr val="0E306D"/>
                </a:solidFill>
                <a:latin typeface="KoPub돋움체 Bold"/>
              </a:defRPr>
            </a:pPr>
            <a:endParaRPr lang="en-US" sz="1000" dirty="0">
              <a:latin typeface="KoPub돋움체 Bold"/>
            </a:endParaRPr>
          </a:p>
          <a:p>
            <a:pPr>
              <a:lnSpc>
                <a:spcPct val="115000"/>
              </a:lnSpc>
              <a:defRPr sz="720" b="1">
                <a:solidFill>
                  <a:srgbClr val="0E306D"/>
                </a:solidFill>
                <a:latin typeface="KoPub돋움체 Bold"/>
              </a:defRPr>
            </a:pPr>
            <a:r>
              <a:rPr sz="1000" dirty="0">
                <a:latin typeface="KoPub돋움체 Bold"/>
              </a:rPr>
              <a:t>1) Policy DB </a:t>
            </a:r>
            <a:r>
              <a:rPr sz="1000" dirty="0" err="1">
                <a:latin typeface="KoPub돋움체 Bold"/>
              </a:rPr>
              <a:t>다운</a:t>
            </a:r>
            <a:r>
              <a:rPr sz="1000" dirty="0">
                <a:latin typeface="KoPub돋움체 Bold"/>
              </a:rPr>
              <a:t> &amp; </a:t>
            </a:r>
            <a:r>
              <a:rPr sz="1000" dirty="0" err="1">
                <a:latin typeface="KoPub돋움체 Bold"/>
              </a:rPr>
              <a:t>복구</a:t>
            </a:r>
            <a:br>
              <a:rPr sz="1000" dirty="0"/>
            </a:br>
            <a:r>
              <a:rPr sz="1000" dirty="0">
                <a:latin typeface="KoPub돋움체 Bold"/>
              </a:rPr>
              <a:t>(</a:t>
            </a:r>
            <a:r>
              <a:rPr sz="1000" dirty="0" err="1">
                <a:latin typeface="KoPub돋움체 Bold"/>
              </a:rPr>
              <a:t>서킷</a:t>
            </a:r>
            <a:r>
              <a:rPr sz="1000" dirty="0">
                <a:latin typeface="KoPub돋움체 Bold"/>
              </a:rPr>
              <a:t> </a:t>
            </a:r>
            <a:r>
              <a:rPr sz="1000" dirty="0" err="1">
                <a:latin typeface="KoPub돋움체 Bold"/>
              </a:rPr>
              <a:t>브레이커</a:t>
            </a:r>
            <a:r>
              <a:rPr sz="1000" dirty="0">
                <a:latin typeface="KoPub돋움체 Bold"/>
              </a:rPr>
              <a:t> &amp; </a:t>
            </a:r>
            <a:r>
              <a:rPr sz="1000" dirty="0" err="1">
                <a:latin typeface="KoPub돋움체 Bold"/>
              </a:rPr>
              <a:t>디바운스</a:t>
            </a:r>
            <a:r>
              <a:rPr sz="1000" dirty="0">
                <a:latin typeface="KoPub돋움체 Bold"/>
              </a:rPr>
              <a:t>)</a:t>
            </a:r>
          </a:p>
        </p:txBody>
      </p:sp>
      <p:sp>
        <p:nvSpPr>
          <p:cNvPr id="14" name="TextBox 13"/>
          <p:cNvSpPr txBox="1"/>
          <p:nvPr/>
        </p:nvSpPr>
        <p:spPr>
          <a:xfrm>
            <a:off x="2448000" y="1818000"/>
            <a:ext cx="1872000" cy="669735"/>
          </a:xfrm>
          <a:prstGeom prst="rect">
            <a:avLst/>
          </a:prstGeom>
          <a:noFill/>
        </p:spPr>
        <p:txBody>
          <a:bodyPr wrap="square" lIns="0" tIns="0" rIns="0" bIns="0">
            <a:spAutoFit/>
          </a:bodyPr>
          <a:lstStyle/>
          <a:p>
            <a:pPr>
              <a:lnSpc>
                <a:spcPct val="150000"/>
              </a:lnSpc>
              <a:defRPr sz="720" b="0">
                <a:solidFill>
                  <a:srgbClr val="B91C1C"/>
                </a:solidFill>
                <a:latin typeface="KoPub돋움체 Medium"/>
              </a:defRPr>
            </a:pPr>
            <a:r>
              <a:rPr sz="1000" dirty="0">
                <a:latin typeface="KoPub돋움체 Medium"/>
              </a:rPr>
              <a:t>• </a:t>
            </a:r>
            <a:r>
              <a:rPr sz="1000" dirty="0" err="1">
                <a:latin typeface="KoPub돋움체 Medium"/>
              </a:rPr>
              <a:t>게이트웨이</a:t>
            </a:r>
            <a:r>
              <a:rPr sz="1000" dirty="0">
                <a:latin typeface="KoPub돋움체 Medium"/>
              </a:rPr>
              <a:t> </a:t>
            </a:r>
            <a:r>
              <a:rPr sz="1000" dirty="0" err="1">
                <a:latin typeface="KoPub돋움체 Medium"/>
              </a:rPr>
              <a:t>스레드</a:t>
            </a:r>
            <a:r>
              <a:rPr sz="1000" dirty="0">
                <a:latin typeface="KoPub돋움체 Medium"/>
              </a:rPr>
              <a:t> 풀 </a:t>
            </a:r>
            <a:r>
              <a:rPr sz="1000" dirty="0" err="1">
                <a:latin typeface="KoPub돋움체 Medium"/>
              </a:rPr>
              <a:t>고갈</a:t>
            </a:r>
            <a:br>
              <a:rPr sz="1000" dirty="0"/>
            </a:br>
            <a:r>
              <a:rPr sz="1000" dirty="0">
                <a:latin typeface="KoPub돋움체 Medium"/>
              </a:rPr>
              <a:t>• DB </a:t>
            </a:r>
            <a:r>
              <a:rPr sz="1000" dirty="0" err="1">
                <a:latin typeface="KoPub돋움체 Medium"/>
              </a:rPr>
              <a:t>타임아웃</a:t>
            </a:r>
            <a:r>
              <a:rPr sz="1000" dirty="0">
                <a:latin typeface="KoPub돋움체 Medium"/>
              </a:rPr>
              <a:t> </a:t>
            </a:r>
            <a:r>
              <a:rPr sz="1000" dirty="0" err="1">
                <a:latin typeface="KoPub돋움체 Medium"/>
              </a:rPr>
              <a:t>지연</a:t>
            </a:r>
            <a:r>
              <a:rPr sz="1000" dirty="0">
                <a:latin typeface="KoPub돋움체 Medium"/>
              </a:rPr>
              <a:t> </a:t>
            </a:r>
            <a:r>
              <a:rPr sz="1000" dirty="0" err="1">
                <a:latin typeface="KoPub돋움체 Medium"/>
              </a:rPr>
              <a:t>누적</a:t>
            </a:r>
            <a:r>
              <a:rPr sz="1000" dirty="0">
                <a:latin typeface="KoPub돋움체 Medium"/>
              </a:rPr>
              <a:t>(1.0s)</a:t>
            </a:r>
            <a:br>
              <a:rPr sz="1000" dirty="0"/>
            </a:br>
            <a:r>
              <a:rPr sz="1000" dirty="0">
                <a:latin typeface="KoPub돋움체 Medium"/>
              </a:rPr>
              <a:t>• </a:t>
            </a:r>
            <a:r>
              <a:rPr sz="1000" dirty="0" err="1">
                <a:latin typeface="KoPub돋움체 Medium"/>
              </a:rPr>
              <a:t>복구</a:t>
            </a:r>
            <a:r>
              <a:rPr sz="1000" dirty="0">
                <a:latin typeface="KoPub돋움체 Medium"/>
              </a:rPr>
              <a:t> </a:t>
            </a:r>
            <a:r>
              <a:rPr sz="1000" dirty="0" err="1">
                <a:latin typeface="KoPub돋움체 Medium"/>
              </a:rPr>
              <a:t>직후</a:t>
            </a:r>
            <a:r>
              <a:rPr sz="1000" dirty="0">
                <a:latin typeface="KoPub돋움체 Medium"/>
              </a:rPr>
              <a:t> </a:t>
            </a:r>
            <a:r>
              <a:rPr sz="1000" dirty="0" err="1">
                <a:latin typeface="KoPub돋움체 Medium"/>
              </a:rPr>
              <a:t>서킷</a:t>
            </a:r>
            <a:r>
              <a:rPr sz="1000" dirty="0">
                <a:latin typeface="KoPub돋움체 Medium"/>
              </a:rPr>
              <a:t> </a:t>
            </a:r>
            <a:r>
              <a:rPr sz="1000" dirty="0" err="1">
                <a:latin typeface="KoPub돋움체 Medium"/>
              </a:rPr>
              <a:t>플래핑</a:t>
            </a:r>
            <a:r>
              <a:rPr sz="1000" dirty="0">
                <a:latin typeface="KoPub돋움체 Medium"/>
              </a:rPr>
              <a:t> </a:t>
            </a:r>
            <a:r>
              <a:rPr sz="1000" dirty="0" err="1">
                <a:latin typeface="KoPub돋움체 Medium"/>
              </a:rPr>
              <a:t>재붕괴</a:t>
            </a:r>
            <a:endParaRPr sz="1000" dirty="0">
              <a:latin typeface="KoPub돋움체 Medium"/>
            </a:endParaRPr>
          </a:p>
        </p:txBody>
      </p:sp>
      <p:sp>
        <p:nvSpPr>
          <p:cNvPr id="15" name="TextBox 14"/>
          <p:cNvSpPr txBox="1"/>
          <p:nvPr/>
        </p:nvSpPr>
        <p:spPr>
          <a:xfrm>
            <a:off x="4428000" y="1818000"/>
            <a:ext cx="2232000" cy="669735"/>
          </a:xfrm>
          <a:prstGeom prst="rect">
            <a:avLst/>
          </a:prstGeom>
          <a:noFill/>
        </p:spPr>
        <p:txBody>
          <a:bodyPr wrap="square" lIns="0" tIns="0" rIns="0" bIns="0">
            <a:spAutoFit/>
          </a:bodyPr>
          <a:lstStyle/>
          <a:p>
            <a:pPr>
              <a:lnSpc>
                <a:spcPct val="150000"/>
              </a:lnSpc>
              <a:defRPr sz="720" b="0">
                <a:solidFill>
                  <a:srgbClr val="0F172A"/>
                </a:solidFill>
                <a:latin typeface="KoPub돋움체 Medium"/>
              </a:defRPr>
            </a:pPr>
            <a:r>
              <a:rPr sz="1000" dirty="0">
                <a:latin typeface="KoPub돋움체 Medium"/>
              </a:rPr>
              <a:t>• </a:t>
            </a:r>
            <a:r>
              <a:rPr sz="1000" dirty="0" err="1">
                <a:latin typeface="KoPub돋움체 Medium"/>
              </a:rPr>
              <a:t>연속</a:t>
            </a:r>
            <a:r>
              <a:rPr sz="1000" dirty="0">
                <a:latin typeface="KoPub돋움체 Medium"/>
              </a:rPr>
              <a:t> 3회 </a:t>
            </a:r>
            <a:r>
              <a:rPr sz="1000" dirty="0" err="1">
                <a:latin typeface="KoPub돋움체 Medium"/>
              </a:rPr>
              <a:t>실패</a:t>
            </a:r>
            <a:r>
              <a:rPr sz="1000" dirty="0">
                <a:latin typeface="KoPub돋움체 Medium"/>
              </a:rPr>
              <a:t> 시 OPEN </a:t>
            </a:r>
            <a:r>
              <a:rPr sz="1000" dirty="0" err="1">
                <a:latin typeface="KoPub돋움체 Medium"/>
              </a:rPr>
              <a:t>격리</a:t>
            </a:r>
            <a:r>
              <a:rPr sz="1000" dirty="0">
                <a:latin typeface="KoPub돋움체 Medium"/>
              </a:rPr>
              <a:t> (0.1ms)</a:t>
            </a:r>
            <a:br>
              <a:rPr sz="1000" dirty="0"/>
            </a:br>
            <a:r>
              <a:rPr sz="1000" dirty="0">
                <a:latin typeface="KoPub돋움체 Medium"/>
              </a:rPr>
              <a:t>• 2.0s </a:t>
            </a:r>
            <a:r>
              <a:rPr sz="1000" dirty="0" err="1">
                <a:latin typeface="KoPub돋움체 Medium"/>
              </a:rPr>
              <a:t>디바운스</a:t>
            </a:r>
            <a:r>
              <a:rPr sz="1000" dirty="0">
                <a:latin typeface="KoPub돋움체 Medium"/>
              </a:rPr>
              <a:t>(CB_DEBOUNCE_SEC)</a:t>
            </a:r>
            <a:br>
              <a:rPr sz="1000" dirty="0"/>
            </a:br>
            <a:r>
              <a:rPr sz="1000" dirty="0">
                <a:latin typeface="KoPub돋움체 Medium"/>
              </a:rPr>
              <a:t>• </a:t>
            </a:r>
            <a:r>
              <a:rPr sz="1000" dirty="0" err="1">
                <a:latin typeface="KoPub돋움체 Medium"/>
              </a:rPr>
              <a:t>probe_semaphore</a:t>
            </a:r>
            <a:r>
              <a:rPr sz="1000" dirty="0">
                <a:latin typeface="KoPub돋움체 Medium"/>
              </a:rPr>
              <a:t>(1) </a:t>
            </a:r>
            <a:r>
              <a:rPr sz="1000" dirty="0" err="1">
                <a:latin typeface="KoPub돋움체 Medium"/>
              </a:rPr>
              <a:t>선발대</a:t>
            </a:r>
            <a:r>
              <a:rPr sz="1000" dirty="0">
                <a:latin typeface="KoPub돋움체 Medium"/>
              </a:rPr>
              <a:t> </a:t>
            </a:r>
            <a:r>
              <a:rPr sz="1000" dirty="0" err="1">
                <a:latin typeface="KoPub돋움체 Medium"/>
              </a:rPr>
              <a:t>검증</a:t>
            </a:r>
            <a:endParaRPr sz="1000" dirty="0">
              <a:latin typeface="KoPub돋움체 Medium"/>
            </a:endParaRPr>
          </a:p>
        </p:txBody>
      </p:sp>
      <p:sp>
        <p:nvSpPr>
          <p:cNvPr id="16" name="TextBox 15"/>
          <p:cNvSpPr txBox="1"/>
          <p:nvPr/>
        </p:nvSpPr>
        <p:spPr>
          <a:xfrm>
            <a:off x="6557267" y="1808000"/>
            <a:ext cx="2232000" cy="669735"/>
          </a:xfrm>
          <a:prstGeom prst="rect">
            <a:avLst/>
          </a:prstGeom>
          <a:noFill/>
        </p:spPr>
        <p:txBody>
          <a:bodyPr wrap="square" lIns="0" tIns="0" rIns="0" bIns="0">
            <a:spAutoFit/>
          </a:bodyPr>
          <a:lstStyle/>
          <a:p>
            <a:pPr>
              <a:lnSpc>
                <a:spcPct val="150000"/>
              </a:lnSpc>
              <a:defRPr sz="720" b="0">
                <a:solidFill>
                  <a:srgbClr val="009A93"/>
                </a:solidFill>
                <a:latin typeface="KoPub돋움체 Medium"/>
              </a:defRPr>
            </a:pPr>
            <a:r>
              <a:rPr sz="1000" dirty="0">
                <a:latin typeface="KoPub돋움체 Medium"/>
              </a:rPr>
              <a:t>• 0.1ms </a:t>
            </a:r>
            <a:r>
              <a:rPr sz="1000" dirty="0" err="1">
                <a:latin typeface="KoPub돋움체 Medium"/>
              </a:rPr>
              <a:t>고속</a:t>
            </a:r>
            <a:r>
              <a:rPr sz="1000" dirty="0">
                <a:latin typeface="KoPub돋움체 Medium"/>
              </a:rPr>
              <a:t> </a:t>
            </a:r>
            <a:r>
              <a:rPr sz="1000" dirty="0" err="1">
                <a:latin typeface="KoPub돋움체 Medium"/>
              </a:rPr>
              <a:t>차단으로</a:t>
            </a:r>
            <a:r>
              <a:rPr sz="1000" dirty="0">
                <a:latin typeface="KoPub돋움체 Medium"/>
              </a:rPr>
              <a:t> </a:t>
            </a:r>
            <a:r>
              <a:rPr sz="1000" dirty="0" err="1">
                <a:latin typeface="KoPub돋움체 Medium"/>
              </a:rPr>
              <a:t>연쇄</a:t>
            </a:r>
            <a:r>
              <a:rPr sz="1000" dirty="0">
                <a:latin typeface="KoPub돋움체 Medium"/>
              </a:rPr>
              <a:t> </a:t>
            </a:r>
            <a:r>
              <a:rPr sz="1000" dirty="0" err="1">
                <a:latin typeface="KoPub돋움체 Medium"/>
              </a:rPr>
              <a:t>방지</a:t>
            </a:r>
            <a:br>
              <a:rPr sz="1000" dirty="0"/>
            </a:br>
            <a:r>
              <a:rPr sz="1000" dirty="0">
                <a:latin typeface="KoPub돋움체 Medium"/>
              </a:rPr>
              <a:t>• </a:t>
            </a:r>
            <a:r>
              <a:rPr sz="1000" dirty="0" err="1">
                <a:latin typeface="KoPub돋움체 Medium"/>
              </a:rPr>
              <a:t>서킷</a:t>
            </a:r>
            <a:r>
              <a:rPr sz="1000" dirty="0">
                <a:latin typeface="KoPub돋움체 Medium"/>
              </a:rPr>
              <a:t> </a:t>
            </a:r>
            <a:r>
              <a:rPr sz="1000" dirty="0" err="1">
                <a:latin typeface="KoPub돋움체 Medium"/>
              </a:rPr>
              <a:t>플래핑</a:t>
            </a:r>
            <a:r>
              <a:rPr sz="1000" dirty="0">
                <a:latin typeface="KoPub돋움체 Medium"/>
              </a:rPr>
              <a:t>: 0회 (</a:t>
            </a:r>
            <a:r>
              <a:rPr sz="1000" dirty="0" err="1">
                <a:latin typeface="KoPub돋움체 Medium"/>
              </a:rPr>
              <a:t>완벽</a:t>
            </a:r>
            <a:r>
              <a:rPr sz="1000" dirty="0">
                <a:latin typeface="KoPub돋움체 Medium"/>
              </a:rPr>
              <a:t> </a:t>
            </a:r>
            <a:r>
              <a:rPr sz="1000" dirty="0" err="1">
                <a:latin typeface="KoPub돋움체 Medium"/>
              </a:rPr>
              <a:t>방어</a:t>
            </a:r>
            <a:r>
              <a:rPr sz="1000" dirty="0">
                <a:latin typeface="KoPub돋움체 Medium"/>
              </a:rPr>
              <a:t>)</a:t>
            </a:r>
            <a:br>
              <a:rPr sz="1000" dirty="0"/>
            </a:br>
            <a:r>
              <a:rPr sz="1000" dirty="0">
                <a:latin typeface="KoPub돋움체 Medium"/>
              </a:rPr>
              <a:t>• </a:t>
            </a:r>
            <a:r>
              <a:rPr sz="1000" dirty="0" err="1">
                <a:latin typeface="KoPub돋움체 Medium"/>
              </a:rPr>
              <a:t>일반</a:t>
            </a:r>
            <a:r>
              <a:rPr sz="1000" dirty="0">
                <a:latin typeface="KoPub돋움체 Medium"/>
              </a:rPr>
              <a:t> </a:t>
            </a:r>
            <a:r>
              <a:rPr sz="1000" dirty="0" err="1">
                <a:latin typeface="KoPub돋움체 Medium"/>
              </a:rPr>
              <a:t>정책</a:t>
            </a:r>
            <a:r>
              <a:rPr sz="1000" dirty="0">
                <a:latin typeface="KoPub돋움체 Medium"/>
              </a:rPr>
              <a:t> degraded / </a:t>
            </a:r>
            <a:r>
              <a:rPr sz="1000" dirty="0" err="1">
                <a:latin typeface="KoPub돋움체 Medium"/>
              </a:rPr>
              <a:t>PoP</a:t>
            </a:r>
            <a:r>
              <a:rPr sz="1000" dirty="0">
                <a:latin typeface="KoPub돋움체 Medium"/>
              </a:rPr>
              <a:t> 503</a:t>
            </a:r>
          </a:p>
        </p:txBody>
      </p:sp>
      <p:sp>
        <p:nvSpPr>
          <p:cNvPr id="17" name="Rounded Rectangle 16"/>
          <p:cNvSpPr/>
          <p:nvPr/>
        </p:nvSpPr>
        <p:spPr>
          <a:xfrm>
            <a:off x="8691707" y="1944000"/>
            <a:ext cx="632292" cy="576000"/>
          </a:xfrm>
          <a:prstGeom prst="roundRect">
            <a:avLst/>
          </a:prstGeom>
          <a:solidFill>
            <a:srgbClr val="E3F3F2"/>
          </a:solidFill>
          <a:ln>
            <a:solidFill>
              <a:srgbClr val="A7F3D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009A93"/>
                </a:solidFill>
                <a:latin typeface="KoPub돋움체 Bold"/>
              </a:defRPr>
            </a:pPr>
            <a:r>
              <a:rPr dirty="0">
                <a:latin typeface="KoPub돋움체 Bold"/>
              </a:rPr>
              <a:t>PASS</a:t>
            </a:r>
          </a:p>
        </p:txBody>
      </p:sp>
      <p:sp>
        <p:nvSpPr>
          <p:cNvPr id="18" name="Rounded Rectangle 17"/>
          <p:cNvSpPr/>
          <p:nvPr/>
        </p:nvSpPr>
        <p:spPr>
          <a:xfrm>
            <a:off x="432000" y="2772000"/>
            <a:ext cx="9054720" cy="954000"/>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68000" y="2826000"/>
            <a:ext cx="1872000" cy="521618"/>
          </a:xfrm>
          <a:prstGeom prst="rect">
            <a:avLst/>
          </a:prstGeom>
          <a:noFill/>
        </p:spPr>
        <p:txBody>
          <a:bodyPr wrap="square" lIns="0" tIns="0" rIns="0" bIns="0">
            <a:spAutoFit/>
          </a:bodyPr>
          <a:lstStyle/>
          <a:p>
            <a:pPr>
              <a:lnSpc>
                <a:spcPct val="115000"/>
              </a:lnSpc>
              <a:defRPr sz="720" b="1">
                <a:solidFill>
                  <a:srgbClr val="0E306D"/>
                </a:solidFill>
                <a:latin typeface="KoPub돋움체 Bold"/>
              </a:defRPr>
            </a:pPr>
            <a:endParaRPr lang="en-US" sz="1000" dirty="0">
              <a:latin typeface="KoPub돋움체 Bold"/>
            </a:endParaRPr>
          </a:p>
          <a:p>
            <a:pPr>
              <a:lnSpc>
                <a:spcPct val="115000"/>
              </a:lnSpc>
              <a:defRPr sz="720" b="1">
                <a:solidFill>
                  <a:srgbClr val="0E306D"/>
                </a:solidFill>
                <a:latin typeface="KoPub돋움체 Bold"/>
              </a:defRPr>
            </a:pPr>
            <a:r>
              <a:rPr sz="1000" dirty="0">
                <a:latin typeface="KoPub돋움체 Bold"/>
              </a:rPr>
              <a:t>2) </a:t>
            </a:r>
            <a:r>
              <a:rPr sz="1000" dirty="0" err="1">
                <a:latin typeface="KoPub돋움체 Bold"/>
              </a:rPr>
              <a:t>중앙</a:t>
            </a:r>
            <a:r>
              <a:rPr sz="1000" dirty="0">
                <a:latin typeface="KoPub돋움체 Bold"/>
              </a:rPr>
              <a:t> Redis </a:t>
            </a:r>
            <a:r>
              <a:rPr sz="1000" dirty="0" err="1">
                <a:latin typeface="KoPub돋움체 Bold"/>
              </a:rPr>
              <a:t>마비</a:t>
            </a:r>
            <a:br>
              <a:rPr sz="1000" dirty="0"/>
            </a:br>
            <a:r>
              <a:rPr sz="1000" dirty="0">
                <a:latin typeface="KoPub돋움체 Bold"/>
              </a:rPr>
              <a:t>(</a:t>
            </a:r>
            <a:r>
              <a:rPr sz="1000" dirty="0" err="1">
                <a:latin typeface="KoPub돋움체 Bold"/>
              </a:rPr>
              <a:t>이원화</a:t>
            </a:r>
            <a:r>
              <a:rPr sz="1000" dirty="0">
                <a:latin typeface="KoPub돋움체 Bold"/>
              </a:rPr>
              <a:t> </a:t>
            </a:r>
            <a:r>
              <a:rPr sz="1000" dirty="0" err="1">
                <a:latin typeface="KoPub돋움체 Bold"/>
              </a:rPr>
              <a:t>격리</a:t>
            </a:r>
            <a:r>
              <a:rPr sz="1000" dirty="0">
                <a:latin typeface="KoPub돋움체 Bold"/>
              </a:rPr>
              <a:t> </a:t>
            </a:r>
            <a:r>
              <a:rPr sz="1000" dirty="0" err="1">
                <a:latin typeface="KoPub돋움체 Bold"/>
              </a:rPr>
              <a:t>전략</a:t>
            </a:r>
            <a:r>
              <a:rPr sz="1000" dirty="0">
                <a:latin typeface="KoPub돋움체 Bold"/>
              </a:rPr>
              <a:t>)</a:t>
            </a:r>
          </a:p>
        </p:txBody>
      </p:sp>
      <p:sp>
        <p:nvSpPr>
          <p:cNvPr id="20" name="TextBox 19"/>
          <p:cNvSpPr txBox="1"/>
          <p:nvPr/>
        </p:nvSpPr>
        <p:spPr>
          <a:xfrm>
            <a:off x="2448000" y="2826000"/>
            <a:ext cx="1872000" cy="669735"/>
          </a:xfrm>
          <a:prstGeom prst="rect">
            <a:avLst/>
          </a:prstGeom>
          <a:noFill/>
        </p:spPr>
        <p:txBody>
          <a:bodyPr wrap="square" lIns="0" tIns="0" rIns="0" bIns="0">
            <a:spAutoFit/>
          </a:bodyPr>
          <a:lstStyle/>
          <a:p>
            <a:pPr>
              <a:lnSpc>
                <a:spcPct val="150000"/>
              </a:lnSpc>
              <a:defRPr sz="720" b="0">
                <a:solidFill>
                  <a:srgbClr val="B91C1C"/>
                </a:solidFill>
                <a:latin typeface="KoPub돋움체 Medium"/>
              </a:defRPr>
            </a:pPr>
            <a:r>
              <a:rPr sz="1000" dirty="0">
                <a:latin typeface="KoPub돋움체 Medium"/>
              </a:rPr>
              <a:t>• </a:t>
            </a:r>
            <a:r>
              <a:rPr sz="1000" dirty="0" err="1">
                <a:latin typeface="KoPub돋움체 Medium"/>
              </a:rPr>
              <a:t>분산</a:t>
            </a:r>
            <a:r>
              <a:rPr sz="1000" dirty="0">
                <a:latin typeface="KoPub돋움체 Medium"/>
              </a:rPr>
              <a:t> 락 및 </a:t>
            </a:r>
            <a:r>
              <a:rPr sz="1000" dirty="0" err="1">
                <a:latin typeface="KoPub돋움체 Medium"/>
              </a:rPr>
              <a:t>유량</a:t>
            </a:r>
            <a:r>
              <a:rPr sz="1000" dirty="0">
                <a:latin typeface="KoPub돋움체 Medium"/>
              </a:rPr>
              <a:t> </a:t>
            </a:r>
            <a:r>
              <a:rPr sz="1000" dirty="0" err="1">
                <a:latin typeface="KoPub돋움체 Medium"/>
              </a:rPr>
              <a:t>카운터</a:t>
            </a:r>
            <a:r>
              <a:rPr sz="1000" dirty="0">
                <a:latin typeface="KoPub돋움체 Medium"/>
              </a:rPr>
              <a:t> </a:t>
            </a:r>
            <a:r>
              <a:rPr sz="1000" dirty="0" err="1">
                <a:latin typeface="KoPub돋움체 Medium"/>
              </a:rPr>
              <a:t>전멸</a:t>
            </a:r>
            <a:br>
              <a:rPr sz="1000" dirty="0"/>
            </a:br>
            <a:r>
              <a:rPr sz="1000" dirty="0">
                <a:latin typeface="KoPub돋움체 Medium"/>
              </a:rPr>
              <a:t>• </a:t>
            </a:r>
            <a:r>
              <a:rPr sz="1000" dirty="0" err="1">
                <a:latin typeface="KoPub돋움체 Medium"/>
              </a:rPr>
              <a:t>동일</a:t>
            </a:r>
            <a:r>
              <a:rPr sz="1000" dirty="0">
                <a:latin typeface="KoPub돋움체 Medium"/>
              </a:rPr>
              <a:t> 키 </a:t>
            </a:r>
            <a:r>
              <a:rPr sz="1000" dirty="0" err="1">
                <a:latin typeface="KoPub돋움체 Medium"/>
              </a:rPr>
              <a:t>동시</a:t>
            </a:r>
            <a:r>
              <a:rPr sz="1000" dirty="0">
                <a:latin typeface="KoPub돋움체 Medium"/>
              </a:rPr>
              <a:t> </a:t>
            </a:r>
            <a:r>
              <a:rPr sz="1000" dirty="0" err="1">
                <a:latin typeface="KoPub돋움체 Medium"/>
              </a:rPr>
              <a:t>폭주</a:t>
            </a:r>
            <a:r>
              <a:rPr sz="1000" dirty="0">
                <a:latin typeface="KoPub돋움체 Medium"/>
              </a:rPr>
              <a:t> 시 DB </a:t>
            </a:r>
            <a:r>
              <a:rPr sz="1000" dirty="0" err="1">
                <a:latin typeface="KoPub돋움체 Medium"/>
              </a:rPr>
              <a:t>붕괴</a:t>
            </a:r>
            <a:br>
              <a:rPr sz="1000" dirty="0"/>
            </a:br>
            <a:r>
              <a:rPr sz="1000" dirty="0">
                <a:latin typeface="KoPub돋움체 Medium"/>
              </a:rPr>
              <a:t>• </a:t>
            </a:r>
            <a:r>
              <a:rPr sz="1000" dirty="0" err="1">
                <a:latin typeface="KoPub돋움체 Medium"/>
              </a:rPr>
              <a:t>리플레이</a:t>
            </a:r>
            <a:r>
              <a:rPr sz="1000" dirty="0">
                <a:latin typeface="KoPub돋움체 Medium"/>
              </a:rPr>
              <a:t> </a:t>
            </a:r>
            <a:r>
              <a:rPr sz="1000" dirty="0" err="1">
                <a:latin typeface="KoPub돋움체 Medium"/>
              </a:rPr>
              <a:t>공격</a:t>
            </a:r>
            <a:r>
              <a:rPr sz="1000" dirty="0">
                <a:latin typeface="KoPub돋움체 Medium"/>
              </a:rPr>
              <a:t> </a:t>
            </a:r>
            <a:r>
              <a:rPr sz="1000" dirty="0" err="1">
                <a:latin typeface="KoPub돋움체 Medium"/>
              </a:rPr>
              <a:t>무방비</a:t>
            </a:r>
            <a:r>
              <a:rPr sz="1000" dirty="0">
                <a:latin typeface="KoPub돋움체 Medium"/>
              </a:rPr>
              <a:t> </a:t>
            </a:r>
            <a:r>
              <a:rPr sz="1000" dirty="0" err="1">
                <a:latin typeface="KoPub돋움체 Medium"/>
              </a:rPr>
              <a:t>노출</a:t>
            </a:r>
            <a:endParaRPr sz="1000" dirty="0">
              <a:latin typeface="KoPub돋움체 Medium"/>
            </a:endParaRPr>
          </a:p>
        </p:txBody>
      </p:sp>
      <p:sp>
        <p:nvSpPr>
          <p:cNvPr id="21" name="TextBox 20"/>
          <p:cNvSpPr txBox="1"/>
          <p:nvPr/>
        </p:nvSpPr>
        <p:spPr>
          <a:xfrm>
            <a:off x="4428000" y="2826000"/>
            <a:ext cx="2232000" cy="669735"/>
          </a:xfrm>
          <a:prstGeom prst="rect">
            <a:avLst/>
          </a:prstGeom>
          <a:noFill/>
        </p:spPr>
        <p:txBody>
          <a:bodyPr wrap="square" lIns="0" tIns="0" rIns="0" bIns="0">
            <a:spAutoFit/>
          </a:bodyPr>
          <a:lstStyle/>
          <a:p>
            <a:pPr>
              <a:lnSpc>
                <a:spcPct val="150000"/>
              </a:lnSpc>
              <a:defRPr sz="720" b="0">
                <a:solidFill>
                  <a:srgbClr val="0F172A"/>
                </a:solidFill>
                <a:latin typeface="KoPub돋움체 Medium"/>
              </a:defRPr>
            </a:pPr>
            <a:r>
              <a:rPr sz="1000" dirty="0">
                <a:latin typeface="KoPub돋움체 Medium"/>
              </a:rPr>
              <a:t>• Nonce </a:t>
            </a:r>
            <a:r>
              <a:rPr sz="1000" dirty="0" err="1">
                <a:latin typeface="KoPub돋움체 Medium"/>
              </a:rPr>
              <a:t>검증</a:t>
            </a:r>
            <a:r>
              <a:rPr sz="1000" dirty="0">
                <a:latin typeface="KoPub돋움체 Medium"/>
              </a:rPr>
              <a:t>: 503 Fail-Closed </a:t>
            </a:r>
            <a:r>
              <a:rPr sz="1000" dirty="0" err="1">
                <a:latin typeface="KoPub돋움체 Medium"/>
              </a:rPr>
              <a:t>차단</a:t>
            </a:r>
            <a:br>
              <a:rPr sz="1000" dirty="0"/>
            </a:br>
            <a:r>
              <a:rPr sz="1000" dirty="0">
                <a:latin typeface="KoPub돋움체 Medium"/>
              </a:rPr>
              <a:t>• </a:t>
            </a:r>
            <a:r>
              <a:rPr sz="1000" dirty="0" err="1">
                <a:latin typeface="KoPub돋움체 Medium"/>
              </a:rPr>
              <a:t>유량</a:t>
            </a:r>
            <a:r>
              <a:rPr sz="1000" dirty="0">
                <a:latin typeface="KoPub돋움체 Medium"/>
              </a:rPr>
              <a:t> </a:t>
            </a:r>
            <a:r>
              <a:rPr sz="1000" dirty="0" err="1">
                <a:latin typeface="KoPub돋움체 Medium"/>
              </a:rPr>
              <a:t>제어</a:t>
            </a:r>
            <a:r>
              <a:rPr sz="1000" dirty="0">
                <a:latin typeface="KoPub돋움체 Medium"/>
              </a:rPr>
              <a:t>: </a:t>
            </a:r>
            <a:r>
              <a:rPr sz="1000" dirty="0" err="1">
                <a:latin typeface="KoPub돋움체 Medium"/>
              </a:rPr>
              <a:t>로컬</a:t>
            </a:r>
            <a:r>
              <a:rPr sz="1000" dirty="0">
                <a:latin typeface="KoPub돋움체 Medium"/>
              </a:rPr>
              <a:t> LRU </a:t>
            </a:r>
            <a:r>
              <a:rPr sz="1000" dirty="0" err="1">
                <a:latin typeface="KoPub돋움체 Medium"/>
              </a:rPr>
              <a:t>카운터</a:t>
            </a:r>
            <a:r>
              <a:rPr sz="1000" dirty="0">
                <a:latin typeface="KoPub돋움체 Medium"/>
              </a:rPr>
              <a:t> </a:t>
            </a:r>
            <a:r>
              <a:rPr sz="1000" dirty="0" err="1">
                <a:latin typeface="KoPub돋움체 Medium"/>
              </a:rPr>
              <a:t>폴백</a:t>
            </a:r>
            <a:br>
              <a:rPr sz="1000" dirty="0"/>
            </a:br>
            <a:r>
              <a:rPr sz="1000" dirty="0">
                <a:latin typeface="KoPub돋움체 Medium"/>
              </a:rPr>
              <a:t>• </a:t>
            </a:r>
            <a:r>
              <a:rPr sz="1000" dirty="0" err="1">
                <a:latin typeface="KoPub돋움체 Medium"/>
              </a:rPr>
              <a:t>노드당</a:t>
            </a:r>
            <a:r>
              <a:rPr sz="1000" dirty="0">
                <a:latin typeface="KoPub돋움체 Medium"/>
              </a:rPr>
              <a:t> 10초 15건 </a:t>
            </a:r>
            <a:r>
              <a:rPr sz="1000" dirty="0" err="1">
                <a:latin typeface="KoPub돋움체 Medium"/>
              </a:rPr>
              <a:t>비상</a:t>
            </a:r>
            <a:r>
              <a:rPr sz="1000" dirty="0">
                <a:latin typeface="KoPub돋움체 Medium"/>
              </a:rPr>
              <a:t> </a:t>
            </a:r>
            <a:r>
              <a:rPr sz="1000" dirty="0" err="1">
                <a:latin typeface="KoPub돋움체 Medium"/>
              </a:rPr>
              <a:t>한도</a:t>
            </a:r>
            <a:r>
              <a:rPr sz="1000" dirty="0">
                <a:latin typeface="KoPub돋움체 Medium"/>
              </a:rPr>
              <a:t> </a:t>
            </a:r>
            <a:r>
              <a:rPr sz="1000" dirty="0" err="1">
                <a:latin typeface="KoPub돋움체 Medium"/>
              </a:rPr>
              <a:t>적용</a:t>
            </a:r>
            <a:endParaRPr sz="1000" dirty="0">
              <a:latin typeface="KoPub돋움체 Medium"/>
            </a:endParaRPr>
          </a:p>
        </p:txBody>
      </p:sp>
      <p:sp>
        <p:nvSpPr>
          <p:cNvPr id="22" name="TextBox 21"/>
          <p:cNvSpPr txBox="1"/>
          <p:nvPr/>
        </p:nvSpPr>
        <p:spPr>
          <a:xfrm>
            <a:off x="6559920" y="2842597"/>
            <a:ext cx="1987200" cy="669735"/>
          </a:xfrm>
          <a:prstGeom prst="rect">
            <a:avLst/>
          </a:prstGeom>
          <a:noFill/>
        </p:spPr>
        <p:txBody>
          <a:bodyPr wrap="square" lIns="0" tIns="0" rIns="0" bIns="0">
            <a:spAutoFit/>
          </a:bodyPr>
          <a:lstStyle/>
          <a:p>
            <a:pPr>
              <a:lnSpc>
                <a:spcPct val="150000"/>
              </a:lnSpc>
              <a:defRPr sz="720" b="0">
                <a:solidFill>
                  <a:srgbClr val="009A93"/>
                </a:solidFill>
                <a:latin typeface="KoPub돋움체 Medium"/>
              </a:defRPr>
            </a:pPr>
            <a:r>
              <a:rPr sz="1000" dirty="0">
                <a:latin typeface="KoPub돋움체 Medium"/>
              </a:rPr>
              <a:t>• 20건 </a:t>
            </a:r>
            <a:r>
              <a:rPr sz="1000" dirty="0" err="1">
                <a:latin typeface="KoPub돋움체 Medium"/>
              </a:rPr>
              <a:t>동시</a:t>
            </a:r>
            <a:r>
              <a:rPr sz="1000" dirty="0">
                <a:latin typeface="KoPub돋움체 Medium"/>
              </a:rPr>
              <a:t> </a:t>
            </a:r>
            <a:r>
              <a:rPr sz="1000" dirty="0" err="1">
                <a:latin typeface="KoPub돋움체 Medium"/>
              </a:rPr>
              <a:t>장애</a:t>
            </a:r>
            <a:r>
              <a:rPr sz="1000" dirty="0">
                <a:latin typeface="KoPub돋움체 Medium"/>
              </a:rPr>
              <a:t> </a:t>
            </a:r>
            <a:r>
              <a:rPr sz="1000" dirty="0" err="1">
                <a:latin typeface="KoPub돋움체 Medium"/>
              </a:rPr>
              <a:t>테스트</a:t>
            </a:r>
            <a:r>
              <a:rPr sz="1000" dirty="0">
                <a:latin typeface="KoPub돋움체 Medium"/>
              </a:rPr>
              <a:t> </a:t>
            </a:r>
            <a:r>
              <a:rPr sz="1000" dirty="0" err="1">
                <a:latin typeface="KoPub돋움체 Medium"/>
              </a:rPr>
              <a:t>실측</a:t>
            </a:r>
            <a:r>
              <a:rPr sz="1000" dirty="0">
                <a:latin typeface="KoPub돋움체 Medium"/>
              </a:rPr>
              <a:t>:</a:t>
            </a:r>
            <a:br>
              <a:rPr sz="1000" dirty="0"/>
            </a:br>
            <a:r>
              <a:rPr sz="1000" dirty="0">
                <a:latin typeface="KoPub돋움체 Medium"/>
              </a:rPr>
              <a:t>  - </a:t>
            </a:r>
            <a:r>
              <a:rPr sz="1000" dirty="0" err="1">
                <a:latin typeface="KoPub돋움체 Medium"/>
              </a:rPr>
              <a:t>초과</a:t>
            </a:r>
            <a:r>
              <a:rPr sz="1000" dirty="0">
                <a:latin typeface="KoPub돋움체 Medium"/>
              </a:rPr>
              <a:t> 5건: </a:t>
            </a:r>
            <a:r>
              <a:rPr sz="1000" dirty="0" err="1">
                <a:latin typeface="KoPub돋움체 Medium"/>
              </a:rPr>
              <a:t>로컬</a:t>
            </a:r>
            <a:r>
              <a:rPr sz="1000" dirty="0">
                <a:latin typeface="KoPub돋움체 Medium"/>
              </a:rPr>
              <a:t> 429 </a:t>
            </a:r>
            <a:r>
              <a:rPr sz="1000" dirty="0" err="1">
                <a:latin typeface="KoPub돋움체 Medium"/>
              </a:rPr>
              <a:t>즉시</a:t>
            </a:r>
            <a:r>
              <a:rPr sz="1000" dirty="0">
                <a:latin typeface="KoPub돋움체 Medium"/>
              </a:rPr>
              <a:t> </a:t>
            </a:r>
            <a:r>
              <a:rPr sz="1000" dirty="0" err="1">
                <a:latin typeface="KoPub돋움체 Medium"/>
              </a:rPr>
              <a:t>차단</a:t>
            </a:r>
            <a:br>
              <a:rPr sz="1000" dirty="0"/>
            </a:br>
            <a:r>
              <a:rPr sz="1000" dirty="0">
                <a:latin typeface="KoPub돋움체 Medium"/>
              </a:rPr>
              <a:t>  - </a:t>
            </a:r>
            <a:r>
              <a:rPr sz="1000" dirty="0" err="1">
                <a:latin typeface="KoPub돋움체 Medium"/>
              </a:rPr>
              <a:t>한도</a:t>
            </a:r>
            <a:r>
              <a:rPr sz="1000" dirty="0">
                <a:latin typeface="KoPub돋움체 Medium"/>
              </a:rPr>
              <a:t> 내 15건: Nonce 503 </a:t>
            </a:r>
            <a:r>
              <a:rPr sz="1000" dirty="0" err="1">
                <a:latin typeface="KoPub돋움체 Medium"/>
              </a:rPr>
              <a:t>차단</a:t>
            </a:r>
            <a:endParaRPr sz="1000" dirty="0">
              <a:latin typeface="KoPub돋움체 Medium"/>
            </a:endParaRPr>
          </a:p>
        </p:txBody>
      </p:sp>
      <p:sp>
        <p:nvSpPr>
          <p:cNvPr id="23" name="Rounded Rectangle 22"/>
          <p:cNvSpPr/>
          <p:nvPr/>
        </p:nvSpPr>
        <p:spPr>
          <a:xfrm>
            <a:off x="8691707" y="2952000"/>
            <a:ext cx="632292" cy="576000"/>
          </a:xfrm>
          <a:prstGeom prst="roundRect">
            <a:avLst/>
          </a:prstGeom>
          <a:solidFill>
            <a:srgbClr val="E3F3F2"/>
          </a:solidFill>
          <a:ln>
            <a:solidFill>
              <a:srgbClr val="A7F3D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009A93"/>
                </a:solidFill>
                <a:latin typeface="KoPub돋움체 Bold"/>
              </a:defRPr>
            </a:pPr>
            <a:r>
              <a:rPr dirty="0">
                <a:latin typeface="KoPub돋움체 Bold"/>
              </a:rPr>
              <a:t>PASS</a:t>
            </a:r>
          </a:p>
        </p:txBody>
      </p:sp>
      <p:sp>
        <p:nvSpPr>
          <p:cNvPr id="24" name="Rounded Rectangle 23"/>
          <p:cNvSpPr/>
          <p:nvPr/>
        </p:nvSpPr>
        <p:spPr>
          <a:xfrm>
            <a:off x="432000" y="3780000"/>
            <a:ext cx="9054720" cy="954000"/>
          </a:xfrm>
          <a:prstGeom prst="round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68000" y="3834000"/>
            <a:ext cx="1872000" cy="521618"/>
          </a:xfrm>
          <a:prstGeom prst="rect">
            <a:avLst/>
          </a:prstGeom>
          <a:noFill/>
        </p:spPr>
        <p:txBody>
          <a:bodyPr wrap="square" lIns="0" tIns="0" rIns="0" bIns="0">
            <a:spAutoFit/>
          </a:bodyPr>
          <a:lstStyle/>
          <a:p>
            <a:pPr>
              <a:lnSpc>
                <a:spcPct val="115000"/>
              </a:lnSpc>
              <a:defRPr sz="720" b="1">
                <a:solidFill>
                  <a:srgbClr val="0E306D"/>
                </a:solidFill>
                <a:latin typeface="KoPub돋움체 Bold"/>
              </a:defRPr>
            </a:pPr>
            <a:endParaRPr lang="en-US" sz="1000" dirty="0">
              <a:latin typeface="KoPub돋움체 Bold"/>
            </a:endParaRPr>
          </a:p>
          <a:p>
            <a:pPr>
              <a:lnSpc>
                <a:spcPct val="115000"/>
              </a:lnSpc>
              <a:defRPr sz="720" b="1">
                <a:solidFill>
                  <a:srgbClr val="0E306D"/>
                </a:solidFill>
                <a:latin typeface="KoPub돋움체 Bold"/>
              </a:defRPr>
            </a:pPr>
            <a:r>
              <a:rPr sz="1000" dirty="0">
                <a:latin typeface="KoPub돋움체 Bold"/>
              </a:rPr>
              <a:t>3) </a:t>
            </a:r>
            <a:r>
              <a:rPr sz="1000" dirty="0" err="1">
                <a:latin typeface="KoPub돋움체 Bold"/>
              </a:rPr>
              <a:t>네트워크</a:t>
            </a:r>
            <a:r>
              <a:rPr sz="1000" dirty="0">
                <a:latin typeface="KoPub돋움체 Bold"/>
              </a:rPr>
              <a:t> </a:t>
            </a:r>
            <a:r>
              <a:rPr sz="1000" dirty="0" err="1">
                <a:latin typeface="KoPub돋움체 Bold"/>
              </a:rPr>
              <a:t>파티션</a:t>
            </a:r>
            <a:r>
              <a:rPr sz="1000" dirty="0">
                <a:latin typeface="KoPub돋움체 Bold"/>
              </a:rPr>
              <a:t> (</a:t>
            </a:r>
            <a:r>
              <a:rPr sz="1000" dirty="0" err="1">
                <a:latin typeface="KoPub돋움체 Bold"/>
              </a:rPr>
              <a:t>고립</a:t>
            </a:r>
            <a:r>
              <a:rPr sz="1000" dirty="0">
                <a:latin typeface="KoPub돋움체 Bold"/>
              </a:rPr>
              <a:t>)</a:t>
            </a:r>
            <a:br>
              <a:rPr sz="1000" dirty="0"/>
            </a:br>
            <a:r>
              <a:rPr sz="1000" dirty="0">
                <a:latin typeface="KoPub돋움체 Bold"/>
              </a:rPr>
              <a:t>(Redis Streams </a:t>
            </a:r>
            <a:r>
              <a:rPr sz="1000" dirty="0" err="1">
                <a:latin typeface="KoPub돋움체 Bold"/>
              </a:rPr>
              <a:t>동기화</a:t>
            </a:r>
            <a:r>
              <a:rPr sz="1000" dirty="0">
                <a:latin typeface="KoPub돋움체 Bold"/>
              </a:rPr>
              <a:t>)</a:t>
            </a:r>
          </a:p>
        </p:txBody>
      </p:sp>
      <p:sp>
        <p:nvSpPr>
          <p:cNvPr id="26" name="TextBox 25"/>
          <p:cNvSpPr txBox="1"/>
          <p:nvPr/>
        </p:nvSpPr>
        <p:spPr>
          <a:xfrm>
            <a:off x="2448000" y="3834000"/>
            <a:ext cx="1872000" cy="669735"/>
          </a:xfrm>
          <a:prstGeom prst="rect">
            <a:avLst/>
          </a:prstGeom>
          <a:noFill/>
        </p:spPr>
        <p:txBody>
          <a:bodyPr wrap="square" lIns="0" tIns="0" rIns="0" bIns="0">
            <a:spAutoFit/>
          </a:bodyPr>
          <a:lstStyle/>
          <a:p>
            <a:pPr>
              <a:lnSpc>
                <a:spcPct val="150000"/>
              </a:lnSpc>
              <a:defRPr sz="720" b="0">
                <a:solidFill>
                  <a:srgbClr val="B91C1C"/>
                </a:solidFill>
                <a:latin typeface="KoPub돋움체 Medium"/>
              </a:defRPr>
            </a:pPr>
            <a:r>
              <a:rPr sz="1000" dirty="0">
                <a:latin typeface="KoPub돋움체 Medium"/>
              </a:rPr>
              <a:t>• </a:t>
            </a:r>
            <a:r>
              <a:rPr sz="1000" dirty="0" err="1">
                <a:latin typeface="KoPub돋움체 Medium"/>
              </a:rPr>
              <a:t>단절</a:t>
            </a:r>
            <a:r>
              <a:rPr sz="1000" dirty="0">
                <a:latin typeface="KoPub돋움체 Medium"/>
              </a:rPr>
              <a:t> </a:t>
            </a:r>
            <a:r>
              <a:rPr sz="1000" dirty="0" err="1">
                <a:latin typeface="KoPub돋움체 Medium"/>
              </a:rPr>
              <a:t>노드가</a:t>
            </a:r>
            <a:r>
              <a:rPr sz="1000" dirty="0">
                <a:latin typeface="KoPub돋움체 Medium"/>
              </a:rPr>
              <a:t> </a:t>
            </a:r>
            <a:r>
              <a:rPr sz="1000" dirty="0" err="1">
                <a:latin typeface="KoPub돋움체 Medium"/>
              </a:rPr>
              <a:t>낡은</a:t>
            </a:r>
            <a:r>
              <a:rPr sz="1000" dirty="0">
                <a:latin typeface="KoPub돋움체 Medium"/>
              </a:rPr>
              <a:t> L1 </a:t>
            </a:r>
            <a:r>
              <a:rPr sz="1000" dirty="0" err="1">
                <a:latin typeface="KoPub돋움체 Medium"/>
              </a:rPr>
              <a:t>캐시</a:t>
            </a:r>
            <a:r>
              <a:rPr sz="1000" dirty="0">
                <a:latin typeface="KoPub돋움체 Medium"/>
              </a:rPr>
              <a:t> </a:t>
            </a:r>
            <a:r>
              <a:rPr sz="1000" dirty="0" err="1">
                <a:latin typeface="KoPub돋움체 Medium"/>
              </a:rPr>
              <a:t>참조</a:t>
            </a:r>
            <a:br>
              <a:rPr sz="1000" dirty="0"/>
            </a:br>
            <a:r>
              <a:rPr sz="1000" dirty="0">
                <a:latin typeface="KoPub돋움체 Medium"/>
              </a:rPr>
              <a:t>• </a:t>
            </a:r>
            <a:r>
              <a:rPr sz="1000" dirty="0" err="1">
                <a:latin typeface="KoPub돋움체 Medium"/>
              </a:rPr>
              <a:t>취소된</a:t>
            </a:r>
            <a:r>
              <a:rPr sz="1000" dirty="0">
                <a:latin typeface="KoPub돋움체 Medium"/>
              </a:rPr>
              <a:t> </a:t>
            </a:r>
            <a:r>
              <a:rPr sz="1000" dirty="0" err="1">
                <a:latin typeface="KoPub돋움체 Medium"/>
              </a:rPr>
              <a:t>권한</a:t>
            </a:r>
            <a:r>
              <a:rPr sz="1000" dirty="0">
                <a:latin typeface="KoPub돋움체 Medium"/>
              </a:rPr>
              <a:t> </a:t>
            </a:r>
            <a:r>
              <a:rPr sz="1000" dirty="0" err="1">
                <a:latin typeface="KoPub돋움체 Medium"/>
              </a:rPr>
              <a:t>무단</a:t>
            </a:r>
            <a:r>
              <a:rPr sz="1000" dirty="0">
                <a:latin typeface="KoPub돋움체 Medium"/>
              </a:rPr>
              <a:t> </a:t>
            </a:r>
            <a:r>
              <a:rPr sz="1000" dirty="0" err="1">
                <a:latin typeface="KoPub돋움체 Medium"/>
              </a:rPr>
              <a:t>승인</a:t>
            </a:r>
            <a:r>
              <a:rPr sz="1000" dirty="0">
                <a:latin typeface="KoPub돋움체 Medium"/>
              </a:rPr>
              <a:t> (</a:t>
            </a:r>
            <a:r>
              <a:rPr sz="1000" dirty="0" err="1">
                <a:latin typeface="KoPub돋움체 Medium"/>
              </a:rPr>
              <a:t>스플릿</a:t>
            </a:r>
            <a:r>
              <a:rPr sz="1000" dirty="0">
                <a:latin typeface="KoPub돋움체 Medium"/>
              </a:rPr>
              <a:t>)</a:t>
            </a:r>
            <a:br>
              <a:rPr sz="1000" dirty="0"/>
            </a:br>
            <a:r>
              <a:rPr sz="1000" dirty="0">
                <a:latin typeface="KoPub돋움체 Medium"/>
              </a:rPr>
              <a:t>• Pub/Sub </a:t>
            </a:r>
            <a:r>
              <a:rPr sz="1000" dirty="0" err="1">
                <a:latin typeface="KoPub돋움체 Medium"/>
              </a:rPr>
              <a:t>메시지</a:t>
            </a:r>
            <a:r>
              <a:rPr sz="1000" dirty="0">
                <a:latin typeface="KoPub돋움체 Medium"/>
              </a:rPr>
              <a:t> </a:t>
            </a:r>
            <a:r>
              <a:rPr sz="1000" dirty="0" err="1">
                <a:latin typeface="KoPub돋움체 Medium"/>
              </a:rPr>
              <a:t>영구</a:t>
            </a:r>
            <a:r>
              <a:rPr sz="1000" dirty="0">
                <a:latin typeface="KoPub돋움체 Medium"/>
              </a:rPr>
              <a:t> </a:t>
            </a:r>
            <a:r>
              <a:rPr sz="1000" dirty="0" err="1">
                <a:latin typeface="KoPub돋움체 Medium"/>
              </a:rPr>
              <a:t>유실</a:t>
            </a:r>
            <a:endParaRPr sz="1000" dirty="0">
              <a:latin typeface="KoPub돋움체 Medium"/>
            </a:endParaRPr>
          </a:p>
        </p:txBody>
      </p:sp>
      <p:sp>
        <p:nvSpPr>
          <p:cNvPr id="27" name="TextBox 26"/>
          <p:cNvSpPr txBox="1"/>
          <p:nvPr/>
        </p:nvSpPr>
        <p:spPr>
          <a:xfrm>
            <a:off x="4428000" y="3834000"/>
            <a:ext cx="2232000" cy="669735"/>
          </a:xfrm>
          <a:prstGeom prst="rect">
            <a:avLst/>
          </a:prstGeom>
          <a:noFill/>
        </p:spPr>
        <p:txBody>
          <a:bodyPr wrap="square" lIns="0" tIns="0" rIns="0" bIns="0">
            <a:spAutoFit/>
          </a:bodyPr>
          <a:lstStyle/>
          <a:p>
            <a:pPr>
              <a:lnSpc>
                <a:spcPct val="150000"/>
              </a:lnSpc>
              <a:defRPr sz="720" b="0">
                <a:solidFill>
                  <a:srgbClr val="0F172A"/>
                </a:solidFill>
                <a:latin typeface="KoPub돋움체 Medium"/>
              </a:defRPr>
            </a:pPr>
            <a:r>
              <a:rPr sz="1000" dirty="0">
                <a:latin typeface="KoPub돋움체 Medium"/>
              </a:rPr>
              <a:t>• </a:t>
            </a:r>
            <a:r>
              <a:rPr sz="1000" dirty="0" err="1">
                <a:latin typeface="KoPub돋움체 Medium"/>
              </a:rPr>
              <a:t>고립</a:t>
            </a:r>
            <a:r>
              <a:rPr sz="1000" dirty="0">
                <a:latin typeface="KoPub돋움체 Medium"/>
              </a:rPr>
              <a:t> </a:t>
            </a:r>
            <a:r>
              <a:rPr sz="1000" dirty="0" err="1">
                <a:latin typeface="KoPub돋움체 Medium"/>
              </a:rPr>
              <a:t>감지</a:t>
            </a:r>
            <a:r>
              <a:rPr sz="1000" dirty="0">
                <a:latin typeface="KoPub돋움체 Medium"/>
              </a:rPr>
              <a:t> </a:t>
            </a:r>
            <a:r>
              <a:rPr sz="1000" dirty="0" err="1">
                <a:latin typeface="KoPub돋움체 Medium"/>
              </a:rPr>
              <a:t>즉시</a:t>
            </a:r>
            <a:r>
              <a:rPr sz="1000" dirty="0">
                <a:latin typeface="KoPub돋움체 Medium"/>
              </a:rPr>
              <a:t> 503 Fail-Closed</a:t>
            </a:r>
            <a:br>
              <a:rPr sz="1000" dirty="0"/>
            </a:br>
            <a:r>
              <a:rPr sz="1000" dirty="0">
                <a:latin typeface="KoPub돋움체 Medium"/>
              </a:rPr>
              <a:t>• GET /health 503 </a:t>
            </a:r>
            <a:r>
              <a:rPr sz="1000" dirty="0" err="1">
                <a:latin typeface="KoPub돋움체 Medium"/>
              </a:rPr>
              <a:t>페일오버</a:t>
            </a:r>
            <a:r>
              <a:rPr sz="1000" dirty="0">
                <a:latin typeface="KoPub돋움체 Medium"/>
              </a:rPr>
              <a:t> </a:t>
            </a:r>
            <a:r>
              <a:rPr sz="1000" dirty="0" err="1">
                <a:latin typeface="KoPub돋움체 Medium"/>
              </a:rPr>
              <a:t>유도</a:t>
            </a:r>
            <a:br>
              <a:rPr sz="1000" dirty="0"/>
            </a:br>
            <a:r>
              <a:rPr sz="1000" dirty="0">
                <a:latin typeface="KoPub돋움체 Medium"/>
              </a:rPr>
              <a:t>• </a:t>
            </a:r>
            <a:r>
              <a:rPr sz="1000" dirty="0" err="1">
                <a:latin typeface="KoPub돋움체 Medium"/>
              </a:rPr>
              <a:t>통신</a:t>
            </a:r>
            <a:r>
              <a:rPr sz="1000" dirty="0">
                <a:latin typeface="KoPub돋움체 Medium"/>
              </a:rPr>
              <a:t> </a:t>
            </a:r>
            <a:r>
              <a:rPr sz="1000" dirty="0" err="1">
                <a:latin typeface="KoPub돋움체 Medium"/>
              </a:rPr>
              <a:t>복구</a:t>
            </a:r>
            <a:r>
              <a:rPr sz="1000" dirty="0">
                <a:latin typeface="KoPub돋움체 Medium"/>
              </a:rPr>
              <a:t> </a:t>
            </a:r>
            <a:r>
              <a:rPr sz="1000" dirty="0" err="1">
                <a:latin typeface="KoPub돋움체 Medium"/>
              </a:rPr>
              <a:t>즉시</a:t>
            </a:r>
            <a:r>
              <a:rPr sz="1000" dirty="0">
                <a:latin typeface="KoPub돋움체 Medium"/>
              </a:rPr>
              <a:t> Streams 3단계 </a:t>
            </a:r>
            <a:r>
              <a:rPr sz="1000" dirty="0" err="1">
                <a:latin typeface="KoPub돋움체 Medium"/>
              </a:rPr>
              <a:t>완독</a:t>
            </a:r>
            <a:endParaRPr sz="1000" dirty="0">
              <a:latin typeface="KoPub돋움체 Medium"/>
            </a:endParaRPr>
          </a:p>
        </p:txBody>
      </p:sp>
      <p:sp>
        <p:nvSpPr>
          <p:cNvPr id="28" name="TextBox 27"/>
          <p:cNvSpPr txBox="1"/>
          <p:nvPr/>
        </p:nvSpPr>
        <p:spPr>
          <a:xfrm>
            <a:off x="6557266" y="3842063"/>
            <a:ext cx="2095200" cy="669735"/>
          </a:xfrm>
          <a:prstGeom prst="rect">
            <a:avLst/>
          </a:prstGeom>
          <a:noFill/>
        </p:spPr>
        <p:txBody>
          <a:bodyPr wrap="square" lIns="0" tIns="0" rIns="0" bIns="0">
            <a:spAutoFit/>
          </a:bodyPr>
          <a:lstStyle/>
          <a:p>
            <a:pPr>
              <a:lnSpc>
                <a:spcPct val="150000"/>
              </a:lnSpc>
              <a:defRPr sz="720" b="0">
                <a:solidFill>
                  <a:srgbClr val="009A93"/>
                </a:solidFill>
                <a:latin typeface="KoPub돋움체 Medium"/>
              </a:defRPr>
            </a:pPr>
            <a:r>
              <a:rPr sz="1000" dirty="0">
                <a:latin typeface="KoPub돋움체 Medium"/>
              </a:rPr>
              <a:t>• </a:t>
            </a:r>
            <a:r>
              <a:rPr sz="1000" dirty="0" err="1">
                <a:latin typeface="KoPub돋움체 Medium"/>
              </a:rPr>
              <a:t>고립</a:t>
            </a:r>
            <a:r>
              <a:rPr sz="1000" dirty="0">
                <a:latin typeface="KoPub돋움체 Medium"/>
              </a:rPr>
              <a:t> </a:t>
            </a:r>
            <a:r>
              <a:rPr sz="1000" dirty="0" err="1">
                <a:latin typeface="KoPub돋움체 Medium"/>
              </a:rPr>
              <a:t>노드</a:t>
            </a:r>
            <a:r>
              <a:rPr sz="1000" dirty="0">
                <a:latin typeface="KoPub돋움체 Medium"/>
              </a:rPr>
              <a:t> </a:t>
            </a:r>
            <a:r>
              <a:rPr sz="1000" dirty="0" err="1">
                <a:latin typeface="KoPub돋움체 Medium"/>
              </a:rPr>
              <a:t>비인가</a:t>
            </a:r>
            <a:r>
              <a:rPr sz="1000" dirty="0">
                <a:latin typeface="KoPub돋움체 Medium"/>
              </a:rPr>
              <a:t> </a:t>
            </a:r>
            <a:r>
              <a:rPr sz="1000" dirty="0" err="1">
                <a:latin typeface="KoPub돋움체 Medium"/>
              </a:rPr>
              <a:t>오승인</a:t>
            </a:r>
            <a:r>
              <a:rPr sz="1000" dirty="0">
                <a:latin typeface="KoPub돋움체 Medium"/>
              </a:rPr>
              <a:t>: 0건</a:t>
            </a:r>
            <a:br>
              <a:rPr sz="1000" dirty="0"/>
            </a:br>
            <a:r>
              <a:rPr sz="1000" dirty="0">
                <a:latin typeface="KoPub돋움체 Medium"/>
              </a:rPr>
              <a:t>• PEL </a:t>
            </a:r>
            <a:r>
              <a:rPr sz="1000" dirty="0" err="1">
                <a:latin typeface="KoPub돋움체 Medium"/>
              </a:rPr>
              <a:t>완독</a:t>
            </a:r>
            <a:r>
              <a:rPr sz="1000" dirty="0">
                <a:latin typeface="KoPub돋움체 Medium"/>
              </a:rPr>
              <a:t> 및 XAUTOCLAIM </a:t>
            </a:r>
            <a:r>
              <a:rPr sz="1000" dirty="0" err="1">
                <a:latin typeface="KoPub돋움체 Medium"/>
              </a:rPr>
              <a:t>회수</a:t>
            </a:r>
            <a:br>
              <a:rPr sz="1000" dirty="0"/>
            </a:br>
            <a:r>
              <a:rPr sz="1000" dirty="0">
                <a:latin typeface="KoPub돋움체 Medium"/>
              </a:rPr>
              <a:t>• </a:t>
            </a:r>
            <a:r>
              <a:rPr sz="1000" dirty="0" err="1">
                <a:latin typeface="KoPub돋움체 Medium"/>
              </a:rPr>
              <a:t>복구</a:t>
            </a:r>
            <a:r>
              <a:rPr sz="1000" dirty="0">
                <a:latin typeface="KoPub돋움체 Medium"/>
              </a:rPr>
              <a:t> </a:t>
            </a:r>
            <a:r>
              <a:rPr sz="1000" dirty="0" err="1">
                <a:latin typeface="KoPub돋움체 Medium"/>
              </a:rPr>
              <a:t>즉시</a:t>
            </a:r>
            <a:r>
              <a:rPr sz="1000" dirty="0">
                <a:latin typeface="KoPub돋움체 Medium"/>
              </a:rPr>
              <a:t> </a:t>
            </a:r>
            <a:r>
              <a:rPr sz="1000" dirty="0" err="1">
                <a:latin typeface="KoPub돋움체 Medium"/>
              </a:rPr>
              <a:t>캐시</a:t>
            </a:r>
            <a:r>
              <a:rPr sz="1000" dirty="0">
                <a:latin typeface="KoPub돋움체 Medium"/>
              </a:rPr>
              <a:t> </a:t>
            </a:r>
            <a:r>
              <a:rPr sz="1000" dirty="0" err="1">
                <a:latin typeface="KoPub돋움체 Medium"/>
              </a:rPr>
              <a:t>정합성</a:t>
            </a:r>
            <a:r>
              <a:rPr sz="1000" dirty="0">
                <a:latin typeface="KoPub돋움체 Medium"/>
              </a:rPr>
              <a:t> 100% </a:t>
            </a:r>
            <a:r>
              <a:rPr sz="1000" dirty="0" err="1">
                <a:latin typeface="KoPub돋움체 Medium"/>
              </a:rPr>
              <a:t>회복</a:t>
            </a:r>
            <a:endParaRPr sz="1000" dirty="0">
              <a:latin typeface="KoPub돋움체 Medium"/>
            </a:endParaRPr>
          </a:p>
        </p:txBody>
      </p:sp>
      <p:sp>
        <p:nvSpPr>
          <p:cNvPr id="29" name="Rounded Rectangle 28"/>
          <p:cNvSpPr/>
          <p:nvPr/>
        </p:nvSpPr>
        <p:spPr>
          <a:xfrm>
            <a:off x="8691707" y="3960000"/>
            <a:ext cx="632292" cy="576000"/>
          </a:xfrm>
          <a:prstGeom prst="roundRect">
            <a:avLst/>
          </a:prstGeom>
          <a:solidFill>
            <a:srgbClr val="E3F3F2"/>
          </a:solidFill>
          <a:ln>
            <a:solidFill>
              <a:srgbClr val="A7F3D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009A93"/>
                </a:solidFill>
                <a:latin typeface="KoPub돋움체 Bold"/>
              </a:defRPr>
            </a:pPr>
            <a:r>
              <a:rPr dirty="0">
                <a:latin typeface="KoPub돋움체 Bold"/>
              </a:rPr>
              <a:t>PASS</a:t>
            </a:r>
          </a:p>
        </p:txBody>
      </p:sp>
      <p:sp>
        <p:nvSpPr>
          <p:cNvPr id="30" name="Rounded Rectangle 29"/>
          <p:cNvSpPr/>
          <p:nvPr/>
        </p:nvSpPr>
        <p:spPr>
          <a:xfrm>
            <a:off x="432000" y="4788000"/>
            <a:ext cx="9054720" cy="954000"/>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68000" y="4842000"/>
            <a:ext cx="1872000" cy="521618"/>
          </a:xfrm>
          <a:prstGeom prst="rect">
            <a:avLst/>
          </a:prstGeom>
          <a:noFill/>
        </p:spPr>
        <p:txBody>
          <a:bodyPr wrap="square" lIns="0" tIns="0" rIns="0" bIns="0">
            <a:spAutoFit/>
          </a:bodyPr>
          <a:lstStyle/>
          <a:p>
            <a:pPr>
              <a:lnSpc>
                <a:spcPct val="115000"/>
              </a:lnSpc>
              <a:defRPr sz="720" b="1">
                <a:solidFill>
                  <a:srgbClr val="0E306D"/>
                </a:solidFill>
                <a:latin typeface="KoPub돋움체 Bold"/>
              </a:defRPr>
            </a:pPr>
            <a:endParaRPr lang="en-US" sz="1000" dirty="0">
              <a:latin typeface="KoPub돋움체 Bold"/>
            </a:endParaRPr>
          </a:p>
          <a:p>
            <a:pPr>
              <a:lnSpc>
                <a:spcPct val="115000"/>
              </a:lnSpc>
              <a:defRPr sz="720" b="1">
                <a:solidFill>
                  <a:srgbClr val="0E306D"/>
                </a:solidFill>
                <a:latin typeface="KoPub돋움체 Bold"/>
              </a:defRPr>
            </a:pPr>
            <a:r>
              <a:rPr sz="1000" dirty="0">
                <a:latin typeface="KoPub돋움체 Bold"/>
              </a:rPr>
              <a:t>4) </a:t>
            </a:r>
            <a:r>
              <a:rPr sz="1000" dirty="0" err="1">
                <a:latin typeface="KoPub돋움체 Bold"/>
              </a:rPr>
              <a:t>동일</a:t>
            </a:r>
            <a:r>
              <a:rPr sz="1000" dirty="0">
                <a:latin typeface="KoPub돋움체 Bold"/>
              </a:rPr>
              <a:t> 키 </a:t>
            </a:r>
            <a:r>
              <a:rPr sz="1000" dirty="0" err="1">
                <a:latin typeface="KoPub돋움체 Bold"/>
              </a:rPr>
              <a:t>폭주</a:t>
            </a:r>
            <a:r>
              <a:rPr sz="1000" dirty="0">
                <a:latin typeface="KoPub돋움체 Bold"/>
              </a:rPr>
              <a:t> &amp; </a:t>
            </a:r>
            <a:r>
              <a:rPr sz="1000" dirty="0" err="1">
                <a:latin typeface="KoPub돋움체 Bold"/>
              </a:rPr>
              <a:t>경계</a:t>
            </a:r>
            <a:r>
              <a:rPr sz="1000" dirty="0">
                <a:latin typeface="KoPub돋움체 Bold"/>
              </a:rPr>
              <a:t> </a:t>
            </a:r>
            <a:r>
              <a:rPr sz="1000" dirty="0" err="1">
                <a:latin typeface="KoPub돋움체 Bold"/>
              </a:rPr>
              <a:t>스파이크</a:t>
            </a:r>
            <a:br>
              <a:rPr sz="1000" dirty="0"/>
            </a:br>
            <a:r>
              <a:rPr sz="1000" dirty="0">
                <a:latin typeface="KoPub돋움체 Bold"/>
              </a:rPr>
              <a:t>(Single-Flight &amp; </a:t>
            </a:r>
            <a:r>
              <a:rPr sz="1000" dirty="0" err="1">
                <a:latin typeface="KoPub돋움체 Bold"/>
              </a:rPr>
              <a:t>슬라이딩</a:t>
            </a:r>
            <a:r>
              <a:rPr sz="1000" dirty="0">
                <a:latin typeface="KoPub돋움체 Bold"/>
              </a:rPr>
              <a:t> RL)</a:t>
            </a:r>
          </a:p>
        </p:txBody>
      </p:sp>
      <p:sp>
        <p:nvSpPr>
          <p:cNvPr id="32" name="TextBox 31"/>
          <p:cNvSpPr txBox="1"/>
          <p:nvPr/>
        </p:nvSpPr>
        <p:spPr>
          <a:xfrm>
            <a:off x="2448000" y="4842000"/>
            <a:ext cx="1872000" cy="669735"/>
          </a:xfrm>
          <a:prstGeom prst="rect">
            <a:avLst/>
          </a:prstGeom>
          <a:noFill/>
        </p:spPr>
        <p:txBody>
          <a:bodyPr wrap="square" lIns="0" tIns="0" rIns="0" bIns="0">
            <a:spAutoFit/>
          </a:bodyPr>
          <a:lstStyle/>
          <a:p>
            <a:pPr>
              <a:lnSpc>
                <a:spcPct val="150000"/>
              </a:lnSpc>
              <a:defRPr sz="720" b="0">
                <a:solidFill>
                  <a:srgbClr val="B91C1C"/>
                </a:solidFill>
                <a:latin typeface="KoPub돋움체 Medium"/>
              </a:defRPr>
            </a:pPr>
            <a:r>
              <a:rPr sz="1000" dirty="0">
                <a:latin typeface="KoPub돋움체 Medium"/>
              </a:rPr>
              <a:t>• </a:t>
            </a:r>
            <a:r>
              <a:rPr sz="1000" dirty="0" err="1">
                <a:latin typeface="KoPub돋움체 Medium"/>
              </a:rPr>
              <a:t>캐시</a:t>
            </a:r>
            <a:r>
              <a:rPr sz="1000" dirty="0">
                <a:latin typeface="KoPub돋움체 Medium"/>
              </a:rPr>
              <a:t> </a:t>
            </a:r>
            <a:r>
              <a:rPr sz="1000" dirty="0" err="1">
                <a:latin typeface="KoPub돋움체 Medium"/>
              </a:rPr>
              <a:t>스탬피드로</a:t>
            </a:r>
            <a:r>
              <a:rPr sz="1000" dirty="0">
                <a:latin typeface="KoPub돋움체 Medium"/>
              </a:rPr>
              <a:t> </a:t>
            </a:r>
            <a:r>
              <a:rPr sz="1000" dirty="0" err="1">
                <a:latin typeface="KoPub돋움체 Medium"/>
              </a:rPr>
              <a:t>지연</a:t>
            </a:r>
            <a:r>
              <a:rPr sz="1000" dirty="0">
                <a:latin typeface="KoPub돋움체 Medium"/>
              </a:rPr>
              <a:t> 4,065ms</a:t>
            </a:r>
            <a:br>
              <a:rPr sz="1000" dirty="0"/>
            </a:br>
            <a:r>
              <a:rPr sz="1000" dirty="0">
                <a:latin typeface="KoPub돋움체 Medium"/>
              </a:rPr>
              <a:t>• </a:t>
            </a:r>
            <a:r>
              <a:rPr sz="1000" dirty="0" err="1">
                <a:latin typeface="KoPub돋움체 Medium"/>
              </a:rPr>
              <a:t>고정</a:t>
            </a:r>
            <a:r>
              <a:rPr sz="1000" dirty="0">
                <a:latin typeface="KoPub돋움체 Medium"/>
              </a:rPr>
              <a:t> </a:t>
            </a:r>
            <a:r>
              <a:rPr sz="1000" dirty="0" err="1">
                <a:latin typeface="KoPub돋움체 Medium"/>
              </a:rPr>
              <a:t>윈도우</a:t>
            </a:r>
            <a:r>
              <a:rPr sz="1000" dirty="0">
                <a:latin typeface="KoPub돋움체 Medium"/>
              </a:rPr>
              <a:t> 100건 </a:t>
            </a:r>
            <a:r>
              <a:rPr sz="1000" dirty="0" err="1">
                <a:latin typeface="KoPub돋움체 Medium"/>
              </a:rPr>
              <a:t>통과</a:t>
            </a:r>
            <a:r>
              <a:rPr sz="1000" dirty="0">
                <a:latin typeface="KoPub돋움체 Medium"/>
              </a:rPr>
              <a:t> (2배 </a:t>
            </a:r>
            <a:r>
              <a:rPr sz="1000" dirty="0" err="1">
                <a:latin typeface="KoPub돋움체 Medium"/>
              </a:rPr>
              <a:t>누수</a:t>
            </a:r>
            <a:r>
              <a:rPr sz="1000" dirty="0">
                <a:latin typeface="KoPub돋움체 Medium"/>
              </a:rPr>
              <a:t>)</a:t>
            </a:r>
            <a:br>
              <a:rPr sz="1000" dirty="0"/>
            </a:br>
            <a:r>
              <a:rPr sz="1000" dirty="0">
                <a:latin typeface="KoPub돋움체 Medium"/>
              </a:rPr>
              <a:t>• </a:t>
            </a:r>
            <a:r>
              <a:rPr sz="1000" dirty="0" err="1">
                <a:latin typeface="KoPub돋움체 Medium"/>
              </a:rPr>
              <a:t>거부</a:t>
            </a:r>
            <a:r>
              <a:rPr sz="1000" dirty="0">
                <a:latin typeface="KoPub돋움체 Medium"/>
              </a:rPr>
              <a:t> </a:t>
            </a:r>
            <a:r>
              <a:rPr sz="1000" dirty="0" err="1">
                <a:latin typeface="KoPub돋움체 Medium"/>
              </a:rPr>
              <a:t>요청으로</a:t>
            </a:r>
            <a:r>
              <a:rPr sz="1000" dirty="0">
                <a:latin typeface="KoPub돋움체 Medium"/>
              </a:rPr>
              <a:t> </a:t>
            </a:r>
            <a:r>
              <a:rPr sz="1000" dirty="0" err="1">
                <a:latin typeface="KoPub돋움체 Medium"/>
              </a:rPr>
              <a:t>인한</a:t>
            </a:r>
            <a:r>
              <a:rPr sz="1000" dirty="0">
                <a:latin typeface="KoPub돋움체 Medium"/>
              </a:rPr>
              <a:t> </a:t>
            </a:r>
            <a:r>
              <a:rPr sz="1000" dirty="0" err="1">
                <a:latin typeface="KoPub돋움체 Medium"/>
              </a:rPr>
              <a:t>카운터</a:t>
            </a:r>
            <a:r>
              <a:rPr sz="1000" dirty="0">
                <a:latin typeface="KoPub돋움체 Medium"/>
              </a:rPr>
              <a:t> </a:t>
            </a:r>
            <a:r>
              <a:rPr sz="1000" dirty="0" err="1">
                <a:latin typeface="KoPub돋움체 Medium"/>
              </a:rPr>
              <a:t>오염</a:t>
            </a:r>
            <a:endParaRPr sz="1000" dirty="0">
              <a:latin typeface="KoPub돋움체 Medium"/>
            </a:endParaRPr>
          </a:p>
        </p:txBody>
      </p:sp>
      <p:sp>
        <p:nvSpPr>
          <p:cNvPr id="33" name="TextBox 32"/>
          <p:cNvSpPr txBox="1"/>
          <p:nvPr/>
        </p:nvSpPr>
        <p:spPr>
          <a:xfrm>
            <a:off x="4428000" y="4842000"/>
            <a:ext cx="2232000" cy="669735"/>
          </a:xfrm>
          <a:prstGeom prst="rect">
            <a:avLst/>
          </a:prstGeom>
          <a:noFill/>
        </p:spPr>
        <p:txBody>
          <a:bodyPr wrap="square" lIns="0" tIns="0" rIns="0" bIns="0">
            <a:spAutoFit/>
          </a:bodyPr>
          <a:lstStyle/>
          <a:p>
            <a:pPr>
              <a:lnSpc>
                <a:spcPct val="150000"/>
              </a:lnSpc>
              <a:defRPr sz="720" b="0">
                <a:solidFill>
                  <a:srgbClr val="0F172A"/>
                </a:solidFill>
                <a:latin typeface="KoPub돋움체 Medium"/>
              </a:defRPr>
            </a:pPr>
            <a:r>
              <a:rPr sz="1000" dirty="0">
                <a:latin typeface="KoPub돋움체 Medium"/>
              </a:rPr>
              <a:t>• Single-Flight Future </a:t>
            </a:r>
            <a:r>
              <a:rPr sz="1000" dirty="0" err="1">
                <a:latin typeface="KoPub돋움체 Medium"/>
              </a:rPr>
              <a:t>병합</a:t>
            </a:r>
            <a:r>
              <a:rPr sz="1000" dirty="0">
                <a:latin typeface="KoPub돋움체 Medium"/>
              </a:rPr>
              <a:t> (</a:t>
            </a:r>
            <a:r>
              <a:rPr sz="1000" dirty="0" err="1">
                <a:latin typeface="KoPub돋움체 Medium"/>
              </a:rPr>
              <a:t>분산락</a:t>
            </a:r>
            <a:r>
              <a:rPr sz="1000" dirty="0">
                <a:latin typeface="KoPub돋움체 Medium"/>
              </a:rPr>
              <a:t>)</a:t>
            </a:r>
            <a:br>
              <a:rPr sz="1000" dirty="0"/>
            </a:br>
            <a:r>
              <a:rPr sz="1000" dirty="0">
                <a:latin typeface="KoPub돋움체 Medium"/>
              </a:rPr>
              <a:t>• O(1) </a:t>
            </a:r>
            <a:r>
              <a:rPr sz="1000" dirty="0" err="1">
                <a:latin typeface="KoPub돋움체 Medium"/>
              </a:rPr>
              <a:t>가중</a:t>
            </a:r>
            <a:r>
              <a:rPr sz="1000" dirty="0">
                <a:latin typeface="KoPub돋움체 Medium"/>
              </a:rPr>
              <a:t> </a:t>
            </a:r>
            <a:r>
              <a:rPr sz="1000" dirty="0" err="1">
                <a:latin typeface="KoPub돋움체 Medium"/>
              </a:rPr>
              <a:t>합산</a:t>
            </a:r>
            <a:r>
              <a:rPr sz="1000" dirty="0">
                <a:latin typeface="KoPub돋움체 Medium"/>
              </a:rPr>
              <a:t> </a:t>
            </a:r>
            <a:r>
              <a:rPr sz="1000" dirty="0" err="1">
                <a:latin typeface="KoPub돋움체 Medium"/>
              </a:rPr>
              <a:t>슬라이딩</a:t>
            </a:r>
            <a:r>
              <a:rPr sz="1000" dirty="0">
                <a:latin typeface="KoPub돋움체 Medium"/>
              </a:rPr>
              <a:t> </a:t>
            </a:r>
            <a:r>
              <a:rPr sz="1000" dirty="0" err="1">
                <a:latin typeface="KoPub돋움체 Medium"/>
              </a:rPr>
              <a:t>윈도우</a:t>
            </a:r>
            <a:br>
              <a:rPr sz="1000" dirty="0"/>
            </a:br>
            <a:r>
              <a:rPr sz="1000" dirty="0">
                <a:latin typeface="KoPub돋움체 Medium"/>
              </a:rPr>
              <a:t>• Check-Before-Increment </a:t>
            </a:r>
            <a:r>
              <a:rPr sz="1000" dirty="0" err="1">
                <a:latin typeface="KoPub돋움체 Medium"/>
              </a:rPr>
              <a:t>검증</a:t>
            </a:r>
            <a:endParaRPr sz="1000" dirty="0">
              <a:latin typeface="KoPub돋움체 Medium"/>
            </a:endParaRPr>
          </a:p>
        </p:txBody>
      </p:sp>
      <p:sp>
        <p:nvSpPr>
          <p:cNvPr id="34" name="TextBox 33"/>
          <p:cNvSpPr txBox="1"/>
          <p:nvPr/>
        </p:nvSpPr>
        <p:spPr>
          <a:xfrm>
            <a:off x="6557267" y="4825333"/>
            <a:ext cx="2059200" cy="669735"/>
          </a:xfrm>
          <a:prstGeom prst="rect">
            <a:avLst/>
          </a:prstGeom>
          <a:noFill/>
        </p:spPr>
        <p:txBody>
          <a:bodyPr wrap="square" lIns="0" tIns="0" rIns="0" bIns="0">
            <a:spAutoFit/>
          </a:bodyPr>
          <a:lstStyle/>
          <a:p>
            <a:pPr>
              <a:lnSpc>
                <a:spcPct val="150000"/>
              </a:lnSpc>
              <a:defRPr sz="720" b="0">
                <a:solidFill>
                  <a:srgbClr val="009A93"/>
                </a:solidFill>
                <a:latin typeface="KoPub돋움체 Medium"/>
              </a:defRPr>
            </a:pPr>
            <a:r>
              <a:rPr sz="1000" dirty="0">
                <a:latin typeface="KoPub돋움체 Medium"/>
              </a:rPr>
              <a:t>• </a:t>
            </a:r>
            <a:r>
              <a:rPr sz="1000" dirty="0" err="1">
                <a:latin typeface="KoPub돋움체 Medium"/>
              </a:rPr>
              <a:t>동일</a:t>
            </a:r>
            <a:r>
              <a:rPr sz="1000" dirty="0">
                <a:latin typeface="KoPub돋움체 Medium"/>
              </a:rPr>
              <a:t> 키 DB </a:t>
            </a:r>
            <a:r>
              <a:rPr sz="1000" dirty="0" err="1">
                <a:latin typeface="KoPub돋움체 Medium"/>
              </a:rPr>
              <a:t>쿼리</a:t>
            </a:r>
            <a:r>
              <a:rPr sz="1000" dirty="0">
                <a:latin typeface="KoPub돋움체 Medium"/>
              </a:rPr>
              <a:t>: 98~99.9% </a:t>
            </a:r>
            <a:r>
              <a:rPr sz="1000" dirty="0" err="1">
                <a:latin typeface="KoPub돋움체 Medium"/>
              </a:rPr>
              <a:t>절감</a:t>
            </a:r>
            <a:br>
              <a:rPr sz="1000" dirty="0"/>
            </a:br>
            <a:r>
              <a:rPr sz="1000" dirty="0">
                <a:latin typeface="KoPub돋움체 Medium"/>
              </a:rPr>
              <a:t>• p95 </a:t>
            </a:r>
            <a:r>
              <a:rPr sz="1000" dirty="0" err="1">
                <a:latin typeface="KoPub돋움체 Medium"/>
              </a:rPr>
              <a:t>지연</a:t>
            </a:r>
            <a:r>
              <a:rPr sz="1000" dirty="0">
                <a:latin typeface="KoPub돋움체 Medium"/>
              </a:rPr>
              <a:t>: 4,065ms → 27.3ms </a:t>
            </a:r>
            <a:r>
              <a:rPr sz="1000" dirty="0" err="1">
                <a:latin typeface="KoPub돋움체 Medium"/>
              </a:rPr>
              <a:t>단축</a:t>
            </a:r>
            <a:br>
              <a:rPr sz="1000" dirty="0"/>
            </a:br>
            <a:r>
              <a:rPr sz="1000" dirty="0">
                <a:latin typeface="KoPub돋움체 Medium"/>
              </a:rPr>
              <a:t>• </a:t>
            </a:r>
            <a:r>
              <a:rPr sz="1000" dirty="0" err="1">
                <a:latin typeface="KoPub돋움체 Medium"/>
              </a:rPr>
              <a:t>경계</a:t>
            </a:r>
            <a:r>
              <a:rPr sz="1000" dirty="0">
                <a:latin typeface="KoPub돋움체 Medium"/>
              </a:rPr>
              <a:t> </a:t>
            </a:r>
            <a:r>
              <a:rPr sz="1000" dirty="0" err="1">
                <a:latin typeface="KoPub돋움체 Medium"/>
              </a:rPr>
              <a:t>스파이크</a:t>
            </a:r>
            <a:r>
              <a:rPr sz="1000" dirty="0">
                <a:latin typeface="KoPub돋움체 Medium"/>
              </a:rPr>
              <a:t> </a:t>
            </a:r>
            <a:r>
              <a:rPr sz="1000" dirty="0" err="1">
                <a:latin typeface="KoPub돋움체 Medium"/>
              </a:rPr>
              <a:t>누수</a:t>
            </a:r>
            <a:r>
              <a:rPr sz="1000" dirty="0">
                <a:latin typeface="KoPub돋움체 Medium"/>
              </a:rPr>
              <a:t>: 0건 (3/3회)</a:t>
            </a:r>
          </a:p>
        </p:txBody>
      </p:sp>
      <p:sp>
        <p:nvSpPr>
          <p:cNvPr id="35" name="Rounded Rectangle 34"/>
          <p:cNvSpPr/>
          <p:nvPr/>
        </p:nvSpPr>
        <p:spPr>
          <a:xfrm>
            <a:off x="8691707" y="4968000"/>
            <a:ext cx="632292" cy="576000"/>
          </a:xfrm>
          <a:prstGeom prst="roundRect">
            <a:avLst/>
          </a:prstGeom>
          <a:solidFill>
            <a:srgbClr val="E3F3F2"/>
          </a:solidFill>
          <a:ln>
            <a:solidFill>
              <a:srgbClr val="A7F3D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009A93"/>
                </a:solidFill>
                <a:latin typeface="KoPub돋움체 Bold"/>
              </a:defRPr>
            </a:pPr>
            <a:r>
              <a:rPr dirty="0">
                <a:latin typeface="KoPub돋움체 Bold"/>
              </a:rPr>
              <a:t>PASS</a:t>
            </a:r>
          </a:p>
        </p:txBody>
      </p:sp>
      <p:sp>
        <p:nvSpPr>
          <p:cNvPr id="36" name="Rounded Rectangle 35"/>
          <p:cNvSpPr/>
          <p:nvPr/>
        </p:nvSpPr>
        <p:spPr>
          <a:xfrm>
            <a:off x="356760" y="6048000"/>
            <a:ext cx="9198720" cy="342000"/>
          </a:xfrm>
          <a:prstGeom prst="roundRect">
            <a:avLst/>
          </a:prstGeom>
          <a:solidFill>
            <a:srgbClr val="F1F1F1"/>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533267" y="6142056"/>
            <a:ext cx="4839466" cy="153888"/>
          </a:xfrm>
          <a:prstGeom prst="rect">
            <a:avLst/>
          </a:prstGeom>
          <a:noFill/>
        </p:spPr>
        <p:txBody>
          <a:bodyPr wrap="none" lIns="0" tIns="0" rIns="0" bIns="0" anchor="ctr">
            <a:spAutoFit/>
          </a:bodyPr>
          <a:lstStyle/>
          <a:p>
            <a:pPr>
              <a:defRPr sz="900" b="1">
                <a:solidFill>
                  <a:srgbClr val="0F172A"/>
                </a:solidFill>
                <a:latin typeface="KoPub돋움체 Bold"/>
              </a:defRPr>
            </a:pPr>
            <a:r>
              <a:rPr sz="1000" dirty="0" err="1">
                <a:latin typeface="KoPub돋움체 Bold"/>
              </a:rPr>
              <a:t>overall_invariant_pass</a:t>
            </a:r>
            <a:r>
              <a:rPr sz="1000" dirty="0">
                <a:latin typeface="KoPub돋움체 Bold"/>
              </a:rPr>
              <a:t> == true | </a:t>
            </a:r>
            <a:r>
              <a:rPr sz="1000" dirty="0" err="1">
                <a:latin typeface="KoPub돋움체 Bold"/>
              </a:rPr>
              <a:t>online_nodes</a:t>
            </a:r>
            <a:r>
              <a:rPr sz="1000" dirty="0">
                <a:latin typeface="KoPub돋움체 Bold"/>
              </a:rPr>
              <a:t> == 3 | drift == 0 (4대 </a:t>
            </a:r>
            <a:r>
              <a:rPr sz="1000" dirty="0" err="1">
                <a:latin typeface="KoPub돋움체 Bold"/>
              </a:rPr>
              <a:t>카오스</a:t>
            </a:r>
            <a:r>
              <a:rPr sz="1000" dirty="0">
                <a:latin typeface="KoPub돋움체 Bold"/>
              </a:rPr>
              <a:t> 100% </a:t>
            </a:r>
            <a:r>
              <a:rPr sz="1000" dirty="0" err="1">
                <a:latin typeface="KoPub돋움체 Bold"/>
              </a:rPr>
              <a:t>통과</a:t>
            </a:r>
            <a:r>
              <a:rPr sz="1000" dirty="0">
                <a:latin typeface="KoPub돋움체 Bold"/>
              </a:rPr>
              <a:t>)</a:t>
            </a:r>
          </a:p>
        </p:txBody>
      </p:sp>
      <p:sp>
        <p:nvSpPr>
          <p:cNvPr id="39" name="TextBox 38"/>
          <p:cNvSpPr txBox="1"/>
          <p:nvPr/>
        </p:nvSpPr>
        <p:spPr>
          <a:xfrm>
            <a:off x="8723520" y="6537960"/>
            <a:ext cx="831960" cy="246960"/>
          </a:xfrm>
          <a:prstGeom prst="rect">
            <a:avLst/>
          </a:prstGeom>
          <a:noFill/>
        </p:spPr>
        <p:txBody>
          <a:bodyPr wrap="none" lIns="0" tIns="0" rIns="0" bIns="0">
            <a:spAutoFit/>
          </a:bodyPr>
          <a:lstStyle/>
          <a:p>
            <a:pPr algn="r">
              <a:defRPr sz="1000" b="1">
                <a:solidFill>
                  <a:srgbClr val="6B7280"/>
                </a:solidFill>
                <a:latin typeface="KoPub돋움체 Bold"/>
              </a:defRPr>
            </a:pPr>
            <a:r>
              <a:rPr>
                <a:latin typeface="KoPub돋움체 Bold"/>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9FAFD"/>
        </a:solidFill>
        <a:effectLst/>
      </p:bgPr>
    </p:bg>
    <p:spTree>
      <p:nvGrpSpPr>
        <p:cNvPr id="1" name=""/>
        <p:cNvGrpSpPr/>
        <p:nvPr/>
      </p:nvGrpSpPr>
      <p:grpSpPr>
        <a:xfrm>
          <a:off x="0" y="0"/>
          <a:ext cx="0" cy="0"/>
          <a:chOff x="0" y="0"/>
          <a:chExt cx="0" cy="0"/>
        </a:xfrm>
      </p:grpSpPr>
      <p:sp>
        <p:nvSpPr>
          <p:cNvPr id="2" name="Rounded Rectangle 1"/>
          <p:cNvSpPr/>
          <p:nvPr/>
        </p:nvSpPr>
        <p:spPr>
          <a:xfrm>
            <a:off x="356760" y="292680"/>
            <a:ext cx="9198720" cy="493920"/>
          </a:xfrm>
          <a:prstGeom prst="roundRect">
            <a:avLst/>
          </a:prstGeom>
          <a:solidFill>
            <a:srgbClr val="0E306D"/>
          </a:solidFill>
          <a:ln w="12700">
            <a:solidFill>
              <a:srgbClr val="0E30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80"/>
            <a:ext cx="8778240" cy="493920"/>
          </a:xfrm>
          <a:prstGeom prst="rect">
            <a:avLst/>
          </a:prstGeom>
          <a:noFill/>
        </p:spPr>
        <p:txBody>
          <a:bodyPr wrap="square" lIns="0" tIns="0" rIns="0" bIns="0" anchor="ctr">
            <a:spAutoFit/>
          </a:bodyPr>
          <a:lstStyle/>
          <a:p>
            <a:pPr>
              <a:defRPr sz="2000" b="1">
                <a:solidFill>
                  <a:srgbClr val="FFFFFF"/>
                </a:solidFill>
                <a:latin typeface="KoPub돋움체 Bold"/>
              </a:defRPr>
            </a:pPr>
            <a:r>
              <a:rPr>
                <a:latin typeface="KoPub돋움체 Bold"/>
              </a:rPr>
              <a:t>04. Envoy ext_authz 연동 아키텍처 및 3계층 성능 벤치마크</a:t>
            </a:r>
          </a:p>
        </p:txBody>
      </p:sp>
      <p:sp>
        <p:nvSpPr>
          <p:cNvPr id="4" name="Rounded Rectangle 3"/>
          <p:cNvSpPr/>
          <p:nvPr/>
        </p:nvSpPr>
        <p:spPr>
          <a:xfrm>
            <a:off x="356760" y="914400"/>
            <a:ext cx="9198720" cy="347400"/>
          </a:xfrm>
          <a:prstGeom prst="roundRect">
            <a:avLst/>
          </a:prstGeom>
          <a:solidFill>
            <a:srgbClr val="F1F1F1"/>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011156"/>
            <a:ext cx="9052560" cy="153888"/>
          </a:xfrm>
          <a:prstGeom prst="rect">
            <a:avLst/>
          </a:prstGeom>
          <a:noFill/>
        </p:spPr>
        <p:txBody>
          <a:bodyPr wrap="square" lIns="0" tIns="0" rIns="0" bIns="0" anchor="ctr">
            <a:spAutoFit/>
          </a:bodyPr>
          <a:lstStyle/>
          <a:p>
            <a:pPr>
              <a:defRPr sz="1050" b="1">
                <a:solidFill>
                  <a:srgbClr val="0E306D"/>
                </a:solidFill>
                <a:latin typeface="KoPub돋움체 Bold"/>
              </a:defRPr>
            </a:pPr>
            <a:r>
              <a:rPr sz="1000" dirty="0">
                <a:latin typeface="KoPub돋움체 Bold"/>
              </a:rPr>
              <a:t>L7 </a:t>
            </a:r>
            <a:r>
              <a:rPr sz="1000" dirty="0" err="1">
                <a:latin typeface="KoPub돋움체 Bold"/>
              </a:rPr>
              <a:t>프록시</a:t>
            </a:r>
            <a:r>
              <a:rPr sz="1000" dirty="0">
                <a:latin typeface="KoPub돋움체 Bold"/>
              </a:rPr>
              <a:t>(Envoy/Nginx)와 PEP-PDP </a:t>
            </a:r>
            <a:r>
              <a:rPr sz="1000" dirty="0" err="1">
                <a:latin typeface="KoPub돋움체 Bold"/>
              </a:rPr>
              <a:t>결합</a:t>
            </a:r>
            <a:r>
              <a:rPr sz="1000" dirty="0">
                <a:latin typeface="KoPub돋움체 Bold"/>
              </a:rPr>
              <a:t>, </a:t>
            </a:r>
            <a:r>
              <a:rPr sz="1000" dirty="0" err="1">
                <a:latin typeface="KoPub돋움체 Bold"/>
              </a:rPr>
              <a:t>mTLS</a:t>
            </a:r>
            <a:r>
              <a:rPr sz="1000" dirty="0">
                <a:latin typeface="KoPub돋움체 Bold"/>
              </a:rPr>
              <a:t> </a:t>
            </a:r>
            <a:r>
              <a:rPr sz="1000" dirty="0" err="1">
                <a:latin typeface="KoPub돋움체 Bold"/>
              </a:rPr>
              <a:t>신원</a:t>
            </a:r>
            <a:r>
              <a:rPr sz="1000" dirty="0">
                <a:latin typeface="KoPub돋움체 Bold"/>
              </a:rPr>
              <a:t> </a:t>
            </a:r>
            <a:r>
              <a:rPr sz="1000" dirty="0" err="1">
                <a:latin typeface="KoPub돋움체 Bold"/>
              </a:rPr>
              <a:t>위조</a:t>
            </a:r>
            <a:r>
              <a:rPr sz="1000" dirty="0">
                <a:latin typeface="KoPub돋움체 Bold"/>
              </a:rPr>
              <a:t> </a:t>
            </a:r>
            <a:r>
              <a:rPr sz="1000" dirty="0" err="1">
                <a:latin typeface="KoPub돋움체 Bold"/>
              </a:rPr>
              <a:t>원천</a:t>
            </a:r>
            <a:r>
              <a:rPr sz="1000" dirty="0">
                <a:latin typeface="KoPub돋움체 Bold"/>
              </a:rPr>
              <a:t> </a:t>
            </a:r>
            <a:r>
              <a:rPr sz="1000" dirty="0" err="1">
                <a:latin typeface="KoPub돋움체 Bold"/>
              </a:rPr>
              <a:t>방지</a:t>
            </a:r>
            <a:r>
              <a:rPr sz="1000" dirty="0">
                <a:latin typeface="KoPub돋움체 Bold"/>
              </a:rPr>
              <a:t> 및 L1 </a:t>
            </a:r>
            <a:r>
              <a:rPr sz="1000" dirty="0" err="1">
                <a:latin typeface="KoPub돋움체 Bold"/>
              </a:rPr>
              <a:t>인가</a:t>
            </a:r>
            <a:r>
              <a:rPr sz="1000" dirty="0">
                <a:latin typeface="KoPub돋움체 Bold"/>
              </a:rPr>
              <a:t> 0.85ms </a:t>
            </a:r>
            <a:r>
              <a:rPr sz="1000" dirty="0" err="1">
                <a:latin typeface="KoPub돋움체 Bold"/>
              </a:rPr>
              <a:t>실측</a:t>
            </a:r>
            <a:endParaRPr sz="1000" dirty="0">
              <a:latin typeface="KoPub돋움체 Bold"/>
            </a:endParaRPr>
          </a:p>
        </p:txBody>
      </p:sp>
      <p:sp>
        <p:nvSpPr>
          <p:cNvPr id="6" name="Rounded Rectangle 5"/>
          <p:cNvSpPr/>
          <p:nvPr/>
        </p:nvSpPr>
        <p:spPr>
          <a:xfrm>
            <a:off x="356760" y="1350000"/>
            <a:ext cx="2188800" cy="1872000"/>
          </a:xfrm>
          <a:prstGeom prst="roundRect">
            <a:avLst>
              <a:gd name="adj" fmla="val 6717"/>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46760" y="1440000"/>
            <a:ext cx="2008800" cy="396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00" b="1">
                <a:solidFill>
                  <a:srgbClr val="009A93"/>
                </a:solidFill>
                <a:latin typeface="KoPub돋움체 Bold"/>
              </a:defRPr>
            </a:pPr>
            <a:r>
              <a:rPr sz="1000" dirty="0">
                <a:latin typeface="KoPub돋움체 Bold"/>
              </a:rPr>
              <a:t>01. Client Workload</a:t>
            </a:r>
          </a:p>
          <a:p>
            <a:pPr algn="ctr">
              <a:defRPr sz="850" b="1">
                <a:solidFill>
                  <a:srgbClr val="0E306D"/>
                </a:solidFill>
                <a:latin typeface="KoPub돋움체 Bold"/>
              </a:defRPr>
            </a:pPr>
            <a:r>
              <a:rPr sz="1000" dirty="0" err="1">
                <a:latin typeface="KoPub돋움체 Bold"/>
              </a:rPr>
              <a:t>mTLS</a:t>
            </a:r>
            <a:r>
              <a:rPr sz="1000" dirty="0">
                <a:latin typeface="KoPub돋움체 Bold"/>
              </a:rPr>
              <a:t> </a:t>
            </a:r>
            <a:r>
              <a:rPr sz="1000" dirty="0" err="1">
                <a:latin typeface="KoPub돋움체 Bold"/>
              </a:rPr>
              <a:t>연결</a:t>
            </a:r>
            <a:r>
              <a:rPr sz="1000" dirty="0">
                <a:latin typeface="KoPub돋움체 Bold"/>
              </a:rPr>
              <a:t> &amp; </a:t>
            </a:r>
            <a:r>
              <a:rPr sz="1000" dirty="0" err="1">
                <a:latin typeface="KoPub돋움체 Bold"/>
              </a:rPr>
              <a:t>PoP</a:t>
            </a:r>
            <a:r>
              <a:rPr sz="1000" dirty="0">
                <a:latin typeface="KoPub돋움체 Bold"/>
              </a:rPr>
              <a:t> </a:t>
            </a:r>
            <a:r>
              <a:rPr sz="1000" dirty="0" err="1">
                <a:latin typeface="KoPub돋움체 Bold"/>
              </a:rPr>
              <a:t>서명</a:t>
            </a:r>
            <a:endParaRPr sz="1000" dirty="0">
              <a:latin typeface="KoPub돋움체 Bold"/>
            </a:endParaRPr>
          </a:p>
        </p:txBody>
      </p:sp>
      <p:sp>
        <p:nvSpPr>
          <p:cNvPr id="8" name="TextBox 7"/>
          <p:cNvSpPr txBox="1"/>
          <p:nvPr/>
        </p:nvSpPr>
        <p:spPr>
          <a:xfrm>
            <a:off x="464760" y="1890000"/>
            <a:ext cx="1972800" cy="669735"/>
          </a:xfrm>
          <a:prstGeom prst="rect">
            <a:avLst/>
          </a:prstGeom>
          <a:noFill/>
        </p:spPr>
        <p:txBody>
          <a:bodyPr wrap="square" lIns="0" tIns="0" rIns="0" bIns="0">
            <a:spAutoFit/>
          </a:bodyPr>
          <a:lstStyle/>
          <a:p>
            <a:pPr>
              <a:lnSpc>
                <a:spcPct val="150000"/>
              </a:lnSpc>
              <a:defRPr sz="720">
                <a:solidFill>
                  <a:srgbClr val="0F172A"/>
                </a:solidFill>
                <a:latin typeface="KoPub돋움체 Medium"/>
              </a:defRPr>
            </a:pPr>
            <a:r>
              <a:rPr sz="1000" dirty="0">
                <a:latin typeface="KoPub돋움체 Medium"/>
              </a:rPr>
              <a:t>• </a:t>
            </a:r>
            <a:r>
              <a:rPr sz="1000" dirty="0" err="1">
                <a:latin typeface="KoPub돋움체 Medium"/>
              </a:rPr>
              <a:t>클라이언트</a:t>
            </a:r>
            <a:r>
              <a:rPr sz="1000" dirty="0">
                <a:latin typeface="KoPub돋움체 Medium"/>
              </a:rPr>
              <a:t> </a:t>
            </a:r>
            <a:r>
              <a:rPr sz="1000" dirty="0" err="1">
                <a:latin typeface="KoPub돋움체 Medium"/>
              </a:rPr>
              <a:t>mTLS</a:t>
            </a:r>
            <a:r>
              <a:rPr sz="1000" dirty="0">
                <a:latin typeface="KoPub돋움체 Medium"/>
              </a:rPr>
              <a:t> </a:t>
            </a:r>
            <a:r>
              <a:rPr sz="1000" dirty="0" err="1">
                <a:latin typeface="KoPub돋움체 Medium"/>
              </a:rPr>
              <a:t>핸드셰이크</a:t>
            </a:r>
            <a:br>
              <a:rPr sz="1000" dirty="0"/>
            </a:br>
            <a:r>
              <a:rPr sz="1000" dirty="0">
                <a:latin typeface="KoPub돋움체 Medium"/>
              </a:rPr>
              <a:t>• X-</a:t>
            </a:r>
            <a:r>
              <a:rPr sz="1000" dirty="0" err="1">
                <a:latin typeface="KoPub돋움체 Medium"/>
              </a:rPr>
              <a:t>PoP</a:t>
            </a:r>
            <a:r>
              <a:rPr sz="1000" dirty="0">
                <a:latin typeface="KoPub돋움체 Medium"/>
              </a:rPr>
              <a:t>-Signature </a:t>
            </a:r>
            <a:r>
              <a:rPr sz="1000" dirty="0" err="1">
                <a:latin typeface="KoPub돋움체 Medium"/>
              </a:rPr>
              <a:t>서명</a:t>
            </a:r>
            <a:r>
              <a:rPr sz="1000" dirty="0">
                <a:latin typeface="KoPub돋움체 Medium"/>
              </a:rPr>
              <a:t> </a:t>
            </a:r>
            <a:r>
              <a:rPr sz="1000" dirty="0" err="1">
                <a:latin typeface="KoPub돋움체 Medium"/>
              </a:rPr>
              <a:t>전송</a:t>
            </a:r>
            <a:br>
              <a:rPr sz="1000" dirty="0"/>
            </a:br>
            <a:r>
              <a:rPr sz="1000" dirty="0">
                <a:latin typeface="KoPub돋움체 Medium"/>
              </a:rPr>
              <a:t>• </a:t>
            </a:r>
            <a:r>
              <a:rPr sz="1000" dirty="0" err="1">
                <a:latin typeface="KoPub돋움체 Medium"/>
              </a:rPr>
              <a:t>임의의</a:t>
            </a:r>
            <a:r>
              <a:rPr sz="1000" dirty="0">
                <a:latin typeface="KoPub돋움체 Medium"/>
              </a:rPr>
              <a:t> X-SPIFFE-ID </a:t>
            </a:r>
            <a:r>
              <a:rPr sz="1000" dirty="0" err="1">
                <a:latin typeface="KoPub돋움체 Medium"/>
              </a:rPr>
              <a:t>전송</a:t>
            </a:r>
            <a:r>
              <a:rPr sz="1000" dirty="0">
                <a:latin typeface="KoPub돋움체 Medium"/>
              </a:rPr>
              <a:t> </a:t>
            </a:r>
            <a:r>
              <a:rPr sz="1000" dirty="0" err="1">
                <a:latin typeface="KoPub돋움체 Medium"/>
              </a:rPr>
              <a:t>시도</a:t>
            </a:r>
            <a:endParaRPr sz="1000" dirty="0">
              <a:latin typeface="KoPub돋움체 Medium"/>
            </a:endParaRPr>
          </a:p>
        </p:txBody>
      </p:sp>
      <p:sp>
        <p:nvSpPr>
          <p:cNvPr id="9" name="Rounded Rectangle 8"/>
          <p:cNvSpPr/>
          <p:nvPr/>
        </p:nvSpPr>
        <p:spPr>
          <a:xfrm>
            <a:off x="2693160" y="1350000"/>
            <a:ext cx="2188800" cy="1872000"/>
          </a:xfrm>
          <a:prstGeom prst="roundRect">
            <a:avLst>
              <a:gd name="adj" fmla="val 7169"/>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783160" y="1440000"/>
            <a:ext cx="2008800" cy="396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00" b="1">
                <a:solidFill>
                  <a:srgbClr val="009A93"/>
                </a:solidFill>
                <a:latin typeface="KoPub돋움체 Bold"/>
              </a:defRPr>
            </a:pPr>
            <a:r>
              <a:rPr sz="1000" dirty="0">
                <a:latin typeface="KoPub돋움체 Bold"/>
              </a:rPr>
              <a:t>02. Envoy L7 (PEP)</a:t>
            </a:r>
          </a:p>
          <a:p>
            <a:pPr algn="ctr">
              <a:defRPr sz="850" b="1">
                <a:solidFill>
                  <a:srgbClr val="0E306D"/>
                </a:solidFill>
                <a:latin typeface="KoPub돋움체 Bold"/>
              </a:defRPr>
            </a:pPr>
            <a:r>
              <a:rPr sz="1000" dirty="0">
                <a:latin typeface="KoPub돋움체 Bold"/>
              </a:rPr>
              <a:t>v3 </a:t>
            </a:r>
            <a:r>
              <a:rPr sz="1000" dirty="0" err="1">
                <a:latin typeface="KoPub돋움체 Bold"/>
              </a:rPr>
              <a:t>ext_authz</a:t>
            </a:r>
            <a:r>
              <a:rPr sz="1000" dirty="0">
                <a:latin typeface="KoPub돋움체 Bold"/>
              </a:rPr>
              <a:t> </a:t>
            </a:r>
            <a:r>
              <a:rPr sz="1000" dirty="0" err="1">
                <a:latin typeface="KoPub돋움체 Bold"/>
              </a:rPr>
              <a:t>필터</a:t>
            </a:r>
            <a:endParaRPr sz="1000" dirty="0">
              <a:latin typeface="KoPub돋움체 Bold"/>
            </a:endParaRPr>
          </a:p>
        </p:txBody>
      </p:sp>
      <p:sp>
        <p:nvSpPr>
          <p:cNvPr id="11" name="TextBox 10"/>
          <p:cNvSpPr txBox="1"/>
          <p:nvPr/>
        </p:nvSpPr>
        <p:spPr>
          <a:xfrm>
            <a:off x="2801160" y="1890000"/>
            <a:ext cx="1972800" cy="1131400"/>
          </a:xfrm>
          <a:prstGeom prst="rect">
            <a:avLst/>
          </a:prstGeom>
          <a:noFill/>
        </p:spPr>
        <p:txBody>
          <a:bodyPr wrap="square" lIns="0" tIns="0" rIns="0" bIns="0">
            <a:spAutoFit/>
          </a:bodyPr>
          <a:lstStyle/>
          <a:p>
            <a:pPr>
              <a:lnSpc>
                <a:spcPct val="150000"/>
              </a:lnSpc>
              <a:defRPr sz="720">
                <a:solidFill>
                  <a:srgbClr val="0F172A"/>
                </a:solidFill>
                <a:latin typeface="KoPub돋움체 Medium"/>
              </a:defRPr>
            </a:pPr>
            <a:r>
              <a:rPr sz="1000" dirty="0">
                <a:latin typeface="KoPub돋움체 Medium"/>
              </a:rPr>
              <a:t>• %DOWNSTREAM_PEER_URI_</a:t>
            </a:r>
            <a:endParaRPr lang="en-US" sz="1000" dirty="0">
              <a:latin typeface="KoPub돋움체 Medium"/>
            </a:endParaRPr>
          </a:p>
          <a:p>
            <a:pPr>
              <a:lnSpc>
                <a:spcPct val="150000"/>
              </a:lnSpc>
              <a:defRPr sz="720">
                <a:solidFill>
                  <a:srgbClr val="0F172A"/>
                </a:solidFill>
                <a:latin typeface="KoPub돋움체 Medium"/>
              </a:defRPr>
            </a:pPr>
            <a:r>
              <a:rPr sz="1000" dirty="0">
                <a:latin typeface="KoPub돋움체 Medium"/>
              </a:rPr>
              <a:t>SAN% </a:t>
            </a:r>
            <a:r>
              <a:rPr sz="1000" dirty="0" err="1">
                <a:latin typeface="KoPub돋움체 Medium"/>
              </a:rPr>
              <a:t>추출</a:t>
            </a:r>
            <a:br>
              <a:rPr sz="1000" dirty="0"/>
            </a:br>
            <a:r>
              <a:rPr sz="1000" dirty="0">
                <a:latin typeface="KoPub돋움체 Medium"/>
              </a:rPr>
              <a:t>  → X-SPIFFE-ID </a:t>
            </a:r>
            <a:r>
              <a:rPr sz="1000" dirty="0" err="1">
                <a:latin typeface="KoPub돋움체 Medium"/>
              </a:rPr>
              <a:t>강제</a:t>
            </a:r>
            <a:r>
              <a:rPr sz="1000" dirty="0">
                <a:latin typeface="KoPub돋움체 Medium"/>
              </a:rPr>
              <a:t> </a:t>
            </a:r>
            <a:r>
              <a:rPr sz="1000" dirty="0" err="1">
                <a:latin typeface="KoPub돋움체 Medium"/>
              </a:rPr>
              <a:t>덮어쓰기</a:t>
            </a:r>
            <a:r>
              <a:rPr sz="1000" dirty="0">
                <a:latin typeface="KoPub돋움체 Medium"/>
              </a:rPr>
              <a:t> (</a:t>
            </a:r>
            <a:r>
              <a:rPr sz="1000" dirty="0" err="1">
                <a:latin typeface="KoPub돋움체 Medium"/>
              </a:rPr>
              <a:t>위조</a:t>
            </a:r>
            <a:r>
              <a:rPr sz="1000" dirty="0">
                <a:latin typeface="KoPub돋움체 Medium"/>
              </a:rPr>
              <a:t> </a:t>
            </a:r>
            <a:r>
              <a:rPr sz="1000" dirty="0" err="1">
                <a:latin typeface="KoPub돋움체 Medium"/>
              </a:rPr>
              <a:t>방지</a:t>
            </a:r>
            <a:r>
              <a:rPr sz="1000" dirty="0">
                <a:latin typeface="KoPub돋움체 Medium"/>
              </a:rPr>
              <a:t>)</a:t>
            </a:r>
            <a:br>
              <a:rPr sz="1000" dirty="0"/>
            </a:br>
            <a:r>
              <a:rPr sz="1000" dirty="0">
                <a:latin typeface="KoPub돋움체 Medium"/>
              </a:rPr>
              <a:t>• Request Body </a:t>
            </a:r>
            <a:r>
              <a:rPr sz="1000" dirty="0" err="1">
                <a:latin typeface="KoPub돋움체 Medium"/>
              </a:rPr>
              <a:t>버퍼링</a:t>
            </a:r>
            <a:r>
              <a:rPr sz="1000" dirty="0">
                <a:latin typeface="KoPub돋움체 Medium"/>
              </a:rPr>
              <a:t> (64KB)</a:t>
            </a:r>
          </a:p>
        </p:txBody>
      </p:sp>
      <p:sp>
        <p:nvSpPr>
          <p:cNvPr id="12" name="Rounded Rectangle 11"/>
          <p:cNvSpPr/>
          <p:nvPr/>
        </p:nvSpPr>
        <p:spPr>
          <a:xfrm>
            <a:off x="5029560" y="1350000"/>
            <a:ext cx="2188800" cy="1872000"/>
          </a:xfrm>
          <a:prstGeom prst="roundRect">
            <a:avLst>
              <a:gd name="adj" fmla="val 5812"/>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119560" y="1440000"/>
            <a:ext cx="2008800" cy="396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00" b="1">
                <a:solidFill>
                  <a:srgbClr val="009A93"/>
                </a:solidFill>
                <a:latin typeface="KoPub돋움체 Bold"/>
              </a:defRPr>
            </a:pPr>
            <a:r>
              <a:rPr sz="1000" dirty="0">
                <a:latin typeface="KoPub돋움체 Bold"/>
              </a:rPr>
              <a:t>03. </a:t>
            </a:r>
            <a:r>
              <a:rPr sz="1000" dirty="0" err="1">
                <a:latin typeface="KoPub돋움체 Bold"/>
              </a:rPr>
              <a:t>PoP</a:t>
            </a:r>
            <a:r>
              <a:rPr sz="1000" dirty="0">
                <a:latin typeface="KoPub돋움체 Bold"/>
              </a:rPr>
              <a:t>-Sync (PDP)</a:t>
            </a:r>
          </a:p>
          <a:p>
            <a:pPr algn="ctr">
              <a:defRPr sz="850" b="1">
                <a:solidFill>
                  <a:srgbClr val="0E306D"/>
                </a:solidFill>
                <a:latin typeface="KoPub돋움체 Bold"/>
              </a:defRPr>
            </a:pPr>
            <a:r>
              <a:rPr sz="1000" dirty="0">
                <a:latin typeface="KoPub돋움체 Bold"/>
              </a:rPr>
              <a:t>0.85ms </a:t>
            </a:r>
            <a:r>
              <a:rPr sz="1000" dirty="0" err="1">
                <a:latin typeface="KoPub돋움체 Bold"/>
              </a:rPr>
              <a:t>초저지연</a:t>
            </a:r>
            <a:r>
              <a:rPr sz="1000" dirty="0">
                <a:latin typeface="KoPub돋움체 Bold"/>
              </a:rPr>
              <a:t> </a:t>
            </a:r>
            <a:r>
              <a:rPr sz="1000" dirty="0" err="1">
                <a:latin typeface="KoPub돋움체 Bold"/>
              </a:rPr>
              <a:t>인가</a:t>
            </a:r>
            <a:endParaRPr sz="1000" dirty="0">
              <a:latin typeface="KoPub돋움체 Bold"/>
            </a:endParaRPr>
          </a:p>
        </p:txBody>
      </p:sp>
      <p:sp>
        <p:nvSpPr>
          <p:cNvPr id="14" name="TextBox 13"/>
          <p:cNvSpPr txBox="1"/>
          <p:nvPr/>
        </p:nvSpPr>
        <p:spPr>
          <a:xfrm>
            <a:off x="5137560" y="1890000"/>
            <a:ext cx="1972800" cy="669735"/>
          </a:xfrm>
          <a:prstGeom prst="rect">
            <a:avLst/>
          </a:prstGeom>
          <a:noFill/>
        </p:spPr>
        <p:txBody>
          <a:bodyPr wrap="square" lIns="0" tIns="0" rIns="0" bIns="0">
            <a:spAutoFit/>
          </a:bodyPr>
          <a:lstStyle/>
          <a:p>
            <a:pPr>
              <a:lnSpc>
                <a:spcPct val="150000"/>
              </a:lnSpc>
              <a:defRPr sz="720">
                <a:solidFill>
                  <a:srgbClr val="0F172A"/>
                </a:solidFill>
                <a:latin typeface="KoPub돋움체 Medium"/>
              </a:defRPr>
            </a:pPr>
            <a:r>
              <a:rPr sz="1000" dirty="0">
                <a:latin typeface="KoPub돋움체 Medium"/>
              </a:rPr>
              <a:t>• Step 1~6 </a:t>
            </a:r>
            <a:r>
              <a:rPr sz="1000" dirty="0" err="1">
                <a:latin typeface="KoPub돋움체 Medium"/>
              </a:rPr>
              <a:t>인가</a:t>
            </a:r>
            <a:r>
              <a:rPr sz="1000" dirty="0">
                <a:latin typeface="KoPub돋움체 Medium"/>
              </a:rPr>
              <a:t> </a:t>
            </a:r>
            <a:r>
              <a:rPr sz="1000" dirty="0" err="1">
                <a:latin typeface="KoPub돋움체 Medium"/>
              </a:rPr>
              <a:t>파이프라인</a:t>
            </a:r>
            <a:r>
              <a:rPr sz="1000" dirty="0">
                <a:latin typeface="KoPub돋움체 Medium"/>
              </a:rPr>
              <a:t> </a:t>
            </a:r>
            <a:r>
              <a:rPr sz="1000" dirty="0" err="1">
                <a:latin typeface="KoPub돋움체 Medium"/>
              </a:rPr>
              <a:t>수행</a:t>
            </a:r>
            <a:br>
              <a:rPr sz="1000" dirty="0"/>
            </a:br>
            <a:r>
              <a:rPr sz="1000" dirty="0">
                <a:latin typeface="KoPub돋움체 Medium"/>
              </a:rPr>
              <a:t>• Nonce </a:t>
            </a:r>
            <a:r>
              <a:rPr sz="1000" dirty="0" err="1">
                <a:latin typeface="KoPub돋움체 Medium"/>
              </a:rPr>
              <a:t>소각</a:t>
            </a:r>
            <a:r>
              <a:rPr sz="1000" dirty="0">
                <a:latin typeface="KoPub돋움체 Medium"/>
              </a:rPr>
              <a:t> + </a:t>
            </a:r>
            <a:r>
              <a:rPr sz="1000" dirty="0" err="1">
                <a:latin typeface="KoPub돋움체 Medium"/>
              </a:rPr>
              <a:t>PoP</a:t>
            </a:r>
            <a:r>
              <a:rPr sz="1000" dirty="0">
                <a:latin typeface="KoPub돋움체 Medium"/>
              </a:rPr>
              <a:t> </a:t>
            </a:r>
            <a:r>
              <a:rPr sz="1000" dirty="0" err="1">
                <a:latin typeface="KoPub돋움체 Medium"/>
              </a:rPr>
              <a:t>서명</a:t>
            </a:r>
            <a:r>
              <a:rPr sz="1000" dirty="0">
                <a:latin typeface="KoPub돋움체 Medium"/>
              </a:rPr>
              <a:t> </a:t>
            </a:r>
            <a:r>
              <a:rPr sz="1000" dirty="0" err="1">
                <a:latin typeface="KoPub돋움체 Medium"/>
              </a:rPr>
              <a:t>검증</a:t>
            </a:r>
            <a:br>
              <a:rPr sz="1000" dirty="0"/>
            </a:br>
            <a:r>
              <a:rPr sz="1000" dirty="0">
                <a:latin typeface="KoPub돋움체 Medium"/>
              </a:rPr>
              <a:t>• L1 </a:t>
            </a:r>
            <a:r>
              <a:rPr sz="1000" dirty="0" err="1">
                <a:latin typeface="KoPub돋움체 Medium"/>
              </a:rPr>
              <a:t>로컬</a:t>
            </a:r>
            <a:r>
              <a:rPr sz="1000" dirty="0">
                <a:latin typeface="KoPub돋움체 Medium"/>
              </a:rPr>
              <a:t> LRU </a:t>
            </a:r>
            <a:r>
              <a:rPr sz="1000" dirty="0" err="1">
                <a:latin typeface="KoPub돋움체 Medium"/>
              </a:rPr>
              <a:t>히트</a:t>
            </a:r>
            <a:r>
              <a:rPr sz="1000" dirty="0">
                <a:latin typeface="KoPub돋움체 Medium"/>
              </a:rPr>
              <a:t> 시 0.85ms </a:t>
            </a:r>
            <a:r>
              <a:rPr sz="1000" dirty="0" err="1">
                <a:latin typeface="KoPub돋움체 Medium"/>
              </a:rPr>
              <a:t>응답</a:t>
            </a:r>
            <a:endParaRPr sz="1000" dirty="0">
              <a:latin typeface="KoPub돋움체 Medium"/>
            </a:endParaRPr>
          </a:p>
        </p:txBody>
      </p:sp>
      <p:sp>
        <p:nvSpPr>
          <p:cNvPr id="15" name="Rounded Rectangle 14"/>
          <p:cNvSpPr/>
          <p:nvPr/>
        </p:nvSpPr>
        <p:spPr>
          <a:xfrm>
            <a:off x="7365960" y="1350000"/>
            <a:ext cx="2188800" cy="1872000"/>
          </a:xfrm>
          <a:prstGeom prst="roundRect">
            <a:avLst>
              <a:gd name="adj" fmla="val 7169"/>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455960" y="1440000"/>
            <a:ext cx="2008800" cy="396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00" b="1">
                <a:solidFill>
                  <a:srgbClr val="009A93"/>
                </a:solidFill>
                <a:latin typeface="KoPub돋움체 Bold"/>
              </a:defRPr>
            </a:pPr>
            <a:r>
              <a:rPr sz="1000" dirty="0">
                <a:latin typeface="KoPub돋움체 Bold"/>
              </a:rPr>
              <a:t>04. Upstream Backend</a:t>
            </a:r>
          </a:p>
          <a:p>
            <a:pPr algn="ctr">
              <a:defRPr sz="850" b="1">
                <a:solidFill>
                  <a:srgbClr val="0E306D"/>
                </a:solidFill>
                <a:latin typeface="KoPub돋움체 Bold"/>
              </a:defRPr>
            </a:pPr>
            <a:r>
              <a:rPr sz="1000" dirty="0" err="1">
                <a:latin typeface="KoPub돋움체 Bold"/>
              </a:rPr>
              <a:t>공격</a:t>
            </a:r>
            <a:r>
              <a:rPr sz="1000" dirty="0">
                <a:latin typeface="KoPub돋움체 Bold"/>
              </a:rPr>
              <a:t> </a:t>
            </a:r>
            <a:r>
              <a:rPr sz="1000" dirty="0" err="1">
                <a:latin typeface="KoPub돋움체 Bold"/>
              </a:rPr>
              <a:t>도달</a:t>
            </a:r>
            <a:r>
              <a:rPr sz="1000" dirty="0">
                <a:latin typeface="KoPub돋움체 Bold"/>
              </a:rPr>
              <a:t> 0건 </a:t>
            </a:r>
            <a:r>
              <a:rPr sz="1000" dirty="0" err="1">
                <a:latin typeface="KoPub돋움체 Bold"/>
              </a:rPr>
              <a:t>보호</a:t>
            </a:r>
            <a:endParaRPr sz="1000" dirty="0">
              <a:latin typeface="KoPub돋움체 Bold"/>
            </a:endParaRPr>
          </a:p>
        </p:txBody>
      </p:sp>
      <p:sp>
        <p:nvSpPr>
          <p:cNvPr id="17" name="TextBox 16"/>
          <p:cNvSpPr txBox="1"/>
          <p:nvPr/>
        </p:nvSpPr>
        <p:spPr>
          <a:xfrm>
            <a:off x="7473960" y="1890000"/>
            <a:ext cx="1972800" cy="669735"/>
          </a:xfrm>
          <a:prstGeom prst="rect">
            <a:avLst/>
          </a:prstGeom>
          <a:noFill/>
        </p:spPr>
        <p:txBody>
          <a:bodyPr wrap="square" lIns="0" tIns="0" rIns="0" bIns="0">
            <a:spAutoFit/>
          </a:bodyPr>
          <a:lstStyle/>
          <a:p>
            <a:pPr>
              <a:lnSpc>
                <a:spcPct val="150000"/>
              </a:lnSpc>
              <a:defRPr sz="720">
                <a:solidFill>
                  <a:srgbClr val="0F172A"/>
                </a:solidFill>
                <a:latin typeface="KoPub돋움체 Medium"/>
              </a:defRPr>
            </a:pPr>
            <a:r>
              <a:rPr sz="1000" dirty="0">
                <a:latin typeface="KoPub돋움체 Medium"/>
              </a:rPr>
              <a:t>• </a:t>
            </a:r>
            <a:r>
              <a:rPr sz="1000" dirty="0" err="1">
                <a:latin typeface="KoPub돋움체 Medium"/>
              </a:rPr>
              <a:t>검증된</a:t>
            </a:r>
            <a:r>
              <a:rPr sz="1000" dirty="0">
                <a:latin typeface="KoPub돋움체 Medium"/>
              </a:rPr>
              <a:t> </a:t>
            </a:r>
            <a:r>
              <a:rPr sz="1000" dirty="0" err="1">
                <a:latin typeface="KoPub돋움체 Medium"/>
              </a:rPr>
              <a:t>합법</a:t>
            </a:r>
            <a:r>
              <a:rPr sz="1000" dirty="0">
                <a:latin typeface="KoPub돋움체 Medium"/>
              </a:rPr>
              <a:t> </a:t>
            </a:r>
            <a:r>
              <a:rPr sz="1000" dirty="0" err="1">
                <a:latin typeface="KoPub돋움체 Medium"/>
              </a:rPr>
              <a:t>트래픽만</a:t>
            </a:r>
            <a:r>
              <a:rPr sz="1000" dirty="0">
                <a:latin typeface="KoPub돋움체 Medium"/>
              </a:rPr>
              <a:t> </a:t>
            </a:r>
            <a:r>
              <a:rPr sz="1000" dirty="0" err="1">
                <a:latin typeface="KoPub돋움체 Medium"/>
              </a:rPr>
              <a:t>수용</a:t>
            </a:r>
            <a:br>
              <a:rPr sz="1000" dirty="0"/>
            </a:br>
            <a:r>
              <a:rPr sz="1000" dirty="0">
                <a:latin typeface="KoPub돋움체 Medium"/>
              </a:rPr>
              <a:t>• </a:t>
            </a:r>
            <a:r>
              <a:rPr sz="1000" dirty="0" err="1">
                <a:latin typeface="KoPub돋움체 Medium"/>
              </a:rPr>
              <a:t>백엔드</a:t>
            </a:r>
            <a:r>
              <a:rPr sz="1000" dirty="0">
                <a:latin typeface="KoPub돋움체 Medium"/>
              </a:rPr>
              <a:t> </a:t>
            </a:r>
            <a:r>
              <a:rPr sz="1000" dirty="0" err="1">
                <a:latin typeface="KoPub돋움체 Medium"/>
              </a:rPr>
              <a:t>도달</a:t>
            </a:r>
            <a:r>
              <a:rPr sz="1000" dirty="0">
                <a:latin typeface="KoPub돋움체 Medium"/>
              </a:rPr>
              <a:t> </a:t>
            </a:r>
            <a:r>
              <a:rPr sz="1000" dirty="0" err="1">
                <a:latin typeface="KoPub돋움체 Medium"/>
              </a:rPr>
              <a:t>공격</a:t>
            </a:r>
            <a:r>
              <a:rPr sz="1000" dirty="0">
                <a:latin typeface="KoPub돋움체 Medium"/>
              </a:rPr>
              <a:t> </a:t>
            </a:r>
            <a:r>
              <a:rPr sz="1000" dirty="0" err="1">
                <a:latin typeface="KoPub돋움체 Medium"/>
              </a:rPr>
              <a:t>건수</a:t>
            </a:r>
            <a:r>
              <a:rPr sz="1000" dirty="0">
                <a:latin typeface="KoPub돋움체 Medium"/>
              </a:rPr>
              <a:t>: 0건</a:t>
            </a:r>
            <a:br>
              <a:rPr sz="1000" dirty="0"/>
            </a:br>
            <a:r>
              <a:rPr sz="1000" dirty="0">
                <a:latin typeface="KoPub돋움체 Medium"/>
              </a:rPr>
              <a:t>• </a:t>
            </a:r>
            <a:r>
              <a:rPr sz="1000" dirty="0" err="1">
                <a:latin typeface="KoPub돋움체 Medium"/>
              </a:rPr>
              <a:t>백엔드</a:t>
            </a:r>
            <a:r>
              <a:rPr sz="1000" dirty="0">
                <a:latin typeface="KoPub돋움체 Medium"/>
              </a:rPr>
              <a:t> CPU </a:t>
            </a:r>
            <a:r>
              <a:rPr sz="1000" dirty="0" err="1">
                <a:latin typeface="KoPub돋움체 Medium"/>
              </a:rPr>
              <a:t>변동률</a:t>
            </a:r>
            <a:r>
              <a:rPr sz="1000" dirty="0">
                <a:latin typeface="KoPub돋움체 Medium"/>
              </a:rPr>
              <a:t>: 0.0%</a:t>
            </a:r>
          </a:p>
        </p:txBody>
      </p:sp>
      <p:sp>
        <p:nvSpPr>
          <p:cNvPr id="18" name="Rounded Rectangle 17"/>
          <p:cNvSpPr/>
          <p:nvPr/>
        </p:nvSpPr>
        <p:spPr>
          <a:xfrm>
            <a:off x="356760" y="3330000"/>
            <a:ext cx="2926080" cy="2628000"/>
          </a:xfrm>
          <a:prstGeom prst="roundRect">
            <a:avLst>
              <a:gd name="adj" fmla="val 5069"/>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64760" y="3438000"/>
            <a:ext cx="2710080" cy="288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50" b="1">
                <a:solidFill>
                  <a:srgbClr val="0E306D"/>
                </a:solidFill>
                <a:latin typeface="KoPub돋움체 Bold"/>
              </a:defRPr>
            </a:pPr>
            <a:r>
              <a:rPr sz="1000" dirty="0">
                <a:latin typeface="KoPub돋움체 Bold"/>
              </a:rPr>
              <a:t>3계층 </a:t>
            </a:r>
            <a:r>
              <a:rPr sz="1000" dirty="0" err="1">
                <a:latin typeface="KoPub돋움체 Bold"/>
              </a:rPr>
              <a:t>지연시간</a:t>
            </a:r>
            <a:r>
              <a:rPr sz="1000" dirty="0">
                <a:latin typeface="KoPub돋움체 Bold"/>
              </a:rPr>
              <a:t> (500 RPS </a:t>
            </a:r>
            <a:r>
              <a:rPr sz="1000" dirty="0" err="1">
                <a:latin typeface="KoPub돋움체 Bold"/>
              </a:rPr>
              <a:t>부하</a:t>
            </a:r>
            <a:r>
              <a:rPr sz="1000" dirty="0">
                <a:latin typeface="KoPub돋움체 Bold"/>
              </a:rPr>
              <a:t>)</a:t>
            </a:r>
          </a:p>
        </p:txBody>
      </p:sp>
      <p:sp>
        <p:nvSpPr>
          <p:cNvPr id="20" name="TextBox 19"/>
          <p:cNvSpPr txBox="1"/>
          <p:nvPr/>
        </p:nvSpPr>
        <p:spPr>
          <a:xfrm>
            <a:off x="500760" y="3780000"/>
            <a:ext cx="2638080" cy="1603324"/>
          </a:xfrm>
          <a:prstGeom prst="rect">
            <a:avLst/>
          </a:prstGeom>
          <a:noFill/>
        </p:spPr>
        <p:txBody>
          <a:bodyPr wrap="square" lIns="0" tIns="0" rIns="0" bIns="0">
            <a:spAutoFit/>
          </a:bodyPr>
          <a:lstStyle/>
          <a:p>
            <a:pPr>
              <a:defRPr sz="1400" b="1">
                <a:solidFill>
                  <a:srgbClr val="009A93"/>
                </a:solidFill>
                <a:latin typeface="KoPub돋움체 Bold"/>
              </a:defRPr>
            </a:pPr>
            <a:r>
              <a:rPr dirty="0">
                <a:latin typeface="KoPub돋움체 Bold"/>
              </a:rPr>
              <a:t>총 p50 </a:t>
            </a:r>
            <a:r>
              <a:rPr dirty="0" err="1">
                <a:latin typeface="KoPub돋움체 Bold"/>
              </a:rPr>
              <a:t>지연</a:t>
            </a:r>
            <a:r>
              <a:rPr dirty="0">
                <a:latin typeface="KoPub돋움체 Bold"/>
              </a:rPr>
              <a:t>: 1.62 </a:t>
            </a:r>
            <a:r>
              <a:rPr dirty="0" err="1">
                <a:latin typeface="KoPub돋움체 Bold"/>
              </a:rPr>
              <a:t>ms</a:t>
            </a:r>
            <a:endParaRPr dirty="0">
              <a:latin typeface="KoPub돋움체 Bold"/>
            </a:endParaRPr>
          </a:p>
          <a:p>
            <a:pPr>
              <a:lnSpc>
                <a:spcPct val="150000"/>
              </a:lnSpc>
              <a:spcBef>
                <a:spcPts val="200"/>
              </a:spcBef>
              <a:defRPr sz="780">
                <a:solidFill>
                  <a:srgbClr val="0F172A"/>
                </a:solidFill>
                <a:latin typeface="KoPub돋움체 Medium"/>
              </a:defRPr>
            </a:pPr>
            <a:r>
              <a:rPr sz="1000" dirty="0">
                <a:latin typeface="KoPub돋움체 Medium"/>
              </a:rPr>
              <a:t>• Tier 1 (Direct Backend): 0.35 </a:t>
            </a:r>
            <a:r>
              <a:rPr sz="1000" dirty="0" err="1">
                <a:latin typeface="KoPub돋움체 Medium"/>
              </a:rPr>
              <a:t>ms</a:t>
            </a:r>
            <a:r>
              <a:rPr sz="1000" dirty="0">
                <a:latin typeface="KoPub돋움체 Medium"/>
              </a:rPr>
              <a:t> (</a:t>
            </a:r>
            <a:r>
              <a:rPr sz="1000" dirty="0" err="1">
                <a:latin typeface="KoPub돋움체 Medium"/>
              </a:rPr>
              <a:t>기저선</a:t>
            </a:r>
            <a:r>
              <a:rPr sz="1000" dirty="0">
                <a:latin typeface="KoPub돋움체 Medium"/>
              </a:rPr>
              <a:t>)</a:t>
            </a:r>
            <a:br>
              <a:rPr sz="1000" dirty="0"/>
            </a:br>
            <a:r>
              <a:rPr sz="1000" dirty="0">
                <a:latin typeface="KoPub돋움체 Medium"/>
              </a:rPr>
              <a:t>• Tier 2 (Envoy Proxy Only): 0.77 </a:t>
            </a:r>
            <a:r>
              <a:rPr sz="1000" dirty="0" err="1">
                <a:latin typeface="KoPub돋움체 Medium"/>
              </a:rPr>
              <a:t>ms</a:t>
            </a:r>
            <a:r>
              <a:rPr sz="1000" dirty="0">
                <a:latin typeface="KoPub돋움체 Medium"/>
              </a:rPr>
              <a:t> (+0.42ms </a:t>
            </a:r>
            <a:r>
              <a:rPr sz="1000" dirty="0" err="1">
                <a:latin typeface="KoPub돋움체 Medium"/>
              </a:rPr>
              <a:t>프록시</a:t>
            </a:r>
            <a:r>
              <a:rPr sz="1000" dirty="0">
                <a:latin typeface="KoPub돋움체 Medium"/>
              </a:rPr>
              <a:t> 홉)</a:t>
            </a:r>
            <a:br>
              <a:rPr sz="1000" dirty="0"/>
            </a:br>
            <a:r>
              <a:rPr sz="1000" dirty="0">
                <a:latin typeface="KoPub돋움체 Medium"/>
              </a:rPr>
              <a:t>• Tier 3 (Envoy + </a:t>
            </a:r>
            <a:r>
              <a:rPr sz="1000" dirty="0" err="1">
                <a:latin typeface="KoPub돋움체 Medium"/>
              </a:rPr>
              <a:t>PoP</a:t>
            </a:r>
            <a:r>
              <a:rPr sz="1000" dirty="0">
                <a:latin typeface="KoPub돋움체 Medium"/>
              </a:rPr>
              <a:t>-Sync L1 Hit): 1.62 </a:t>
            </a:r>
            <a:r>
              <a:rPr sz="1000" dirty="0" err="1">
                <a:latin typeface="KoPub돋움체 Medium"/>
              </a:rPr>
              <a:t>ms</a:t>
            </a:r>
            <a:br>
              <a:rPr sz="1000" dirty="0"/>
            </a:br>
            <a:r>
              <a:rPr sz="1000" dirty="0">
                <a:latin typeface="KoPub돋움체 Medium"/>
              </a:rPr>
              <a:t>• </a:t>
            </a:r>
            <a:r>
              <a:rPr sz="1000" dirty="0" err="1">
                <a:latin typeface="KoPub돋움체 Medium"/>
              </a:rPr>
              <a:t>PoP</a:t>
            </a:r>
            <a:r>
              <a:rPr sz="1000" dirty="0">
                <a:latin typeface="KoPub돋움체 Medium"/>
              </a:rPr>
              <a:t>-Sync </a:t>
            </a:r>
            <a:r>
              <a:rPr sz="1000" dirty="0" err="1">
                <a:latin typeface="KoPub돋움체 Medium"/>
              </a:rPr>
              <a:t>순수</a:t>
            </a:r>
            <a:r>
              <a:rPr sz="1000" dirty="0">
                <a:latin typeface="KoPub돋움체 Medium"/>
              </a:rPr>
              <a:t> </a:t>
            </a:r>
            <a:r>
              <a:rPr sz="1000" dirty="0" err="1">
                <a:latin typeface="KoPub돋움체 Medium"/>
              </a:rPr>
              <a:t>인가</a:t>
            </a:r>
            <a:r>
              <a:rPr sz="1000" dirty="0">
                <a:latin typeface="KoPub돋움체 Medium"/>
              </a:rPr>
              <a:t> </a:t>
            </a:r>
            <a:r>
              <a:rPr sz="1000" dirty="0" err="1">
                <a:latin typeface="KoPub돋움체 Medium"/>
              </a:rPr>
              <a:t>오버헤드</a:t>
            </a:r>
            <a:r>
              <a:rPr sz="1000" dirty="0">
                <a:latin typeface="KoPub돋움체 Medium"/>
              </a:rPr>
              <a:t>: 단 0.85 </a:t>
            </a:r>
            <a:r>
              <a:rPr sz="1000" dirty="0" err="1">
                <a:latin typeface="KoPub돋움체 Medium"/>
              </a:rPr>
              <a:t>ms</a:t>
            </a:r>
            <a:br>
              <a:rPr sz="1000" dirty="0"/>
            </a:br>
            <a:r>
              <a:rPr sz="1000" dirty="0">
                <a:latin typeface="KoPub돋움체 Medium"/>
              </a:rPr>
              <a:t>• p99 </a:t>
            </a:r>
            <a:r>
              <a:rPr sz="1000" dirty="0" err="1">
                <a:latin typeface="KoPub돋움체 Medium"/>
              </a:rPr>
              <a:t>지연시간</a:t>
            </a:r>
            <a:r>
              <a:rPr sz="1000" dirty="0">
                <a:latin typeface="KoPub돋움체 Medium"/>
              </a:rPr>
              <a:t>: 1.89 </a:t>
            </a:r>
            <a:r>
              <a:rPr sz="1000" dirty="0" err="1">
                <a:latin typeface="KoPub돋움체 Medium"/>
              </a:rPr>
              <a:t>ms</a:t>
            </a:r>
            <a:r>
              <a:rPr sz="1000" dirty="0">
                <a:latin typeface="KoPub돋움체 Medium"/>
              </a:rPr>
              <a:t> (</a:t>
            </a:r>
            <a:r>
              <a:rPr sz="1000" dirty="0" err="1">
                <a:latin typeface="KoPub돋움체 Medium"/>
              </a:rPr>
              <a:t>안정적</a:t>
            </a:r>
            <a:r>
              <a:rPr sz="1000" dirty="0">
                <a:latin typeface="KoPub돋움체 Medium"/>
              </a:rPr>
              <a:t> SLA </a:t>
            </a:r>
            <a:r>
              <a:rPr sz="1000" dirty="0" err="1">
                <a:latin typeface="KoPub돋움체 Medium"/>
              </a:rPr>
              <a:t>보장</a:t>
            </a:r>
            <a:r>
              <a:rPr sz="1000" dirty="0">
                <a:latin typeface="KoPub돋움체 Medium"/>
              </a:rPr>
              <a:t>)</a:t>
            </a:r>
          </a:p>
        </p:txBody>
      </p:sp>
      <p:sp>
        <p:nvSpPr>
          <p:cNvPr id="21" name="Rounded Rectangle 20"/>
          <p:cNvSpPr/>
          <p:nvPr/>
        </p:nvSpPr>
        <p:spPr>
          <a:xfrm>
            <a:off x="3483720" y="3330000"/>
            <a:ext cx="2926080" cy="2628000"/>
          </a:xfrm>
          <a:prstGeom prst="roundRect">
            <a:avLst>
              <a:gd name="adj" fmla="val 5391"/>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3591720" y="3438000"/>
            <a:ext cx="2710080" cy="288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50" b="1">
                <a:solidFill>
                  <a:srgbClr val="0E306D"/>
                </a:solidFill>
                <a:latin typeface="KoPub돋움체 Bold"/>
              </a:defRPr>
            </a:pPr>
            <a:r>
              <a:rPr sz="1000" dirty="0" err="1">
                <a:latin typeface="KoPub돋움체 Bold"/>
              </a:rPr>
              <a:t>공격</a:t>
            </a:r>
            <a:r>
              <a:rPr sz="1000" dirty="0">
                <a:latin typeface="KoPub돋움체 Bold"/>
              </a:rPr>
              <a:t> </a:t>
            </a:r>
            <a:r>
              <a:rPr sz="1000" dirty="0" err="1">
                <a:latin typeface="KoPub돋움체 Bold"/>
              </a:rPr>
              <a:t>트래픽</a:t>
            </a:r>
            <a:r>
              <a:rPr sz="1000" dirty="0">
                <a:latin typeface="KoPub돋움체 Bold"/>
              </a:rPr>
              <a:t> 3,000건 </a:t>
            </a:r>
            <a:r>
              <a:rPr sz="1000" dirty="0" err="1">
                <a:latin typeface="KoPub돋움체 Bold"/>
              </a:rPr>
              <a:t>에지</a:t>
            </a:r>
            <a:r>
              <a:rPr sz="1000" dirty="0">
                <a:latin typeface="KoPub돋움체 Bold"/>
              </a:rPr>
              <a:t> </a:t>
            </a:r>
            <a:r>
              <a:rPr sz="1000" dirty="0" err="1">
                <a:latin typeface="KoPub돋움체 Bold"/>
              </a:rPr>
              <a:t>차단</a:t>
            </a:r>
            <a:endParaRPr sz="1000" dirty="0">
              <a:latin typeface="KoPub돋움체 Bold"/>
            </a:endParaRPr>
          </a:p>
        </p:txBody>
      </p:sp>
      <p:sp>
        <p:nvSpPr>
          <p:cNvPr id="23" name="TextBox 22"/>
          <p:cNvSpPr txBox="1"/>
          <p:nvPr/>
        </p:nvSpPr>
        <p:spPr>
          <a:xfrm>
            <a:off x="3627720" y="3780000"/>
            <a:ext cx="2638080" cy="1372492"/>
          </a:xfrm>
          <a:prstGeom prst="rect">
            <a:avLst/>
          </a:prstGeom>
          <a:noFill/>
        </p:spPr>
        <p:txBody>
          <a:bodyPr wrap="square" lIns="0" tIns="0" rIns="0" bIns="0">
            <a:spAutoFit/>
          </a:bodyPr>
          <a:lstStyle/>
          <a:p>
            <a:pPr>
              <a:defRPr sz="1400" b="1">
                <a:solidFill>
                  <a:srgbClr val="009A93"/>
                </a:solidFill>
                <a:latin typeface="KoPub돋움체 Bold"/>
              </a:defRPr>
            </a:pPr>
            <a:r>
              <a:rPr dirty="0" err="1">
                <a:latin typeface="KoPub돋움체 Bold"/>
              </a:rPr>
              <a:t>백엔드</a:t>
            </a:r>
            <a:r>
              <a:rPr dirty="0">
                <a:latin typeface="KoPub돋움체 Bold"/>
              </a:rPr>
              <a:t> </a:t>
            </a:r>
            <a:r>
              <a:rPr dirty="0" err="1">
                <a:latin typeface="KoPub돋움체 Bold"/>
              </a:rPr>
              <a:t>도달</a:t>
            </a:r>
            <a:r>
              <a:rPr dirty="0">
                <a:latin typeface="KoPub돋움체 Bold"/>
              </a:rPr>
              <a:t>: 0건 (100% </a:t>
            </a:r>
            <a:r>
              <a:rPr dirty="0" err="1">
                <a:latin typeface="KoPub돋움체 Bold"/>
              </a:rPr>
              <a:t>차단</a:t>
            </a:r>
            <a:r>
              <a:rPr dirty="0">
                <a:latin typeface="KoPub돋움체 Bold"/>
              </a:rPr>
              <a:t>)</a:t>
            </a:r>
          </a:p>
          <a:p>
            <a:pPr>
              <a:lnSpc>
                <a:spcPct val="150000"/>
              </a:lnSpc>
              <a:spcBef>
                <a:spcPts val="200"/>
              </a:spcBef>
              <a:defRPr sz="780">
                <a:solidFill>
                  <a:srgbClr val="0F172A"/>
                </a:solidFill>
                <a:latin typeface="KoPub돋움체 Medium"/>
              </a:defRPr>
            </a:pPr>
            <a:r>
              <a:rPr sz="1000" dirty="0">
                <a:latin typeface="KoPub돋움체 Medium"/>
              </a:rPr>
              <a:t>• Nonce </a:t>
            </a:r>
            <a:r>
              <a:rPr sz="1000" dirty="0" err="1">
                <a:latin typeface="KoPub돋움체 Medium"/>
              </a:rPr>
              <a:t>리플레이</a:t>
            </a:r>
            <a:r>
              <a:rPr sz="1000" dirty="0">
                <a:latin typeface="KoPub돋움체 Medium"/>
              </a:rPr>
              <a:t> </a:t>
            </a:r>
            <a:r>
              <a:rPr sz="1000" dirty="0" err="1">
                <a:latin typeface="KoPub돋움체 Medium"/>
              </a:rPr>
              <a:t>공격</a:t>
            </a:r>
            <a:r>
              <a:rPr sz="1000" dirty="0">
                <a:latin typeface="KoPub돋움체 Medium"/>
              </a:rPr>
              <a:t>: 1,500건 → </a:t>
            </a:r>
            <a:r>
              <a:rPr sz="1000" dirty="0" err="1">
                <a:latin typeface="KoPub돋움체 Medium"/>
              </a:rPr>
              <a:t>에지</a:t>
            </a:r>
            <a:r>
              <a:rPr sz="1000" dirty="0">
                <a:latin typeface="KoPub돋움체 Medium"/>
              </a:rPr>
              <a:t> 401 </a:t>
            </a:r>
            <a:r>
              <a:rPr sz="1000" dirty="0" err="1">
                <a:latin typeface="KoPub돋움체 Medium"/>
              </a:rPr>
              <a:t>차단</a:t>
            </a:r>
            <a:br>
              <a:rPr sz="1000" dirty="0"/>
            </a:br>
            <a:r>
              <a:rPr sz="1000" dirty="0">
                <a:latin typeface="KoPub돋움체 Medium"/>
              </a:rPr>
              <a:t>• </a:t>
            </a:r>
            <a:r>
              <a:rPr sz="1000" dirty="0" err="1">
                <a:latin typeface="KoPub돋움체 Medium"/>
              </a:rPr>
              <a:t>유량</a:t>
            </a:r>
            <a:r>
              <a:rPr sz="1000" dirty="0">
                <a:latin typeface="KoPub돋움체 Medium"/>
              </a:rPr>
              <a:t> </a:t>
            </a:r>
            <a:r>
              <a:rPr sz="1000" dirty="0" err="1">
                <a:latin typeface="KoPub돋움체 Medium"/>
              </a:rPr>
              <a:t>초과</a:t>
            </a:r>
            <a:r>
              <a:rPr sz="1000" dirty="0">
                <a:latin typeface="KoPub돋움체 Medium"/>
              </a:rPr>
              <a:t> </a:t>
            </a:r>
            <a:r>
              <a:rPr sz="1000" dirty="0" err="1">
                <a:latin typeface="KoPub돋움체 Medium"/>
              </a:rPr>
              <a:t>플러드</a:t>
            </a:r>
            <a:r>
              <a:rPr sz="1000" dirty="0">
                <a:latin typeface="KoPub돋움체 Medium"/>
              </a:rPr>
              <a:t> </a:t>
            </a:r>
            <a:r>
              <a:rPr sz="1000" dirty="0" err="1">
                <a:latin typeface="KoPub돋움체 Medium"/>
              </a:rPr>
              <a:t>공격</a:t>
            </a:r>
            <a:r>
              <a:rPr sz="1000" dirty="0">
                <a:latin typeface="KoPub돋움체 Medium"/>
              </a:rPr>
              <a:t>: 1,500건 → </a:t>
            </a:r>
            <a:r>
              <a:rPr sz="1000" dirty="0" err="1">
                <a:latin typeface="KoPub돋움체 Medium"/>
              </a:rPr>
              <a:t>에지</a:t>
            </a:r>
            <a:r>
              <a:rPr sz="1000" dirty="0">
                <a:latin typeface="KoPub돋움체 Medium"/>
              </a:rPr>
              <a:t> 429 </a:t>
            </a:r>
            <a:r>
              <a:rPr sz="1000" dirty="0" err="1">
                <a:latin typeface="KoPub돋움체 Medium"/>
              </a:rPr>
              <a:t>차단</a:t>
            </a:r>
            <a:br>
              <a:rPr sz="1000" dirty="0"/>
            </a:br>
            <a:r>
              <a:rPr sz="1000" dirty="0">
                <a:latin typeface="KoPub돋움체 Medium"/>
              </a:rPr>
              <a:t>• </a:t>
            </a:r>
            <a:r>
              <a:rPr sz="1000" dirty="0" err="1">
                <a:latin typeface="KoPub돋움체 Medium"/>
              </a:rPr>
              <a:t>백엔드</a:t>
            </a:r>
            <a:r>
              <a:rPr sz="1000" dirty="0">
                <a:latin typeface="KoPub돋움체 Medium"/>
              </a:rPr>
              <a:t> </a:t>
            </a:r>
            <a:r>
              <a:rPr sz="1000" dirty="0" err="1">
                <a:latin typeface="KoPub돋움체 Medium"/>
              </a:rPr>
              <a:t>서버</a:t>
            </a:r>
            <a:r>
              <a:rPr sz="1000" dirty="0">
                <a:latin typeface="KoPub돋움체 Medium"/>
              </a:rPr>
              <a:t> </a:t>
            </a:r>
            <a:r>
              <a:rPr sz="1000" dirty="0" err="1">
                <a:latin typeface="KoPub돋움체 Medium"/>
              </a:rPr>
              <a:t>도달</a:t>
            </a:r>
            <a:r>
              <a:rPr sz="1000" dirty="0">
                <a:latin typeface="KoPub돋움체 Medium"/>
              </a:rPr>
              <a:t> </a:t>
            </a:r>
            <a:r>
              <a:rPr sz="1000" dirty="0" err="1">
                <a:latin typeface="KoPub돋움체 Medium"/>
              </a:rPr>
              <a:t>건수</a:t>
            </a:r>
            <a:r>
              <a:rPr sz="1000" dirty="0">
                <a:latin typeface="KoPub돋움체 Medium"/>
              </a:rPr>
              <a:t>: 단 0건 (</a:t>
            </a:r>
            <a:r>
              <a:rPr sz="1000" dirty="0" err="1">
                <a:latin typeface="KoPub돋움체 Medium"/>
              </a:rPr>
              <a:t>완벽</a:t>
            </a:r>
            <a:r>
              <a:rPr sz="1000" dirty="0">
                <a:latin typeface="KoPub돋움체 Medium"/>
              </a:rPr>
              <a:t> </a:t>
            </a:r>
            <a:r>
              <a:rPr sz="1000" dirty="0" err="1">
                <a:latin typeface="KoPub돋움체 Medium"/>
              </a:rPr>
              <a:t>격리</a:t>
            </a:r>
            <a:r>
              <a:rPr sz="1000" dirty="0">
                <a:latin typeface="KoPub돋움체 Medium"/>
              </a:rPr>
              <a:t>)</a:t>
            </a:r>
            <a:br>
              <a:rPr sz="1000" dirty="0"/>
            </a:br>
            <a:r>
              <a:rPr sz="1000" dirty="0">
                <a:latin typeface="KoPub돋움체 Medium"/>
              </a:rPr>
              <a:t>• </a:t>
            </a:r>
            <a:r>
              <a:rPr sz="1000" dirty="0" err="1">
                <a:latin typeface="KoPub돋움체 Medium"/>
              </a:rPr>
              <a:t>백엔드</a:t>
            </a:r>
            <a:r>
              <a:rPr sz="1000" dirty="0">
                <a:latin typeface="KoPub돋움체 Medium"/>
              </a:rPr>
              <a:t> CPU </a:t>
            </a:r>
            <a:r>
              <a:rPr sz="1000" dirty="0" err="1">
                <a:latin typeface="KoPub돋움체 Medium"/>
              </a:rPr>
              <a:t>사용률</a:t>
            </a:r>
            <a:r>
              <a:rPr sz="1000" dirty="0">
                <a:latin typeface="KoPub돋움체 Medium"/>
              </a:rPr>
              <a:t> </a:t>
            </a:r>
            <a:r>
              <a:rPr sz="1000" dirty="0" err="1">
                <a:latin typeface="KoPub돋움체 Medium"/>
              </a:rPr>
              <a:t>변동</a:t>
            </a:r>
            <a:r>
              <a:rPr sz="1000" dirty="0">
                <a:latin typeface="KoPub돋움체 Medium"/>
              </a:rPr>
              <a:t>: 0.0% (</a:t>
            </a:r>
            <a:r>
              <a:rPr sz="1000" dirty="0" err="1">
                <a:latin typeface="KoPub돋움체 Medium"/>
              </a:rPr>
              <a:t>과부하</a:t>
            </a:r>
            <a:r>
              <a:rPr sz="1000" dirty="0">
                <a:latin typeface="KoPub돋움체 Medium"/>
              </a:rPr>
              <a:t> </a:t>
            </a:r>
            <a:r>
              <a:rPr sz="1000" dirty="0" err="1">
                <a:latin typeface="KoPub돋움체 Medium"/>
              </a:rPr>
              <a:t>제로</a:t>
            </a:r>
            <a:r>
              <a:rPr sz="1000" dirty="0">
                <a:latin typeface="KoPub돋움체 Medium"/>
              </a:rPr>
              <a:t>)</a:t>
            </a:r>
            <a:br>
              <a:rPr sz="1000" dirty="0"/>
            </a:br>
            <a:r>
              <a:rPr sz="1000" dirty="0">
                <a:latin typeface="KoPub돋움체 Medium"/>
              </a:rPr>
              <a:t>• </a:t>
            </a:r>
            <a:r>
              <a:rPr sz="1000" dirty="0" err="1">
                <a:latin typeface="KoPub돋움체 Medium"/>
              </a:rPr>
              <a:t>하네스</a:t>
            </a:r>
            <a:r>
              <a:rPr sz="1000" dirty="0">
                <a:latin typeface="KoPub돋움체 Medium"/>
              </a:rPr>
              <a:t> </a:t>
            </a:r>
            <a:r>
              <a:rPr sz="1000" dirty="0" err="1">
                <a:latin typeface="KoPub돋움체 Medium"/>
              </a:rPr>
              <a:t>자동화</a:t>
            </a:r>
            <a:r>
              <a:rPr sz="1000" dirty="0">
                <a:latin typeface="KoPub돋움체 Medium"/>
              </a:rPr>
              <a:t> </a:t>
            </a:r>
            <a:r>
              <a:rPr sz="1000" dirty="0" err="1">
                <a:latin typeface="KoPub돋움체 Medium"/>
              </a:rPr>
              <a:t>스위트로</a:t>
            </a:r>
            <a:r>
              <a:rPr sz="1000" dirty="0">
                <a:latin typeface="KoPub돋움체 Medium"/>
              </a:rPr>
              <a:t> 100% </a:t>
            </a:r>
            <a:r>
              <a:rPr sz="1000" dirty="0" err="1">
                <a:latin typeface="KoPub돋움체 Medium"/>
              </a:rPr>
              <a:t>차단</a:t>
            </a:r>
            <a:r>
              <a:rPr sz="1000" dirty="0">
                <a:latin typeface="KoPub돋움체 Medium"/>
              </a:rPr>
              <a:t> </a:t>
            </a:r>
            <a:r>
              <a:rPr sz="1000" dirty="0" err="1">
                <a:latin typeface="KoPub돋움체 Medium"/>
              </a:rPr>
              <a:t>검증</a:t>
            </a:r>
            <a:r>
              <a:rPr sz="1000" dirty="0">
                <a:latin typeface="KoPub돋움체 Medium"/>
              </a:rPr>
              <a:t> </a:t>
            </a:r>
            <a:r>
              <a:rPr sz="1000" dirty="0" err="1">
                <a:latin typeface="KoPub돋움체 Medium"/>
              </a:rPr>
              <a:t>완료</a:t>
            </a:r>
            <a:endParaRPr sz="1000" dirty="0">
              <a:latin typeface="KoPub돋움체 Medium"/>
            </a:endParaRPr>
          </a:p>
        </p:txBody>
      </p:sp>
      <p:sp>
        <p:nvSpPr>
          <p:cNvPr id="24" name="Rounded Rectangle 23"/>
          <p:cNvSpPr/>
          <p:nvPr/>
        </p:nvSpPr>
        <p:spPr>
          <a:xfrm>
            <a:off x="6611039" y="3330000"/>
            <a:ext cx="2926080" cy="2628000"/>
          </a:xfrm>
          <a:prstGeom prst="roundRect">
            <a:avLst>
              <a:gd name="adj" fmla="val 3780"/>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719039" y="3438000"/>
            <a:ext cx="2710080" cy="288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50" b="1">
                <a:solidFill>
                  <a:srgbClr val="0E306D"/>
                </a:solidFill>
                <a:latin typeface="KoPub돋움체 Bold"/>
              </a:defRPr>
            </a:pPr>
            <a:r>
              <a:rPr sz="1000" dirty="0">
                <a:latin typeface="KoPub돋움체 Bold"/>
              </a:rPr>
              <a:t>Nginx </a:t>
            </a:r>
            <a:r>
              <a:rPr sz="1000" dirty="0" err="1">
                <a:latin typeface="KoPub돋움체 Bold"/>
              </a:rPr>
              <a:t>auth_request</a:t>
            </a:r>
            <a:r>
              <a:rPr sz="1000" dirty="0">
                <a:latin typeface="KoPub돋움체 Bold"/>
              </a:rPr>
              <a:t> </a:t>
            </a:r>
            <a:r>
              <a:rPr sz="1000" dirty="0" err="1">
                <a:latin typeface="KoPub돋움체 Bold"/>
              </a:rPr>
              <a:t>완전</a:t>
            </a:r>
            <a:r>
              <a:rPr sz="1000" dirty="0">
                <a:latin typeface="KoPub돋움체 Bold"/>
              </a:rPr>
              <a:t> </a:t>
            </a:r>
            <a:r>
              <a:rPr sz="1000" dirty="0" err="1">
                <a:latin typeface="KoPub돋움체 Bold"/>
              </a:rPr>
              <a:t>호환</a:t>
            </a:r>
            <a:endParaRPr sz="1000" dirty="0">
              <a:latin typeface="KoPub돋움체 Bold"/>
            </a:endParaRPr>
          </a:p>
        </p:txBody>
      </p:sp>
      <p:sp>
        <p:nvSpPr>
          <p:cNvPr id="26" name="TextBox 25"/>
          <p:cNvSpPr txBox="1"/>
          <p:nvPr/>
        </p:nvSpPr>
        <p:spPr>
          <a:xfrm>
            <a:off x="6755039" y="3780000"/>
            <a:ext cx="2638080" cy="1603324"/>
          </a:xfrm>
          <a:prstGeom prst="rect">
            <a:avLst/>
          </a:prstGeom>
          <a:noFill/>
        </p:spPr>
        <p:txBody>
          <a:bodyPr wrap="square" lIns="0" tIns="0" rIns="0" bIns="0">
            <a:spAutoFit/>
          </a:bodyPr>
          <a:lstStyle/>
          <a:p>
            <a:pPr>
              <a:defRPr sz="1400" b="1">
                <a:solidFill>
                  <a:srgbClr val="0E306D"/>
                </a:solidFill>
                <a:latin typeface="KoPub돋움체 Bold"/>
              </a:defRPr>
            </a:pPr>
            <a:r>
              <a:rPr dirty="0">
                <a:latin typeface="KoPub돋움체 Bold"/>
              </a:rPr>
              <a:t>429 </a:t>
            </a:r>
            <a:r>
              <a:rPr dirty="0" err="1">
                <a:latin typeface="KoPub돋움체 Bold"/>
              </a:rPr>
              <a:t>코드</a:t>
            </a:r>
            <a:r>
              <a:rPr dirty="0">
                <a:latin typeface="KoPub돋움체 Bold"/>
              </a:rPr>
              <a:t> </a:t>
            </a:r>
            <a:r>
              <a:rPr dirty="0" err="1">
                <a:latin typeface="KoPub돋움체 Bold"/>
              </a:rPr>
              <a:t>누락</a:t>
            </a:r>
            <a:r>
              <a:rPr dirty="0">
                <a:latin typeface="KoPub돋움체 Bold"/>
              </a:rPr>
              <a:t> </a:t>
            </a:r>
            <a:r>
              <a:rPr dirty="0" err="1">
                <a:latin typeface="KoPub돋움체 Bold"/>
              </a:rPr>
              <a:t>결함</a:t>
            </a:r>
            <a:r>
              <a:rPr dirty="0">
                <a:latin typeface="KoPub돋움체 Bold"/>
              </a:rPr>
              <a:t> </a:t>
            </a:r>
            <a:r>
              <a:rPr dirty="0" err="1">
                <a:latin typeface="KoPub돋움체 Bold"/>
              </a:rPr>
              <a:t>복원</a:t>
            </a:r>
            <a:endParaRPr dirty="0">
              <a:latin typeface="KoPub돋움체 Bold"/>
            </a:endParaRPr>
          </a:p>
          <a:p>
            <a:pPr>
              <a:lnSpc>
                <a:spcPct val="150000"/>
              </a:lnSpc>
              <a:spcBef>
                <a:spcPts val="200"/>
              </a:spcBef>
              <a:defRPr sz="780">
                <a:solidFill>
                  <a:srgbClr val="0F172A"/>
                </a:solidFill>
                <a:latin typeface="KoPub돋움체 Medium"/>
              </a:defRPr>
            </a:pPr>
            <a:r>
              <a:rPr sz="1000" dirty="0">
                <a:latin typeface="KoPub돋움체 Medium"/>
              </a:rPr>
              <a:t>• Nginx </a:t>
            </a:r>
            <a:r>
              <a:rPr sz="1000" dirty="0" err="1">
                <a:latin typeface="KoPub돋움체 Medium"/>
              </a:rPr>
              <a:t>결함</a:t>
            </a:r>
            <a:r>
              <a:rPr sz="1000" dirty="0">
                <a:latin typeface="KoPub돋움체 Medium"/>
              </a:rPr>
              <a:t>: </a:t>
            </a:r>
            <a:r>
              <a:rPr sz="1000" dirty="0" err="1">
                <a:latin typeface="KoPub돋움체 Medium"/>
              </a:rPr>
              <a:t>ngx_http_auth_request_module이</a:t>
            </a:r>
            <a:r>
              <a:rPr sz="1000" dirty="0">
                <a:latin typeface="KoPub돋움체 Medium"/>
              </a:rPr>
              <a:t> 429 </a:t>
            </a:r>
            <a:r>
              <a:rPr sz="1000" dirty="0" err="1">
                <a:latin typeface="KoPub돋움체 Medium"/>
              </a:rPr>
              <a:t>코드를</a:t>
            </a:r>
            <a:r>
              <a:rPr sz="1000" dirty="0">
                <a:latin typeface="KoPub돋움체 Medium"/>
              </a:rPr>
              <a:t> 500으로 </a:t>
            </a:r>
            <a:r>
              <a:rPr sz="1000" dirty="0" err="1">
                <a:latin typeface="KoPub돋움체 Medium"/>
              </a:rPr>
              <a:t>왜곡하는</a:t>
            </a:r>
            <a:r>
              <a:rPr sz="1000" dirty="0">
                <a:latin typeface="KoPub돋움체 Medium"/>
              </a:rPr>
              <a:t> </a:t>
            </a:r>
            <a:r>
              <a:rPr sz="1000" dirty="0" err="1">
                <a:latin typeface="KoPub돋움체 Medium"/>
              </a:rPr>
              <a:t>문제</a:t>
            </a:r>
            <a:r>
              <a:rPr sz="1000" dirty="0">
                <a:latin typeface="KoPub돋움체 Medium"/>
              </a:rPr>
              <a:t> </a:t>
            </a:r>
            <a:r>
              <a:rPr sz="1000" dirty="0" err="1">
                <a:latin typeface="KoPub돋움체 Medium"/>
              </a:rPr>
              <a:t>식별</a:t>
            </a:r>
            <a:br>
              <a:rPr sz="1000" dirty="0"/>
            </a:br>
            <a:r>
              <a:rPr sz="1000" dirty="0">
                <a:latin typeface="KoPub돋움체 Medium"/>
              </a:rPr>
              <a:t>• </a:t>
            </a:r>
            <a:r>
              <a:rPr sz="1000" dirty="0" err="1">
                <a:latin typeface="KoPub돋움체 Medium"/>
              </a:rPr>
              <a:t>에러</a:t>
            </a:r>
            <a:r>
              <a:rPr sz="1000" dirty="0">
                <a:latin typeface="KoPub돋움체 Medium"/>
              </a:rPr>
              <a:t> </a:t>
            </a:r>
            <a:r>
              <a:rPr sz="1000" dirty="0" err="1">
                <a:latin typeface="KoPub돋움체 Medium"/>
              </a:rPr>
              <a:t>인터셉트</a:t>
            </a:r>
            <a:r>
              <a:rPr sz="1000" dirty="0">
                <a:latin typeface="KoPub돋움체 Medium"/>
              </a:rPr>
              <a:t>: @handle_auth_error </a:t>
            </a:r>
            <a:r>
              <a:rPr sz="1000" dirty="0" err="1">
                <a:latin typeface="KoPub돋움체 Medium"/>
              </a:rPr>
              <a:t>지시자로</a:t>
            </a:r>
            <a:r>
              <a:rPr sz="1000" dirty="0">
                <a:latin typeface="KoPub돋움체 Medium"/>
              </a:rPr>
              <a:t> 429 및 Retry-After </a:t>
            </a:r>
            <a:r>
              <a:rPr sz="1000" dirty="0" err="1">
                <a:latin typeface="KoPub돋움체 Medium"/>
              </a:rPr>
              <a:t>헤더</a:t>
            </a:r>
            <a:r>
              <a:rPr sz="1000" dirty="0">
                <a:latin typeface="KoPub돋움체 Medium"/>
              </a:rPr>
              <a:t> 100% </a:t>
            </a:r>
            <a:r>
              <a:rPr sz="1000" dirty="0" err="1">
                <a:latin typeface="KoPub돋움체 Medium"/>
              </a:rPr>
              <a:t>복원</a:t>
            </a:r>
            <a:br>
              <a:rPr sz="1000" dirty="0"/>
            </a:br>
            <a:r>
              <a:rPr sz="1000" dirty="0">
                <a:latin typeface="KoPub돋움체 Medium"/>
              </a:rPr>
              <a:t>• Envoy(</a:t>
            </a:r>
            <a:r>
              <a:rPr sz="1000" dirty="0" err="1">
                <a:latin typeface="KoPub돋움체 Medium"/>
              </a:rPr>
              <a:t>gRPC</a:t>
            </a:r>
            <a:r>
              <a:rPr sz="1000" dirty="0">
                <a:latin typeface="KoPub돋움체 Medium"/>
              </a:rPr>
              <a:t>/HTTP) 및 Nginx </a:t>
            </a:r>
            <a:r>
              <a:rPr sz="1000" dirty="0" err="1">
                <a:latin typeface="KoPub돋움체 Medium"/>
              </a:rPr>
              <a:t>모두</a:t>
            </a:r>
            <a:r>
              <a:rPr sz="1000" dirty="0">
                <a:latin typeface="KoPub돋움체 Medium"/>
              </a:rPr>
              <a:t> </a:t>
            </a:r>
            <a:r>
              <a:rPr sz="1000" dirty="0" err="1">
                <a:latin typeface="KoPub돋움체 Medium"/>
              </a:rPr>
              <a:t>공식</a:t>
            </a:r>
            <a:r>
              <a:rPr sz="1000" dirty="0">
                <a:latin typeface="KoPub돋움체 Medium"/>
              </a:rPr>
              <a:t> </a:t>
            </a:r>
            <a:r>
              <a:rPr sz="1000" dirty="0" err="1">
                <a:latin typeface="KoPub돋움체 Medium"/>
              </a:rPr>
              <a:t>지원</a:t>
            </a:r>
            <a:br>
              <a:rPr sz="1000" dirty="0"/>
            </a:br>
            <a:r>
              <a:rPr sz="1000" dirty="0">
                <a:latin typeface="KoPub돋움체 Medium"/>
              </a:rPr>
              <a:t>• docker-</a:t>
            </a:r>
            <a:r>
              <a:rPr sz="1000" dirty="0" err="1">
                <a:latin typeface="KoPub돋움체 Medium"/>
              </a:rPr>
              <a:t>compose.benchmark.yml</a:t>
            </a:r>
            <a:r>
              <a:rPr sz="1000" dirty="0">
                <a:latin typeface="KoPub돋움체 Medium"/>
              </a:rPr>
              <a:t> </a:t>
            </a:r>
            <a:r>
              <a:rPr sz="1000" dirty="0" err="1">
                <a:latin typeface="KoPub돋움체 Medium"/>
              </a:rPr>
              <a:t>실환경</a:t>
            </a:r>
            <a:r>
              <a:rPr sz="1000" dirty="0">
                <a:latin typeface="KoPub돋움체 Medium"/>
              </a:rPr>
              <a:t> </a:t>
            </a:r>
            <a:r>
              <a:rPr sz="1000" dirty="0" err="1">
                <a:latin typeface="KoPub돋움체 Medium"/>
              </a:rPr>
              <a:t>제공</a:t>
            </a:r>
            <a:endParaRPr sz="1000" dirty="0">
              <a:latin typeface="KoPub돋움체 Medium"/>
            </a:endParaRPr>
          </a:p>
        </p:txBody>
      </p:sp>
      <p:sp>
        <p:nvSpPr>
          <p:cNvPr id="27" name="Rounded Rectangle 26"/>
          <p:cNvSpPr/>
          <p:nvPr/>
        </p:nvSpPr>
        <p:spPr>
          <a:xfrm>
            <a:off x="356760" y="6048000"/>
            <a:ext cx="9198720" cy="342000"/>
          </a:xfrm>
          <a:prstGeom prst="roundRect">
            <a:avLst/>
          </a:prstGeom>
          <a:solidFill>
            <a:srgbClr val="F1F1F1"/>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510825" y="6142056"/>
            <a:ext cx="4884350" cy="153888"/>
          </a:xfrm>
          <a:prstGeom prst="rect">
            <a:avLst/>
          </a:prstGeom>
          <a:noFill/>
        </p:spPr>
        <p:txBody>
          <a:bodyPr wrap="none" lIns="0" tIns="0" rIns="0" bIns="0" anchor="ctr">
            <a:spAutoFit/>
          </a:bodyPr>
          <a:lstStyle/>
          <a:p>
            <a:pPr>
              <a:defRPr sz="900" b="1">
                <a:solidFill>
                  <a:srgbClr val="0F172A"/>
                </a:solidFill>
                <a:latin typeface="KoPub돋움체 Bold"/>
              </a:defRPr>
            </a:pPr>
            <a:r>
              <a:rPr sz="1000" dirty="0">
                <a:latin typeface="KoPub돋움체 Bold"/>
              </a:rPr>
              <a:t>[Envoy v3 </a:t>
            </a:r>
            <a:r>
              <a:rPr sz="1000" dirty="0" err="1">
                <a:latin typeface="KoPub돋움체 Bold"/>
              </a:rPr>
              <a:t>ext_authz</a:t>
            </a:r>
            <a:r>
              <a:rPr sz="1000" dirty="0">
                <a:latin typeface="KoPub돋움체 Bold"/>
              </a:rPr>
              <a:t> &amp; Nginx </a:t>
            </a:r>
            <a:r>
              <a:rPr sz="1000" dirty="0" err="1">
                <a:latin typeface="KoPub돋움체 Bold"/>
              </a:rPr>
              <a:t>auth_request</a:t>
            </a:r>
            <a:r>
              <a:rPr sz="1000" dirty="0">
                <a:latin typeface="KoPub돋움체 Bold"/>
              </a:rPr>
              <a:t> </a:t>
            </a:r>
            <a:r>
              <a:rPr sz="1000" dirty="0" err="1">
                <a:latin typeface="KoPub돋움체 Bold"/>
              </a:rPr>
              <a:t>공식</a:t>
            </a:r>
            <a:r>
              <a:rPr sz="1000" dirty="0">
                <a:latin typeface="KoPub돋움체 Bold"/>
              </a:rPr>
              <a:t> </a:t>
            </a:r>
            <a:r>
              <a:rPr sz="1000" dirty="0" err="1">
                <a:latin typeface="KoPub돋움체 Bold"/>
              </a:rPr>
              <a:t>지원</a:t>
            </a:r>
            <a:r>
              <a:rPr sz="1000" dirty="0">
                <a:latin typeface="KoPub돋움체 Bold"/>
              </a:rPr>
              <a:t> | 3계층 </a:t>
            </a:r>
            <a:r>
              <a:rPr sz="1000" dirty="0" err="1">
                <a:latin typeface="KoPub돋움체 Bold"/>
              </a:rPr>
              <a:t>하네스</a:t>
            </a:r>
            <a:r>
              <a:rPr sz="1000" dirty="0">
                <a:latin typeface="KoPub돋움체 Bold"/>
              </a:rPr>
              <a:t> </a:t>
            </a:r>
            <a:r>
              <a:rPr sz="1000" dirty="0" err="1">
                <a:latin typeface="KoPub돋움체 Bold"/>
              </a:rPr>
              <a:t>검증</a:t>
            </a:r>
            <a:r>
              <a:rPr sz="1000" dirty="0">
                <a:latin typeface="KoPub돋움체 Bold"/>
              </a:rPr>
              <a:t> 총 p50 1.62ms</a:t>
            </a:r>
          </a:p>
        </p:txBody>
      </p:sp>
      <p:sp>
        <p:nvSpPr>
          <p:cNvPr id="30" name="TextBox 29"/>
          <p:cNvSpPr txBox="1"/>
          <p:nvPr/>
        </p:nvSpPr>
        <p:spPr>
          <a:xfrm>
            <a:off x="8723520" y="6537960"/>
            <a:ext cx="831960" cy="246960"/>
          </a:xfrm>
          <a:prstGeom prst="rect">
            <a:avLst/>
          </a:prstGeom>
          <a:noFill/>
        </p:spPr>
        <p:txBody>
          <a:bodyPr wrap="none" lIns="0" tIns="0" rIns="0" bIns="0">
            <a:spAutoFit/>
          </a:bodyPr>
          <a:lstStyle/>
          <a:p>
            <a:pPr algn="r">
              <a:defRPr sz="1000" b="1">
                <a:solidFill>
                  <a:srgbClr val="6B7280"/>
                </a:solidFill>
                <a:latin typeface="KoPub돋움체 Bold"/>
              </a:defRPr>
            </a:pPr>
            <a:r>
              <a:rPr>
                <a:latin typeface="KoPub돋움체 Bold"/>
              </a:rPr>
              <a:t>14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9FAFD"/>
        </a:solidFill>
        <a:effectLst/>
      </p:bgPr>
    </p:bg>
    <p:spTree>
      <p:nvGrpSpPr>
        <p:cNvPr id="1" name=""/>
        <p:cNvGrpSpPr/>
        <p:nvPr/>
      </p:nvGrpSpPr>
      <p:grpSpPr>
        <a:xfrm>
          <a:off x="0" y="0"/>
          <a:ext cx="0" cy="0"/>
          <a:chOff x="0" y="0"/>
          <a:chExt cx="0" cy="0"/>
        </a:xfrm>
      </p:grpSpPr>
      <p:sp>
        <p:nvSpPr>
          <p:cNvPr id="2" name="Rounded Rectangle 1"/>
          <p:cNvSpPr/>
          <p:nvPr/>
        </p:nvSpPr>
        <p:spPr>
          <a:xfrm>
            <a:off x="356760" y="292680"/>
            <a:ext cx="9198720" cy="493920"/>
          </a:xfrm>
          <a:prstGeom prst="roundRect">
            <a:avLst/>
          </a:prstGeom>
          <a:solidFill>
            <a:srgbClr val="0E306D"/>
          </a:solidFill>
          <a:ln w="12700">
            <a:solidFill>
              <a:srgbClr val="0E30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80"/>
            <a:ext cx="8778240" cy="493920"/>
          </a:xfrm>
          <a:prstGeom prst="rect">
            <a:avLst/>
          </a:prstGeom>
          <a:noFill/>
        </p:spPr>
        <p:txBody>
          <a:bodyPr wrap="square" lIns="0" tIns="0" rIns="0" bIns="0" anchor="ctr">
            <a:spAutoFit/>
          </a:bodyPr>
          <a:lstStyle/>
          <a:p>
            <a:pPr>
              <a:defRPr sz="2000" b="1">
                <a:solidFill>
                  <a:srgbClr val="FFFFFF"/>
                </a:solidFill>
                <a:latin typeface="KoPub돋움체 Bold"/>
              </a:defRPr>
            </a:pPr>
            <a:r>
              <a:rPr dirty="0">
                <a:latin typeface="KoPub돋움체 Bold"/>
              </a:rPr>
              <a:t>04. 7단계 </a:t>
            </a:r>
            <a:r>
              <a:rPr dirty="0" err="1">
                <a:latin typeface="KoPub돋움체 Bold"/>
              </a:rPr>
              <a:t>점진적</a:t>
            </a:r>
            <a:r>
              <a:rPr dirty="0">
                <a:latin typeface="KoPub돋움체 Bold"/>
              </a:rPr>
              <a:t> </a:t>
            </a:r>
            <a:r>
              <a:rPr dirty="0" err="1">
                <a:latin typeface="KoPub돋움체 Bold"/>
              </a:rPr>
              <a:t>리팩토링</a:t>
            </a:r>
            <a:r>
              <a:rPr dirty="0">
                <a:latin typeface="KoPub돋움체 Bold"/>
              </a:rPr>
              <a:t> </a:t>
            </a:r>
            <a:r>
              <a:rPr dirty="0" err="1">
                <a:latin typeface="KoPub돋움체 Bold"/>
              </a:rPr>
              <a:t>여정과</a:t>
            </a:r>
            <a:r>
              <a:rPr dirty="0">
                <a:latin typeface="KoPub돋움체 Bold"/>
              </a:rPr>
              <a:t> </a:t>
            </a:r>
            <a:r>
              <a:rPr dirty="0" err="1">
                <a:latin typeface="KoPub돋움체 Bold"/>
              </a:rPr>
              <a:t>수학적</a:t>
            </a:r>
            <a:r>
              <a:rPr dirty="0">
                <a:latin typeface="KoPub돋움체 Bold"/>
              </a:rPr>
              <a:t> </a:t>
            </a:r>
            <a:r>
              <a:rPr dirty="0" err="1">
                <a:latin typeface="KoPub돋움체 Bold"/>
              </a:rPr>
              <a:t>불변식</a:t>
            </a:r>
            <a:r>
              <a:rPr dirty="0">
                <a:latin typeface="KoPub돋움체 Bold"/>
              </a:rPr>
              <a:t> </a:t>
            </a:r>
            <a:r>
              <a:rPr dirty="0" err="1">
                <a:latin typeface="KoPub돋움체 Bold"/>
              </a:rPr>
              <a:t>감사</a:t>
            </a:r>
            <a:r>
              <a:rPr dirty="0">
                <a:latin typeface="KoPub돋움체 Bold"/>
              </a:rPr>
              <a:t> </a:t>
            </a:r>
            <a:r>
              <a:rPr dirty="0" err="1">
                <a:latin typeface="KoPub돋움체 Bold"/>
              </a:rPr>
              <a:t>스위트</a:t>
            </a:r>
            <a:endParaRPr dirty="0">
              <a:latin typeface="KoPub돋움체 Bold"/>
            </a:endParaRPr>
          </a:p>
        </p:txBody>
      </p:sp>
      <p:sp>
        <p:nvSpPr>
          <p:cNvPr id="4" name="Rounded Rectangle 3"/>
          <p:cNvSpPr/>
          <p:nvPr/>
        </p:nvSpPr>
        <p:spPr>
          <a:xfrm>
            <a:off x="356760" y="914400"/>
            <a:ext cx="9198720" cy="347400"/>
          </a:xfrm>
          <a:prstGeom prst="roundRect">
            <a:avLst/>
          </a:prstGeom>
          <a:solidFill>
            <a:srgbClr val="F1F1F1"/>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011156"/>
            <a:ext cx="9052560" cy="153888"/>
          </a:xfrm>
          <a:prstGeom prst="rect">
            <a:avLst/>
          </a:prstGeom>
          <a:noFill/>
        </p:spPr>
        <p:txBody>
          <a:bodyPr wrap="square" lIns="0" tIns="0" rIns="0" bIns="0" anchor="ctr">
            <a:spAutoFit/>
          </a:bodyPr>
          <a:lstStyle/>
          <a:p>
            <a:pPr>
              <a:defRPr sz="1050" b="1">
                <a:solidFill>
                  <a:srgbClr val="0E306D"/>
                </a:solidFill>
                <a:latin typeface="KoPub돋움체 Bold"/>
              </a:defRPr>
            </a:pPr>
            <a:r>
              <a:rPr sz="1000" dirty="0">
                <a:latin typeface="KoPub돋움체 Bold"/>
              </a:rPr>
              <a:t>7차례에 </a:t>
            </a:r>
            <a:r>
              <a:rPr sz="1000" dirty="0" err="1">
                <a:latin typeface="KoPub돋움체 Bold"/>
              </a:rPr>
              <a:t>걸친</a:t>
            </a:r>
            <a:r>
              <a:rPr sz="1000" dirty="0">
                <a:latin typeface="KoPub돋움체 Bold"/>
              </a:rPr>
              <a:t> </a:t>
            </a:r>
            <a:r>
              <a:rPr sz="1000" dirty="0" err="1">
                <a:latin typeface="KoPub돋움체 Bold"/>
              </a:rPr>
              <a:t>동시성·보안·가용성</a:t>
            </a:r>
            <a:r>
              <a:rPr sz="1000" dirty="0">
                <a:latin typeface="KoPub돋움체 Bold"/>
              </a:rPr>
              <a:t> </a:t>
            </a:r>
            <a:r>
              <a:rPr sz="1000" dirty="0" err="1">
                <a:latin typeface="KoPub돋움체 Bold"/>
              </a:rPr>
              <a:t>고도화와</a:t>
            </a:r>
            <a:r>
              <a:rPr sz="1000" dirty="0">
                <a:latin typeface="KoPub돋움체 Bold"/>
              </a:rPr>
              <a:t> 93개 </a:t>
            </a:r>
            <a:r>
              <a:rPr sz="1000" dirty="0" err="1">
                <a:latin typeface="KoPub돋움체 Bold"/>
              </a:rPr>
              <a:t>단위</a:t>
            </a:r>
            <a:r>
              <a:rPr sz="1000" dirty="0">
                <a:latin typeface="KoPub돋움체 Bold"/>
              </a:rPr>
              <a:t> </a:t>
            </a:r>
            <a:r>
              <a:rPr sz="1000" dirty="0" err="1">
                <a:latin typeface="KoPub돋움체 Bold"/>
              </a:rPr>
              <a:t>테스트</a:t>
            </a:r>
            <a:r>
              <a:rPr sz="1000" dirty="0">
                <a:latin typeface="KoPub돋움체 Bold"/>
              </a:rPr>
              <a:t> 및 </a:t>
            </a:r>
            <a:r>
              <a:rPr sz="1000" dirty="0" err="1">
                <a:latin typeface="KoPub돋움체 Bold"/>
              </a:rPr>
              <a:t>실시간</a:t>
            </a:r>
            <a:r>
              <a:rPr sz="1000" dirty="0">
                <a:latin typeface="KoPub돋움체 Bold"/>
              </a:rPr>
              <a:t> </a:t>
            </a:r>
            <a:r>
              <a:rPr sz="1000" dirty="0" err="1">
                <a:latin typeface="KoPub돋움체 Bold"/>
              </a:rPr>
              <a:t>제어평면</a:t>
            </a:r>
            <a:r>
              <a:rPr sz="1000" dirty="0">
                <a:latin typeface="KoPub돋움체 Bold"/>
              </a:rPr>
              <a:t> </a:t>
            </a:r>
            <a:r>
              <a:rPr sz="1000" dirty="0" err="1">
                <a:latin typeface="KoPub돋움체 Bold"/>
              </a:rPr>
              <a:t>정합성</a:t>
            </a:r>
            <a:r>
              <a:rPr sz="1000" dirty="0">
                <a:latin typeface="KoPub돋움체 Bold"/>
              </a:rPr>
              <a:t> </a:t>
            </a:r>
            <a:r>
              <a:rPr sz="1000" dirty="0" err="1">
                <a:latin typeface="KoPub돋움체 Bold"/>
              </a:rPr>
              <a:t>감사</a:t>
            </a:r>
            <a:endParaRPr sz="1000" dirty="0">
              <a:latin typeface="KoPub돋움체 Bold"/>
            </a:endParaRPr>
          </a:p>
        </p:txBody>
      </p:sp>
      <p:sp>
        <p:nvSpPr>
          <p:cNvPr id="6" name="Rounded Rectangle 5"/>
          <p:cNvSpPr/>
          <p:nvPr/>
        </p:nvSpPr>
        <p:spPr>
          <a:xfrm>
            <a:off x="356760" y="1350000"/>
            <a:ext cx="9198720" cy="2268000"/>
          </a:xfrm>
          <a:prstGeom prst="roundRect">
            <a:avLst>
              <a:gd name="adj" fmla="val 4721"/>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86000" y="1458000"/>
            <a:ext cx="8939520" cy="270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0E306D"/>
                </a:solidFill>
                <a:latin typeface="KoPub돋움체 Bold"/>
              </a:defRPr>
            </a:pPr>
            <a:r>
              <a:rPr dirty="0">
                <a:latin typeface="KoPub돋움체 Bold"/>
              </a:rPr>
              <a:t>7차례 </a:t>
            </a:r>
            <a:r>
              <a:rPr dirty="0" err="1">
                <a:latin typeface="KoPub돋움체 Bold"/>
              </a:rPr>
              <a:t>점진적</a:t>
            </a:r>
            <a:r>
              <a:rPr dirty="0">
                <a:latin typeface="KoPub돋움체 Bold"/>
              </a:rPr>
              <a:t> </a:t>
            </a:r>
            <a:r>
              <a:rPr dirty="0" err="1">
                <a:latin typeface="KoPub돋움체 Bold"/>
              </a:rPr>
              <a:t>리팩토링</a:t>
            </a:r>
            <a:r>
              <a:rPr dirty="0">
                <a:latin typeface="KoPub돋움체 Bold"/>
              </a:rPr>
              <a:t> 및 </a:t>
            </a:r>
            <a:r>
              <a:rPr dirty="0" err="1">
                <a:latin typeface="KoPub돋움체 Bold"/>
              </a:rPr>
              <a:t>아키텍처</a:t>
            </a:r>
            <a:r>
              <a:rPr dirty="0">
                <a:latin typeface="KoPub돋움체 Bold"/>
              </a:rPr>
              <a:t> </a:t>
            </a:r>
            <a:r>
              <a:rPr dirty="0" err="1">
                <a:latin typeface="KoPub돋움체 Bold"/>
              </a:rPr>
              <a:t>고도화</a:t>
            </a:r>
            <a:r>
              <a:rPr dirty="0">
                <a:latin typeface="KoPub돋움체 Bold"/>
              </a:rPr>
              <a:t> </a:t>
            </a:r>
            <a:r>
              <a:rPr dirty="0" err="1">
                <a:latin typeface="KoPub돋움체 Bold"/>
              </a:rPr>
              <a:t>여정</a:t>
            </a:r>
            <a:endParaRPr dirty="0">
              <a:latin typeface="KoPub돋움체 Bold"/>
            </a:endParaRPr>
          </a:p>
        </p:txBody>
      </p:sp>
      <p:sp>
        <p:nvSpPr>
          <p:cNvPr id="8" name="Rounded Rectangle 7"/>
          <p:cNvSpPr/>
          <p:nvPr/>
        </p:nvSpPr>
        <p:spPr>
          <a:xfrm>
            <a:off x="486000" y="1808800"/>
            <a:ext cx="1206000" cy="1692000"/>
          </a:xfrm>
          <a:prstGeom prst="roundRect">
            <a:avLst/>
          </a:prstGeom>
          <a:solidFill>
            <a:srgbClr val="F8FAFC"/>
          </a:solidFill>
          <a:ln w="9525">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58000" y="1836000"/>
            <a:ext cx="1062000" cy="1387880"/>
          </a:xfrm>
          <a:prstGeom prst="rect">
            <a:avLst/>
          </a:prstGeom>
          <a:noFill/>
        </p:spPr>
        <p:txBody>
          <a:bodyPr wrap="square" lIns="0" tIns="0" rIns="0" bIns="0">
            <a:spAutoFit/>
          </a:bodyPr>
          <a:lstStyle/>
          <a:p>
            <a:pPr algn="ctr">
              <a:lnSpc>
                <a:spcPct val="150000"/>
              </a:lnSpc>
              <a:defRPr sz="850" b="1">
                <a:solidFill>
                  <a:srgbClr val="009A93"/>
                </a:solidFill>
                <a:latin typeface="KoPub돋움체 Bold"/>
              </a:defRPr>
            </a:pPr>
            <a:r>
              <a:rPr sz="1000" dirty="0">
                <a:latin typeface="KoPub돋움체 Bold"/>
              </a:rPr>
              <a:t>1차</a:t>
            </a:r>
          </a:p>
          <a:p>
            <a:pPr algn="ctr">
              <a:lnSpc>
                <a:spcPct val="150000"/>
              </a:lnSpc>
              <a:defRPr sz="800" b="1">
                <a:solidFill>
                  <a:srgbClr val="0E306D"/>
                </a:solidFill>
                <a:latin typeface="KoPub돋움체 Bold"/>
              </a:defRPr>
            </a:pPr>
            <a:r>
              <a:rPr sz="1000" dirty="0" err="1">
                <a:latin typeface="KoPub돋움체 Bold"/>
              </a:rPr>
              <a:t>기초</a:t>
            </a:r>
            <a:r>
              <a:rPr sz="1000" dirty="0">
                <a:latin typeface="KoPub돋움체 Bold"/>
              </a:rPr>
              <a:t> </a:t>
            </a:r>
            <a:r>
              <a:rPr sz="1000" dirty="0" err="1">
                <a:latin typeface="KoPub돋움체 Bold"/>
              </a:rPr>
              <a:t>결함</a:t>
            </a:r>
            <a:r>
              <a:rPr sz="1000" dirty="0">
                <a:latin typeface="KoPub돋움체 Bold"/>
              </a:rPr>
              <a:t> </a:t>
            </a:r>
            <a:r>
              <a:rPr sz="1000" dirty="0" err="1">
                <a:latin typeface="KoPub돋움체 Bold"/>
              </a:rPr>
              <a:t>수정</a:t>
            </a:r>
            <a:endParaRPr sz="1000" dirty="0">
              <a:latin typeface="KoPub돋움체 Bold"/>
            </a:endParaRPr>
          </a:p>
          <a:p>
            <a:pPr>
              <a:lnSpc>
                <a:spcPct val="150000"/>
              </a:lnSpc>
              <a:spcBef>
                <a:spcPts val="200"/>
              </a:spcBef>
              <a:defRPr sz="680">
                <a:solidFill>
                  <a:srgbClr val="0F172A"/>
                </a:solidFill>
                <a:latin typeface="KoPub돋움체 Medium"/>
              </a:defRPr>
            </a:pPr>
            <a:r>
              <a:rPr sz="1000" dirty="0" err="1">
                <a:latin typeface="KoPub돋움체 Medium"/>
              </a:rPr>
              <a:t>서킷</a:t>
            </a:r>
            <a:r>
              <a:rPr sz="1000" dirty="0">
                <a:latin typeface="KoPub돋움체 Medium"/>
              </a:rPr>
              <a:t> </a:t>
            </a:r>
            <a:r>
              <a:rPr sz="1000" dirty="0" err="1">
                <a:latin typeface="KoPub돋움체 Medium"/>
              </a:rPr>
              <a:t>플래핑</a:t>
            </a:r>
            <a:r>
              <a:rPr sz="1000" dirty="0">
                <a:latin typeface="KoPub돋움체 Medium"/>
              </a:rPr>
              <a:t> 2.0s </a:t>
            </a:r>
            <a:r>
              <a:rPr sz="1000" dirty="0" err="1">
                <a:latin typeface="KoPub돋움체 Medium"/>
              </a:rPr>
              <a:t>디바운스</a:t>
            </a:r>
            <a:r>
              <a:rPr sz="1000" dirty="0">
                <a:latin typeface="KoPub돋움체 Medium"/>
              </a:rPr>
              <a:t>, </a:t>
            </a:r>
            <a:r>
              <a:rPr sz="1000" dirty="0" err="1">
                <a:latin typeface="KoPub돋움체 Medium"/>
              </a:rPr>
              <a:t>복합키</a:t>
            </a:r>
            <a:r>
              <a:rPr sz="1000" dirty="0">
                <a:latin typeface="KoPub돋움체 Medium"/>
              </a:rPr>
              <a:t> </a:t>
            </a:r>
            <a:r>
              <a:rPr sz="1000" dirty="0" err="1">
                <a:latin typeface="KoPub돋움체 Medium"/>
              </a:rPr>
              <a:t>길이접두사</a:t>
            </a:r>
            <a:r>
              <a:rPr sz="1000" dirty="0">
                <a:latin typeface="KoPub돋움체 Medium"/>
              </a:rPr>
              <a:t> </a:t>
            </a:r>
            <a:r>
              <a:rPr sz="1000" dirty="0" err="1">
                <a:latin typeface="KoPub돋움체 Medium"/>
              </a:rPr>
              <a:t>해시</a:t>
            </a:r>
            <a:r>
              <a:rPr sz="1000" dirty="0">
                <a:latin typeface="KoPub돋움체 Medium"/>
              </a:rPr>
              <a:t> </a:t>
            </a:r>
            <a:r>
              <a:rPr sz="1000" dirty="0" err="1">
                <a:latin typeface="KoPub돋움체 Medium"/>
              </a:rPr>
              <a:t>충돌</a:t>
            </a:r>
            <a:r>
              <a:rPr sz="1000" dirty="0">
                <a:latin typeface="KoPub돋움체 Medium"/>
              </a:rPr>
              <a:t> </a:t>
            </a:r>
            <a:r>
              <a:rPr sz="1000" dirty="0" err="1">
                <a:latin typeface="KoPub돋움체 Medium"/>
              </a:rPr>
              <a:t>방지</a:t>
            </a:r>
            <a:endParaRPr sz="1000" dirty="0">
              <a:latin typeface="KoPub돋움체 Medium"/>
            </a:endParaRPr>
          </a:p>
        </p:txBody>
      </p:sp>
      <p:sp>
        <p:nvSpPr>
          <p:cNvPr id="10" name="Rounded Rectangle 9"/>
          <p:cNvSpPr/>
          <p:nvPr/>
        </p:nvSpPr>
        <p:spPr>
          <a:xfrm>
            <a:off x="1771200" y="1782000"/>
            <a:ext cx="1206000" cy="1692000"/>
          </a:xfrm>
          <a:prstGeom prst="roundRect">
            <a:avLst/>
          </a:prstGeom>
          <a:solidFill>
            <a:srgbClr val="FFFFFF"/>
          </a:solidFill>
          <a:ln w="9525">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43200" y="1836000"/>
            <a:ext cx="1062000" cy="1387880"/>
          </a:xfrm>
          <a:prstGeom prst="rect">
            <a:avLst/>
          </a:prstGeom>
          <a:noFill/>
        </p:spPr>
        <p:txBody>
          <a:bodyPr wrap="square" lIns="0" tIns="0" rIns="0" bIns="0">
            <a:spAutoFit/>
          </a:bodyPr>
          <a:lstStyle/>
          <a:p>
            <a:pPr algn="ctr">
              <a:lnSpc>
                <a:spcPct val="150000"/>
              </a:lnSpc>
              <a:defRPr sz="850" b="1">
                <a:solidFill>
                  <a:srgbClr val="009A93"/>
                </a:solidFill>
                <a:latin typeface="KoPub돋움체 Bold"/>
              </a:defRPr>
            </a:pPr>
            <a:r>
              <a:rPr sz="1000" dirty="0">
                <a:latin typeface="KoPub돋움체 Bold"/>
              </a:rPr>
              <a:t>2차</a:t>
            </a:r>
          </a:p>
          <a:p>
            <a:pPr algn="ctr">
              <a:lnSpc>
                <a:spcPct val="150000"/>
              </a:lnSpc>
              <a:defRPr sz="800" b="1">
                <a:solidFill>
                  <a:srgbClr val="0E306D"/>
                </a:solidFill>
                <a:latin typeface="KoPub돋움체 Bold"/>
              </a:defRPr>
            </a:pPr>
            <a:r>
              <a:rPr sz="1000" dirty="0" err="1">
                <a:latin typeface="KoPub돋움체 Bold"/>
              </a:rPr>
              <a:t>동시성</a:t>
            </a:r>
            <a:r>
              <a:rPr sz="1000" dirty="0">
                <a:latin typeface="KoPub돋움체 Bold"/>
              </a:rPr>
              <a:t> &amp; </a:t>
            </a:r>
            <a:r>
              <a:rPr sz="1000" dirty="0" err="1">
                <a:latin typeface="KoPub돋움체 Bold"/>
              </a:rPr>
              <a:t>보안</a:t>
            </a:r>
            <a:endParaRPr sz="1000" dirty="0">
              <a:latin typeface="KoPub돋움체 Bold"/>
            </a:endParaRPr>
          </a:p>
          <a:p>
            <a:pPr>
              <a:lnSpc>
                <a:spcPct val="150000"/>
              </a:lnSpc>
              <a:spcBef>
                <a:spcPts val="200"/>
              </a:spcBef>
              <a:defRPr sz="680">
                <a:solidFill>
                  <a:srgbClr val="0F172A"/>
                </a:solidFill>
                <a:latin typeface="KoPub돋움체 Medium"/>
              </a:defRPr>
            </a:pPr>
            <a:r>
              <a:rPr sz="1000" dirty="0">
                <a:latin typeface="KoPub돋움체 Medium"/>
              </a:rPr>
              <a:t>Single-Flight </a:t>
            </a:r>
            <a:r>
              <a:rPr sz="1000" dirty="0" err="1">
                <a:latin typeface="KoPub돋움체 Medium"/>
              </a:rPr>
              <a:t>BaseException</a:t>
            </a:r>
            <a:r>
              <a:rPr sz="1000" dirty="0">
                <a:latin typeface="KoPub돋움체 Medium"/>
              </a:rPr>
              <a:t> </a:t>
            </a:r>
            <a:r>
              <a:rPr sz="1000" dirty="0" err="1">
                <a:latin typeface="KoPub돋움체 Medium"/>
              </a:rPr>
              <a:t>전파</a:t>
            </a:r>
            <a:r>
              <a:rPr sz="1000" dirty="0">
                <a:latin typeface="KoPub돋움체 Medium"/>
              </a:rPr>
              <a:t>, </a:t>
            </a:r>
            <a:r>
              <a:rPr sz="1000" dirty="0" err="1">
                <a:latin typeface="KoPub돋움체 Medium"/>
              </a:rPr>
              <a:t>관리자</a:t>
            </a:r>
            <a:r>
              <a:rPr sz="1000" dirty="0">
                <a:latin typeface="KoPub돋움체 Medium"/>
              </a:rPr>
              <a:t> </a:t>
            </a:r>
            <a:r>
              <a:rPr sz="1000" dirty="0" err="1">
                <a:latin typeface="KoPub돋움체 Medium"/>
              </a:rPr>
              <a:t>토큰</a:t>
            </a:r>
            <a:r>
              <a:rPr sz="1000" dirty="0">
                <a:latin typeface="KoPub돋움체 Medium"/>
              </a:rPr>
              <a:t> </a:t>
            </a:r>
            <a:r>
              <a:rPr sz="1000" dirty="0" err="1">
                <a:latin typeface="KoPub돋움체 Medium"/>
              </a:rPr>
              <a:t>상수시간</a:t>
            </a:r>
            <a:r>
              <a:rPr sz="1000" dirty="0">
                <a:latin typeface="KoPub돋움체 Medium"/>
              </a:rPr>
              <a:t> </a:t>
            </a:r>
            <a:r>
              <a:rPr sz="1000" dirty="0" err="1">
                <a:latin typeface="KoPub돋움체 Medium"/>
              </a:rPr>
              <a:t>비교</a:t>
            </a:r>
            <a:endParaRPr sz="1000" dirty="0">
              <a:latin typeface="KoPub돋움체 Medium"/>
            </a:endParaRPr>
          </a:p>
        </p:txBody>
      </p:sp>
      <p:sp>
        <p:nvSpPr>
          <p:cNvPr id="12" name="Rounded Rectangle 11"/>
          <p:cNvSpPr/>
          <p:nvPr/>
        </p:nvSpPr>
        <p:spPr>
          <a:xfrm>
            <a:off x="3056400" y="1782000"/>
            <a:ext cx="1206000" cy="1692000"/>
          </a:xfrm>
          <a:prstGeom prst="roundRect">
            <a:avLst/>
          </a:prstGeom>
          <a:solidFill>
            <a:srgbClr val="F8FAFC"/>
          </a:solidFill>
          <a:ln w="9525">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128400" y="1836000"/>
            <a:ext cx="1062000" cy="1387880"/>
          </a:xfrm>
          <a:prstGeom prst="rect">
            <a:avLst/>
          </a:prstGeom>
          <a:noFill/>
        </p:spPr>
        <p:txBody>
          <a:bodyPr wrap="square" lIns="0" tIns="0" rIns="0" bIns="0">
            <a:spAutoFit/>
          </a:bodyPr>
          <a:lstStyle/>
          <a:p>
            <a:pPr algn="ctr">
              <a:lnSpc>
                <a:spcPct val="150000"/>
              </a:lnSpc>
              <a:defRPr sz="850" b="1">
                <a:solidFill>
                  <a:srgbClr val="009A93"/>
                </a:solidFill>
                <a:latin typeface="KoPub돋움체 Bold"/>
              </a:defRPr>
            </a:pPr>
            <a:r>
              <a:rPr sz="1000" dirty="0">
                <a:latin typeface="KoPub돋움체 Bold"/>
              </a:rPr>
              <a:t>3차</a:t>
            </a:r>
          </a:p>
          <a:p>
            <a:pPr algn="ctr">
              <a:lnSpc>
                <a:spcPct val="150000"/>
              </a:lnSpc>
              <a:defRPr sz="800" b="1">
                <a:solidFill>
                  <a:srgbClr val="0E306D"/>
                </a:solidFill>
                <a:latin typeface="KoPub돋움체 Bold"/>
              </a:defRPr>
            </a:pPr>
            <a:r>
              <a:rPr sz="1000" dirty="0" err="1">
                <a:latin typeface="KoPub돋움체 Bold"/>
              </a:rPr>
              <a:t>테스트</a:t>
            </a:r>
            <a:r>
              <a:rPr sz="1000" dirty="0">
                <a:latin typeface="KoPub돋움체 Bold"/>
              </a:rPr>
              <a:t> </a:t>
            </a:r>
            <a:r>
              <a:rPr sz="1000" dirty="0" err="1">
                <a:latin typeface="KoPub돋움체 Bold"/>
              </a:rPr>
              <a:t>격리</a:t>
            </a:r>
            <a:endParaRPr sz="1000" dirty="0">
              <a:latin typeface="KoPub돋움체 Bold"/>
            </a:endParaRPr>
          </a:p>
          <a:p>
            <a:pPr>
              <a:lnSpc>
                <a:spcPct val="150000"/>
              </a:lnSpc>
              <a:spcBef>
                <a:spcPts val="200"/>
              </a:spcBef>
              <a:defRPr sz="680">
                <a:solidFill>
                  <a:srgbClr val="0F172A"/>
                </a:solidFill>
                <a:latin typeface="KoPub돋움체 Medium"/>
              </a:defRPr>
            </a:pPr>
            <a:r>
              <a:rPr sz="1000" dirty="0">
                <a:latin typeface="KoPub돋움체 Medium"/>
              </a:rPr>
              <a:t>Redis 503 </a:t>
            </a:r>
            <a:r>
              <a:rPr sz="1000" dirty="0" err="1">
                <a:latin typeface="KoPub돋움체 Medium"/>
              </a:rPr>
              <a:t>전용</a:t>
            </a:r>
            <a:r>
              <a:rPr sz="1000" dirty="0">
                <a:latin typeface="KoPub돋움체 Medium"/>
              </a:rPr>
              <a:t> </a:t>
            </a:r>
            <a:r>
              <a:rPr sz="1000" dirty="0" err="1">
                <a:latin typeface="KoPub돋움체 Medium"/>
              </a:rPr>
              <a:t>카운터</a:t>
            </a:r>
            <a:r>
              <a:rPr sz="1000" dirty="0">
                <a:latin typeface="KoPub돋움체 Medium"/>
              </a:rPr>
              <a:t> </a:t>
            </a:r>
            <a:r>
              <a:rPr sz="1000" dirty="0" err="1">
                <a:latin typeface="KoPub돋움체 Medium"/>
              </a:rPr>
              <a:t>신설로</a:t>
            </a:r>
            <a:r>
              <a:rPr sz="1000" dirty="0">
                <a:latin typeface="KoPub돋움체 Medium"/>
              </a:rPr>
              <a:t> Invariant </a:t>
            </a:r>
            <a:r>
              <a:rPr sz="1000" dirty="0" err="1">
                <a:latin typeface="KoPub돋움체 Medium"/>
              </a:rPr>
              <a:t>정합</a:t>
            </a:r>
            <a:r>
              <a:rPr sz="1000" dirty="0">
                <a:latin typeface="KoPub돋움체 Medium"/>
              </a:rPr>
              <a:t>, E2E </a:t>
            </a:r>
            <a:r>
              <a:rPr sz="1000" dirty="0" err="1">
                <a:latin typeface="KoPub돋움체 Medium"/>
              </a:rPr>
              <a:t>격리</a:t>
            </a:r>
            <a:endParaRPr sz="1000" dirty="0">
              <a:latin typeface="KoPub돋움체 Medium"/>
            </a:endParaRPr>
          </a:p>
        </p:txBody>
      </p:sp>
      <p:sp>
        <p:nvSpPr>
          <p:cNvPr id="14" name="Rounded Rectangle 13"/>
          <p:cNvSpPr/>
          <p:nvPr/>
        </p:nvSpPr>
        <p:spPr>
          <a:xfrm>
            <a:off x="4341600" y="1782000"/>
            <a:ext cx="1206000" cy="1692000"/>
          </a:xfrm>
          <a:prstGeom prst="roundRect">
            <a:avLst/>
          </a:prstGeom>
          <a:solidFill>
            <a:srgbClr val="FFFFFF"/>
          </a:solidFill>
          <a:ln w="9525">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13600" y="1845000"/>
            <a:ext cx="1062000" cy="1387880"/>
          </a:xfrm>
          <a:prstGeom prst="rect">
            <a:avLst/>
          </a:prstGeom>
          <a:noFill/>
        </p:spPr>
        <p:txBody>
          <a:bodyPr wrap="square" lIns="0" tIns="0" rIns="0" bIns="0">
            <a:spAutoFit/>
          </a:bodyPr>
          <a:lstStyle/>
          <a:p>
            <a:pPr algn="ctr">
              <a:lnSpc>
                <a:spcPct val="150000"/>
              </a:lnSpc>
              <a:defRPr sz="850" b="1">
                <a:solidFill>
                  <a:srgbClr val="009A93"/>
                </a:solidFill>
                <a:latin typeface="KoPub돋움체 Bold"/>
              </a:defRPr>
            </a:pPr>
            <a:r>
              <a:rPr sz="1000" dirty="0">
                <a:latin typeface="KoPub돋움체 Bold"/>
              </a:rPr>
              <a:t>4차</a:t>
            </a:r>
          </a:p>
          <a:p>
            <a:pPr algn="ctr">
              <a:lnSpc>
                <a:spcPct val="150000"/>
              </a:lnSpc>
              <a:defRPr sz="800" b="1">
                <a:solidFill>
                  <a:srgbClr val="0E306D"/>
                </a:solidFill>
                <a:latin typeface="KoPub돋움체 Bold"/>
              </a:defRPr>
            </a:pPr>
            <a:r>
              <a:rPr sz="1000" dirty="0" err="1">
                <a:latin typeface="KoPub돋움체 Bold"/>
              </a:rPr>
              <a:t>슬라이딩</a:t>
            </a:r>
            <a:r>
              <a:rPr sz="1000" dirty="0">
                <a:latin typeface="KoPub돋움체 Bold"/>
              </a:rPr>
              <a:t> </a:t>
            </a:r>
            <a:r>
              <a:rPr sz="1000" dirty="0" err="1">
                <a:latin typeface="KoPub돋움체 Bold"/>
              </a:rPr>
              <a:t>윈도우</a:t>
            </a:r>
            <a:endParaRPr sz="1000" dirty="0">
              <a:latin typeface="KoPub돋움체 Bold"/>
            </a:endParaRPr>
          </a:p>
          <a:p>
            <a:pPr>
              <a:lnSpc>
                <a:spcPct val="150000"/>
              </a:lnSpc>
              <a:spcBef>
                <a:spcPts val="200"/>
              </a:spcBef>
              <a:defRPr sz="680">
                <a:solidFill>
                  <a:srgbClr val="0F172A"/>
                </a:solidFill>
                <a:latin typeface="KoPub돋움체 Medium"/>
              </a:defRPr>
            </a:pPr>
            <a:r>
              <a:rPr sz="1000" dirty="0">
                <a:latin typeface="KoPub돋움체 Medium"/>
              </a:rPr>
              <a:t>Check-Before-Increment Lua </a:t>
            </a:r>
            <a:r>
              <a:rPr sz="1000" dirty="0" err="1">
                <a:latin typeface="KoPub돋움체 Medium"/>
              </a:rPr>
              <a:t>개편</a:t>
            </a:r>
            <a:r>
              <a:rPr sz="1000" dirty="0">
                <a:latin typeface="KoPub돋움체 Medium"/>
              </a:rPr>
              <a:t>, </a:t>
            </a:r>
            <a:r>
              <a:rPr sz="1000" dirty="0" err="1">
                <a:latin typeface="KoPub돋움체 Medium"/>
              </a:rPr>
              <a:t>leader_queries</a:t>
            </a:r>
            <a:r>
              <a:rPr sz="1000" dirty="0">
                <a:latin typeface="KoPub돋움체 Medium"/>
              </a:rPr>
              <a:t> </a:t>
            </a:r>
            <a:r>
              <a:rPr sz="1000" dirty="0" err="1">
                <a:latin typeface="KoPub돋움체 Medium"/>
              </a:rPr>
              <a:t>관측</a:t>
            </a:r>
            <a:endParaRPr sz="1000" dirty="0">
              <a:latin typeface="KoPub돋움체 Medium"/>
            </a:endParaRPr>
          </a:p>
        </p:txBody>
      </p:sp>
      <p:sp>
        <p:nvSpPr>
          <p:cNvPr id="16" name="Rounded Rectangle 15"/>
          <p:cNvSpPr/>
          <p:nvPr/>
        </p:nvSpPr>
        <p:spPr>
          <a:xfrm>
            <a:off x="5626800" y="1782000"/>
            <a:ext cx="1206000" cy="1692000"/>
          </a:xfrm>
          <a:prstGeom prst="roundRect">
            <a:avLst/>
          </a:prstGeom>
          <a:solidFill>
            <a:srgbClr val="F8FAFC"/>
          </a:solidFill>
          <a:ln w="9525">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98800" y="1836000"/>
            <a:ext cx="1062000" cy="1387880"/>
          </a:xfrm>
          <a:prstGeom prst="rect">
            <a:avLst/>
          </a:prstGeom>
          <a:noFill/>
        </p:spPr>
        <p:txBody>
          <a:bodyPr wrap="square" lIns="0" tIns="0" rIns="0" bIns="0">
            <a:spAutoFit/>
          </a:bodyPr>
          <a:lstStyle/>
          <a:p>
            <a:pPr algn="ctr">
              <a:lnSpc>
                <a:spcPct val="150000"/>
              </a:lnSpc>
              <a:defRPr sz="850" b="1">
                <a:solidFill>
                  <a:srgbClr val="009A93"/>
                </a:solidFill>
                <a:latin typeface="KoPub돋움체 Bold"/>
              </a:defRPr>
            </a:pPr>
            <a:r>
              <a:rPr sz="1000" dirty="0">
                <a:latin typeface="KoPub돋움체 Bold"/>
              </a:rPr>
              <a:t>5차</a:t>
            </a:r>
          </a:p>
          <a:p>
            <a:pPr algn="ctr">
              <a:lnSpc>
                <a:spcPct val="150000"/>
              </a:lnSpc>
              <a:defRPr sz="800" b="1">
                <a:solidFill>
                  <a:srgbClr val="0E306D"/>
                </a:solidFill>
                <a:latin typeface="KoPub돋움체 Bold"/>
              </a:defRPr>
            </a:pPr>
            <a:r>
              <a:rPr sz="1000" dirty="0" err="1">
                <a:latin typeface="KoPub돋움체 Bold"/>
              </a:rPr>
              <a:t>PoP</a:t>
            </a:r>
            <a:r>
              <a:rPr sz="1000" dirty="0">
                <a:latin typeface="KoPub돋움체 Bold"/>
              </a:rPr>
              <a:t> Scope B</a:t>
            </a:r>
          </a:p>
          <a:p>
            <a:pPr>
              <a:lnSpc>
                <a:spcPct val="150000"/>
              </a:lnSpc>
              <a:spcBef>
                <a:spcPts val="200"/>
              </a:spcBef>
              <a:defRPr sz="680">
                <a:solidFill>
                  <a:srgbClr val="0F172A"/>
                </a:solidFill>
                <a:latin typeface="KoPub돋움체 Medium"/>
              </a:defRPr>
            </a:pPr>
            <a:r>
              <a:rPr sz="1000" dirty="0">
                <a:latin typeface="KoPub돋움체 Medium"/>
              </a:rPr>
              <a:t>X-Body-Digest </a:t>
            </a:r>
            <a:r>
              <a:rPr sz="1000" dirty="0" err="1">
                <a:latin typeface="KoPub돋움체 Medium"/>
              </a:rPr>
              <a:t>선행</a:t>
            </a:r>
            <a:r>
              <a:rPr sz="1000" dirty="0">
                <a:latin typeface="KoPub돋움체 Medium"/>
              </a:rPr>
              <a:t> </a:t>
            </a:r>
            <a:r>
              <a:rPr sz="1000" dirty="0" err="1">
                <a:latin typeface="KoPub돋움체 Medium"/>
              </a:rPr>
              <a:t>검증</a:t>
            </a:r>
            <a:r>
              <a:rPr sz="1000" dirty="0">
                <a:latin typeface="KoPub돋움체 Medium"/>
              </a:rPr>
              <a:t>(400) + ECDSA </a:t>
            </a:r>
            <a:r>
              <a:rPr sz="1000" dirty="0" err="1">
                <a:latin typeface="KoPub돋움체 Medium"/>
              </a:rPr>
              <a:t>서명</a:t>
            </a:r>
            <a:r>
              <a:rPr sz="1000" dirty="0">
                <a:latin typeface="KoPub돋움체 Medium"/>
              </a:rPr>
              <a:t>, 9대 </a:t>
            </a:r>
            <a:r>
              <a:rPr sz="1000" dirty="0" err="1">
                <a:latin typeface="KoPub돋움체 Medium"/>
              </a:rPr>
              <a:t>카오스</a:t>
            </a:r>
            <a:endParaRPr sz="1000" dirty="0">
              <a:latin typeface="KoPub돋움체 Medium"/>
            </a:endParaRPr>
          </a:p>
        </p:txBody>
      </p:sp>
      <p:sp>
        <p:nvSpPr>
          <p:cNvPr id="18" name="Rounded Rectangle 17"/>
          <p:cNvSpPr/>
          <p:nvPr/>
        </p:nvSpPr>
        <p:spPr>
          <a:xfrm>
            <a:off x="6912000" y="1782000"/>
            <a:ext cx="1206000" cy="1692000"/>
          </a:xfrm>
          <a:prstGeom prst="roundRect">
            <a:avLst/>
          </a:prstGeom>
          <a:solidFill>
            <a:srgbClr val="FFFFFF"/>
          </a:solidFill>
          <a:ln w="9525">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984000" y="1836000"/>
            <a:ext cx="1062000" cy="1387880"/>
          </a:xfrm>
          <a:prstGeom prst="rect">
            <a:avLst/>
          </a:prstGeom>
          <a:noFill/>
        </p:spPr>
        <p:txBody>
          <a:bodyPr wrap="square" lIns="0" tIns="0" rIns="0" bIns="0">
            <a:spAutoFit/>
          </a:bodyPr>
          <a:lstStyle/>
          <a:p>
            <a:pPr algn="ctr">
              <a:lnSpc>
                <a:spcPct val="150000"/>
              </a:lnSpc>
              <a:defRPr sz="850" b="1">
                <a:solidFill>
                  <a:srgbClr val="009A93"/>
                </a:solidFill>
                <a:latin typeface="KoPub돋움체 Bold"/>
              </a:defRPr>
            </a:pPr>
            <a:r>
              <a:rPr sz="1000" dirty="0">
                <a:latin typeface="KoPub돋움체 Bold"/>
              </a:rPr>
              <a:t>6차</a:t>
            </a:r>
          </a:p>
          <a:p>
            <a:pPr algn="ctr">
              <a:lnSpc>
                <a:spcPct val="150000"/>
              </a:lnSpc>
              <a:defRPr sz="800" b="1">
                <a:solidFill>
                  <a:srgbClr val="0E306D"/>
                </a:solidFill>
                <a:latin typeface="KoPub돋움체 Bold"/>
              </a:defRPr>
            </a:pPr>
            <a:r>
              <a:rPr sz="1000" dirty="0" err="1">
                <a:latin typeface="KoPub돋움체 Bold"/>
              </a:rPr>
              <a:t>프로덕션</a:t>
            </a:r>
            <a:r>
              <a:rPr sz="1000" dirty="0">
                <a:latin typeface="KoPub돋움체 Bold"/>
              </a:rPr>
              <a:t> HA</a:t>
            </a:r>
          </a:p>
          <a:p>
            <a:pPr>
              <a:lnSpc>
                <a:spcPct val="150000"/>
              </a:lnSpc>
              <a:spcBef>
                <a:spcPts val="200"/>
              </a:spcBef>
              <a:defRPr sz="680">
                <a:solidFill>
                  <a:srgbClr val="0F172A"/>
                </a:solidFill>
                <a:latin typeface="KoPub돋움체 Medium"/>
              </a:defRPr>
            </a:pPr>
            <a:r>
              <a:rPr sz="1000" dirty="0">
                <a:latin typeface="KoPub돋움체 Medium"/>
              </a:rPr>
              <a:t>PEP </a:t>
            </a:r>
            <a:r>
              <a:rPr sz="1000" dirty="0" err="1">
                <a:latin typeface="KoPub돋움체 Medium"/>
              </a:rPr>
              <a:t>프록시</a:t>
            </a:r>
            <a:r>
              <a:rPr sz="1000" dirty="0">
                <a:latin typeface="KoPub돋움체 Medium"/>
              </a:rPr>
              <a:t> </a:t>
            </a:r>
            <a:r>
              <a:rPr sz="1000" dirty="0" err="1">
                <a:latin typeface="KoPub돋움체 Medium"/>
              </a:rPr>
              <a:t>패스스루</a:t>
            </a:r>
            <a:r>
              <a:rPr sz="1000" dirty="0">
                <a:latin typeface="KoPub돋움체 Medium"/>
              </a:rPr>
              <a:t>, 딥 </a:t>
            </a:r>
            <a:r>
              <a:rPr sz="1000" dirty="0" err="1">
                <a:latin typeface="KoPub돋움체 Medium"/>
              </a:rPr>
              <a:t>헬스체크</a:t>
            </a:r>
            <a:r>
              <a:rPr sz="1000" dirty="0">
                <a:latin typeface="KoPub돋움체 Medium"/>
              </a:rPr>
              <a:t>(/health), Sentinel </a:t>
            </a:r>
            <a:r>
              <a:rPr sz="1000" dirty="0" err="1">
                <a:latin typeface="KoPub돋움체 Medium"/>
              </a:rPr>
              <a:t>재연결</a:t>
            </a:r>
            <a:endParaRPr sz="1000" dirty="0">
              <a:latin typeface="KoPub돋움체 Medium"/>
            </a:endParaRPr>
          </a:p>
        </p:txBody>
      </p:sp>
      <p:sp>
        <p:nvSpPr>
          <p:cNvPr id="20" name="Rounded Rectangle 19"/>
          <p:cNvSpPr/>
          <p:nvPr/>
        </p:nvSpPr>
        <p:spPr>
          <a:xfrm>
            <a:off x="8197200" y="1782000"/>
            <a:ext cx="1206000" cy="1692000"/>
          </a:xfrm>
          <a:prstGeom prst="roundRect">
            <a:avLst/>
          </a:prstGeom>
          <a:solidFill>
            <a:srgbClr val="F8FAFC"/>
          </a:solidFill>
          <a:ln w="9525">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69200" y="1836000"/>
            <a:ext cx="1062000" cy="1157048"/>
          </a:xfrm>
          <a:prstGeom prst="rect">
            <a:avLst/>
          </a:prstGeom>
          <a:noFill/>
        </p:spPr>
        <p:txBody>
          <a:bodyPr wrap="square" lIns="0" tIns="0" rIns="0" bIns="0">
            <a:spAutoFit/>
          </a:bodyPr>
          <a:lstStyle/>
          <a:p>
            <a:pPr algn="ctr">
              <a:lnSpc>
                <a:spcPct val="150000"/>
              </a:lnSpc>
              <a:defRPr sz="850" b="1">
                <a:solidFill>
                  <a:srgbClr val="009A93"/>
                </a:solidFill>
                <a:latin typeface="KoPub돋움체 Bold"/>
              </a:defRPr>
            </a:pPr>
            <a:r>
              <a:rPr sz="1000" dirty="0">
                <a:latin typeface="KoPub돋움체 Bold"/>
              </a:rPr>
              <a:t>7차</a:t>
            </a:r>
          </a:p>
          <a:p>
            <a:pPr algn="ctr">
              <a:lnSpc>
                <a:spcPct val="150000"/>
              </a:lnSpc>
              <a:defRPr sz="800" b="1">
                <a:solidFill>
                  <a:srgbClr val="0E306D"/>
                </a:solidFill>
                <a:latin typeface="KoPub돋움체 Bold"/>
              </a:defRPr>
            </a:pPr>
            <a:r>
              <a:rPr sz="1000" dirty="0">
                <a:latin typeface="KoPub돋움체 Bold"/>
              </a:rPr>
              <a:t>L7 </a:t>
            </a:r>
            <a:r>
              <a:rPr sz="1000" dirty="0" err="1">
                <a:latin typeface="KoPub돋움체 Bold"/>
              </a:rPr>
              <a:t>연동</a:t>
            </a:r>
            <a:r>
              <a:rPr sz="1000" dirty="0">
                <a:latin typeface="KoPub돋움체 Bold"/>
              </a:rPr>
              <a:t> </a:t>
            </a:r>
            <a:r>
              <a:rPr sz="1000" dirty="0" err="1">
                <a:latin typeface="KoPub돋움체 Bold"/>
              </a:rPr>
              <a:t>검증</a:t>
            </a:r>
            <a:endParaRPr sz="1000" dirty="0">
              <a:latin typeface="KoPub돋움체 Bold"/>
            </a:endParaRPr>
          </a:p>
          <a:p>
            <a:pPr>
              <a:lnSpc>
                <a:spcPct val="150000"/>
              </a:lnSpc>
              <a:spcBef>
                <a:spcPts val="200"/>
              </a:spcBef>
              <a:defRPr sz="680">
                <a:solidFill>
                  <a:srgbClr val="0F172A"/>
                </a:solidFill>
                <a:latin typeface="KoPub돋움체 Medium"/>
              </a:defRPr>
            </a:pPr>
            <a:r>
              <a:rPr sz="1000" dirty="0" err="1">
                <a:latin typeface="KoPub돋움체 Medium"/>
              </a:rPr>
              <a:t>mTLS</a:t>
            </a:r>
            <a:r>
              <a:rPr sz="1000" dirty="0">
                <a:latin typeface="KoPub돋움체 Medium"/>
              </a:rPr>
              <a:t> SAN URI </a:t>
            </a:r>
            <a:r>
              <a:rPr sz="1000" dirty="0" err="1">
                <a:latin typeface="KoPub돋움체 Medium"/>
              </a:rPr>
              <a:t>추출</a:t>
            </a:r>
            <a:r>
              <a:rPr sz="1000" dirty="0">
                <a:latin typeface="KoPub돋움체 Medium"/>
              </a:rPr>
              <a:t>, Nginx 429 </a:t>
            </a:r>
            <a:r>
              <a:rPr sz="1000" dirty="0" err="1">
                <a:latin typeface="KoPub돋움체 Medium"/>
              </a:rPr>
              <a:t>복원</a:t>
            </a:r>
            <a:r>
              <a:rPr sz="1000" dirty="0">
                <a:latin typeface="KoPub돋움체 Medium"/>
              </a:rPr>
              <a:t>, 3계층 </a:t>
            </a:r>
            <a:r>
              <a:rPr sz="1000" dirty="0" err="1">
                <a:latin typeface="KoPub돋움체 Medium"/>
              </a:rPr>
              <a:t>벤치마크</a:t>
            </a:r>
            <a:endParaRPr sz="1000" dirty="0">
              <a:latin typeface="KoPub돋움체 Medium"/>
            </a:endParaRPr>
          </a:p>
        </p:txBody>
      </p:sp>
      <p:sp>
        <p:nvSpPr>
          <p:cNvPr id="22" name="Rounded Rectangle 21"/>
          <p:cNvSpPr/>
          <p:nvPr/>
        </p:nvSpPr>
        <p:spPr>
          <a:xfrm>
            <a:off x="356760" y="3726000"/>
            <a:ext cx="4500000" cy="2232000"/>
          </a:xfrm>
          <a:prstGeom prst="roundRect">
            <a:avLst>
              <a:gd name="adj" fmla="val 4528"/>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86000" y="3852000"/>
            <a:ext cx="4248000" cy="288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0E306D"/>
                </a:solidFill>
                <a:latin typeface="KoPub돋움체 Bold"/>
              </a:defRPr>
            </a:pPr>
            <a:r>
              <a:rPr dirty="0" err="1">
                <a:latin typeface="KoPub돋움체 Bold"/>
              </a:rPr>
              <a:t>외부</a:t>
            </a:r>
            <a:r>
              <a:rPr dirty="0">
                <a:latin typeface="KoPub돋움체 Bold"/>
              </a:rPr>
              <a:t> </a:t>
            </a:r>
            <a:r>
              <a:rPr dirty="0" err="1">
                <a:latin typeface="KoPub돋움체 Bold"/>
              </a:rPr>
              <a:t>의존성</a:t>
            </a:r>
            <a:r>
              <a:rPr dirty="0">
                <a:latin typeface="KoPub돋움체 Bold"/>
              </a:rPr>
              <a:t> </a:t>
            </a:r>
            <a:r>
              <a:rPr dirty="0" err="1">
                <a:latin typeface="KoPub돋움체 Bold"/>
              </a:rPr>
              <a:t>없는</a:t>
            </a:r>
            <a:r>
              <a:rPr dirty="0">
                <a:latin typeface="KoPub돋움체 Bold"/>
              </a:rPr>
              <a:t> 93개 </a:t>
            </a:r>
            <a:r>
              <a:rPr dirty="0" err="1">
                <a:latin typeface="KoPub돋움체 Bold"/>
              </a:rPr>
              <a:t>단위</a:t>
            </a:r>
            <a:r>
              <a:rPr dirty="0">
                <a:latin typeface="KoPub돋움체 Bold"/>
              </a:rPr>
              <a:t> </a:t>
            </a:r>
            <a:r>
              <a:rPr dirty="0" err="1">
                <a:latin typeface="KoPub돋움체 Bold"/>
              </a:rPr>
              <a:t>테스트</a:t>
            </a:r>
            <a:r>
              <a:rPr dirty="0">
                <a:latin typeface="KoPub돋움체 Bold"/>
              </a:rPr>
              <a:t> </a:t>
            </a:r>
            <a:r>
              <a:rPr dirty="0" err="1">
                <a:latin typeface="KoPub돋움체 Bold"/>
              </a:rPr>
              <a:t>스위트</a:t>
            </a:r>
            <a:endParaRPr dirty="0">
              <a:latin typeface="KoPub돋움체 Bold"/>
            </a:endParaRPr>
          </a:p>
        </p:txBody>
      </p:sp>
      <p:sp>
        <p:nvSpPr>
          <p:cNvPr id="24" name="TextBox 23"/>
          <p:cNvSpPr txBox="1"/>
          <p:nvPr/>
        </p:nvSpPr>
        <p:spPr>
          <a:xfrm>
            <a:off x="504000" y="4194000"/>
            <a:ext cx="4212000" cy="1372492"/>
          </a:xfrm>
          <a:prstGeom prst="rect">
            <a:avLst/>
          </a:prstGeom>
          <a:noFill/>
        </p:spPr>
        <p:txBody>
          <a:bodyPr wrap="square" lIns="0" tIns="0" rIns="0" bIns="0">
            <a:spAutoFit/>
          </a:bodyPr>
          <a:lstStyle/>
          <a:p>
            <a:pPr>
              <a:defRPr sz="1400" b="1">
                <a:solidFill>
                  <a:srgbClr val="009A93"/>
                </a:solidFill>
                <a:latin typeface="KoPub돋움체 Bold"/>
              </a:defRPr>
            </a:pPr>
            <a:r>
              <a:rPr dirty="0">
                <a:latin typeface="KoPub돋움체 Bold"/>
              </a:rPr>
              <a:t>93 Passed (100% </a:t>
            </a:r>
            <a:r>
              <a:rPr dirty="0" err="1">
                <a:latin typeface="KoPub돋움체 Bold"/>
              </a:rPr>
              <a:t>통과</a:t>
            </a:r>
            <a:r>
              <a:rPr dirty="0">
                <a:latin typeface="KoPub돋움체 Bold"/>
              </a:rPr>
              <a:t>, 4.2초)</a:t>
            </a:r>
          </a:p>
          <a:p>
            <a:pPr>
              <a:lnSpc>
                <a:spcPct val="150000"/>
              </a:lnSpc>
              <a:spcBef>
                <a:spcPts val="200"/>
              </a:spcBef>
              <a:defRPr sz="780">
                <a:solidFill>
                  <a:srgbClr val="0F172A"/>
                </a:solidFill>
                <a:latin typeface="KoPub돋움체 Medium"/>
              </a:defRPr>
            </a:pPr>
            <a:r>
              <a:rPr sz="1000" dirty="0">
                <a:latin typeface="KoPub돋움체 Medium"/>
              </a:rPr>
              <a:t>• Invariant 1: </a:t>
            </a:r>
            <a:r>
              <a:rPr sz="1000" dirty="0" err="1">
                <a:latin typeface="KoPub돋움체 Medium"/>
              </a:rPr>
              <a:t>요청</a:t>
            </a:r>
            <a:r>
              <a:rPr sz="1000" dirty="0">
                <a:latin typeface="KoPub돋움체 Medium"/>
              </a:rPr>
              <a:t> </a:t>
            </a:r>
            <a:r>
              <a:rPr sz="1000" dirty="0" err="1">
                <a:latin typeface="KoPub돋움체 Medium"/>
              </a:rPr>
              <a:t>분류</a:t>
            </a:r>
            <a:r>
              <a:rPr sz="1000" dirty="0">
                <a:latin typeface="KoPub돋움체 Medium"/>
              </a:rPr>
              <a:t> </a:t>
            </a:r>
            <a:r>
              <a:rPr sz="1000" dirty="0" err="1">
                <a:latin typeface="KoPub돋움체 Medium"/>
              </a:rPr>
              <a:t>무결성</a:t>
            </a:r>
            <a:r>
              <a:rPr sz="1000" dirty="0">
                <a:latin typeface="KoPub돋움체 Medium"/>
              </a:rPr>
              <a:t> </a:t>
            </a:r>
            <a:r>
              <a:rPr sz="1000" dirty="0" err="1">
                <a:latin typeface="KoPub돋움체 Medium"/>
              </a:rPr>
              <a:t>전수</a:t>
            </a:r>
            <a:r>
              <a:rPr sz="1000" dirty="0">
                <a:latin typeface="KoPub돋움체 Medium"/>
              </a:rPr>
              <a:t> </a:t>
            </a:r>
            <a:r>
              <a:rPr sz="1000" dirty="0" err="1">
                <a:latin typeface="KoPub돋움체 Medium"/>
              </a:rPr>
              <a:t>검증</a:t>
            </a:r>
            <a:r>
              <a:rPr sz="1000" dirty="0">
                <a:latin typeface="KoPub돋움체 Medium"/>
              </a:rPr>
              <a:t> (requests == sum)</a:t>
            </a:r>
            <a:br>
              <a:rPr sz="1000" dirty="0"/>
            </a:br>
            <a:r>
              <a:rPr sz="1000" dirty="0">
                <a:latin typeface="KoPub돋움체 Medium"/>
              </a:rPr>
              <a:t>• Invariant 2: </a:t>
            </a:r>
            <a:r>
              <a:rPr sz="1000" dirty="0" err="1">
                <a:latin typeface="KoPub돋움체 Medium"/>
              </a:rPr>
              <a:t>백엔드</a:t>
            </a:r>
            <a:r>
              <a:rPr sz="1000" dirty="0">
                <a:latin typeface="KoPub돋움체 Medium"/>
              </a:rPr>
              <a:t> DB </a:t>
            </a:r>
            <a:r>
              <a:rPr sz="1000" dirty="0" err="1">
                <a:latin typeface="KoPub돋움체 Medium"/>
              </a:rPr>
              <a:t>폴백</a:t>
            </a:r>
            <a:r>
              <a:rPr sz="1000" dirty="0">
                <a:latin typeface="KoPub돋움체 Medium"/>
              </a:rPr>
              <a:t> </a:t>
            </a:r>
            <a:r>
              <a:rPr sz="1000" dirty="0" err="1">
                <a:latin typeface="KoPub돋움체 Medium"/>
              </a:rPr>
              <a:t>보호</a:t>
            </a:r>
            <a:r>
              <a:rPr sz="1000" dirty="0">
                <a:latin typeface="KoPub돋움체 Medium"/>
              </a:rPr>
              <a:t> </a:t>
            </a:r>
            <a:r>
              <a:rPr sz="1000" dirty="0" err="1">
                <a:latin typeface="KoPub돋움체 Medium"/>
              </a:rPr>
              <a:t>검증</a:t>
            </a:r>
            <a:r>
              <a:rPr sz="1000" dirty="0">
                <a:latin typeface="KoPub돋움체 Medium"/>
              </a:rPr>
              <a:t> (</a:t>
            </a:r>
            <a:r>
              <a:rPr sz="1000" dirty="0" err="1">
                <a:latin typeface="KoPub돋움체 Medium"/>
              </a:rPr>
              <a:t>db_fallbacks</a:t>
            </a:r>
            <a:r>
              <a:rPr sz="1000" dirty="0">
                <a:latin typeface="KoPub돋움체 Medium"/>
              </a:rPr>
              <a:t> == sum)</a:t>
            </a:r>
            <a:br>
              <a:rPr sz="1000" dirty="0"/>
            </a:br>
            <a:r>
              <a:rPr sz="1000" dirty="0">
                <a:latin typeface="KoPub돋움체 Medium"/>
              </a:rPr>
              <a:t>• Redis Sentinel HA </a:t>
            </a:r>
            <a:r>
              <a:rPr sz="1000" dirty="0" err="1">
                <a:latin typeface="KoPub돋움체 Medium"/>
              </a:rPr>
              <a:t>마스터</a:t>
            </a:r>
            <a:r>
              <a:rPr sz="1000" dirty="0">
                <a:latin typeface="KoPub돋움체 Medium"/>
              </a:rPr>
              <a:t> </a:t>
            </a:r>
            <a:r>
              <a:rPr sz="1000" dirty="0" err="1">
                <a:latin typeface="KoPub돋움체 Medium"/>
              </a:rPr>
              <a:t>자동</a:t>
            </a:r>
            <a:r>
              <a:rPr sz="1000" dirty="0">
                <a:latin typeface="KoPub돋움체 Medium"/>
              </a:rPr>
              <a:t> </a:t>
            </a:r>
            <a:r>
              <a:rPr sz="1000" dirty="0" err="1">
                <a:latin typeface="KoPub돋움체 Medium"/>
              </a:rPr>
              <a:t>페일오버</a:t>
            </a:r>
            <a:r>
              <a:rPr sz="1000" dirty="0">
                <a:latin typeface="KoPub돋움체 Medium"/>
              </a:rPr>
              <a:t> </a:t>
            </a:r>
            <a:r>
              <a:rPr sz="1000" dirty="0" err="1">
                <a:latin typeface="KoPub돋움체 Medium"/>
              </a:rPr>
              <a:t>검증</a:t>
            </a:r>
            <a:br>
              <a:rPr sz="1000" dirty="0"/>
            </a:br>
            <a:r>
              <a:rPr sz="1000" dirty="0">
                <a:latin typeface="KoPub돋움체 Medium"/>
              </a:rPr>
              <a:t>• 딥 </a:t>
            </a:r>
            <a:r>
              <a:rPr sz="1000" dirty="0" err="1">
                <a:latin typeface="KoPub돋움체 Medium"/>
              </a:rPr>
              <a:t>헬스체크</a:t>
            </a:r>
            <a:r>
              <a:rPr sz="1000" dirty="0">
                <a:latin typeface="KoPub돋움체 Medium"/>
              </a:rPr>
              <a:t>(/health) </a:t>
            </a:r>
            <a:r>
              <a:rPr sz="1000" dirty="0" err="1">
                <a:latin typeface="KoPub돋움체 Medium"/>
              </a:rPr>
              <a:t>고립</a:t>
            </a:r>
            <a:r>
              <a:rPr sz="1000" dirty="0">
                <a:latin typeface="KoPub돋움체 Medium"/>
              </a:rPr>
              <a:t> </a:t>
            </a:r>
            <a:r>
              <a:rPr sz="1000" dirty="0" err="1">
                <a:latin typeface="KoPub돋움체 Medium"/>
              </a:rPr>
              <a:t>노드</a:t>
            </a:r>
            <a:r>
              <a:rPr sz="1000" dirty="0">
                <a:latin typeface="KoPub돋움체 Medium"/>
              </a:rPr>
              <a:t> GSLB </a:t>
            </a:r>
            <a:r>
              <a:rPr sz="1000" dirty="0" err="1">
                <a:latin typeface="KoPub돋움체 Medium"/>
              </a:rPr>
              <a:t>트래픽</a:t>
            </a:r>
            <a:r>
              <a:rPr sz="1000" dirty="0">
                <a:latin typeface="KoPub돋움체 Medium"/>
              </a:rPr>
              <a:t> </a:t>
            </a:r>
            <a:r>
              <a:rPr sz="1000" dirty="0" err="1">
                <a:latin typeface="KoPub돋움체 Medium"/>
              </a:rPr>
              <a:t>격리</a:t>
            </a:r>
            <a:r>
              <a:rPr sz="1000" dirty="0">
                <a:latin typeface="KoPub돋움체 Medium"/>
              </a:rPr>
              <a:t> </a:t>
            </a:r>
            <a:r>
              <a:rPr sz="1000" dirty="0" err="1">
                <a:latin typeface="KoPub돋움체 Medium"/>
              </a:rPr>
              <a:t>검증</a:t>
            </a:r>
            <a:br>
              <a:rPr sz="1000" dirty="0"/>
            </a:br>
            <a:r>
              <a:rPr sz="1000" dirty="0">
                <a:latin typeface="KoPub돋움체 Medium"/>
              </a:rPr>
              <a:t>• Mock 및 in-memory </a:t>
            </a:r>
            <a:r>
              <a:rPr sz="1000" dirty="0" err="1">
                <a:latin typeface="KoPub돋움체 Medium"/>
              </a:rPr>
              <a:t>Redis로</a:t>
            </a:r>
            <a:r>
              <a:rPr sz="1000" dirty="0">
                <a:latin typeface="KoPub돋움체 Medium"/>
              </a:rPr>
              <a:t> CI/CD </a:t>
            </a:r>
            <a:r>
              <a:rPr sz="1000" dirty="0" err="1">
                <a:latin typeface="KoPub돋움체 Medium"/>
              </a:rPr>
              <a:t>무결함</a:t>
            </a:r>
            <a:r>
              <a:rPr sz="1000" dirty="0">
                <a:latin typeface="KoPub돋움체 Medium"/>
              </a:rPr>
              <a:t> </a:t>
            </a:r>
            <a:r>
              <a:rPr sz="1000" dirty="0" err="1">
                <a:latin typeface="KoPub돋움체 Medium"/>
              </a:rPr>
              <a:t>실행</a:t>
            </a:r>
            <a:r>
              <a:rPr sz="1000" dirty="0">
                <a:latin typeface="KoPub돋움체 Medium"/>
              </a:rPr>
              <a:t> </a:t>
            </a:r>
            <a:r>
              <a:rPr sz="1000" dirty="0" err="1">
                <a:latin typeface="KoPub돋움체 Medium"/>
              </a:rPr>
              <a:t>보장</a:t>
            </a:r>
            <a:endParaRPr sz="1000" dirty="0">
              <a:latin typeface="KoPub돋움체 Medium"/>
            </a:endParaRPr>
          </a:p>
        </p:txBody>
      </p:sp>
      <p:sp>
        <p:nvSpPr>
          <p:cNvPr id="25" name="Rounded Rectangle 24"/>
          <p:cNvSpPr/>
          <p:nvPr/>
        </p:nvSpPr>
        <p:spPr>
          <a:xfrm>
            <a:off x="5055480" y="3726000"/>
            <a:ext cx="4500000" cy="2232000"/>
          </a:xfrm>
          <a:prstGeom prst="roundRect">
            <a:avLst>
              <a:gd name="adj" fmla="val 4528"/>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5184000" y="3852000"/>
            <a:ext cx="4248000" cy="288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0E306D"/>
                </a:solidFill>
                <a:latin typeface="KoPub돋움체 Bold"/>
              </a:defRPr>
            </a:pPr>
            <a:r>
              <a:rPr dirty="0" err="1">
                <a:latin typeface="KoPub돋움체 Bold"/>
              </a:rPr>
              <a:t>실시간</a:t>
            </a:r>
            <a:r>
              <a:rPr dirty="0">
                <a:latin typeface="KoPub돋움체 Bold"/>
              </a:rPr>
              <a:t> </a:t>
            </a:r>
            <a:r>
              <a:rPr dirty="0" err="1">
                <a:latin typeface="KoPub돋움체 Bold"/>
              </a:rPr>
              <a:t>정합성</a:t>
            </a:r>
            <a:r>
              <a:rPr dirty="0">
                <a:latin typeface="KoPub돋움체 Bold"/>
              </a:rPr>
              <a:t> </a:t>
            </a:r>
            <a:r>
              <a:rPr dirty="0" err="1">
                <a:latin typeface="KoPub돋움체 Bold"/>
              </a:rPr>
              <a:t>감사</a:t>
            </a:r>
            <a:r>
              <a:rPr dirty="0">
                <a:latin typeface="KoPub돋움체 Bold"/>
              </a:rPr>
              <a:t> (GET /chaos/audit)</a:t>
            </a:r>
          </a:p>
        </p:txBody>
      </p:sp>
      <p:sp>
        <p:nvSpPr>
          <p:cNvPr id="27" name="Rounded Rectangle 26"/>
          <p:cNvSpPr/>
          <p:nvPr/>
        </p:nvSpPr>
        <p:spPr>
          <a:xfrm>
            <a:off x="5184000" y="4194000"/>
            <a:ext cx="4248000" cy="1620000"/>
          </a:xfrm>
          <a:prstGeom prst="roundRect">
            <a:avLst>
              <a:gd name="adj" fmla="val 5692"/>
            </a:avLst>
          </a:prstGeom>
          <a:solidFill>
            <a:srgbClr val="0E306D"/>
          </a:solidFill>
          <a:ln>
            <a:solidFill>
              <a:srgbClr val="0E306D"/>
            </a:solidFill>
          </a:ln>
        </p:spPr>
        <p:style>
          <a:lnRef idx="1">
            <a:schemeClr val="accent1"/>
          </a:lnRef>
          <a:fillRef idx="3">
            <a:schemeClr val="accent1"/>
          </a:fillRef>
          <a:effectRef idx="2">
            <a:schemeClr val="accent1"/>
          </a:effectRef>
          <a:fontRef idx="minor">
            <a:schemeClr val="lt1"/>
          </a:fontRef>
        </p:style>
        <p:txBody>
          <a:bodyPr lIns="126000" tIns="90000" rtlCol="0" anchor="ctr"/>
          <a:lstStyle/>
          <a:p>
            <a:pPr algn="ctr">
              <a:defRPr sz="800" b="1">
                <a:solidFill>
                  <a:srgbClr val="C3D3E4"/>
                </a:solidFill>
                <a:latin typeface="Consolas"/>
              </a:defRPr>
            </a:pPr>
            <a:r>
              <a:rPr sz="1000" dirty="0">
                <a:latin typeface="Consolas"/>
              </a:rPr>
              <a:t>GET /chaos/audit HTTP/1.1  →  200 OK</a:t>
            </a:r>
          </a:p>
          <a:p>
            <a:pPr>
              <a:lnSpc>
                <a:spcPct val="115000"/>
              </a:lnSpc>
              <a:defRPr sz="750">
                <a:solidFill>
                  <a:srgbClr val="FFFFFF"/>
                </a:solidFill>
                <a:latin typeface="Consolas"/>
              </a:defRPr>
            </a:pPr>
            <a:r>
              <a:rPr sz="1000" dirty="0">
                <a:latin typeface="Consolas"/>
              </a:rPr>
              <a:t>{</a:t>
            </a:r>
            <a:br>
              <a:rPr sz="1000" dirty="0"/>
            </a:br>
            <a:r>
              <a:rPr sz="1000" dirty="0">
                <a:latin typeface="Consolas"/>
              </a:rPr>
              <a:t>  "</a:t>
            </a:r>
            <a:r>
              <a:rPr sz="1000" dirty="0" err="1">
                <a:latin typeface="Consolas"/>
              </a:rPr>
              <a:t>overall_invariant_pass</a:t>
            </a:r>
            <a:r>
              <a:rPr sz="1000" dirty="0">
                <a:latin typeface="Consolas"/>
              </a:rPr>
              <a:t>": true,</a:t>
            </a:r>
            <a:br>
              <a:rPr sz="1000" dirty="0"/>
            </a:br>
            <a:r>
              <a:rPr sz="1000" dirty="0">
                <a:latin typeface="Consolas"/>
              </a:rPr>
              <a:t>  "</a:t>
            </a:r>
            <a:r>
              <a:rPr sz="1000" dirty="0" err="1">
                <a:latin typeface="Consolas"/>
              </a:rPr>
              <a:t>online_nodes_count</a:t>
            </a:r>
            <a:r>
              <a:rPr sz="1000" dirty="0">
                <a:latin typeface="Consolas"/>
              </a:rPr>
              <a:t>": 3,</a:t>
            </a:r>
            <a:br>
              <a:rPr sz="1000" dirty="0"/>
            </a:br>
            <a:r>
              <a:rPr sz="1000" dirty="0">
                <a:latin typeface="Consolas"/>
              </a:rPr>
              <a:t>  "</a:t>
            </a:r>
            <a:r>
              <a:rPr sz="1000" dirty="0" err="1">
                <a:latin typeface="Consolas"/>
              </a:rPr>
              <a:t>total_nodes_count</a:t>
            </a:r>
            <a:r>
              <a:rPr sz="1000" dirty="0">
                <a:latin typeface="Consolas"/>
              </a:rPr>
              <a:t>": 3,</a:t>
            </a:r>
            <a:br>
              <a:rPr sz="1000" dirty="0"/>
            </a:br>
            <a:r>
              <a:rPr sz="1000" dirty="0">
                <a:latin typeface="Consolas"/>
              </a:rPr>
              <a:t>  "nodes": { "Node-A": {"drift": 0}, ... }</a:t>
            </a:r>
            <a:br>
              <a:rPr sz="1000" dirty="0"/>
            </a:br>
            <a:r>
              <a:rPr sz="1000" dirty="0">
                <a:latin typeface="Consolas"/>
              </a:rPr>
              <a:t>}</a:t>
            </a:r>
          </a:p>
        </p:txBody>
      </p:sp>
      <p:sp>
        <p:nvSpPr>
          <p:cNvPr id="28" name="Rounded Rectangle 27"/>
          <p:cNvSpPr/>
          <p:nvPr/>
        </p:nvSpPr>
        <p:spPr>
          <a:xfrm>
            <a:off x="356760" y="6048000"/>
            <a:ext cx="9198720" cy="342000"/>
          </a:xfrm>
          <a:prstGeom prst="roundRect">
            <a:avLst/>
          </a:prstGeom>
          <a:solidFill>
            <a:srgbClr val="F1F1F1"/>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070273" y="6149750"/>
            <a:ext cx="3765454" cy="138499"/>
          </a:xfrm>
          <a:prstGeom prst="rect">
            <a:avLst/>
          </a:prstGeom>
          <a:noFill/>
        </p:spPr>
        <p:txBody>
          <a:bodyPr wrap="none" lIns="0" tIns="0" rIns="0" bIns="0" anchor="ctr">
            <a:spAutoFit/>
          </a:bodyPr>
          <a:lstStyle/>
          <a:p>
            <a:pPr>
              <a:defRPr sz="900" b="1">
                <a:solidFill>
                  <a:srgbClr val="0F172A"/>
                </a:solidFill>
                <a:latin typeface="KoPub돋움체 Bold"/>
              </a:defRPr>
            </a:pPr>
            <a:r>
              <a:rPr dirty="0">
                <a:latin typeface="KoPub돋움체 Bold"/>
              </a:rPr>
              <a:t>7차례 </a:t>
            </a:r>
            <a:r>
              <a:rPr dirty="0" err="1">
                <a:latin typeface="KoPub돋움체 Bold"/>
              </a:rPr>
              <a:t>점진적</a:t>
            </a:r>
            <a:r>
              <a:rPr dirty="0">
                <a:latin typeface="KoPub돋움체 Bold"/>
              </a:rPr>
              <a:t> </a:t>
            </a:r>
            <a:r>
              <a:rPr dirty="0" err="1">
                <a:latin typeface="KoPub돋움체 Bold"/>
              </a:rPr>
              <a:t>리팩토링과</a:t>
            </a:r>
            <a:r>
              <a:rPr dirty="0">
                <a:latin typeface="KoPub돋움체 Bold"/>
              </a:rPr>
              <a:t> 93개 </a:t>
            </a:r>
            <a:r>
              <a:rPr dirty="0" err="1">
                <a:latin typeface="KoPub돋움체 Bold"/>
              </a:rPr>
              <a:t>단위</a:t>
            </a:r>
            <a:r>
              <a:rPr dirty="0">
                <a:latin typeface="KoPub돋움체 Bold"/>
              </a:rPr>
              <a:t> </a:t>
            </a:r>
            <a:r>
              <a:rPr dirty="0" err="1">
                <a:latin typeface="KoPub돋움체 Bold"/>
              </a:rPr>
              <a:t>테스트</a:t>
            </a:r>
            <a:r>
              <a:rPr dirty="0">
                <a:latin typeface="KoPub돋움체 Bold"/>
              </a:rPr>
              <a:t> </a:t>
            </a:r>
            <a:r>
              <a:rPr dirty="0" err="1">
                <a:latin typeface="KoPub돋움체 Bold"/>
              </a:rPr>
              <a:t>전건</a:t>
            </a:r>
            <a:r>
              <a:rPr dirty="0">
                <a:latin typeface="KoPub돋움체 Bold"/>
              </a:rPr>
              <a:t> </a:t>
            </a:r>
            <a:r>
              <a:rPr dirty="0" err="1">
                <a:latin typeface="KoPub돋움체 Bold"/>
              </a:rPr>
              <a:t>통과로</a:t>
            </a:r>
            <a:r>
              <a:rPr dirty="0">
                <a:latin typeface="KoPub돋움체 Bold"/>
              </a:rPr>
              <a:t> </a:t>
            </a:r>
            <a:r>
              <a:rPr dirty="0" err="1">
                <a:latin typeface="KoPub돋움체 Bold"/>
              </a:rPr>
              <a:t>검증된</a:t>
            </a:r>
            <a:r>
              <a:rPr dirty="0">
                <a:latin typeface="KoPub돋움체 Bold"/>
              </a:rPr>
              <a:t> </a:t>
            </a:r>
            <a:r>
              <a:rPr dirty="0" err="1">
                <a:latin typeface="KoPub돋움체 Bold"/>
              </a:rPr>
              <a:t>프로덕션</a:t>
            </a:r>
            <a:r>
              <a:rPr dirty="0">
                <a:latin typeface="KoPub돋움체 Bold"/>
              </a:rPr>
              <a:t> </a:t>
            </a:r>
            <a:r>
              <a:rPr dirty="0" err="1">
                <a:latin typeface="KoPub돋움체 Bold"/>
              </a:rPr>
              <a:t>아키텍처</a:t>
            </a:r>
            <a:endParaRPr dirty="0">
              <a:latin typeface="KoPub돋움체 Bold"/>
            </a:endParaRPr>
          </a:p>
        </p:txBody>
      </p:sp>
      <p:sp>
        <p:nvSpPr>
          <p:cNvPr id="31" name="TextBox 30"/>
          <p:cNvSpPr txBox="1"/>
          <p:nvPr/>
        </p:nvSpPr>
        <p:spPr>
          <a:xfrm>
            <a:off x="8723520" y="6537960"/>
            <a:ext cx="831960" cy="246960"/>
          </a:xfrm>
          <a:prstGeom prst="rect">
            <a:avLst/>
          </a:prstGeom>
          <a:noFill/>
        </p:spPr>
        <p:txBody>
          <a:bodyPr wrap="none" lIns="0" tIns="0" rIns="0" bIns="0">
            <a:spAutoFit/>
          </a:bodyPr>
          <a:lstStyle/>
          <a:p>
            <a:pPr algn="r">
              <a:defRPr sz="1000" b="1">
                <a:solidFill>
                  <a:srgbClr val="6B7280"/>
                </a:solidFill>
                <a:latin typeface="KoPub돋움체 Bold"/>
              </a:defRPr>
            </a:pPr>
            <a:r>
              <a:rPr>
                <a:latin typeface="KoPub돋움체 Bold"/>
              </a:rPr>
              <a:t>15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9FAFD"/>
        </a:solidFill>
        <a:effectLst/>
      </p:bgPr>
    </p:bg>
    <p:spTree>
      <p:nvGrpSpPr>
        <p:cNvPr id="1" name=""/>
        <p:cNvGrpSpPr/>
        <p:nvPr/>
      </p:nvGrpSpPr>
      <p:grpSpPr>
        <a:xfrm>
          <a:off x="0" y="0"/>
          <a:ext cx="0" cy="0"/>
          <a:chOff x="0" y="0"/>
          <a:chExt cx="0" cy="0"/>
        </a:xfrm>
      </p:grpSpPr>
      <p:sp>
        <p:nvSpPr>
          <p:cNvPr id="2" name="Rounded Rectangle 1"/>
          <p:cNvSpPr/>
          <p:nvPr/>
        </p:nvSpPr>
        <p:spPr>
          <a:xfrm>
            <a:off x="356760" y="292680"/>
            <a:ext cx="9198720" cy="493920"/>
          </a:xfrm>
          <a:prstGeom prst="roundRect">
            <a:avLst/>
          </a:prstGeom>
          <a:solidFill>
            <a:srgbClr val="0E306D"/>
          </a:solidFill>
          <a:ln w="12700">
            <a:solidFill>
              <a:srgbClr val="0E30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5751"/>
            <a:ext cx="8778240" cy="307777"/>
          </a:xfrm>
          <a:prstGeom prst="rect">
            <a:avLst/>
          </a:prstGeom>
          <a:noFill/>
        </p:spPr>
        <p:txBody>
          <a:bodyPr wrap="square" lIns="0" tIns="0" rIns="0" bIns="0" anchor="ctr">
            <a:spAutoFit/>
          </a:bodyPr>
          <a:lstStyle/>
          <a:p>
            <a:pPr>
              <a:defRPr sz="2000" b="1">
                <a:solidFill>
                  <a:srgbClr val="FFFFFF"/>
                </a:solidFill>
                <a:latin typeface="KoPub돋움체 Bold"/>
              </a:defRPr>
            </a:pPr>
            <a:r>
              <a:rPr dirty="0" err="1">
                <a:latin typeface="KoPub돋움체 Bold"/>
              </a:rPr>
              <a:t>PoP-Sync가</a:t>
            </a:r>
            <a:r>
              <a:rPr dirty="0">
                <a:latin typeface="KoPub돋움체 Bold"/>
              </a:rPr>
              <a:t> </a:t>
            </a:r>
            <a:r>
              <a:rPr dirty="0" err="1">
                <a:latin typeface="KoPub돋움체 Bold"/>
              </a:rPr>
              <a:t>달성한</a:t>
            </a:r>
            <a:r>
              <a:rPr dirty="0">
                <a:latin typeface="KoPub돋움체 Bold"/>
              </a:rPr>
              <a:t> 4대 </a:t>
            </a:r>
            <a:r>
              <a:rPr dirty="0" err="1">
                <a:latin typeface="KoPub돋움체 Bold"/>
              </a:rPr>
              <a:t>핵심</a:t>
            </a:r>
            <a:r>
              <a:rPr dirty="0">
                <a:latin typeface="KoPub돋움체 Bold"/>
              </a:rPr>
              <a:t> </a:t>
            </a:r>
            <a:r>
              <a:rPr dirty="0" err="1">
                <a:latin typeface="KoPub돋움체 Bold"/>
              </a:rPr>
              <a:t>아키텍처</a:t>
            </a:r>
            <a:r>
              <a:rPr dirty="0">
                <a:latin typeface="KoPub돋움체 Bold"/>
              </a:rPr>
              <a:t> </a:t>
            </a:r>
            <a:r>
              <a:rPr dirty="0" err="1">
                <a:latin typeface="KoPub돋움체 Bold"/>
              </a:rPr>
              <a:t>성과</a:t>
            </a:r>
            <a:endParaRPr dirty="0">
              <a:latin typeface="KoPub돋움체 Bold"/>
            </a:endParaRPr>
          </a:p>
        </p:txBody>
      </p:sp>
      <p:sp>
        <p:nvSpPr>
          <p:cNvPr id="4" name="Rounded Rectangle 3"/>
          <p:cNvSpPr/>
          <p:nvPr/>
        </p:nvSpPr>
        <p:spPr>
          <a:xfrm>
            <a:off x="356760" y="914400"/>
            <a:ext cx="9198720" cy="347400"/>
          </a:xfrm>
          <a:prstGeom prst="roundRect">
            <a:avLst/>
          </a:prstGeom>
          <a:solidFill>
            <a:srgbClr val="F1F1F1"/>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011156"/>
            <a:ext cx="9052560" cy="153888"/>
          </a:xfrm>
          <a:prstGeom prst="rect">
            <a:avLst/>
          </a:prstGeom>
          <a:noFill/>
        </p:spPr>
        <p:txBody>
          <a:bodyPr wrap="square" lIns="0" tIns="0" rIns="0" bIns="0" anchor="ctr">
            <a:spAutoFit/>
          </a:bodyPr>
          <a:lstStyle/>
          <a:p>
            <a:pPr>
              <a:defRPr sz="1050" b="1">
                <a:solidFill>
                  <a:srgbClr val="0E306D"/>
                </a:solidFill>
                <a:latin typeface="KoPub돋움체 Bold"/>
              </a:defRPr>
            </a:pPr>
            <a:r>
              <a:rPr sz="1000" dirty="0" err="1">
                <a:latin typeface="KoPub돋움체 Bold"/>
              </a:rPr>
              <a:t>인프라</a:t>
            </a:r>
            <a:r>
              <a:rPr sz="1000" dirty="0">
                <a:latin typeface="KoPub돋움체 Bold"/>
              </a:rPr>
              <a:t> </a:t>
            </a:r>
            <a:r>
              <a:rPr sz="1000" dirty="0" err="1">
                <a:latin typeface="KoPub돋움체 Bold"/>
              </a:rPr>
              <a:t>장애와</a:t>
            </a:r>
            <a:r>
              <a:rPr sz="1000" dirty="0">
                <a:latin typeface="KoPub돋움체 Bold"/>
              </a:rPr>
              <a:t> </a:t>
            </a:r>
            <a:r>
              <a:rPr sz="1000" dirty="0" err="1">
                <a:latin typeface="KoPub돋움체 Bold"/>
              </a:rPr>
              <a:t>트래픽</a:t>
            </a:r>
            <a:r>
              <a:rPr sz="1000" dirty="0">
                <a:latin typeface="KoPub돋움체 Bold"/>
              </a:rPr>
              <a:t> </a:t>
            </a:r>
            <a:r>
              <a:rPr sz="1000" dirty="0" err="1">
                <a:latin typeface="KoPub돋움체 Bold"/>
              </a:rPr>
              <a:t>폭주</a:t>
            </a:r>
            <a:r>
              <a:rPr sz="1000" dirty="0">
                <a:latin typeface="KoPub돋움체 Bold"/>
              </a:rPr>
              <a:t> </a:t>
            </a:r>
            <a:r>
              <a:rPr sz="1000" dirty="0" err="1">
                <a:latin typeface="KoPub돋움체 Bold"/>
              </a:rPr>
              <a:t>환경에서도</a:t>
            </a:r>
            <a:r>
              <a:rPr sz="1000" dirty="0">
                <a:latin typeface="KoPub돋움체 Bold"/>
              </a:rPr>
              <a:t> </a:t>
            </a:r>
            <a:r>
              <a:rPr sz="1000" dirty="0" err="1">
                <a:latin typeface="KoPub돋움체 Bold"/>
              </a:rPr>
              <a:t>데이터</a:t>
            </a:r>
            <a:r>
              <a:rPr sz="1000" dirty="0">
                <a:latin typeface="KoPub돋움체 Bold"/>
              </a:rPr>
              <a:t> </a:t>
            </a:r>
            <a:r>
              <a:rPr sz="1000" dirty="0" err="1">
                <a:latin typeface="KoPub돋움체 Bold"/>
              </a:rPr>
              <a:t>무결성과</a:t>
            </a:r>
            <a:r>
              <a:rPr sz="1000" dirty="0">
                <a:latin typeface="KoPub돋움체 Bold"/>
              </a:rPr>
              <a:t> </a:t>
            </a:r>
            <a:r>
              <a:rPr sz="1000" dirty="0" err="1">
                <a:latin typeface="KoPub돋움체 Bold"/>
              </a:rPr>
              <a:t>비즈니스</a:t>
            </a:r>
            <a:r>
              <a:rPr sz="1000" dirty="0">
                <a:latin typeface="KoPub돋움체 Bold"/>
              </a:rPr>
              <a:t> </a:t>
            </a:r>
            <a:r>
              <a:rPr sz="1000" dirty="0" err="1">
                <a:latin typeface="KoPub돋움체 Bold"/>
              </a:rPr>
              <a:t>가용성을</a:t>
            </a:r>
            <a:r>
              <a:rPr sz="1000" dirty="0">
                <a:latin typeface="KoPub돋움체 Bold"/>
              </a:rPr>
              <a:t> </a:t>
            </a:r>
            <a:r>
              <a:rPr sz="1000" dirty="0" err="1">
                <a:latin typeface="KoPub돋움체 Bold"/>
              </a:rPr>
              <a:t>동시에</a:t>
            </a:r>
            <a:r>
              <a:rPr sz="1000" dirty="0">
                <a:latin typeface="KoPub돋움체 Bold"/>
              </a:rPr>
              <a:t> </a:t>
            </a:r>
            <a:r>
              <a:rPr sz="1000" dirty="0" err="1">
                <a:latin typeface="KoPub돋움체 Bold"/>
              </a:rPr>
              <a:t>보장하는</a:t>
            </a:r>
            <a:r>
              <a:rPr sz="1000" dirty="0">
                <a:latin typeface="KoPub돋움체 Bold"/>
              </a:rPr>
              <a:t> </a:t>
            </a:r>
            <a:r>
              <a:rPr sz="1000" dirty="0" err="1">
                <a:latin typeface="KoPub돋움체 Bold"/>
              </a:rPr>
              <a:t>인가</a:t>
            </a:r>
            <a:r>
              <a:rPr sz="1000" dirty="0">
                <a:latin typeface="KoPub돋움체 Bold"/>
              </a:rPr>
              <a:t> </a:t>
            </a:r>
            <a:r>
              <a:rPr sz="1000" dirty="0" err="1">
                <a:latin typeface="KoPub돋움체 Bold"/>
              </a:rPr>
              <a:t>표준</a:t>
            </a:r>
            <a:endParaRPr sz="1000" dirty="0">
              <a:latin typeface="KoPub돋움체 Bold"/>
            </a:endParaRPr>
          </a:p>
        </p:txBody>
      </p:sp>
      <p:sp>
        <p:nvSpPr>
          <p:cNvPr id="6" name="Rounded Rectangle 5"/>
          <p:cNvSpPr/>
          <p:nvPr/>
        </p:nvSpPr>
        <p:spPr>
          <a:xfrm>
            <a:off x="356760" y="1350000"/>
            <a:ext cx="2188800" cy="4572000"/>
          </a:xfrm>
          <a:prstGeom prst="roundRect">
            <a:avLst>
              <a:gd name="adj" fmla="val 5062"/>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64760" y="1458000"/>
            <a:ext cx="1972800" cy="288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0E306D"/>
                </a:solidFill>
                <a:latin typeface="KoPub돋움체 Bold"/>
              </a:defRPr>
            </a:pPr>
            <a:r>
              <a:rPr sz="1000" dirty="0">
                <a:latin typeface="KoPub돋움체 Bold"/>
              </a:rPr>
              <a:t>01. </a:t>
            </a:r>
            <a:r>
              <a:rPr sz="1000" dirty="0" err="1">
                <a:latin typeface="KoPub돋움체 Bold"/>
              </a:rPr>
              <a:t>초저지연</a:t>
            </a:r>
            <a:r>
              <a:rPr sz="1000" dirty="0">
                <a:latin typeface="KoPub돋움체 Bold"/>
              </a:rPr>
              <a:t> </a:t>
            </a:r>
            <a:r>
              <a:rPr sz="1000" dirty="0" err="1">
                <a:latin typeface="KoPub돋움체 Bold"/>
              </a:rPr>
              <a:t>오버헤드</a:t>
            </a:r>
            <a:endParaRPr sz="1000" dirty="0">
              <a:latin typeface="KoPub돋움체 Bold"/>
            </a:endParaRPr>
          </a:p>
        </p:txBody>
      </p:sp>
      <p:sp>
        <p:nvSpPr>
          <p:cNvPr id="8" name="TextBox 7"/>
          <p:cNvSpPr txBox="1"/>
          <p:nvPr/>
        </p:nvSpPr>
        <p:spPr>
          <a:xfrm>
            <a:off x="464760" y="1876203"/>
            <a:ext cx="1972800" cy="468000"/>
          </a:xfrm>
          <a:prstGeom prst="rect">
            <a:avLst/>
          </a:prstGeom>
          <a:noFill/>
        </p:spPr>
        <p:txBody>
          <a:bodyPr wrap="none" lIns="0" tIns="0" rIns="0" bIns="0">
            <a:spAutoFit/>
          </a:bodyPr>
          <a:lstStyle/>
          <a:p>
            <a:pPr algn="ctr">
              <a:defRPr sz="1700" b="1">
                <a:solidFill>
                  <a:srgbClr val="0E306D"/>
                </a:solidFill>
                <a:latin typeface="KoPub돋움체 Bold"/>
              </a:defRPr>
            </a:pPr>
            <a:r>
              <a:rPr dirty="0">
                <a:latin typeface="KoPub돋움체 Bold"/>
              </a:rPr>
              <a:t>0.85 </a:t>
            </a:r>
            <a:r>
              <a:rPr dirty="0" err="1">
                <a:latin typeface="KoPub돋움체 Bold"/>
              </a:rPr>
              <a:t>ms</a:t>
            </a:r>
            <a:endParaRPr dirty="0">
              <a:latin typeface="KoPub돋움체 Bold"/>
            </a:endParaRPr>
          </a:p>
        </p:txBody>
      </p:sp>
      <p:sp>
        <p:nvSpPr>
          <p:cNvPr id="9" name="TextBox 8"/>
          <p:cNvSpPr txBox="1"/>
          <p:nvPr/>
        </p:nvSpPr>
        <p:spPr>
          <a:xfrm>
            <a:off x="697748" y="2286000"/>
            <a:ext cx="1506823" cy="138499"/>
          </a:xfrm>
          <a:prstGeom prst="rect">
            <a:avLst/>
          </a:prstGeom>
          <a:noFill/>
        </p:spPr>
        <p:txBody>
          <a:bodyPr wrap="none" lIns="0" tIns="0" rIns="0" bIns="0">
            <a:spAutoFit/>
          </a:bodyPr>
          <a:lstStyle/>
          <a:p>
            <a:pPr algn="ctr">
              <a:defRPr sz="800" b="1">
                <a:solidFill>
                  <a:srgbClr val="6B7280"/>
                </a:solidFill>
                <a:latin typeface="KoPub돋움체 Medium"/>
              </a:defRPr>
            </a:pPr>
            <a:r>
              <a:rPr sz="900" dirty="0">
                <a:latin typeface="KoPub돋움체 Medium"/>
              </a:rPr>
              <a:t>L1 Cache Hit (총 p50 1.62ms)</a:t>
            </a:r>
          </a:p>
        </p:txBody>
      </p:sp>
      <p:sp>
        <p:nvSpPr>
          <p:cNvPr id="10" name="TextBox 9"/>
          <p:cNvSpPr txBox="1"/>
          <p:nvPr/>
        </p:nvSpPr>
        <p:spPr>
          <a:xfrm>
            <a:off x="482760" y="2610000"/>
            <a:ext cx="1936800" cy="1900841"/>
          </a:xfrm>
          <a:prstGeom prst="rect">
            <a:avLst/>
          </a:prstGeom>
          <a:noFill/>
        </p:spPr>
        <p:txBody>
          <a:bodyPr wrap="square" lIns="0" tIns="0" rIns="0" bIns="0">
            <a:spAutoFit/>
          </a:bodyPr>
          <a:lstStyle/>
          <a:p>
            <a:pPr>
              <a:lnSpc>
                <a:spcPct val="150000"/>
              </a:lnSpc>
              <a:defRPr sz="780">
                <a:solidFill>
                  <a:srgbClr val="0F172A"/>
                </a:solidFill>
                <a:latin typeface="KoPub돋움체 Medium"/>
              </a:defRPr>
            </a:pPr>
            <a:r>
              <a:rPr sz="1000" dirty="0">
                <a:latin typeface="KoPub돋움체 Medium"/>
              </a:rPr>
              <a:t>•  L1 </a:t>
            </a:r>
            <a:r>
              <a:rPr sz="1000" dirty="0" err="1">
                <a:latin typeface="KoPub돋움체 Medium"/>
              </a:rPr>
              <a:t>OrderedDict</a:t>
            </a:r>
            <a:r>
              <a:rPr sz="1000" dirty="0">
                <a:latin typeface="KoPub돋움체 Medium"/>
              </a:rPr>
              <a:t> LRU </a:t>
            </a:r>
            <a:r>
              <a:rPr sz="1000" dirty="0" err="1">
                <a:latin typeface="KoPub돋움체 Medium"/>
              </a:rPr>
              <a:t>메모리</a:t>
            </a:r>
            <a:r>
              <a:rPr sz="1000" dirty="0">
                <a:latin typeface="KoPub돋움체 Medium"/>
              </a:rPr>
              <a:t> </a:t>
            </a:r>
            <a:r>
              <a:rPr sz="1000" dirty="0" err="1">
                <a:latin typeface="KoPub돋움체 Medium"/>
              </a:rPr>
              <a:t>캐시로</a:t>
            </a:r>
            <a:r>
              <a:rPr sz="1000" dirty="0">
                <a:latin typeface="KoPub돋움체 Medium"/>
              </a:rPr>
              <a:t> </a:t>
            </a:r>
            <a:r>
              <a:rPr sz="1000" dirty="0" err="1">
                <a:latin typeface="KoPub돋움체 Medium"/>
              </a:rPr>
              <a:t>네트워크</a:t>
            </a:r>
            <a:r>
              <a:rPr sz="1000" dirty="0">
                <a:latin typeface="KoPub돋움체 Medium"/>
              </a:rPr>
              <a:t> RTT </a:t>
            </a:r>
            <a:r>
              <a:rPr sz="1000" dirty="0" err="1">
                <a:latin typeface="KoPub돋움체 Medium"/>
              </a:rPr>
              <a:t>없는</a:t>
            </a:r>
            <a:r>
              <a:rPr sz="1000" dirty="0">
                <a:latin typeface="KoPub돋움체 Medium"/>
              </a:rPr>
              <a:t> 0.85ms </a:t>
            </a:r>
            <a:r>
              <a:rPr sz="1000" dirty="0" err="1">
                <a:latin typeface="KoPub돋움체 Medium"/>
              </a:rPr>
              <a:t>인가</a:t>
            </a:r>
            <a:r>
              <a:rPr sz="1000" dirty="0">
                <a:latin typeface="KoPub돋움체 Medium"/>
              </a:rPr>
              <a:t> </a:t>
            </a:r>
            <a:r>
              <a:rPr sz="1000" dirty="0" err="1">
                <a:latin typeface="KoPub돋움체 Medium"/>
              </a:rPr>
              <a:t>응답</a:t>
            </a:r>
            <a:r>
              <a:rPr sz="1000" dirty="0">
                <a:latin typeface="KoPub돋움체 Medium"/>
              </a:rPr>
              <a:t> </a:t>
            </a:r>
            <a:r>
              <a:rPr sz="1000" dirty="0" err="1">
                <a:latin typeface="KoPub돋움체 Medium"/>
              </a:rPr>
              <a:t>달성</a:t>
            </a:r>
            <a:endParaRPr sz="1000" dirty="0">
              <a:latin typeface="KoPub돋움체 Medium"/>
            </a:endParaRPr>
          </a:p>
          <a:p>
            <a:pPr>
              <a:lnSpc>
                <a:spcPct val="150000"/>
              </a:lnSpc>
              <a:spcBef>
                <a:spcPts val="300"/>
              </a:spcBef>
              <a:defRPr sz="780">
                <a:solidFill>
                  <a:srgbClr val="0F172A"/>
                </a:solidFill>
                <a:latin typeface="KoPub돋움체 Medium"/>
              </a:defRPr>
            </a:pPr>
            <a:r>
              <a:rPr sz="1000" dirty="0">
                <a:latin typeface="KoPub돋움체 Medium"/>
              </a:rPr>
              <a:t>•  L2 </a:t>
            </a:r>
            <a:r>
              <a:rPr sz="1000" dirty="0" err="1">
                <a:latin typeface="KoPub돋움체 Medium"/>
              </a:rPr>
              <a:t>중앙</a:t>
            </a:r>
            <a:r>
              <a:rPr sz="1000" dirty="0">
                <a:latin typeface="KoPub돋움체 Medium"/>
              </a:rPr>
              <a:t> Redis </a:t>
            </a:r>
            <a:r>
              <a:rPr sz="1000" dirty="0" err="1">
                <a:latin typeface="KoPub돋움체 Medium"/>
              </a:rPr>
              <a:t>캐시</a:t>
            </a:r>
            <a:r>
              <a:rPr sz="1000" dirty="0">
                <a:latin typeface="KoPub돋움체 Medium"/>
              </a:rPr>
              <a:t> 및 </a:t>
            </a:r>
            <a:r>
              <a:rPr sz="1000" dirty="0" err="1">
                <a:latin typeface="KoPub돋움체 Medium"/>
              </a:rPr>
              <a:t>다단계</a:t>
            </a:r>
            <a:r>
              <a:rPr sz="1000" dirty="0">
                <a:latin typeface="KoPub돋움체 Medium"/>
              </a:rPr>
              <a:t> </a:t>
            </a:r>
            <a:r>
              <a:rPr sz="1000" dirty="0" err="1">
                <a:latin typeface="KoPub돋움체 Medium"/>
              </a:rPr>
              <a:t>계층화로</a:t>
            </a:r>
            <a:r>
              <a:rPr sz="1000" dirty="0">
                <a:latin typeface="KoPub돋움체 Medium"/>
              </a:rPr>
              <a:t> </a:t>
            </a:r>
            <a:r>
              <a:rPr sz="1000" dirty="0" err="1">
                <a:latin typeface="KoPub돋움체 Medium"/>
              </a:rPr>
              <a:t>백엔드</a:t>
            </a:r>
            <a:r>
              <a:rPr sz="1000" dirty="0">
                <a:latin typeface="KoPub돋움체 Medium"/>
              </a:rPr>
              <a:t> DB </a:t>
            </a:r>
            <a:r>
              <a:rPr sz="1000" dirty="0" err="1">
                <a:latin typeface="KoPub돋움체 Medium"/>
              </a:rPr>
              <a:t>조회</a:t>
            </a:r>
            <a:r>
              <a:rPr sz="1000" dirty="0">
                <a:latin typeface="KoPub돋움체 Medium"/>
              </a:rPr>
              <a:t> </a:t>
            </a:r>
            <a:r>
              <a:rPr sz="1000" dirty="0" err="1">
                <a:latin typeface="KoPub돋움체 Medium"/>
              </a:rPr>
              <a:t>최소화</a:t>
            </a:r>
            <a:endParaRPr sz="1000" dirty="0">
              <a:latin typeface="KoPub돋움체 Medium"/>
            </a:endParaRPr>
          </a:p>
          <a:p>
            <a:pPr>
              <a:lnSpc>
                <a:spcPct val="150000"/>
              </a:lnSpc>
              <a:spcBef>
                <a:spcPts val="300"/>
              </a:spcBef>
              <a:defRPr sz="780">
                <a:solidFill>
                  <a:srgbClr val="0F172A"/>
                </a:solidFill>
                <a:latin typeface="KoPub돋움체 Medium"/>
              </a:defRPr>
            </a:pPr>
            <a:r>
              <a:rPr sz="1000" dirty="0">
                <a:latin typeface="KoPub돋움체 Medium"/>
              </a:rPr>
              <a:t>•  Envoy L7 </a:t>
            </a:r>
            <a:r>
              <a:rPr sz="1000" dirty="0" err="1">
                <a:latin typeface="KoPub돋움체 Medium"/>
              </a:rPr>
              <a:t>프록시</a:t>
            </a:r>
            <a:r>
              <a:rPr sz="1000" dirty="0">
                <a:latin typeface="KoPub돋움체 Medium"/>
              </a:rPr>
              <a:t> 홉(0.42ms) </a:t>
            </a:r>
            <a:r>
              <a:rPr sz="1000" dirty="0" err="1">
                <a:latin typeface="KoPub돋움체 Medium"/>
              </a:rPr>
              <a:t>포함</a:t>
            </a:r>
            <a:r>
              <a:rPr sz="1000" dirty="0">
                <a:latin typeface="KoPub돋움체 Medium"/>
              </a:rPr>
              <a:t> </a:t>
            </a:r>
            <a:r>
              <a:rPr sz="1000" dirty="0" err="1">
                <a:latin typeface="KoPub돋움체 Medium"/>
              </a:rPr>
              <a:t>전체</a:t>
            </a:r>
            <a:r>
              <a:rPr sz="1000" dirty="0">
                <a:latin typeface="KoPub돋움체 Medium"/>
              </a:rPr>
              <a:t> 1.62ms로 </a:t>
            </a:r>
            <a:r>
              <a:rPr sz="1000" dirty="0" err="1">
                <a:latin typeface="KoPub돋움체 Medium"/>
              </a:rPr>
              <a:t>마이크로서비스</a:t>
            </a:r>
            <a:r>
              <a:rPr sz="1000" dirty="0">
                <a:latin typeface="KoPub돋움체 Medium"/>
              </a:rPr>
              <a:t> </a:t>
            </a:r>
            <a:r>
              <a:rPr sz="1000" dirty="0" err="1">
                <a:latin typeface="KoPub돋움체 Medium"/>
              </a:rPr>
              <a:t>완벽</a:t>
            </a:r>
            <a:r>
              <a:rPr sz="1000" dirty="0">
                <a:latin typeface="KoPub돋움체 Medium"/>
              </a:rPr>
              <a:t> </a:t>
            </a:r>
            <a:r>
              <a:rPr sz="1000" dirty="0" err="1">
                <a:latin typeface="KoPub돋움체 Medium"/>
              </a:rPr>
              <a:t>결합</a:t>
            </a:r>
            <a:endParaRPr sz="1000" dirty="0">
              <a:latin typeface="KoPub돋움체 Medium"/>
            </a:endParaRPr>
          </a:p>
        </p:txBody>
      </p:sp>
      <p:sp>
        <p:nvSpPr>
          <p:cNvPr id="11" name="Rounded Rectangle 10"/>
          <p:cNvSpPr/>
          <p:nvPr/>
        </p:nvSpPr>
        <p:spPr>
          <a:xfrm>
            <a:off x="464760" y="5436000"/>
            <a:ext cx="1972800" cy="324000"/>
          </a:xfrm>
          <a:prstGeom prst="roundRect">
            <a:avLst/>
          </a:prstGeom>
          <a:solidFill>
            <a:srgbClr val="F1F1F1"/>
          </a:solidFill>
          <a:ln>
            <a:solidFill>
              <a:srgbClr val="CBD5E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0E306D"/>
                </a:solidFill>
                <a:latin typeface="KoPub돋움체 Bold"/>
              </a:defRPr>
            </a:pPr>
            <a:r>
              <a:rPr sz="1000" dirty="0" err="1">
                <a:latin typeface="KoPub돋움체 Bold"/>
              </a:rPr>
              <a:t>네트워크</a:t>
            </a:r>
            <a:r>
              <a:rPr sz="1000" dirty="0">
                <a:latin typeface="KoPub돋움체 Bold"/>
              </a:rPr>
              <a:t> RTT </a:t>
            </a:r>
            <a:r>
              <a:rPr sz="1000" dirty="0" err="1">
                <a:latin typeface="KoPub돋움체 Bold"/>
              </a:rPr>
              <a:t>제로화</a:t>
            </a:r>
            <a:endParaRPr sz="1000" dirty="0">
              <a:latin typeface="KoPub돋움체 Bold"/>
            </a:endParaRPr>
          </a:p>
        </p:txBody>
      </p:sp>
      <p:sp>
        <p:nvSpPr>
          <p:cNvPr id="12" name="Rounded Rectangle 11"/>
          <p:cNvSpPr/>
          <p:nvPr/>
        </p:nvSpPr>
        <p:spPr>
          <a:xfrm>
            <a:off x="2693160" y="1350000"/>
            <a:ext cx="2188800" cy="4572000"/>
          </a:xfrm>
          <a:prstGeom prst="roundRect">
            <a:avLst>
              <a:gd name="adj" fmla="val 6610"/>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2801160" y="1458000"/>
            <a:ext cx="1972800" cy="288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0E306D"/>
                </a:solidFill>
                <a:latin typeface="KoPub돋움체 Bold"/>
              </a:defRPr>
            </a:pPr>
            <a:r>
              <a:rPr sz="1000" dirty="0">
                <a:latin typeface="KoPub돋움체 Bold"/>
              </a:rPr>
              <a:t>02. </a:t>
            </a:r>
            <a:r>
              <a:rPr sz="1000" dirty="0" err="1">
                <a:latin typeface="KoPub돋움체 Bold"/>
              </a:rPr>
              <a:t>캐시</a:t>
            </a:r>
            <a:r>
              <a:rPr sz="1000" dirty="0">
                <a:latin typeface="KoPub돋움체 Bold"/>
              </a:rPr>
              <a:t> </a:t>
            </a:r>
            <a:r>
              <a:rPr sz="1000" dirty="0" err="1">
                <a:latin typeface="KoPub돋움체 Bold"/>
              </a:rPr>
              <a:t>스탬피드</a:t>
            </a:r>
            <a:r>
              <a:rPr sz="1000" dirty="0">
                <a:latin typeface="KoPub돋움체 Bold"/>
              </a:rPr>
              <a:t> </a:t>
            </a:r>
            <a:r>
              <a:rPr sz="1000" dirty="0" err="1">
                <a:latin typeface="KoPub돋움체 Bold"/>
              </a:rPr>
              <a:t>압축</a:t>
            </a:r>
            <a:endParaRPr sz="1000" dirty="0">
              <a:latin typeface="KoPub돋움체 Bold"/>
            </a:endParaRPr>
          </a:p>
        </p:txBody>
      </p:sp>
      <p:sp>
        <p:nvSpPr>
          <p:cNvPr id="14" name="TextBox 13"/>
          <p:cNvSpPr txBox="1"/>
          <p:nvPr/>
        </p:nvSpPr>
        <p:spPr>
          <a:xfrm>
            <a:off x="2801160" y="1876203"/>
            <a:ext cx="1972800" cy="468000"/>
          </a:xfrm>
          <a:prstGeom prst="rect">
            <a:avLst/>
          </a:prstGeom>
          <a:noFill/>
        </p:spPr>
        <p:txBody>
          <a:bodyPr wrap="none" lIns="0" tIns="0" rIns="0" bIns="0">
            <a:spAutoFit/>
          </a:bodyPr>
          <a:lstStyle/>
          <a:p>
            <a:pPr algn="ctr">
              <a:defRPr sz="1700" b="1">
                <a:solidFill>
                  <a:srgbClr val="0E306D"/>
                </a:solidFill>
                <a:latin typeface="KoPub돋움체 Bold"/>
              </a:defRPr>
            </a:pPr>
            <a:r>
              <a:rPr>
                <a:latin typeface="KoPub돋움체 Bold"/>
              </a:rPr>
              <a:t>27.3 ms</a:t>
            </a:r>
          </a:p>
        </p:txBody>
      </p:sp>
      <p:sp>
        <p:nvSpPr>
          <p:cNvPr id="15" name="TextBox 14"/>
          <p:cNvSpPr txBox="1"/>
          <p:nvPr/>
        </p:nvSpPr>
        <p:spPr>
          <a:xfrm>
            <a:off x="3112696" y="2286000"/>
            <a:ext cx="1349728" cy="138499"/>
          </a:xfrm>
          <a:prstGeom prst="rect">
            <a:avLst/>
          </a:prstGeom>
          <a:noFill/>
        </p:spPr>
        <p:txBody>
          <a:bodyPr wrap="none" lIns="0" tIns="0" rIns="0" bIns="0">
            <a:spAutoFit/>
          </a:bodyPr>
          <a:lstStyle/>
          <a:p>
            <a:pPr algn="ctr">
              <a:defRPr sz="800" b="1">
                <a:solidFill>
                  <a:srgbClr val="6B7280"/>
                </a:solidFill>
                <a:latin typeface="KoPub돋움체 Medium"/>
              </a:defRPr>
            </a:pPr>
            <a:r>
              <a:rPr sz="900" dirty="0">
                <a:latin typeface="KoPub돋움체 Medium"/>
              </a:rPr>
              <a:t>p95 </a:t>
            </a:r>
            <a:r>
              <a:rPr sz="900" dirty="0" err="1">
                <a:latin typeface="KoPub돋움체 Medium"/>
              </a:rPr>
              <a:t>지연시간</a:t>
            </a:r>
            <a:r>
              <a:rPr sz="900" dirty="0">
                <a:latin typeface="KoPub돋움체 Medium"/>
              </a:rPr>
              <a:t> (148.9배 </a:t>
            </a:r>
            <a:r>
              <a:rPr sz="900" dirty="0" err="1">
                <a:latin typeface="KoPub돋움체 Medium"/>
              </a:rPr>
              <a:t>가속</a:t>
            </a:r>
            <a:r>
              <a:rPr sz="900" dirty="0">
                <a:latin typeface="KoPub돋움체 Medium"/>
              </a:rPr>
              <a:t>)</a:t>
            </a:r>
          </a:p>
        </p:txBody>
      </p:sp>
      <p:sp>
        <p:nvSpPr>
          <p:cNvPr id="16" name="TextBox 15"/>
          <p:cNvSpPr txBox="1"/>
          <p:nvPr/>
        </p:nvSpPr>
        <p:spPr>
          <a:xfrm>
            <a:off x="2819160" y="2610000"/>
            <a:ext cx="1936800" cy="2131674"/>
          </a:xfrm>
          <a:prstGeom prst="rect">
            <a:avLst/>
          </a:prstGeom>
          <a:noFill/>
        </p:spPr>
        <p:txBody>
          <a:bodyPr wrap="square" lIns="0" tIns="0" rIns="0" bIns="0">
            <a:spAutoFit/>
          </a:bodyPr>
          <a:lstStyle/>
          <a:p>
            <a:pPr>
              <a:lnSpc>
                <a:spcPct val="150000"/>
              </a:lnSpc>
              <a:defRPr sz="780">
                <a:solidFill>
                  <a:srgbClr val="0F172A"/>
                </a:solidFill>
                <a:latin typeface="KoPub돋움체 Medium"/>
              </a:defRPr>
            </a:pPr>
            <a:r>
              <a:rPr sz="1000" dirty="0">
                <a:latin typeface="KoPub돋움체 Medium"/>
              </a:rPr>
              <a:t>•  </a:t>
            </a:r>
            <a:r>
              <a:rPr sz="1000" dirty="0" err="1">
                <a:latin typeface="KoPub돋움체 Medium"/>
              </a:rPr>
              <a:t>동일</a:t>
            </a:r>
            <a:r>
              <a:rPr sz="1000" dirty="0">
                <a:latin typeface="KoPub돋움체 Medium"/>
              </a:rPr>
              <a:t> 키 1,000건 </a:t>
            </a:r>
            <a:r>
              <a:rPr sz="1000" dirty="0" err="1">
                <a:latin typeface="KoPub돋움체 Medium"/>
              </a:rPr>
              <a:t>폭주</a:t>
            </a:r>
            <a:r>
              <a:rPr sz="1000" dirty="0">
                <a:latin typeface="KoPub돋움체 Medium"/>
              </a:rPr>
              <a:t> 시 Single-Flight Future </a:t>
            </a:r>
            <a:r>
              <a:rPr sz="1000" dirty="0" err="1">
                <a:latin typeface="KoPub돋움체 Medium"/>
              </a:rPr>
              <a:t>병합으로</a:t>
            </a:r>
            <a:r>
              <a:rPr sz="1000" dirty="0">
                <a:latin typeface="KoPub돋움체 Medium"/>
              </a:rPr>
              <a:t> DB </a:t>
            </a:r>
            <a:r>
              <a:rPr sz="1000" dirty="0" err="1">
                <a:latin typeface="KoPub돋움체 Medium"/>
              </a:rPr>
              <a:t>쿼리</a:t>
            </a:r>
            <a:r>
              <a:rPr sz="1000" dirty="0">
                <a:latin typeface="KoPub돋움체 Medium"/>
              </a:rPr>
              <a:t> 1건 (99.9% </a:t>
            </a:r>
            <a:r>
              <a:rPr sz="1000" dirty="0" err="1">
                <a:latin typeface="KoPub돋움체 Medium"/>
              </a:rPr>
              <a:t>절감</a:t>
            </a:r>
            <a:r>
              <a:rPr sz="1000" dirty="0">
                <a:latin typeface="KoPub돋움체 Medium"/>
              </a:rPr>
              <a:t>)</a:t>
            </a:r>
          </a:p>
          <a:p>
            <a:pPr>
              <a:lnSpc>
                <a:spcPct val="150000"/>
              </a:lnSpc>
              <a:spcBef>
                <a:spcPts val="300"/>
              </a:spcBef>
              <a:defRPr sz="780">
                <a:solidFill>
                  <a:srgbClr val="0F172A"/>
                </a:solidFill>
                <a:latin typeface="KoPub돋움체 Medium"/>
              </a:defRPr>
            </a:pPr>
            <a:r>
              <a:rPr sz="1000" dirty="0">
                <a:latin typeface="KoPub돋움체 Medium"/>
              </a:rPr>
              <a:t>•  3개 </a:t>
            </a:r>
            <a:r>
              <a:rPr sz="1000" dirty="0" err="1">
                <a:latin typeface="KoPub돋움체 Medium"/>
              </a:rPr>
              <a:t>노드</a:t>
            </a:r>
            <a:r>
              <a:rPr sz="1000" dirty="0">
                <a:latin typeface="KoPub돋움체 Medium"/>
              </a:rPr>
              <a:t> </a:t>
            </a:r>
            <a:r>
              <a:rPr sz="1000" dirty="0" err="1">
                <a:latin typeface="KoPub돋움체 Medium"/>
              </a:rPr>
              <a:t>클러스터</a:t>
            </a:r>
            <a:r>
              <a:rPr sz="1000" dirty="0">
                <a:latin typeface="KoPub돋움체 Medium"/>
              </a:rPr>
              <a:t> </a:t>
            </a:r>
            <a:r>
              <a:rPr sz="1000" dirty="0" err="1">
                <a:latin typeface="KoPub돋움체 Medium"/>
              </a:rPr>
              <a:t>분산</a:t>
            </a:r>
            <a:r>
              <a:rPr sz="1000" dirty="0">
                <a:latin typeface="KoPub돋움체 Medium"/>
              </a:rPr>
              <a:t> 락(SET NX)과 L2 </a:t>
            </a:r>
            <a:r>
              <a:rPr sz="1000" dirty="0" err="1">
                <a:latin typeface="KoPub돋움체 Medium"/>
              </a:rPr>
              <a:t>폴링으로</a:t>
            </a:r>
            <a:r>
              <a:rPr sz="1000" dirty="0">
                <a:latin typeface="KoPub돋움체 Medium"/>
              </a:rPr>
              <a:t> 3회 → 1회 </a:t>
            </a:r>
            <a:r>
              <a:rPr sz="1000" dirty="0" err="1">
                <a:latin typeface="KoPub돋움체 Medium"/>
              </a:rPr>
              <a:t>병합</a:t>
            </a:r>
            <a:r>
              <a:rPr sz="1000" dirty="0">
                <a:latin typeface="KoPub돋움체 Medium"/>
              </a:rPr>
              <a:t> (66.7% </a:t>
            </a:r>
            <a:r>
              <a:rPr sz="1000" dirty="0" err="1">
                <a:latin typeface="KoPub돋움체 Medium"/>
              </a:rPr>
              <a:t>절감</a:t>
            </a:r>
            <a:r>
              <a:rPr sz="1000" dirty="0">
                <a:latin typeface="KoPub돋움체 Medium"/>
              </a:rPr>
              <a:t>)</a:t>
            </a:r>
          </a:p>
          <a:p>
            <a:pPr>
              <a:lnSpc>
                <a:spcPct val="150000"/>
              </a:lnSpc>
              <a:spcBef>
                <a:spcPts val="300"/>
              </a:spcBef>
              <a:defRPr sz="780">
                <a:solidFill>
                  <a:srgbClr val="0F172A"/>
                </a:solidFill>
                <a:latin typeface="KoPub돋움체 Medium"/>
              </a:defRPr>
            </a:pPr>
            <a:r>
              <a:rPr sz="1000" dirty="0">
                <a:latin typeface="KoPub돋움체 Medium"/>
              </a:rPr>
              <a:t>•  Single-Flight </a:t>
            </a:r>
            <a:r>
              <a:rPr sz="1000" dirty="0" err="1">
                <a:latin typeface="KoPub돋움체 Medium"/>
              </a:rPr>
              <a:t>비활성화</a:t>
            </a:r>
            <a:r>
              <a:rPr sz="1000" dirty="0">
                <a:latin typeface="KoPub돋움체 Medium"/>
              </a:rPr>
              <a:t> </a:t>
            </a:r>
            <a:r>
              <a:rPr sz="1000" dirty="0" err="1">
                <a:latin typeface="KoPub돋움체 Medium"/>
              </a:rPr>
              <a:t>대비</a:t>
            </a:r>
            <a:r>
              <a:rPr sz="1000" dirty="0">
                <a:latin typeface="KoPub돋움체 Medium"/>
              </a:rPr>
              <a:t> p95 </a:t>
            </a:r>
            <a:r>
              <a:rPr sz="1000" dirty="0" err="1">
                <a:latin typeface="KoPub돋움체 Medium"/>
              </a:rPr>
              <a:t>지연을</a:t>
            </a:r>
            <a:r>
              <a:rPr sz="1000" dirty="0">
                <a:latin typeface="KoPub돋움체 Medium"/>
              </a:rPr>
              <a:t> 4,065ms에서 27.3ms로 99.3% </a:t>
            </a:r>
            <a:r>
              <a:rPr sz="1000" dirty="0" err="1">
                <a:latin typeface="KoPub돋움체 Medium"/>
              </a:rPr>
              <a:t>단축</a:t>
            </a:r>
            <a:endParaRPr sz="1000" dirty="0">
              <a:latin typeface="KoPub돋움체 Medium"/>
            </a:endParaRPr>
          </a:p>
        </p:txBody>
      </p:sp>
      <p:sp>
        <p:nvSpPr>
          <p:cNvPr id="17" name="Rounded Rectangle 16"/>
          <p:cNvSpPr/>
          <p:nvPr/>
        </p:nvSpPr>
        <p:spPr>
          <a:xfrm>
            <a:off x="2801160" y="5436000"/>
            <a:ext cx="1972800" cy="324000"/>
          </a:xfrm>
          <a:prstGeom prst="roundRect">
            <a:avLst/>
          </a:prstGeom>
          <a:solidFill>
            <a:srgbClr val="F1F1F1"/>
          </a:solidFill>
          <a:ln>
            <a:solidFill>
              <a:srgbClr val="CBD5E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0E306D"/>
                </a:solidFill>
                <a:latin typeface="KoPub돋움체 Bold"/>
              </a:defRPr>
            </a:pPr>
            <a:r>
              <a:rPr sz="1000" dirty="0">
                <a:latin typeface="KoPub돋움체 Bold"/>
              </a:rPr>
              <a:t>DB </a:t>
            </a:r>
            <a:r>
              <a:rPr sz="1000" dirty="0" err="1">
                <a:latin typeface="KoPub돋움체 Bold"/>
              </a:rPr>
              <a:t>부하</a:t>
            </a:r>
            <a:r>
              <a:rPr sz="1000" dirty="0">
                <a:latin typeface="KoPub돋움체 Bold"/>
              </a:rPr>
              <a:t> 99.9% </a:t>
            </a:r>
            <a:r>
              <a:rPr sz="1000" dirty="0" err="1">
                <a:latin typeface="KoPub돋움체 Bold"/>
              </a:rPr>
              <a:t>압축</a:t>
            </a:r>
            <a:endParaRPr sz="1000" dirty="0">
              <a:latin typeface="KoPub돋움체 Bold"/>
            </a:endParaRPr>
          </a:p>
        </p:txBody>
      </p:sp>
      <p:sp>
        <p:nvSpPr>
          <p:cNvPr id="18" name="Rounded Rectangle 17"/>
          <p:cNvSpPr/>
          <p:nvPr/>
        </p:nvSpPr>
        <p:spPr>
          <a:xfrm>
            <a:off x="5029560" y="1350000"/>
            <a:ext cx="2188800" cy="4572000"/>
          </a:xfrm>
          <a:prstGeom prst="roundRect">
            <a:avLst>
              <a:gd name="adj" fmla="val 4676"/>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5137560" y="1458000"/>
            <a:ext cx="1972800" cy="288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0E306D"/>
                </a:solidFill>
                <a:latin typeface="KoPub돋움체 Bold"/>
              </a:defRPr>
            </a:pPr>
            <a:r>
              <a:rPr sz="1000" dirty="0">
                <a:latin typeface="KoPub돋움체 Bold"/>
              </a:rPr>
              <a:t>03. </a:t>
            </a:r>
            <a:r>
              <a:rPr sz="1000" dirty="0" err="1">
                <a:latin typeface="KoPub돋움체 Bold"/>
              </a:rPr>
              <a:t>카오스</a:t>
            </a:r>
            <a:r>
              <a:rPr sz="1000" dirty="0">
                <a:latin typeface="KoPub돋움체 Bold"/>
              </a:rPr>
              <a:t> </a:t>
            </a:r>
            <a:r>
              <a:rPr sz="1000" dirty="0" err="1">
                <a:latin typeface="KoPub돋움체 Bold"/>
              </a:rPr>
              <a:t>복원력</a:t>
            </a:r>
            <a:r>
              <a:rPr sz="1000" dirty="0">
                <a:latin typeface="KoPub돋움체 Bold"/>
              </a:rPr>
              <a:t> </a:t>
            </a:r>
            <a:r>
              <a:rPr sz="1000" dirty="0" err="1">
                <a:latin typeface="KoPub돋움체 Bold"/>
              </a:rPr>
              <a:t>무결함</a:t>
            </a:r>
            <a:endParaRPr sz="1000" dirty="0">
              <a:latin typeface="KoPub돋움체 Bold"/>
            </a:endParaRPr>
          </a:p>
        </p:txBody>
      </p:sp>
      <p:sp>
        <p:nvSpPr>
          <p:cNvPr id="20" name="TextBox 19"/>
          <p:cNvSpPr txBox="1"/>
          <p:nvPr/>
        </p:nvSpPr>
        <p:spPr>
          <a:xfrm>
            <a:off x="5137560" y="1876203"/>
            <a:ext cx="1972800" cy="468000"/>
          </a:xfrm>
          <a:prstGeom prst="rect">
            <a:avLst/>
          </a:prstGeom>
          <a:noFill/>
        </p:spPr>
        <p:txBody>
          <a:bodyPr wrap="none" lIns="0" tIns="0" rIns="0" bIns="0">
            <a:spAutoFit/>
          </a:bodyPr>
          <a:lstStyle/>
          <a:p>
            <a:pPr algn="ctr">
              <a:defRPr sz="1700" b="1">
                <a:solidFill>
                  <a:srgbClr val="009A93"/>
                </a:solidFill>
                <a:latin typeface="KoPub돋움체 Bold"/>
              </a:defRPr>
            </a:pPr>
            <a:r>
              <a:rPr>
                <a:latin typeface="KoPub돋움체 Bold"/>
              </a:rPr>
              <a:t>오차 0.00%</a:t>
            </a:r>
          </a:p>
        </p:txBody>
      </p:sp>
      <p:sp>
        <p:nvSpPr>
          <p:cNvPr id="21" name="TextBox 20"/>
          <p:cNvSpPr txBox="1"/>
          <p:nvPr/>
        </p:nvSpPr>
        <p:spPr>
          <a:xfrm>
            <a:off x="5431462" y="2286000"/>
            <a:ext cx="1384995" cy="138499"/>
          </a:xfrm>
          <a:prstGeom prst="rect">
            <a:avLst/>
          </a:prstGeom>
          <a:noFill/>
        </p:spPr>
        <p:txBody>
          <a:bodyPr wrap="none" lIns="0" tIns="0" rIns="0" bIns="0">
            <a:spAutoFit/>
          </a:bodyPr>
          <a:lstStyle/>
          <a:p>
            <a:pPr algn="ctr">
              <a:defRPr sz="800" b="1">
                <a:solidFill>
                  <a:srgbClr val="6B7280"/>
                </a:solidFill>
                <a:latin typeface="KoPub돋움체 Medium"/>
              </a:defRPr>
            </a:pPr>
            <a:r>
              <a:rPr sz="900" dirty="0">
                <a:latin typeface="KoPub돋움체 Medium"/>
              </a:rPr>
              <a:t>2대 </a:t>
            </a:r>
            <a:r>
              <a:rPr sz="900" dirty="0" err="1">
                <a:latin typeface="KoPub돋움체 Medium"/>
              </a:rPr>
              <a:t>수학적</a:t>
            </a:r>
            <a:r>
              <a:rPr sz="900" dirty="0">
                <a:latin typeface="KoPub돋움체 Medium"/>
              </a:rPr>
              <a:t> </a:t>
            </a:r>
            <a:r>
              <a:rPr sz="900" dirty="0" err="1">
                <a:latin typeface="KoPub돋움체 Medium"/>
              </a:rPr>
              <a:t>불변식</a:t>
            </a:r>
            <a:r>
              <a:rPr sz="900" dirty="0">
                <a:latin typeface="KoPub돋움체 Medium"/>
              </a:rPr>
              <a:t> 100% </a:t>
            </a:r>
            <a:r>
              <a:rPr sz="900" dirty="0" err="1">
                <a:latin typeface="KoPub돋움체 Medium"/>
              </a:rPr>
              <a:t>통과</a:t>
            </a:r>
            <a:endParaRPr sz="900" dirty="0">
              <a:latin typeface="KoPub돋움체 Medium"/>
            </a:endParaRPr>
          </a:p>
        </p:txBody>
      </p:sp>
      <p:sp>
        <p:nvSpPr>
          <p:cNvPr id="22" name="TextBox 21"/>
          <p:cNvSpPr txBox="1"/>
          <p:nvPr/>
        </p:nvSpPr>
        <p:spPr>
          <a:xfrm>
            <a:off x="5155560" y="2610000"/>
            <a:ext cx="1936800" cy="2131674"/>
          </a:xfrm>
          <a:prstGeom prst="rect">
            <a:avLst/>
          </a:prstGeom>
          <a:noFill/>
        </p:spPr>
        <p:txBody>
          <a:bodyPr wrap="square" lIns="0" tIns="0" rIns="0" bIns="0">
            <a:spAutoFit/>
          </a:bodyPr>
          <a:lstStyle/>
          <a:p>
            <a:pPr>
              <a:lnSpc>
                <a:spcPct val="150000"/>
              </a:lnSpc>
              <a:defRPr sz="780">
                <a:solidFill>
                  <a:srgbClr val="0F172A"/>
                </a:solidFill>
                <a:latin typeface="KoPub돋움체 Medium"/>
              </a:defRPr>
            </a:pPr>
            <a:r>
              <a:rPr sz="1000" dirty="0">
                <a:latin typeface="KoPub돋움체 Medium"/>
              </a:rPr>
              <a:t>•  DB </a:t>
            </a:r>
            <a:r>
              <a:rPr sz="1000" dirty="0" err="1">
                <a:latin typeface="KoPub돋움체 Medium"/>
              </a:rPr>
              <a:t>다운</a:t>
            </a:r>
            <a:r>
              <a:rPr sz="1000" dirty="0">
                <a:latin typeface="KoPub돋움체 Medium"/>
              </a:rPr>
              <a:t>, Redis </a:t>
            </a:r>
            <a:r>
              <a:rPr sz="1000" dirty="0" err="1">
                <a:latin typeface="KoPub돋움체 Medium"/>
              </a:rPr>
              <a:t>마비</a:t>
            </a:r>
            <a:r>
              <a:rPr sz="1000" dirty="0">
                <a:latin typeface="KoPub돋움체 Medium"/>
              </a:rPr>
              <a:t>, </a:t>
            </a:r>
            <a:r>
              <a:rPr sz="1000" dirty="0" err="1">
                <a:latin typeface="KoPub돋움체 Medium"/>
              </a:rPr>
              <a:t>네트워크</a:t>
            </a:r>
            <a:r>
              <a:rPr sz="1000" dirty="0">
                <a:latin typeface="KoPub돋움체 Medium"/>
              </a:rPr>
              <a:t> </a:t>
            </a:r>
            <a:r>
              <a:rPr sz="1000" dirty="0" err="1">
                <a:latin typeface="KoPub돋움체 Medium"/>
              </a:rPr>
              <a:t>단절</a:t>
            </a:r>
            <a:r>
              <a:rPr sz="1000" dirty="0">
                <a:latin typeface="KoPub돋움체 Medium"/>
              </a:rPr>
              <a:t> 3중 </a:t>
            </a:r>
            <a:r>
              <a:rPr sz="1000" dirty="0" err="1">
                <a:latin typeface="KoPub돋움체 Medium"/>
              </a:rPr>
              <a:t>복합</a:t>
            </a:r>
            <a:r>
              <a:rPr sz="1000" dirty="0">
                <a:latin typeface="KoPub돋움체 Medium"/>
              </a:rPr>
              <a:t> </a:t>
            </a:r>
            <a:r>
              <a:rPr sz="1000" dirty="0" err="1">
                <a:latin typeface="KoPub돋움체 Medium"/>
              </a:rPr>
              <a:t>장애</a:t>
            </a:r>
            <a:r>
              <a:rPr sz="1000" dirty="0">
                <a:latin typeface="KoPub돋움체 Medium"/>
              </a:rPr>
              <a:t> </a:t>
            </a:r>
            <a:r>
              <a:rPr sz="1000" dirty="0" err="1">
                <a:latin typeface="KoPub돋움체 Medium"/>
              </a:rPr>
              <a:t>환경에서도</a:t>
            </a:r>
            <a:r>
              <a:rPr sz="1000" dirty="0">
                <a:latin typeface="KoPub돋움체 Medium"/>
              </a:rPr>
              <a:t> </a:t>
            </a:r>
            <a:r>
              <a:rPr sz="1000" dirty="0" err="1">
                <a:latin typeface="KoPub돋움체 Medium"/>
              </a:rPr>
              <a:t>요청</a:t>
            </a:r>
            <a:r>
              <a:rPr sz="1000" dirty="0">
                <a:latin typeface="KoPub돋움체 Medium"/>
              </a:rPr>
              <a:t> </a:t>
            </a:r>
            <a:r>
              <a:rPr sz="1000" dirty="0" err="1">
                <a:latin typeface="KoPub돋움체 Medium"/>
              </a:rPr>
              <a:t>누락</a:t>
            </a:r>
            <a:r>
              <a:rPr sz="1000" dirty="0">
                <a:latin typeface="KoPub돋움체 Medium"/>
              </a:rPr>
              <a:t> 0건</a:t>
            </a:r>
          </a:p>
          <a:p>
            <a:pPr>
              <a:lnSpc>
                <a:spcPct val="150000"/>
              </a:lnSpc>
              <a:spcBef>
                <a:spcPts val="300"/>
              </a:spcBef>
              <a:defRPr sz="780">
                <a:solidFill>
                  <a:srgbClr val="0F172A"/>
                </a:solidFill>
                <a:latin typeface="KoPub돋움체 Medium"/>
              </a:defRPr>
            </a:pPr>
            <a:r>
              <a:rPr sz="1000" dirty="0">
                <a:latin typeface="KoPub돋움체 Medium"/>
              </a:rPr>
              <a:t>•  </a:t>
            </a:r>
            <a:r>
              <a:rPr sz="1000" dirty="0" err="1">
                <a:latin typeface="KoPub돋움체 Medium"/>
              </a:rPr>
              <a:t>노드</a:t>
            </a:r>
            <a:r>
              <a:rPr sz="1000" dirty="0">
                <a:latin typeface="KoPub돋움체 Medium"/>
              </a:rPr>
              <a:t> </a:t>
            </a:r>
            <a:r>
              <a:rPr sz="1000" dirty="0" err="1">
                <a:latin typeface="KoPub돋움체 Medium"/>
              </a:rPr>
              <a:t>고립</a:t>
            </a:r>
            <a:r>
              <a:rPr sz="1000" dirty="0">
                <a:latin typeface="KoPub돋움체 Medium"/>
              </a:rPr>
              <a:t> </a:t>
            </a:r>
            <a:r>
              <a:rPr sz="1000" dirty="0" err="1">
                <a:latin typeface="KoPub돋움체 Medium"/>
              </a:rPr>
              <a:t>즉시</a:t>
            </a:r>
            <a:r>
              <a:rPr sz="1000" dirty="0">
                <a:latin typeface="KoPub돋움체 Medium"/>
              </a:rPr>
              <a:t> 503 Fail-Closed </a:t>
            </a:r>
            <a:r>
              <a:rPr sz="1000" dirty="0" err="1">
                <a:latin typeface="KoPub돋움체 Medium"/>
              </a:rPr>
              <a:t>격리</a:t>
            </a:r>
            <a:r>
              <a:rPr sz="1000" dirty="0">
                <a:latin typeface="KoPub돋움체 Medium"/>
              </a:rPr>
              <a:t> + </a:t>
            </a:r>
            <a:r>
              <a:rPr sz="1000" dirty="0" err="1">
                <a:latin typeface="KoPub돋움체 Medium"/>
              </a:rPr>
              <a:t>복구</a:t>
            </a:r>
            <a:r>
              <a:rPr sz="1000" dirty="0">
                <a:latin typeface="KoPub돋움체 Medium"/>
              </a:rPr>
              <a:t> </a:t>
            </a:r>
            <a:r>
              <a:rPr sz="1000" dirty="0" err="1">
                <a:latin typeface="KoPub돋움체 Medium"/>
              </a:rPr>
              <a:t>즉시</a:t>
            </a:r>
            <a:r>
              <a:rPr sz="1000" dirty="0">
                <a:latin typeface="KoPub돋움체 Medium"/>
              </a:rPr>
              <a:t> Streams 3단계 </a:t>
            </a:r>
            <a:r>
              <a:rPr sz="1000" dirty="0" err="1">
                <a:latin typeface="KoPub돋움체 Medium"/>
              </a:rPr>
              <a:t>완독</a:t>
            </a:r>
            <a:r>
              <a:rPr sz="1000" dirty="0">
                <a:latin typeface="KoPub돋움체 Medium"/>
              </a:rPr>
              <a:t>(PEL)</a:t>
            </a:r>
          </a:p>
          <a:p>
            <a:pPr>
              <a:lnSpc>
                <a:spcPct val="150000"/>
              </a:lnSpc>
              <a:spcBef>
                <a:spcPts val="300"/>
              </a:spcBef>
              <a:defRPr sz="780">
                <a:solidFill>
                  <a:srgbClr val="0F172A"/>
                </a:solidFill>
                <a:latin typeface="KoPub돋움체 Medium"/>
              </a:defRPr>
            </a:pPr>
            <a:r>
              <a:rPr sz="1000" dirty="0">
                <a:latin typeface="KoPub돋움체 Medium"/>
              </a:rPr>
              <a:t>•  </a:t>
            </a:r>
            <a:r>
              <a:rPr sz="1000" dirty="0" err="1">
                <a:latin typeface="KoPub돋움체 Medium"/>
              </a:rPr>
              <a:t>제어평면</a:t>
            </a:r>
            <a:r>
              <a:rPr sz="1000" dirty="0">
                <a:latin typeface="KoPub돋움체 Medium"/>
              </a:rPr>
              <a:t> </a:t>
            </a:r>
            <a:r>
              <a:rPr sz="1000" dirty="0" err="1">
                <a:latin typeface="KoPub돋움체 Medium"/>
              </a:rPr>
              <a:t>실시간</a:t>
            </a:r>
            <a:r>
              <a:rPr sz="1000" dirty="0">
                <a:latin typeface="KoPub돋움체 Medium"/>
              </a:rPr>
              <a:t> </a:t>
            </a:r>
            <a:r>
              <a:rPr sz="1000" dirty="0" err="1">
                <a:latin typeface="KoPub돋움체 Medium"/>
              </a:rPr>
              <a:t>감사</a:t>
            </a:r>
            <a:r>
              <a:rPr sz="1000" dirty="0">
                <a:latin typeface="KoPub돋움체 Medium"/>
              </a:rPr>
              <a:t>(/chaos/audit)를 </a:t>
            </a:r>
            <a:r>
              <a:rPr sz="1000" dirty="0" err="1">
                <a:latin typeface="KoPub돋움체 Medium"/>
              </a:rPr>
              <a:t>통해</a:t>
            </a:r>
            <a:r>
              <a:rPr sz="1000" dirty="0">
                <a:latin typeface="KoPub돋움체 Medium"/>
              </a:rPr>
              <a:t> 3개 </a:t>
            </a:r>
            <a:r>
              <a:rPr sz="1000" dirty="0" err="1">
                <a:latin typeface="KoPub돋움체 Medium"/>
              </a:rPr>
              <a:t>노드</a:t>
            </a:r>
            <a:r>
              <a:rPr sz="1000" dirty="0">
                <a:latin typeface="KoPub돋움체 Medium"/>
              </a:rPr>
              <a:t> </a:t>
            </a:r>
            <a:r>
              <a:rPr sz="1000" dirty="0" err="1">
                <a:latin typeface="KoPub돋움체 Medium"/>
              </a:rPr>
              <a:t>요청</a:t>
            </a:r>
            <a:r>
              <a:rPr sz="1000" dirty="0">
                <a:latin typeface="KoPub돋움체 Medium"/>
              </a:rPr>
              <a:t> </a:t>
            </a:r>
            <a:r>
              <a:rPr sz="1000" dirty="0" err="1">
                <a:latin typeface="KoPub돋움체 Medium"/>
              </a:rPr>
              <a:t>분류</a:t>
            </a:r>
            <a:r>
              <a:rPr sz="1000" dirty="0">
                <a:latin typeface="KoPub돋움체 Medium"/>
              </a:rPr>
              <a:t> </a:t>
            </a:r>
            <a:r>
              <a:rPr sz="1000" dirty="0" err="1">
                <a:latin typeface="KoPub돋움체 Medium"/>
              </a:rPr>
              <a:t>오차</a:t>
            </a:r>
            <a:r>
              <a:rPr sz="1000" dirty="0">
                <a:latin typeface="KoPub돋움체 Medium"/>
              </a:rPr>
              <a:t> 0.00% </a:t>
            </a:r>
            <a:r>
              <a:rPr sz="1000" dirty="0" err="1">
                <a:latin typeface="KoPub돋움체 Medium"/>
              </a:rPr>
              <a:t>증명</a:t>
            </a:r>
            <a:endParaRPr sz="1000" dirty="0">
              <a:latin typeface="KoPub돋움체 Medium"/>
            </a:endParaRPr>
          </a:p>
        </p:txBody>
      </p:sp>
      <p:sp>
        <p:nvSpPr>
          <p:cNvPr id="23" name="Rounded Rectangle 22"/>
          <p:cNvSpPr/>
          <p:nvPr/>
        </p:nvSpPr>
        <p:spPr>
          <a:xfrm>
            <a:off x="5137560" y="5436000"/>
            <a:ext cx="1972800" cy="324000"/>
          </a:xfrm>
          <a:prstGeom prst="roundRect">
            <a:avLst/>
          </a:prstGeom>
          <a:solidFill>
            <a:srgbClr val="F1F1F1"/>
          </a:solidFill>
          <a:ln>
            <a:solidFill>
              <a:srgbClr val="CBD5E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0E306D"/>
                </a:solidFill>
                <a:latin typeface="KoPub돋움체 Bold"/>
              </a:defRPr>
            </a:pPr>
            <a:r>
              <a:rPr sz="1000" dirty="0" err="1">
                <a:latin typeface="KoPub돋움체 Bold"/>
              </a:rPr>
              <a:t>요청</a:t>
            </a:r>
            <a:r>
              <a:rPr sz="1000" dirty="0">
                <a:latin typeface="KoPub돋움체 Bold"/>
              </a:rPr>
              <a:t> </a:t>
            </a:r>
            <a:r>
              <a:rPr sz="1000" dirty="0" err="1">
                <a:latin typeface="KoPub돋움체 Bold"/>
              </a:rPr>
              <a:t>유실</a:t>
            </a:r>
            <a:r>
              <a:rPr sz="1000" dirty="0">
                <a:latin typeface="KoPub돋움체 Bold"/>
              </a:rPr>
              <a:t> 0건 </a:t>
            </a:r>
            <a:r>
              <a:rPr sz="1000" dirty="0" err="1">
                <a:latin typeface="KoPub돋움체 Bold"/>
              </a:rPr>
              <a:t>보장</a:t>
            </a:r>
            <a:endParaRPr sz="1000" dirty="0">
              <a:latin typeface="KoPub돋움체 Bold"/>
            </a:endParaRPr>
          </a:p>
        </p:txBody>
      </p:sp>
      <p:sp>
        <p:nvSpPr>
          <p:cNvPr id="24" name="Rounded Rectangle 23"/>
          <p:cNvSpPr/>
          <p:nvPr/>
        </p:nvSpPr>
        <p:spPr>
          <a:xfrm>
            <a:off x="7365960" y="1350000"/>
            <a:ext cx="2188800" cy="4572000"/>
          </a:xfrm>
          <a:prstGeom prst="roundRect">
            <a:avLst>
              <a:gd name="adj" fmla="val 5836"/>
            </a:avLst>
          </a:prstGeom>
          <a:solidFill>
            <a:srgbClr val="FFFFFF"/>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7473960" y="1458000"/>
            <a:ext cx="1972800" cy="288000"/>
          </a:xfrm>
          <a:prstGeom prst="roundRect">
            <a:avLst/>
          </a:prstGeom>
          <a:solidFill>
            <a:srgbClr val="E8EDF6"/>
          </a:solidFill>
          <a:ln>
            <a:solidFill>
              <a:srgbClr val="E8EDF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0E306D"/>
                </a:solidFill>
                <a:latin typeface="KoPub돋움체 Bold"/>
              </a:defRPr>
            </a:pPr>
            <a:r>
              <a:rPr sz="1000" dirty="0">
                <a:latin typeface="KoPub돋움체 Bold"/>
              </a:rPr>
              <a:t>04. </a:t>
            </a:r>
            <a:r>
              <a:rPr sz="1000" dirty="0" err="1">
                <a:latin typeface="KoPub돋움체 Bold"/>
              </a:rPr>
              <a:t>엔터프라이즈</a:t>
            </a:r>
            <a:r>
              <a:rPr sz="1000" dirty="0">
                <a:latin typeface="KoPub돋움체 Bold"/>
              </a:rPr>
              <a:t> </a:t>
            </a:r>
            <a:r>
              <a:rPr sz="1000" dirty="0" err="1">
                <a:latin typeface="KoPub돋움체 Bold"/>
              </a:rPr>
              <a:t>즉시</a:t>
            </a:r>
            <a:r>
              <a:rPr sz="1000" dirty="0">
                <a:latin typeface="KoPub돋움체 Bold"/>
              </a:rPr>
              <a:t> </a:t>
            </a:r>
            <a:r>
              <a:rPr sz="1000" dirty="0" err="1">
                <a:latin typeface="KoPub돋움체 Bold"/>
              </a:rPr>
              <a:t>결합</a:t>
            </a:r>
            <a:endParaRPr sz="1000" dirty="0">
              <a:latin typeface="KoPub돋움체 Bold"/>
            </a:endParaRPr>
          </a:p>
        </p:txBody>
      </p:sp>
      <p:sp>
        <p:nvSpPr>
          <p:cNvPr id="26" name="TextBox 25"/>
          <p:cNvSpPr txBox="1"/>
          <p:nvPr/>
        </p:nvSpPr>
        <p:spPr>
          <a:xfrm>
            <a:off x="7473960" y="1876203"/>
            <a:ext cx="1972800" cy="468000"/>
          </a:xfrm>
          <a:prstGeom prst="rect">
            <a:avLst/>
          </a:prstGeom>
          <a:noFill/>
        </p:spPr>
        <p:txBody>
          <a:bodyPr wrap="none" lIns="0" tIns="0" rIns="0" bIns="0">
            <a:spAutoFit/>
          </a:bodyPr>
          <a:lstStyle/>
          <a:p>
            <a:pPr algn="ctr">
              <a:defRPr sz="1700" b="1">
                <a:solidFill>
                  <a:srgbClr val="0E306D"/>
                </a:solidFill>
                <a:latin typeface="KoPub돋움체 Bold"/>
              </a:defRPr>
            </a:pPr>
            <a:r>
              <a:rPr>
                <a:latin typeface="KoPub돋움체 Bold"/>
              </a:rPr>
              <a:t>Envoy / Nginx</a:t>
            </a:r>
          </a:p>
        </p:txBody>
      </p:sp>
      <p:sp>
        <p:nvSpPr>
          <p:cNvPr id="27" name="TextBox 26"/>
          <p:cNvSpPr txBox="1"/>
          <p:nvPr/>
        </p:nvSpPr>
        <p:spPr>
          <a:xfrm>
            <a:off x="7689315" y="2286000"/>
            <a:ext cx="1542089" cy="138499"/>
          </a:xfrm>
          <a:prstGeom prst="rect">
            <a:avLst/>
          </a:prstGeom>
          <a:noFill/>
        </p:spPr>
        <p:txBody>
          <a:bodyPr wrap="none" lIns="0" tIns="0" rIns="0" bIns="0">
            <a:spAutoFit/>
          </a:bodyPr>
          <a:lstStyle/>
          <a:p>
            <a:pPr algn="ctr">
              <a:defRPr sz="800" b="1">
                <a:solidFill>
                  <a:srgbClr val="6B7280"/>
                </a:solidFill>
                <a:latin typeface="KoPub돋움체 Medium"/>
              </a:defRPr>
            </a:pPr>
            <a:r>
              <a:rPr sz="900" dirty="0">
                <a:latin typeface="KoPub돋움체 Medium"/>
              </a:rPr>
              <a:t>v3 </a:t>
            </a:r>
            <a:r>
              <a:rPr sz="900" dirty="0" err="1">
                <a:latin typeface="KoPub돋움체 Medium"/>
              </a:rPr>
              <a:t>ext_authz</a:t>
            </a:r>
            <a:r>
              <a:rPr sz="900" dirty="0">
                <a:latin typeface="KoPub돋움체 Medium"/>
              </a:rPr>
              <a:t> &amp; </a:t>
            </a:r>
            <a:r>
              <a:rPr sz="900" dirty="0" err="1">
                <a:latin typeface="KoPub돋움체 Medium"/>
              </a:rPr>
              <a:t>Diagnoser</a:t>
            </a:r>
            <a:r>
              <a:rPr sz="900" dirty="0">
                <a:latin typeface="KoPub돋움체 Medium"/>
              </a:rPr>
              <a:t> </a:t>
            </a:r>
            <a:r>
              <a:rPr sz="900" dirty="0" err="1">
                <a:latin typeface="KoPub돋움체 Medium"/>
              </a:rPr>
              <a:t>결합</a:t>
            </a:r>
            <a:endParaRPr sz="900" dirty="0">
              <a:latin typeface="KoPub돋움체 Medium"/>
            </a:endParaRPr>
          </a:p>
        </p:txBody>
      </p:sp>
      <p:sp>
        <p:nvSpPr>
          <p:cNvPr id="28" name="TextBox 27"/>
          <p:cNvSpPr txBox="1"/>
          <p:nvPr/>
        </p:nvSpPr>
        <p:spPr>
          <a:xfrm>
            <a:off x="7491960" y="2610000"/>
            <a:ext cx="1936800" cy="2131674"/>
          </a:xfrm>
          <a:prstGeom prst="rect">
            <a:avLst/>
          </a:prstGeom>
          <a:noFill/>
        </p:spPr>
        <p:txBody>
          <a:bodyPr wrap="square" lIns="0" tIns="0" rIns="0" bIns="0">
            <a:spAutoFit/>
          </a:bodyPr>
          <a:lstStyle/>
          <a:p>
            <a:pPr>
              <a:lnSpc>
                <a:spcPct val="150000"/>
              </a:lnSpc>
              <a:defRPr sz="780">
                <a:solidFill>
                  <a:srgbClr val="0F172A"/>
                </a:solidFill>
                <a:latin typeface="KoPub돋움체 Medium"/>
              </a:defRPr>
            </a:pPr>
            <a:r>
              <a:rPr sz="1000" dirty="0">
                <a:latin typeface="KoPub돋움체 Medium"/>
              </a:rPr>
              <a:t>•  </a:t>
            </a:r>
            <a:r>
              <a:rPr sz="1000" dirty="0" err="1">
                <a:latin typeface="KoPub돋움체 Medium"/>
              </a:rPr>
              <a:t>mTLS</a:t>
            </a:r>
            <a:r>
              <a:rPr sz="1000" dirty="0">
                <a:latin typeface="KoPub돋움체 Medium"/>
              </a:rPr>
              <a:t> SAN URI </a:t>
            </a:r>
            <a:r>
              <a:rPr sz="1000" dirty="0" err="1">
                <a:latin typeface="KoPub돋움체 Medium"/>
              </a:rPr>
              <a:t>추출로</a:t>
            </a:r>
            <a:r>
              <a:rPr sz="1000" dirty="0">
                <a:latin typeface="KoPub돋움체 Medium"/>
              </a:rPr>
              <a:t> </a:t>
            </a:r>
            <a:r>
              <a:rPr sz="1000" dirty="0" err="1">
                <a:latin typeface="KoPub돋움체 Medium"/>
              </a:rPr>
              <a:t>임의의</a:t>
            </a:r>
            <a:r>
              <a:rPr sz="1000" dirty="0">
                <a:latin typeface="KoPub돋움체 Medium"/>
              </a:rPr>
              <a:t> SPIFFE ID </a:t>
            </a:r>
            <a:r>
              <a:rPr sz="1000" dirty="0" err="1">
                <a:latin typeface="KoPub돋움체 Medium"/>
              </a:rPr>
              <a:t>변조</a:t>
            </a:r>
            <a:r>
              <a:rPr sz="1000" dirty="0">
                <a:latin typeface="KoPub돋움체 Medium"/>
              </a:rPr>
              <a:t> </a:t>
            </a:r>
            <a:r>
              <a:rPr sz="1000" dirty="0" err="1">
                <a:latin typeface="KoPub돋움체 Medium"/>
              </a:rPr>
              <a:t>원천</a:t>
            </a:r>
            <a:r>
              <a:rPr sz="1000" dirty="0">
                <a:latin typeface="KoPub돋움체 Medium"/>
              </a:rPr>
              <a:t> </a:t>
            </a:r>
            <a:r>
              <a:rPr sz="1000" dirty="0" err="1">
                <a:latin typeface="KoPub돋움체 Medium"/>
              </a:rPr>
              <a:t>차단</a:t>
            </a:r>
            <a:r>
              <a:rPr sz="1000" dirty="0">
                <a:latin typeface="KoPub돋움체 Medium"/>
              </a:rPr>
              <a:t> (PEP-PDP </a:t>
            </a:r>
            <a:r>
              <a:rPr sz="1000" dirty="0" err="1">
                <a:latin typeface="KoPub돋움체 Medium"/>
              </a:rPr>
              <a:t>결합</a:t>
            </a:r>
            <a:r>
              <a:rPr sz="1000" dirty="0">
                <a:latin typeface="KoPub돋움체 Medium"/>
              </a:rPr>
              <a:t>)</a:t>
            </a:r>
          </a:p>
          <a:p>
            <a:pPr>
              <a:lnSpc>
                <a:spcPct val="150000"/>
              </a:lnSpc>
              <a:spcBef>
                <a:spcPts val="300"/>
              </a:spcBef>
              <a:defRPr sz="780">
                <a:solidFill>
                  <a:srgbClr val="0F172A"/>
                </a:solidFill>
                <a:latin typeface="KoPub돋움체 Medium"/>
              </a:defRPr>
            </a:pPr>
            <a:r>
              <a:rPr sz="1000" dirty="0">
                <a:latin typeface="KoPub돋움체 Medium"/>
              </a:rPr>
              <a:t>•  </a:t>
            </a:r>
            <a:r>
              <a:rPr sz="1000" dirty="0" err="1">
                <a:latin typeface="KoPub돋움체 Medium"/>
              </a:rPr>
              <a:t>악의적</a:t>
            </a:r>
            <a:r>
              <a:rPr sz="1000" dirty="0">
                <a:latin typeface="KoPub돋움체 Medium"/>
              </a:rPr>
              <a:t> </a:t>
            </a:r>
            <a:r>
              <a:rPr sz="1000" dirty="0" err="1">
                <a:latin typeface="KoPub돋움체 Medium"/>
              </a:rPr>
              <a:t>공격</a:t>
            </a:r>
            <a:r>
              <a:rPr sz="1000" dirty="0">
                <a:latin typeface="KoPub돋움체 Medium"/>
              </a:rPr>
              <a:t>(Nonce </a:t>
            </a:r>
            <a:r>
              <a:rPr sz="1000" dirty="0" err="1">
                <a:latin typeface="KoPub돋움체 Medium"/>
              </a:rPr>
              <a:t>리플레이</a:t>
            </a:r>
            <a:r>
              <a:rPr sz="1000" dirty="0">
                <a:latin typeface="KoPub돋움체 Medium"/>
              </a:rPr>
              <a:t>, </a:t>
            </a:r>
            <a:r>
              <a:rPr sz="1000" dirty="0" err="1">
                <a:latin typeface="KoPub돋움체 Medium"/>
              </a:rPr>
              <a:t>유량</a:t>
            </a:r>
            <a:r>
              <a:rPr sz="1000" dirty="0">
                <a:latin typeface="KoPub돋움체 Medium"/>
              </a:rPr>
              <a:t> </a:t>
            </a:r>
            <a:r>
              <a:rPr sz="1000" dirty="0" err="1">
                <a:latin typeface="KoPub돋움체 Medium"/>
              </a:rPr>
              <a:t>초과</a:t>
            </a:r>
            <a:r>
              <a:rPr sz="1000" dirty="0">
                <a:latin typeface="KoPub돋움체 Medium"/>
              </a:rPr>
              <a:t>) 3,000건을 </a:t>
            </a:r>
            <a:r>
              <a:rPr sz="1000" dirty="0" err="1">
                <a:latin typeface="KoPub돋움체 Medium"/>
              </a:rPr>
              <a:t>백엔드</a:t>
            </a:r>
            <a:r>
              <a:rPr sz="1000" dirty="0">
                <a:latin typeface="KoPub돋움체 Medium"/>
              </a:rPr>
              <a:t> </a:t>
            </a:r>
            <a:r>
              <a:rPr sz="1000" dirty="0" err="1">
                <a:latin typeface="KoPub돋움체 Medium"/>
              </a:rPr>
              <a:t>도달</a:t>
            </a:r>
            <a:r>
              <a:rPr sz="1000" dirty="0">
                <a:latin typeface="KoPub돋움체 Medium"/>
              </a:rPr>
              <a:t> 전 </a:t>
            </a:r>
            <a:r>
              <a:rPr sz="1000" dirty="0" err="1">
                <a:latin typeface="KoPub돋움체 Medium"/>
              </a:rPr>
              <a:t>에지</a:t>
            </a:r>
            <a:r>
              <a:rPr sz="1000" dirty="0">
                <a:latin typeface="KoPub돋움체 Medium"/>
              </a:rPr>
              <a:t> 100% </a:t>
            </a:r>
            <a:r>
              <a:rPr sz="1000" dirty="0" err="1">
                <a:latin typeface="KoPub돋움체 Medium"/>
              </a:rPr>
              <a:t>차단</a:t>
            </a:r>
            <a:endParaRPr sz="1000" dirty="0">
              <a:latin typeface="KoPub돋움체 Medium"/>
            </a:endParaRPr>
          </a:p>
          <a:p>
            <a:pPr>
              <a:lnSpc>
                <a:spcPct val="150000"/>
              </a:lnSpc>
              <a:spcBef>
                <a:spcPts val="300"/>
              </a:spcBef>
              <a:defRPr sz="780">
                <a:solidFill>
                  <a:srgbClr val="0F172A"/>
                </a:solidFill>
                <a:latin typeface="KoPub돋움체 Medium"/>
              </a:defRPr>
            </a:pPr>
            <a:r>
              <a:rPr sz="1000" dirty="0">
                <a:latin typeface="KoPub돋움체 Medium"/>
              </a:rPr>
              <a:t>•  </a:t>
            </a:r>
            <a:r>
              <a:rPr sz="1000" dirty="0" err="1">
                <a:latin typeface="KoPub돋움체 Medium"/>
              </a:rPr>
              <a:t>독립</a:t>
            </a:r>
            <a:r>
              <a:rPr sz="1000" dirty="0">
                <a:latin typeface="KoPub돋움체 Medium"/>
              </a:rPr>
              <a:t> </a:t>
            </a:r>
            <a:r>
              <a:rPr sz="1000" dirty="0" err="1">
                <a:latin typeface="KoPub돋움체 Medium"/>
              </a:rPr>
              <a:t>프로젝트</a:t>
            </a:r>
            <a:r>
              <a:rPr sz="1000" dirty="0">
                <a:latin typeface="KoPub돋움체 Medium"/>
              </a:rPr>
              <a:t> </a:t>
            </a:r>
            <a:r>
              <a:rPr sz="1000" dirty="0" err="1">
                <a:latin typeface="KoPub돋움체 Medium"/>
              </a:rPr>
              <a:t>PoP</a:t>
            </a:r>
            <a:r>
              <a:rPr sz="1000" dirty="0">
                <a:latin typeface="KoPub돋움체 Medium"/>
              </a:rPr>
              <a:t> </a:t>
            </a:r>
            <a:r>
              <a:rPr sz="1000" dirty="0" err="1">
                <a:latin typeface="KoPub돋움체 Medium"/>
              </a:rPr>
              <a:t>Diagnoser와</a:t>
            </a:r>
            <a:r>
              <a:rPr sz="1000" dirty="0">
                <a:latin typeface="KoPub돋움체 Medium"/>
              </a:rPr>
              <a:t> </a:t>
            </a:r>
            <a:r>
              <a:rPr sz="1000" dirty="0" err="1">
                <a:latin typeface="KoPub돋움체 Medium"/>
              </a:rPr>
              <a:t>결합하여</a:t>
            </a:r>
            <a:r>
              <a:rPr sz="1000" dirty="0">
                <a:latin typeface="KoPub돋움체 Medium"/>
              </a:rPr>
              <a:t> </a:t>
            </a:r>
            <a:r>
              <a:rPr sz="1000" dirty="0" err="1">
                <a:latin typeface="KoPub돋움체 Medium"/>
              </a:rPr>
              <a:t>암호</a:t>
            </a:r>
            <a:r>
              <a:rPr sz="1000" dirty="0">
                <a:latin typeface="KoPub돋움체 Medium"/>
              </a:rPr>
              <a:t> </a:t>
            </a:r>
            <a:r>
              <a:rPr sz="1000" dirty="0" err="1">
                <a:latin typeface="KoPub돋움체 Medium"/>
              </a:rPr>
              <a:t>연동</a:t>
            </a:r>
            <a:r>
              <a:rPr sz="1000" dirty="0">
                <a:latin typeface="KoPub돋움체 Medium"/>
              </a:rPr>
              <a:t> </a:t>
            </a:r>
            <a:r>
              <a:rPr sz="1000" dirty="0" err="1">
                <a:latin typeface="KoPub돋움체 Medium"/>
              </a:rPr>
              <a:t>디버깅</a:t>
            </a:r>
            <a:r>
              <a:rPr sz="1000" dirty="0">
                <a:latin typeface="KoPub돋움체 Medium"/>
              </a:rPr>
              <a:t> </a:t>
            </a:r>
            <a:r>
              <a:rPr sz="1000" dirty="0" err="1">
                <a:latin typeface="KoPub돋움체 Medium"/>
              </a:rPr>
              <a:t>시간을</a:t>
            </a:r>
            <a:r>
              <a:rPr sz="1000" dirty="0">
                <a:latin typeface="KoPub돋움체 Medium"/>
              </a:rPr>
              <a:t> 1초로 </a:t>
            </a:r>
            <a:r>
              <a:rPr sz="1000" dirty="0" err="1">
                <a:latin typeface="KoPub돋움체 Medium"/>
              </a:rPr>
              <a:t>단축</a:t>
            </a:r>
            <a:endParaRPr sz="1000" dirty="0">
              <a:latin typeface="KoPub돋움체 Medium"/>
            </a:endParaRPr>
          </a:p>
        </p:txBody>
      </p:sp>
      <p:sp>
        <p:nvSpPr>
          <p:cNvPr id="29" name="Rounded Rectangle 28"/>
          <p:cNvSpPr/>
          <p:nvPr/>
        </p:nvSpPr>
        <p:spPr>
          <a:xfrm>
            <a:off x="7473960" y="5436000"/>
            <a:ext cx="1972800" cy="324000"/>
          </a:xfrm>
          <a:prstGeom prst="roundRect">
            <a:avLst/>
          </a:prstGeom>
          <a:solidFill>
            <a:srgbClr val="F1F1F1"/>
          </a:solidFill>
          <a:ln>
            <a:solidFill>
              <a:srgbClr val="CBD5E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0E306D"/>
                </a:solidFill>
                <a:latin typeface="KoPub돋움체 Bold"/>
              </a:defRPr>
            </a:pPr>
            <a:r>
              <a:rPr sz="1000" dirty="0" err="1">
                <a:latin typeface="KoPub돋움체 Bold"/>
              </a:rPr>
              <a:t>프로덕션</a:t>
            </a:r>
            <a:r>
              <a:rPr sz="1000" dirty="0">
                <a:latin typeface="KoPub돋움체 Bold"/>
              </a:rPr>
              <a:t> PEP-PDP </a:t>
            </a:r>
            <a:r>
              <a:rPr sz="1000" dirty="0" err="1">
                <a:latin typeface="KoPub돋움체 Bold"/>
              </a:rPr>
              <a:t>결합</a:t>
            </a:r>
            <a:endParaRPr sz="1000" dirty="0">
              <a:latin typeface="KoPub돋움체 Bold"/>
            </a:endParaRPr>
          </a:p>
        </p:txBody>
      </p:sp>
      <p:sp>
        <p:nvSpPr>
          <p:cNvPr id="30" name="Rounded Rectangle 29"/>
          <p:cNvSpPr/>
          <p:nvPr/>
        </p:nvSpPr>
        <p:spPr>
          <a:xfrm>
            <a:off x="356760" y="6048000"/>
            <a:ext cx="9198720" cy="342000"/>
          </a:xfrm>
          <a:prstGeom prst="roundRect">
            <a:avLst/>
          </a:prstGeom>
          <a:solidFill>
            <a:srgbClr val="F1F1F1"/>
          </a:solidFill>
          <a:ln w="12700">
            <a:solidFill>
              <a:srgbClr val="CB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871227" y="6142056"/>
            <a:ext cx="6163547" cy="153888"/>
          </a:xfrm>
          <a:prstGeom prst="rect">
            <a:avLst/>
          </a:prstGeom>
          <a:noFill/>
        </p:spPr>
        <p:txBody>
          <a:bodyPr wrap="none" lIns="0" tIns="0" rIns="0" bIns="0" anchor="ctr">
            <a:spAutoFit/>
          </a:bodyPr>
          <a:lstStyle/>
          <a:p>
            <a:pPr>
              <a:defRPr sz="900" b="1">
                <a:solidFill>
                  <a:srgbClr val="0F172A"/>
                </a:solidFill>
                <a:latin typeface="KoPub돋움체 Bold"/>
              </a:defRPr>
            </a:pPr>
            <a:r>
              <a:rPr sz="1000" dirty="0" err="1">
                <a:latin typeface="KoPub돋움체 Bold"/>
              </a:rPr>
              <a:t>인프라</a:t>
            </a:r>
            <a:r>
              <a:rPr sz="1000" dirty="0">
                <a:latin typeface="KoPub돋움체 Bold"/>
              </a:rPr>
              <a:t> </a:t>
            </a:r>
            <a:r>
              <a:rPr sz="1000" dirty="0" err="1">
                <a:latin typeface="KoPub돋움체 Bold"/>
              </a:rPr>
              <a:t>장애와</a:t>
            </a:r>
            <a:r>
              <a:rPr sz="1000" dirty="0">
                <a:latin typeface="KoPub돋움체 Bold"/>
              </a:rPr>
              <a:t> </a:t>
            </a:r>
            <a:r>
              <a:rPr sz="1000" dirty="0" err="1">
                <a:latin typeface="KoPub돋움체 Bold"/>
              </a:rPr>
              <a:t>트래픽</a:t>
            </a:r>
            <a:r>
              <a:rPr sz="1000" dirty="0">
                <a:latin typeface="KoPub돋움체 Bold"/>
              </a:rPr>
              <a:t> </a:t>
            </a:r>
            <a:r>
              <a:rPr sz="1000" dirty="0" err="1">
                <a:latin typeface="KoPub돋움체 Bold"/>
              </a:rPr>
              <a:t>폭주</a:t>
            </a:r>
            <a:r>
              <a:rPr sz="1000" dirty="0">
                <a:latin typeface="KoPub돋움체 Bold"/>
              </a:rPr>
              <a:t> </a:t>
            </a:r>
            <a:r>
              <a:rPr sz="1000" dirty="0" err="1">
                <a:latin typeface="KoPub돋움체 Bold"/>
              </a:rPr>
              <a:t>환경에서도</a:t>
            </a:r>
            <a:r>
              <a:rPr sz="1000" dirty="0">
                <a:latin typeface="KoPub돋움체 Bold"/>
              </a:rPr>
              <a:t> </a:t>
            </a:r>
            <a:r>
              <a:rPr sz="1000" dirty="0" err="1">
                <a:latin typeface="KoPub돋움체 Bold"/>
              </a:rPr>
              <a:t>데이터</a:t>
            </a:r>
            <a:r>
              <a:rPr sz="1000" dirty="0">
                <a:latin typeface="KoPub돋움체 Bold"/>
              </a:rPr>
              <a:t> </a:t>
            </a:r>
            <a:r>
              <a:rPr sz="1000" dirty="0" err="1">
                <a:latin typeface="KoPub돋움체 Bold"/>
              </a:rPr>
              <a:t>무결성과</a:t>
            </a:r>
            <a:r>
              <a:rPr sz="1000" dirty="0">
                <a:latin typeface="KoPub돋움체 Bold"/>
              </a:rPr>
              <a:t> </a:t>
            </a:r>
            <a:r>
              <a:rPr sz="1000" dirty="0" err="1">
                <a:latin typeface="KoPub돋움체 Bold"/>
              </a:rPr>
              <a:t>비즈니스</a:t>
            </a:r>
            <a:r>
              <a:rPr sz="1000" dirty="0">
                <a:latin typeface="KoPub돋움체 Bold"/>
              </a:rPr>
              <a:t> </a:t>
            </a:r>
            <a:r>
              <a:rPr sz="1000" dirty="0" err="1">
                <a:latin typeface="KoPub돋움체 Bold"/>
              </a:rPr>
              <a:t>가용성을</a:t>
            </a:r>
            <a:r>
              <a:rPr sz="1000" dirty="0">
                <a:latin typeface="KoPub돋움체 Bold"/>
              </a:rPr>
              <a:t> </a:t>
            </a:r>
            <a:r>
              <a:rPr sz="1000" dirty="0" err="1">
                <a:latin typeface="KoPub돋움체 Bold"/>
              </a:rPr>
              <a:t>동시에</a:t>
            </a:r>
            <a:r>
              <a:rPr sz="1000" dirty="0">
                <a:latin typeface="KoPub돋움체 Bold"/>
              </a:rPr>
              <a:t> </a:t>
            </a:r>
            <a:r>
              <a:rPr sz="1000" dirty="0" err="1">
                <a:latin typeface="KoPub돋움체 Bold"/>
              </a:rPr>
              <a:t>보장하는</a:t>
            </a:r>
            <a:r>
              <a:rPr sz="1000" dirty="0">
                <a:latin typeface="KoPub돋움체 Bold"/>
              </a:rPr>
              <a:t> </a:t>
            </a:r>
            <a:r>
              <a:rPr sz="1000" dirty="0" err="1">
                <a:latin typeface="KoPub돋움체 Bold"/>
              </a:rPr>
              <a:t>제로</a:t>
            </a:r>
            <a:r>
              <a:rPr sz="1000" dirty="0">
                <a:latin typeface="KoPub돋움체 Bold"/>
              </a:rPr>
              <a:t> </a:t>
            </a:r>
            <a:r>
              <a:rPr sz="1000" dirty="0" err="1">
                <a:latin typeface="KoPub돋움체 Bold"/>
              </a:rPr>
              <a:t>트러스트</a:t>
            </a:r>
            <a:r>
              <a:rPr sz="1000" dirty="0">
                <a:latin typeface="KoPub돋움체 Bold"/>
              </a:rPr>
              <a:t> </a:t>
            </a:r>
            <a:r>
              <a:rPr sz="1000" dirty="0" err="1">
                <a:latin typeface="KoPub돋움체 Bold"/>
              </a:rPr>
              <a:t>분산</a:t>
            </a:r>
            <a:r>
              <a:rPr sz="1000" dirty="0">
                <a:latin typeface="KoPub돋움체 Bold"/>
              </a:rPr>
              <a:t> </a:t>
            </a:r>
            <a:r>
              <a:rPr sz="1000" dirty="0" err="1">
                <a:latin typeface="KoPub돋움체 Bold"/>
              </a:rPr>
              <a:t>인가</a:t>
            </a:r>
            <a:r>
              <a:rPr sz="1000" dirty="0">
                <a:latin typeface="KoPub돋움체 Bold"/>
              </a:rPr>
              <a:t> </a:t>
            </a:r>
            <a:r>
              <a:rPr sz="1000" dirty="0" err="1">
                <a:latin typeface="KoPub돋움체 Bold"/>
              </a:rPr>
              <a:t>표준</a:t>
            </a:r>
            <a:endParaRPr sz="1000" dirty="0">
              <a:latin typeface="KoPub돋움체 Bold"/>
            </a:endParaRPr>
          </a:p>
        </p:txBody>
      </p:sp>
      <p:sp>
        <p:nvSpPr>
          <p:cNvPr id="33" name="TextBox 32"/>
          <p:cNvSpPr txBox="1"/>
          <p:nvPr/>
        </p:nvSpPr>
        <p:spPr>
          <a:xfrm>
            <a:off x="8723520" y="6537960"/>
            <a:ext cx="831960" cy="246960"/>
          </a:xfrm>
          <a:prstGeom prst="rect">
            <a:avLst/>
          </a:prstGeom>
          <a:noFill/>
        </p:spPr>
        <p:txBody>
          <a:bodyPr wrap="none" lIns="0" tIns="0" rIns="0" bIns="0">
            <a:spAutoFit/>
          </a:bodyPr>
          <a:lstStyle/>
          <a:p>
            <a:pPr algn="r">
              <a:defRPr sz="1000" b="1">
                <a:solidFill>
                  <a:srgbClr val="6B7280"/>
                </a:solidFill>
                <a:latin typeface="KoPub돋움체 Bold"/>
              </a:defRPr>
            </a:pPr>
            <a:r>
              <a:rPr>
                <a:latin typeface="KoPub돋움체 Bold"/>
              </a:rPr>
              <a:t>16</a:t>
            </a:r>
          </a:p>
        </p:txBody>
      </p:sp>
    </p:spTree>
  </p:cSld>
  <p:clrMapOvr>
    <a:masterClrMapping/>
  </p:clrMapOvr>
</p:sld>
</file>

<file path=ppt/theme/theme1.xml><?xml version="1.0" encoding="utf-8"?>
<a:theme xmlns:a="http://schemas.openxmlformats.org/drawingml/2006/main" name="Office Theme">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84</TotalTime>
  <Words>7365</Words>
  <Application>Microsoft Office PowerPoint</Application>
  <PresentationFormat>A4 용지(210x297mm)</PresentationFormat>
  <Paragraphs>483</Paragraphs>
  <Slides>15</Slides>
  <Notes>15</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15</vt:i4>
      </vt:variant>
    </vt:vector>
  </HeadingPairs>
  <TitlesOfParts>
    <vt:vector size="23" baseType="lpstr">
      <vt:lpstr>KoPub돋움체 Bold</vt:lpstr>
      <vt:lpstr>KoPub돋움체 Medium</vt:lpstr>
      <vt:lpstr>맑은 고딕</vt:lpstr>
      <vt:lpstr>Arial</vt:lpstr>
      <vt:lpstr>Calibri</vt:lpstr>
      <vt:lpstr>Calibri Light</vt:lpstr>
      <vt:lpstr>Consolas</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user</cp:lastModifiedBy>
  <cp:revision>56</cp:revision>
  <dcterms:created xsi:type="dcterms:W3CDTF">2026-10-28T06:55:22Z</dcterms:created>
  <dcterms:modified xsi:type="dcterms:W3CDTF">2026-10-29T07:43:29Z</dcterms:modified>
</cp:coreProperties>
</file>